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68" r:id="rId3"/>
    <p:sldId id="263" r:id="rId4"/>
    <p:sldId id="264" r:id="rId5"/>
    <p:sldId id="265" r:id="rId6"/>
    <p:sldId id="266" r:id="rId7"/>
    <p:sldId id="267" r:id="rId8"/>
    <p:sldId id="269" r:id="rId9"/>
    <p:sldId id="271" r:id="rId10"/>
    <p:sldId id="272" r:id="rId11"/>
    <p:sldId id="273" r:id="rId12"/>
    <p:sldId id="274" r:id="rId13"/>
    <p:sldId id="275" r:id="rId14"/>
    <p:sldId id="276" r:id="rId15"/>
    <p:sldId id="26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D3D3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C8EF453-3095-AE8A-2F6D-B0378CA79EC1}" v="28" dt="2025-06-02T16:07:27.587"/>
    <p1510:client id="{DEF17522-F9FC-8578-697D-16CF15692E13}" v="5" dt="2025-06-03T14:51:56.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74" d="100"/>
          <a:sy n="74" d="100"/>
        </p:scale>
        <p:origin x="84" y="18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dirty="0"/>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dirty="0"/>
              <a:pPr/>
              <a:t>10/11/2026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1588113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Content Placeholder 2"/>
          <p:cNvSpPr>
            <a:spLocks noGrp="1"/>
          </p:cNvSpPr>
          <p:nvPr>
            <p:ph idx="1"/>
          </p:nvPr>
        </p:nvSpPr>
        <p:spPr>
          <a:xfrm>
            <a:off x="581192" y="2180496"/>
            <a:ext cx="11029615" cy="367830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10/11/2026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8158775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10/11/2026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25473755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10/11/2026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27265091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dirty="0"/>
              <a:t>Click to edit Master title style</a:t>
            </a:r>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10/11/2026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4922488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10/11/2026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11599881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10/11/2026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98299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dirty="0"/>
              <a:t>Click to edit Master title style</a:t>
            </a:r>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dirty="0"/>
              <a:pPr/>
              <a:t>10/11/2026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213710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dirty="0"/>
              <a:t>Click to edit Master title style</a:t>
            </a:r>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10/11/2026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797160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10/11/2026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36090617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dirty="0"/>
              <a:pPr/>
              <a:t>10/11/2026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dirty="0"/>
              <a:pPr/>
              <a:t>‹#›</a:t>
            </a:fld>
            <a:endParaRPr lang="en-US" dirty="0"/>
          </a:p>
        </p:txBody>
      </p:sp>
    </p:spTree>
    <p:extLst>
      <p:ext uri="{BB962C8B-B14F-4D97-AF65-F5344CB8AC3E}">
        <p14:creationId xmlns:p14="http://schemas.microsoft.com/office/powerpoint/2010/main" val="379855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a:t>
            </a:r>
          </a:p>
          <a:p>
            <a:pPr lvl="6"/>
            <a:r>
              <a:rPr lang="en-US" dirty="0"/>
              <a:t>Seven</a:t>
            </a:r>
          </a:p>
          <a:p>
            <a:pPr lvl="7"/>
            <a:r>
              <a:rPr lang="en-US" dirty="0"/>
              <a:t>Eight</a:t>
            </a:r>
          </a:p>
          <a:p>
            <a:pPr lvl="8"/>
            <a:r>
              <a:rPr lang="en-US" dirty="0"/>
              <a:t>ni</a:t>
            </a:r>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dirty="0"/>
              <a:pPr/>
              <a:t>10/11/2026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dirty="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07661564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localhost:8080/graphql"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localhost:8080/graphql"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localhost:8080/graphql"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Spring Boot – modules</a:t>
            </a: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D7181-AF20-DD71-CD38-AD0EEFE00A6F}"/>
              </a:ext>
            </a:extLst>
          </p:cNvPr>
          <p:cNvSpPr>
            <a:spLocks noGrp="1"/>
          </p:cNvSpPr>
          <p:nvPr>
            <p:ph type="title"/>
          </p:nvPr>
        </p:nvSpPr>
        <p:spPr/>
        <p:txBody>
          <a:bodyPr/>
          <a:lstStyle/>
          <a:p>
            <a:r>
              <a:rPr lang="en-US" dirty="0"/>
              <a:t>Overview</a:t>
            </a:r>
          </a:p>
        </p:txBody>
      </p:sp>
      <p:sp>
        <p:nvSpPr>
          <p:cNvPr id="3" name="Content Placeholder 2">
            <a:extLst>
              <a:ext uri="{FF2B5EF4-FFF2-40B4-BE49-F238E27FC236}">
                <a16:creationId xmlns:a16="http://schemas.microsoft.com/office/drawing/2014/main" id="{8AC5F723-68FA-FA86-0FF2-98B6DB778E73}"/>
              </a:ext>
            </a:extLst>
          </p:cNvPr>
          <p:cNvSpPr>
            <a:spLocks noGrp="1"/>
          </p:cNvSpPr>
          <p:nvPr>
            <p:ph idx="1"/>
          </p:nvPr>
        </p:nvSpPr>
        <p:spPr/>
        <p:txBody>
          <a:bodyPr/>
          <a:lstStyle/>
          <a:p>
            <a:r>
              <a:rPr lang="en-US" dirty="0"/>
              <a:t>Each of these are separate Spring projects or technologies we will discuss in this section</a:t>
            </a:r>
          </a:p>
          <a:p>
            <a:r>
              <a:rPr lang="en-US" dirty="0"/>
              <a:t>Spring MVC – architecture pattern, server-side rendering</a:t>
            </a:r>
          </a:p>
          <a:p>
            <a:r>
              <a:rPr lang="en-US" dirty="0"/>
              <a:t>Swagger – testing &amp; development module </a:t>
            </a:r>
          </a:p>
          <a:p>
            <a:r>
              <a:rPr lang="en-US" dirty="0"/>
              <a:t>Spring for </a:t>
            </a:r>
            <a:r>
              <a:rPr lang="en-US" dirty="0" err="1"/>
              <a:t>GraphQL</a:t>
            </a:r>
            <a:r>
              <a:rPr lang="en-US" dirty="0"/>
              <a:t> – Spring project for making queries of different shapes of data</a:t>
            </a:r>
          </a:p>
          <a:p>
            <a:r>
              <a:rPr lang="en-US" dirty="0"/>
              <a:t>Spring Security – Spring project for Authentication/Authorization, RBAC</a:t>
            </a:r>
          </a:p>
          <a:p>
            <a:r>
              <a:rPr lang="en-US" dirty="0"/>
              <a:t>Spring AI – Spring project to connect AI models from providers such as OpenAI, Anthropic, and </a:t>
            </a:r>
            <a:r>
              <a:rPr lang="en-US" dirty="0" err="1"/>
              <a:t>Ollama</a:t>
            </a:r>
            <a:r>
              <a:rPr lang="en-US" dirty="0"/>
              <a:t> using familiar Spring programming patterns</a:t>
            </a:r>
          </a:p>
        </p:txBody>
      </p:sp>
    </p:spTree>
    <p:extLst>
      <p:ext uri="{BB962C8B-B14F-4D97-AF65-F5344CB8AC3E}">
        <p14:creationId xmlns:p14="http://schemas.microsoft.com/office/powerpoint/2010/main" val="24536846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9DDBA0-772B-3F19-5943-6DA000D8B8B0}"/>
              </a:ext>
            </a:extLst>
          </p:cNvPr>
          <p:cNvSpPr>
            <a:spLocks noGrp="1"/>
          </p:cNvSpPr>
          <p:nvPr>
            <p:ph type="title"/>
          </p:nvPr>
        </p:nvSpPr>
        <p:spPr/>
        <p:txBody>
          <a:bodyPr/>
          <a:lstStyle/>
          <a:p>
            <a:r>
              <a:rPr lang="en-US" dirty="0"/>
              <a:t>MVC</a:t>
            </a:r>
          </a:p>
        </p:txBody>
      </p:sp>
      <p:sp>
        <p:nvSpPr>
          <p:cNvPr id="3" name="Content Placeholder 2">
            <a:extLst>
              <a:ext uri="{FF2B5EF4-FFF2-40B4-BE49-F238E27FC236}">
                <a16:creationId xmlns:a16="http://schemas.microsoft.com/office/drawing/2014/main" id="{91F595EF-3007-9AD9-F086-0AA6F0229E0B}"/>
              </a:ext>
            </a:extLst>
          </p:cNvPr>
          <p:cNvSpPr>
            <a:spLocks noGrp="1"/>
          </p:cNvSpPr>
          <p:nvPr>
            <p:ph idx="1"/>
          </p:nvPr>
        </p:nvSpPr>
        <p:spPr>
          <a:xfrm>
            <a:off x="581192" y="2212394"/>
            <a:ext cx="11029615" cy="3678303"/>
          </a:xfrm>
        </p:spPr>
        <p:txBody>
          <a:bodyPr>
            <a:normAutofit/>
          </a:bodyPr>
          <a:lstStyle/>
          <a:p>
            <a:r>
              <a:rPr lang="en-US" b="1" dirty="0"/>
              <a:t>Model</a:t>
            </a:r>
          </a:p>
          <a:p>
            <a:r>
              <a:rPr lang="en-US" dirty="0"/>
              <a:t>Represents application data and business rules.</a:t>
            </a:r>
          </a:p>
          <a:p>
            <a:r>
              <a:rPr lang="en-US" dirty="0"/>
              <a:t>Examples: entities, services, repositories, domain logic</a:t>
            </a:r>
          </a:p>
          <a:p>
            <a:r>
              <a:rPr lang="en-US" b="1" dirty="0"/>
              <a:t>Controller</a:t>
            </a:r>
          </a:p>
          <a:p>
            <a:r>
              <a:rPr lang="en-US" dirty="0"/>
              <a:t>Handles input, coordinates application operations, and determines the response.</a:t>
            </a:r>
          </a:p>
          <a:p>
            <a:r>
              <a:rPr lang="en-US" dirty="0"/>
              <a:t>Examples: Spring @Controller or @RestController</a:t>
            </a:r>
          </a:p>
          <a:p>
            <a:r>
              <a:rPr lang="en-US" b="1" dirty="0"/>
              <a:t>View</a:t>
            </a:r>
          </a:p>
          <a:p>
            <a:r>
              <a:rPr lang="en-US" dirty="0"/>
              <a:t>Presents information to the user.</a:t>
            </a:r>
          </a:p>
          <a:p>
            <a:r>
              <a:rPr lang="en-US" dirty="0"/>
              <a:t>Examples: HTML templates, JSON consumed by a UI, or a rendered interface</a:t>
            </a:r>
          </a:p>
        </p:txBody>
      </p:sp>
    </p:spTree>
    <p:extLst>
      <p:ext uri="{BB962C8B-B14F-4D97-AF65-F5344CB8AC3E}">
        <p14:creationId xmlns:p14="http://schemas.microsoft.com/office/powerpoint/2010/main" val="971476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0CC3-FCD7-3ADC-9649-8CE05F7CEAD4}"/>
              </a:ext>
            </a:extLst>
          </p:cNvPr>
          <p:cNvSpPr>
            <a:spLocks noGrp="1"/>
          </p:cNvSpPr>
          <p:nvPr>
            <p:ph type="title"/>
          </p:nvPr>
        </p:nvSpPr>
        <p:spPr/>
        <p:txBody>
          <a:bodyPr/>
          <a:lstStyle/>
          <a:p>
            <a:r>
              <a:rPr lang="en-US" dirty="0"/>
              <a:t>MVC implementations </a:t>
            </a:r>
          </a:p>
        </p:txBody>
      </p:sp>
      <p:sp>
        <p:nvSpPr>
          <p:cNvPr id="3" name="Content Placeholder 2">
            <a:extLst>
              <a:ext uri="{FF2B5EF4-FFF2-40B4-BE49-F238E27FC236}">
                <a16:creationId xmlns:a16="http://schemas.microsoft.com/office/drawing/2014/main" id="{9830F1CC-F693-75D6-DACF-6A7079E6FD2E}"/>
              </a:ext>
            </a:extLst>
          </p:cNvPr>
          <p:cNvSpPr>
            <a:spLocks noGrp="1"/>
          </p:cNvSpPr>
          <p:nvPr>
            <p:ph idx="1"/>
          </p:nvPr>
        </p:nvSpPr>
        <p:spPr/>
        <p:txBody>
          <a:bodyPr/>
          <a:lstStyle/>
          <a:p>
            <a:r>
              <a:rPr lang="en-US" dirty="0"/>
              <a:t>Spring Boot app that returns JSON + React/Angular </a:t>
            </a:r>
          </a:p>
          <a:p>
            <a:r>
              <a:rPr lang="en-US" dirty="0"/>
              <a:t>Spring Boot MVC + </a:t>
            </a:r>
            <a:r>
              <a:rPr lang="en-US" dirty="0" err="1"/>
              <a:t>thymeleaf</a:t>
            </a:r>
            <a:endParaRPr lang="en-US" dirty="0"/>
          </a:p>
          <a:p>
            <a:r>
              <a:rPr lang="en-US" dirty="0"/>
              <a:t>BOTH follow a MVC pattern </a:t>
            </a:r>
          </a:p>
        </p:txBody>
      </p:sp>
    </p:spTree>
    <p:extLst>
      <p:ext uri="{BB962C8B-B14F-4D97-AF65-F5344CB8AC3E}">
        <p14:creationId xmlns:p14="http://schemas.microsoft.com/office/powerpoint/2010/main" val="32478672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2E9FAB-FFE3-6C2A-A7BB-7FD17E63BF56}"/>
              </a:ext>
            </a:extLst>
          </p:cNvPr>
          <p:cNvSpPr>
            <a:spLocks noGrp="1"/>
          </p:cNvSpPr>
          <p:nvPr>
            <p:ph type="title"/>
          </p:nvPr>
        </p:nvSpPr>
        <p:spPr/>
        <p:txBody>
          <a:bodyPr/>
          <a:lstStyle/>
          <a:p>
            <a:r>
              <a:rPr lang="en-US" dirty="0"/>
              <a:t>Swagger</a:t>
            </a:r>
          </a:p>
        </p:txBody>
      </p:sp>
      <p:sp>
        <p:nvSpPr>
          <p:cNvPr id="3" name="Content Placeholder 2">
            <a:extLst>
              <a:ext uri="{FF2B5EF4-FFF2-40B4-BE49-F238E27FC236}">
                <a16:creationId xmlns:a16="http://schemas.microsoft.com/office/drawing/2014/main" id="{83BAF0A5-8B02-874D-AEA2-48F9326A16B5}"/>
              </a:ext>
            </a:extLst>
          </p:cNvPr>
          <p:cNvSpPr>
            <a:spLocks noGrp="1"/>
          </p:cNvSpPr>
          <p:nvPr>
            <p:ph idx="1"/>
          </p:nvPr>
        </p:nvSpPr>
        <p:spPr>
          <a:xfrm>
            <a:off x="581192" y="2180496"/>
            <a:ext cx="4543701" cy="4252201"/>
          </a:xfrm>
        </p:spPr>
        <p:txBody>
          <a:bodyPr/>
          <a:lstStyle/>
          <a:p>
            <a:r>
              <a:rPr lang="en-US" dirty="0"/>
              <a:t>Swagger is a set of tools and conventions for describing, documenting, and testing REST APIs. </a:t>
            </a:r>
          </a:p>
          <a:p>
            <a:r>
              <a:rPr lang="en-US" dirty="0"/>
              <a:t>In a Spring Boot application, it helps you expose your API endpoints in an interactive web page so developers can understand your API and try requests without needing Postman or writing a client first.</a:t>
            </a:r>
          </a:p>
        </p:txBody>
      </p:sp>
      <p:pic>
        <p:nvPicPr>
          <p:cNvPr id="5" name="Picture 4">
            <a:extLst>
              <a:ext uri="{FF2B5EF4-FFF2-40B4-BE49-F238E27FC236}">
                <a16:creationId xmlns:a16="http://schemas.microsoft.com/office/drawing/2014/main" id="{CC0AB4AA-F463-EEEF-1F06-DF3B0AFA410A}"/>
              </a:ext>
            </a:extLst>
          </p:cNvPr>
          <p:cNvPicPr>
            <a:picLocks noChangeAspect="1"/>
          </p:cNvPicPr>
          <p:nvPr/>
        </p:nvPicPr>
        <p:blipFill>
          <a:blip r:embed="rId2"/>
          <a:stretch>
            <a:fillRect/>
          </a:stretch>
        </p:blipFill>
        <p:spPr>
          <a:xfrm>
            <a:off x="5284381" y="2624901"/>
            <a:ext cx="6326426" cy="2884777"/>
          </a:xfrm>
          <a:prstGeom prst="rect">
            <a:avLst/>
          </a:prstGeom>
        </p:spPr>
      </p:pic>
    </p:spTree>
    <p:extLst>
      <p:ext uri="{BB962C8B-B14F-4D97-AF65-F5344CB8AC3E}">
        <p14:creationId xmlns:p14="http://schemas.microsoft.com/office/powerpoint/2010/main" val="859811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BCC6E-FB22-F534-0D23-ABA7A2FECB65}"/>
              </a:ext>
            </a:extLst>
          </p:cNvPr>
          <p:cNvSpPr>
            <a:spLocks noGrp="1"/>
          </p:cNvSpPr>
          <p:nvPr>
            <p:ph type="title"/>
          </p:nvPr>
        </p:nvSpPr>
        <p:spPr/>
        <p:txBody>
          <a:bodyPr/>
          <a:lstStyle/>
          <a:p>
            <a:r>
              <a:rPr lang="en-US" dirty="0"/>
              <a:t>Swagger Annotations</a:t>
            </a:r>
          </a:p>
        </p:txBody>
      </p:sp>
      <p:graphicFrame>
        <p:nvGraphicFramePr>
          <p:cNvPr id="4" name="Content Placeholder 3">
            <a:extLst>
              <a:ext uri="{FF2B5EF4-FFF2-40B4-BE49-F238E27FC236}">
                <a16:creationId xmlns:a16="http://schemas.microsoft.com/office/drawing/2014/main" id="{12C32F41-FC16-70F9-D801-C39155196DB9}"/>
              </a:ext>
            </a:extLst>
          </p:cNvPr>
          <p:cNvGraphicFramePr>
            <a:graphicFrameLocks noGrp="1"/>
          </p:cNvGraphicFramePr>
          <p:nvPr>
            <p:ph idx="1"/>
            <p:extLst>
              <p:ext uri="{D42A27DB-BD31-4B8C-83A1-F6EECF244321}">
                <p14:modId xmlns:p14="http://schemas.microsoft.com/office/powerpoint/2010/main" val="1300941254"/>
              </p:ext>
            </p:extLst>
          </p:nvPr>
        </p:nvGraphicFramePr>
        <p:xfrm>
          <a:off x="580691" y="2280062"/>
          <a:ext cx="11029950" cy="3431970"/>
        </p:xfrm>
        <a:graphic>
          <a:graphicData uri="http://schemas.openxmlformats.org/drawingml/2006/table">
            <a:tbl>
              <a:tblPr>
                <a:tableStyleId>{5C22544A-7EE6-4342-B048-85BDC9FD1C3A}</a:tableStyleId>
              </a:tblPr>
              <a:tblGrid>
                <a:gridCol w="5514975">
                  <a:extLst>
                    <a:ext uri="{9D8B030D-6E8A-4147-A177-3AD203B41FA5}">
                      <a16:colId xmlns:a16="http://schemas.microsoft.com/office/drawing/2014/main" val="500209547"/>
                    </a:ext>
                  </a:extLst>
                </a:gridCol>
                <a:gridCol w="5514975">
                  <a:extLst>
                    <a:ext uri="{9D8B030D-6E8A-4147-A177-3AD203B41FA5}">
                      <a16:colId xmlns:a16="http://schemas.microsoft.com/office/drawing/2014/main" val="2899805654"/>
                    </a:ext>
                  </a:extLst>
                </a:gridCol>
              </a:tblGrid>
              <a:tr h="571995">
                <a:tc>
                  <a:txBody>
                    <a:bodyPr/>
                    <a:lstStyle/>
                    <a:p>
                      <a:pPr marL="0" marR="0" algn="l" fontAlgn="t">
                        <a:buNone/>
                      </a:pPr>
                      <a:r>
                        <a:rPr lang="en-US" sz="1600" b="1" spc="0" dirty="0">
                          <a:effectLst/>
                        </a:rPr>
                        <a:t>Annotation</a:t>
                      </a:r>
                      <a:endParaRPr lang="en-US" sz="1600" b="1" i="0" spc="0" dirty="0">
                        <a:solidFill>
                          <a:srgbClr val="FFFFFF"/>
                        </a:solidFill>
                        <a:effectLst/>
                        <a:latin typeface="-apple-system-body"/>
                      </a:endParaRPr>
                    </a:p>
                  </a:txBody>
                  <a:tcPr marT="50800" marB="50800"/>
                </a:tc>
                <a:tc>
                  <a:txBody>
                    <a:bodyPr/>
                    <a:lstStyle/>
                    <a:p>
                      <a:pPr marL="0" marR="0" algn="l" fontAlgn="t">
                        <a:buNone/>
                      </a:pPr>
                      <a:r>
                        <a:rPr lang="en-US" sz="1600" b="1" spc="0" dirty="0">
                          <a:effectLst/>
                        </a:rPr>
                        <a:t>Purpose</a:t>
                      </a:r>
                      <a:endParaRPr lang="en-US" sz="1600" b="1" i="0" spc="0" dirty="0">
                        <a:solidFill>
                          <a:srgbClr val="FFFFFF"/>
                        </a:solidFill>
                        <a:effectLst/>
                        <a:latin typeface="-apple-system-body"/>
                      </a:endParaRPr>
                    </a:p>
                  </a:txBody>
                  <a:tcPr marT="50800" marB="50800"/>
                </a:tc>
                <a:extLst>
                  <a:ext uri="{0D108BD9-81ED-4DB2-BD59-A6C34878D82A}">
                    <a16:rowId xmlns:a16="http://schemas.microsoft.com/office/drawing/2014/main" val="4244920551"/>
                  </a:ext>
                </a:extLst>
              </a:tr>
              <a:tr h="571995">
                <a:tc>
                  <a:txBody>
                    <a:bodyPr/>
                    <a:lstStyle/>
                    <a:p>
                      <a:pPr marL="0" marR="0" algn="l" fontAlgn="t">
                        <a:buNone/>
                      </a:pPr>
                      <a:r>
                        <a:rPr lang="en-US" sz="1600" spc="0">
                          <a:effectLst/>
                        </a:rPr>
                        <a:t>@Tag</a:t>
                      </a:r>
                      <a:endParaRPr lang="en-US" sz="1600" b="0" i="0" spc="0">
                        <a:solidFill>
                          <a:srgbClr val="FFFFFF"/>
                        </a:solidFill>
                        <a:effectLst/>
                        <a:latin typeface="-apple-system-body"/>
                      </a:endParaRPr>
                    </a:p>
                  </a:txBody>
                  <a:tcPr marT="50800" marB="50800"/>
                </a:tc>
                <a:tc>
                  <a:txBody>
                    <a:bodyPr/>
                    <a:lstStyle/>
                    <a:p>
                      <a:pPr marL="0" marR="0" algn="l" fontAlgn="t">
                        <a:buNone/>
                      </a:pPr>
                      <a:r>
                        <a:rPr lang="en-US" sz="1600" spc="0">
                          <a:effectLst/>
                        </a:rPr>
                        <a:t>Groups related endpoints under a named section.</a:t>
                      </a:r>
                      <a:endParaRPr lang="en-US" sz="1600" b="0" i="0" spc="0">
                        <a:solidFill>
                          <a:srgbClr val="FFFFFF"/>
                        </a:solidFill>
                        <a:effectLst/>
                        <a:latin typeface="-apple-system-body"/>
                      </a:endParaRPr>
                    </a:p>
                  </a:txBody>
                  <a:tcPr marT="50800" marB="50800"/>
                </a:tc>
                <a:extLst>
                  <a:ext uri="{0D108BD9-81ED-4DB2-BD59-A6C34878D82A}">
                    <a16:rowId xmlns:a16="http://schemas.microsoft.com/office/drawing/2014/main" val="4150998928"/>
                  </a:ext>
                </a:extLst>
              </a:tr>
              <a:tr h="571995">
                <a:tc>
                  <a:txBody>
                    <a:bodyPr/>
                    <a:lstStyle/>
                    <a:p>
                      <a:pPr marL="0" marR="0" algn="l" fontAlgn="t">
                        <a:buNone/>
                      </a:pPr>
                      <a:r>
                        <a:rPr lang="en-US" sz="1600" spc="0">
                          <a:effectLst/>
                        </a:rPr>
                        <a:t>@Operation</a:t>
                      </a:r>
                      <a:endParaRPr lang="en-US" sz="1600" b="0" i="0" spc="0">
                        <a:solidFill>
                          <a:srgbClr val="FFFFFF"/>
                        </a:solidFill>
                        <a:effectLst/>
                        <a:latin typeface="-apple-system-body"/>
                      </a:endParaRPr>
                    </a:p>
                  </a:txBody>
                  <a:tcPr marT="50800" marB="50800"/>
                </a:tc>
                <a:tc>
                  <a:txBody>
                    <a:bodyPr/>
                    <a:lstStyle/>
                    <a:p>
                      <a:pPr marL="0" marR="0" algn="l" fontAlgn="t">
                        <a:buNone/>
                      </a:pPr>
                      <a:r>
                        <a:rPr lang="en-US" sz="1600" spc="0">
                          <a:effectLst/>
                        </a:rPr>
                        <a:t>Provides a summary and detailed endpoint description.</a:t>
                      </a:r>
                      <a:endParaRPr lang="en-US" sz="1600" b="0" i="0" spc="0">
                        <a:solidFill>
                          <a:srgbClr val="FFFFFF"/>
                        </a:solidFill>
                        <a:effectLst/>
                        <a:latin typeface="-apple-system-body"/>
                      </a:endParaRPr>
                    </a:p>
                  </a:txBody>
                  <a:tcPr marT="50800" marB="50800"/>
                </a:tc>
                <a:extLst>
                  <a:ext uri="{0D108BD9-81ED-4DB2-BD59-A6C34878D82A}">
                    <a16:rowId xmlns:a16="http://schemas.microsoft.com/office/drawing/2014/main" val="1299979565"/>
                  </a:ext>
                </a:extLst>
              </a:tr>
              <a:tr h="571995">
                <a:tc>
                  <a:txBody>
                    <a:bodyPr/>
                    <a:lstStyle/>
                    <a:p>
                      <a:pPr marL="0" marR="0" algn="l" fontAlgn="t">
                        <a:buNone/>
                      </a:pPr>
                      <a:r>
                        <a:rPr lang="en-US" sz="1600" spc="0">
                          <a:effectLst/>
                        </a:rPr>
                        <a:t>@ApiResponse</a:t>
                      </a:r>
                      <a:endParaRPr lang="en-US" sz="1600" b="0" i="0" spc="0">
                        <a:solidFill>
                          <a:srgbClr val="FFFFFF"/>
                        </a:solidFill>
                        <a:effectLst/>
                        <a:latin typeface="-apple-system-body"/>
                      </a:endParaRPr>
                    </a:p>
                  </a:txBody>
                  <a:tcPr marT="50800" marB="50800"/>
                </a:tc>
                <a:tc>
                  <a:txBody>
                    <a:bodyPr/>
                    <a:lstStyle/>
                    <a:p>
                      <a:pPr marL="0" marR="0" algn="l" fontAlgn="t">
                        <a:buNone/>
                      </a:pPr>
                      <a:r>
                        <a:rPr lang="en-US" sz="1600" spc="0">
                          <a:effectLst/>
                        </a:rPr>
                        <a:t>Documents possible HTTP responses.</a:t>
                      </a:r>
                      <a:endParaRPr lang="en-US" sz="1600" b="0" i="0" spc="0">
                        <a:solidFill>
                          <a:srgbClr val="FFFFFF"/>
                        </a:solidFill>
                        <a:effectLst/>
                        <a:latin typeface="-apple-system-body"/>
                      </a:endParaRPr>
                    </a:p>
                  </a:txBody>
                  <a:tcPr marT="50800" marB="50800"/>
                </a:tc>
                <a:extLst>
                  <a:ext uri="{0D108BD9-81ED-4DB2-BD59-A6C34878D82A}">
                    <a16:rowId xmlns:a16="http://schemas.microsoft.com/office/drawing/2014/main" val="2703041202"/>
                  </a:ext>
                </a:extLst>
              </a:tr>
              <a:tr h="571995">
                <a:tc>
                  <a:txBody>
                    <a:bodyPr/>
                    <a:lstStyle/>
                    <a:p>
                      <a:pPr marL="0" marR="0" algn="l" fontAlgn="t">
                        <a:buNone/>
                      </a:pPr>
                      <a:r>
                        <a:rPr lang="en-US" sz="1600" spc="0">
                          <a:effectLst/>
                        </a:rPr>
                        <a:t>@Parameter</a:t>
                      </a:r>
                      <a:endParaRPr lang="en-US" sz="1600" b="0" i="0" spc="0">
                        <a:solidFill>
                          <a:srgbClr val="FFFFFF"/>
                        </a:solidFill>
                        <a:effectLst/>
                        <a:latin typeface="-apple-system-body"/>
                      </a:endParaRPr>
                    </a:p>
                  </a:txBody>
                  <a:tcPr marT="50800" marB="50800"/>
                </a:tc>
                <a:tc>
                  <a:txBody>
                    <a:bodyPr/>
                    <a:lstStyle/>
                    <a:p>
                      <a:pPr marL="0" marR="0" algn="l" fontAlgn="t">
                        <a:buNone/>
                      </a:pPr>
                      <a:r>
                        <a:rPr lang="en-US" sz="1600" spc="0">
                          <a:effectLst/>
                        </a:rPr>
                        <a:t>Describes a path, query, or other parameter.</a:t>
                      </a:r>
                      <a:endParaRPr lang="en-US" sz="1600" b="0" i="0" spc="0">
                        <a:solidFill>
                          <a:srgbClr val="FFFFFF"/>
                        </a:solidFill>
                        <a:effectLst/>
                        <a:latin typeface="-apple-system-body"/>
                      </a:endParaRPr>
                    </a:p>
                  </a:txBody>
                  <a:tcPr marT="50800" marB="50800"/>
                </a:tc>
                <a:extLst>
                  <a:ext uri="{0D108BD9-81ED-4DB2-BD59-A6C34878D82A}">
                    <a16:rowId xmlns:a16="http://schemas.microsoft.com/office/drawing/2014/main" val="3037789768"/>
                  </a:ext>
                </a:extLst>
              </a:tr>
              <a:tr h="571995">
                <a:tc>
                  <a:txBody>
                    <a:bodyPr/>
                    <a:lstStyle/>
                    <a:p>
                      <a:pPr marL="0" marR="0" algn="l" fontAlgn="t">
                        <a:buNone/>
                      </a:pPr>
                      <a:r>
                        <a:rPr lang="en-US" sz="1600" spc="0">
                          <a:effectLst/>
                        </a:rPr>
                        <a:t>@Schema</a:t>
                      </a:r>
                      <a:endParaRPr lang="en-US" sz="1600" b="0" i="0" spc="0">
                        <a:solidFill>
                          <a:srgbClr val="FFFFFF"/>
                        </a:solidFill>
                        <a:effectLst/>
                        <a:latin typeface="-apple-system-body"/>
                      </a:endParaRPr>
                    </a:p>
                  </a:txBody>
                  <a:tcPr marT="50800" marB="50800"/>
                </a:tc>
                <a:tc>
                  <a:txBody>
                    <a:bodyPr/>
                    <a:lstStyle/>
                    <a:p>
                      <a:pPr marL="0" marR="0" algn="l" fontAlgn="t">
                        <a:buNone/>
                      </a:pPr>
                      <a:r>
                        <a:rPr lang="en-US" sz="1600" spc="0" dirty="0">
                          <a:effectLst/>
                        </a:rPr>
                        <a:t>Documents a DTO's fields, constraints, and example values.</a:t>
                      </a:r>
                      <a:endParaRPr lang="en-US" sz="1600" b="0" i="0" spc="0" dirty="0">
                        <a:solidFill>
                          <a:srgbClr val="FFFFFF"/>
                        </a:solidFill>
                        <a:effectLst/>
                        <a:latin typeface="-apple-system-body"/>
                      </a:endParaRPr>
                    </a:p>
                  </a:txBody>
                  <a:tcPr marT="50800" marB="50800"/>
                </a:tc>
                <a:extLst>
                  <a:ext uri="{0D108BD9-81ED-4DB2-BD59-A6C34878D82A}">
                    <a16:rowId xmlns:a16="http://schemas.microsoft.com/office/drawing/2014/main" val="2741424499"/>
                  </a:ext>
                </a:extLst>
              </a:tr>
            </a:tbl>
          </a:graphicData>
        </a:graphic>
      </p:graphicFrame>
    </p:spTree>
    <p:extLst>
      <p:ext uri="{BB962C8B-B14F-4D97-AF65-F5344CB8AC3E}">
        <p14:creationId xmlns:p14="http://schemas.microsoft.com/office/powerpoint/2010/main" val="19034963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D5084F-FD50-8CA5-621B-B8EF4DF648B6}"/>
              </a:ext>
            </a:extLst>
          </p:cNvPr>
          <p:cNvSpPr>
            <a:spLocks noGrp="1"/>
          </p:cNvSpPr>
          <p:nvPr>
            <p:ph type="title"/>
          </p:nvPr>
        </p:nvSpPr>
        <p:spPr/>
        <p:txBody>
          <a:bodyPr/>
          <a:lstStyle/>
          <a:p>
            <a:r>
              <a:rPr lang="en-US" dirty="0"/>
              <a:t>Swagger annotation example</a:t>
            </a:r>
          </a:p>
        </p:txBody>
      </p:sp>
      <p:sp>
        <p:nvSpPr>
          <p:cNvPr id="5" name="TextBox 4">
            <a:extLst>
              <a:ext uri="{FF2B5EF4-FFF2-40B4-BE49-F238E27FC236}">
                <a16:creationId xmlns:a16="http://schemas.microsoft.com/office/drawing/2014/main" id="{E05ACA7B-68C0-D9C3-B115-C3F4E2F42318}"/>
              </a:ext>
            </a:extLst>
          </p:cNvPr>
          <p:cNvSpPr txBox="1"/>
          <p:nvPr/>
        </p:nvSpPr>
        <p:spPr>
          <a:xfrm>
            <a:off x="793843" y="2189124"/>
            <a:ext cx="4894625" cy="4401205"/>
          </a:xfrm>
          <a:prstGeom prst="rect">
            <a:avLst/>
          </a:prstGeom>
          <a:noFill/>
        </p:spPr>
        <p:txBody>
          <a:bodyPr wrap="square">
            <a:spAutoFit/>
          </a:bodyPr>
          <a:lstStyle/>
          <a:p>
            <a:pPr indent="0" algn="l">
              <a:buNone/>
            </a:pPr>
            <a:r>
              <a:rPr lang="en-US" sz="1400" b="0" i="0" dirty="0">
                <a:solidFill>
                  <a:schemeClr val="tx1"/>
                </a:solidFill>
                <a:effectLst/>
                <a:latin typeface="+mn-lt"/>
              </a:rPr>
              <a:t>@GetMapping("/{id}")</a:t>
            </a:r>
          </a:p>
          <a:p>
            <a:pPr indent="0" algn="l">
              <a:buNone/>
            </a:pPr>
            <a:r>
              <a:rPr lang="en-US" sz="1400" b="0" i="0" dirty="0">
                <a:solidFill>
                  <a:schemeClr val="tx1"/>
                </a:solidFill>
                <a:effectLst/>
                <a:latin typeface="+mn-lt"/>
              </a:rPr>
              <a:t>    @Operation(</a:t>
            </a:r>
          </a:p>
          <a:p>
            <a:pPr indent="0" algn="l">
              <a:buNone/>
            </a:pPr>
            <a:r>
              <a:rPr lang="en-US" sz="1400" b="0" i="0" dirty="0">
                <a:solidFill>
                  <a:schemeClr val="tx1"/>
                </a:solidFill>
                <a:effectLst/>
                <a:latin typeface="+mn-lt"/>
              </a:rPr>
              <a:t>        summary = "Get a product",</a:t>
            </a:r>
          </a:p>
          <a:p>
            <a:pPr indent="0" algn="l">
              <a:buNone/>
            </a:pPr>
            <a:r>
              <a:rPr lang="en-US" sz="1400" b="0" i="0" dirty="0">
                <a:solidFill>
                  <a:schemeClr val="tx1"/>
                </a:solidFill>
                <a:effectLst/>
                <a:latin typeface="+mn-lt"/>
              </a:rPr>
              <a:t>        description = "Returns a product by its ID"</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    @ApiResponse(</a:t>
            </a:r>
          </a:p>
          <a:p>
            <a:pPr indent="0" algn="l">
              <a:buNone/>
            </a:pPr>
            <a:r>
              <a:rPr lang="en-US" sz="1400" b="0" i="0" dirty="0">
                <a:solidFill>
                  <a:schemeClr val="tx1"/>
                </a:solidFill>
                <a:effectLst/>
                <a:latin typeface="+mn-lt"/>
              </a:rPr>
              <a:t>        </a:t>
            </a:r>
            <a:r>
              <a:rPr lang="en-US" sz="1400" b="0" i="0" dirty="0" err="1">
                <a:solidFill>
                  <a:schemeClr val="tx1"/>
                </a:solidFill>
                <a:effectLst/>
                <a:latin typeface="+mn-lt"/>
              </a:rPr>
              <a:t>responseCode</a:t>
            </a:r>
            <a:r>
              <a:rPr lang="en-US" sz="1400" b="0" i="0" dirty="0">
                <a:solidFill>
                  <a:schemeClr val="tx1"/>
                </a:solidFill>
                <a:effectLst/>
                <a:latin typeface="+mn-lt"/>
              </a:rPr>
              <a:t> = "200",</a:t>
            </a:r>
          </a:p>
          <a:p>
            <a:pPr indent="0" algn="l">
              <a:buNone/>
            </a:pPr>
            <a:r>
              <a:rPr lang="en-US" sz="1400" b="0" i="0" dirty="0">
                <a:solidFill>
                  <a:schemeClr val="tx1"/>
                </a:solidFill>
                <a:effectLst/>
                <a:latin typeface="+mn-lt"/>
              </a:rPr>
              <a:t>        description = "Product found"</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    @ApiResponse(</a:t>
            </a:r>
          </a:p>
          <a:p>
            <a:pPr indent="0" algn="l">
              <a:buNone/>
            </a:pPr>
            <a:r>
              <a:rPr lang="en-US" sz="1400" b="0" i="0" dirty="0">
                <a:solidFill>
                  <a:schemeClr val="tx1"/>
                </a:solidFill>
                <a:effectLst/>
                <a:latin typeface="+mn-lt"/>
              </a:rPr>
              <a:t>        </a:t>
            </a:r>
            <a:r>
              <a:rPr lang="en-US" sz="1400" b="0" i="0" dirty="0" err="1">
                <a:solidFill>
                  <a:schemeClr val="tx1"/>
                </a:solidFill>
                <a:effectLst/>
                <a:latin typeface="+mn-lt"/>
              </a:rPr>
              <a:t>responseCode</a:t>
            </a:r>
            <a:r>
              <a:rPr lang="en-US" sz="1400" b="0" i="0" dirty="0">
                <a:solidFill>
                  <a:schemeClr val="tx1"/>
                </a:solidFill>
                <a:effectLst/>
                <a:latin typeface="+mn-lt"/>
              </a:rPr>
              <a:t> = "404",</a:t>
            </a:r>
          </a:p>
          <a:p>
            <a:pPr indent="0" algn="l">
              <a:buNone/>
            </a:pPr>
            <a:r>
              <a:rPr lang="en-US" sz="1400" b="0" i="0" dirty="0">
                <a:solidFill>
                  <a:schemeClr val="tx1"/>
                </a:solidFill>
                <a:effectLst/>
                <a:latin typeface="+mn-lt"/>
              </a:rPr>
              <a:t>        description = "Product not found"</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    public </a:t>
            </a:r>
            <a:r>
              <a:rPr lang="en-US" sz="1400" b="0" i="0" dirty="0" err="1">
                <a:solidFill>
                  <a:schemeClr val="tx1"/>
                </a:solidFill>
                <a:effectLst/>
                <a:latin typeface="+mn-lt"/>
              </a:rPr>
              <a:t>ProductDto</a:t>
            </a:r>
            <a:r>
              <a:rPr lang="en-US" sz="1400" b="0" i="0" dirty="0">
                <a:solidFill>
                  <a:schemeClr val="tx1"/>
                </a:solidFill>
                <a:effectLst/>
                <a:latin typeface="+mn-lt"/>
              </a:rPr>
              <a:t> </a:t>
            </a:r>
            <a:r>
              <a:rPr lang="en-US" sz="1400" b="0" i="0" dirty="0" err="1">
                <a:solidFill>
                  <a:schemeClr val="tx1"/>
                </a:solidFill>
                <a:effectLst/>
                <a:latin typeface="+mn-lt"/>
              </a:rPr>
              <a:t>getProduct</a:t>
            </a:r>
            <a:r>
              <a:rPr lang="en-US" sz="1400" b="0" i="0" dirty="0">
                <a:solidFill>
                  <a:schemeClr val="tx1"/>
                </a:solidFill>
                <a:effectLst/>
                <a:latin typeface="+mn-lt"/>
              </a:rPr>
              <a:t>(</a:t>
            </a:r>
          </a:p>
          <a:p>
            <a:pPr indent="0" algn="l">
              <a:buNone/>
            </a:pPr>
            <a:r>
              <a:rPr lang="en-US" sz="1400" b="0" i="0" dirty="0">
                <a:solidFill>
                  <a:schemeClr val="tx1"/>
                </a:solidFill>
                <a:effectLst/>
                <a:latin typeface="+mn-lt"/>
              </a:rPr>
              <a:t>        @Parameter(description = "Unique product ID")</a:t>
            </a:r>
          </a:p>
          <a:p>
            <a:pPr indent="0" algn="l">
              <a:buNone/>
            </a:pPr>
            <a:r>
              <a:rPr lang="en-US" sz="1400" b="0" i="0" dirty="0">
                <a:solidFill>
                  <a:schemeClr val="tx1"/>
                </a:solidFill>
                <a:effectLst/>
                <a:latin typeface="+mn-lt"/>
              </a:rPr>
              <a:t>        @PathVariable Long id</a:t>
            </a:r>
          </a:p>
          <a:p>
            <a:pPr indent="0" algn="l">
              <a:buNone/>
            </a:pPr>
            <a:r>
              <a:rPr lang="en-US" sz="1400" b="0" i="0" dirty="0">
                <a:solidFill>
                  <a:schemeClr val="tx1"/>
                </a:solidFill>
                <a:effectLst/>
                <a:latin typeface="+mn-lt"/>
              </a:rPr>
              <a:t>    ) {</a:t>
            </a:r>
          </a:p>
          <a:p>
            <a:pPr indent="0" algn="l">
              <a:buNone/>
            </a:pPr>
            <a:r>
              <a:rPr lang="en-US" sz="1400" b="0" i="0" dirty="0">
                <a:solidFill>
                  <a:schemeClr val="tx1"/>
                </a:solidFill>
                <a:effectLst/>
                <a:latin typeface="+mn-lt"/>
              </a:rPr>
              <a:t>        return </a:t>
            </a:r>
            <a:r>
              <a:rPr lang="en-US" sz="1400" b="0" i="0" dirty="0" err="1">
                <a:solidFill>
                  <a:schemeClr val="tx1"/>
                </a:solidFill>
                <a:effectLst/>
                <a:latin typeface="+mn-lt"/>
              </a:rPr>
              <a:t>productService.getById</a:t>
            </a:r>
            <a:r>
              <a:rPr lang="en-US" sz="1400" b="0" i="0" dirty="0">
                <a:solidFill>
                  <a:schemeClr val="tx1"/>
                </a:solidFill>
                <a:effectLst/>
                <a:latin typeface="+mn-lt"/>
              </a:rPr>
              <a:t>(id);</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a:t>
            </a:r>
            <a:endParaRPr lang="en-US" sz="1050" b="0" i="0" dirty="0">
              <a:solidFill>
                <a:srgbClr val="FFFFFF"/>
              </a:solidFill>
              <a:effectLst/>
              <a:latin typeface="Courier New" panose="02070309020205020404" pitchFamily="49" charset="0"/>
            </a:endParaRPr>
          </a:p>
        </p:txBody>
      </p:sp>
      <p:sp>
        <p:nvSpPr>
          <p:cNvPr id="7" name="TextBox 6">
            <a:extLst>
              <a:ext uri="{FF2B5EF4-FFF2-40B4-BE49-F238E27FC236}">
                <a16:creationId xmlns:a16="http://schemas.microsoft.com/office/drawing/2014/main" id="{2420AE51-F945-D4B8-E1A2-797C7BB34435}"/>
              </a:ext>
            </a:extLst>
          </p:cNvPr>
          <p:cNvSpPr txBox="1"/>
          <p:nvPr/>
        </p:nvSpPr>
        <p:spPr>
          <a:xfrm>
            <a:off x="6181061" y="2189124"/>
            <a:ext cx="6097772" cy="4185761"/>
          </a:xfrm>
          <a:prstGeom prst="rect">
            <a:avLst/>
          </a:prstGeom>
          <a:noFill/>
        </p:spPr>
        <p:txBody>
          <a:bodyPr wrap="square">
            <a:spAutoFit/>
          </a:bodyPr>
          <a:lstStyle/>
          <a:p>
            <a:pPr indent="0" algn="l">
              <a:buNone/>
            </a:pPr>
            <a:r>
              <a:rPr lang="en-US" sz="1400" b="0" i="0" dirty="0">
                <a:solidFill>
                  <a:schemeClr val="tx1"/>
                </a:solidFill>
                <a:effectLst/>
                <a:latin typeface="+mn-lt"/>
              </a:rPr>
              <a:t>import io.swagger.v3.oas.annotations.media.Schema;</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@Schema(description = "Product information")</a:t>
            </a:r>
          </a:p>
          <a:p>
            <a:pPr indent="0" algn="l">
              <a:buNone/>
            </a:pPr>
            <a:r>
              <a:rPr lang="en-US" sz="1400" b="0" i="0" dirty="0">
                <a:solidFill>
                  <a:schemeClr val="tx1"/>
                </a:solidFill>
                <a:effectLst/>
                <a:latin typeface="+mn-lt"/>
              </a:rPr>
              <a:t>public class </a:t>
            </a:r>
            <a:r>
              <a:rPr lang="en-US" sz="1400" b="0" i="0" dirty="0" err="1">
                <a:solidFill>
                  <a:schemeClr val="tx1"/>
                </a:solidFill>
                <a:effectLst/>
                <a:latin typeface="+mn-lt"/>
              </a:rPr>
              <a:t>ProductDto</a:t>
            </a:r>
            <a:r>
              <a:rPr lang="en-US" sz="1400" b="0" i="0" dirty="0">
                <a:solidFill>
                  <a:schemeClr val="tx1"/>
                </a:solidFill>
                <a:effectLst/>
                <a:latin typeface="+mn-lt"/>
              </a:rPr>
              <a:t> {</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    @Schema(</a:t>
            </a:r>
          </a:p>
          <a:p>
            <a:pPr indent="0" algn="l">
              <a:buNone/>
            </a:pPr>
            <a:r>
              <a:rPr lang="en-US" sz="1400" b="0" i="0" dirty="0">
                <a:solidFill>
                  <a:schemeClr val="tx1"/>
                </a:solidFill>
                <a:effectLst/>
                <a:latin typeface="+mn-lt"/>
              </a:rPr>
              <a:t>        description = "Unique product identifier",</a:t>
            </a:r>
          </a:p>
          <a:p>
            <a:pPr indent="0" algn="l">
              <a:buNone/>
            </a:pPr>
            <a:r>
              <a:rPr lang="en-US" sz="1400" b="0" i="0" dirty="0">
                <a:solidFill>
                  <a:schemeClr val="tx1"/>
                </a:solidFill>
                <a:effectLst/>
                <a:latin typeface="+mn-lt"/>
              </a:rPr>
              <a:t>        example = "101"</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    private Long id;</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    @Schema(</a:t>
            </a:r>
          </a:p>
          <a:p>
            <a:pPr indent="0" algn="l">
              <a:buNone/>
            </a:pPr>
            <a:r>
              <a:rPr lang="en-US" sz="1400" b="0" i="0" dirty="0">
                <a:solidFill>
                  <a:schemeClr val="tx1"/>
                </a:solidFill>
                <a:effectLst/>
                <a:latin typeface="+mn-lt"/>
              </a:rPr>
              <a:t>        description = "Display name",</a:t>
            </a:r>
          </a:p>
          <a:p>
            <a:pPr indent="0" algn="l">
              <a:buNone/>
            </a:pPr>
            <a:r>
              <a:rPr lang="en-US" sz="1400" b="0" i="0" dirty="0">
                <a:solidFill>
                  <a:schemeClr val="tx1"/>
                </a:solidFill>
                <a:effectLst/>
                <a:latin typeface="+mn-lt"/>
              </a:rPr>
              <a:t>        example = "Wireless Keyboard"</a:t>
            </a:r>
          </a:p>
          <a:p>
            <a:pPr indent="0" algn="l">
              <a:buNone/>
            </a:pPr>
            <a:r>
              <a:rPr lang="en-US" sz="1400" b="0" i="0" dirty="0">
                <a:solidFill>
                  <a:schemeClr val="tx1"/>
                </a:solidFill>
                <a:effectLst/>
                <a:latin typeface="+mn-lt"/>
              </a:rPr>
              <a:t>    )</a:t>
            </a:r>
          </a:p>
          <a:p>
            <a:pPr indent="0" algn="l">
              <a:buNone/>
            </a:pPr>
            <a:r>
              <a:rPr lang="en-US" sz="1400" b="0" i="0" dirty="0">
                <a:solidFill>
                  <a:schemeClr val="tx1"/>
                </a:solidFill>
                <a:effectLst/>
                <a:latin typeface="+mn-lt"/>
              </a:rPr>
              <a:t>    private String name;</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    // Constructors, getters and setters</a:t>
            </a:r>
          </a:p>
          <a:p>
            <a:pPr indent="0" algn="l">
              <a:buNone/>
            </a:pPr>
            <a:r>
              <a:rPr lang="en-US" sz="1400" b="0" i="0" dirty="0">
                <a:solidFill>
                  <a:schemeClr val="tx1"/>
                </a:solidFill>
                <a:effectLst/>
                <a:latin typeface="+mn-lt"/>
              </a:rPr>
              <a:t>}</a:t>
            </a:r>
            <a:endParaRPr lang="en-US" sz="1050" b="0" i="0" dirty="0">
              <a:solidFill>
                <a:srgbClr val="FFFFFF"/>
              </a:solidFill>
              <a:effectLst/>
              <a:latin typeface="Courier New" panose="02070309020205020404" pitchFamily="49" charset="0"/>
            </a:endParaRPr>
          </a:p>
        </p:txBody>
      </p:sp>
      <p:sp>
        <p:nvSpPr>
          <p:cNvPr id="8" name="TextBox 7">
            <a:extLst>
              <a:ext uri="{FF2B5EF4-FFF2-40B4-BE49-F238E27FC236}">
                <a16:creationId xmlns:a16="http://schemas.microsoft.com/office/drawing/2014/main" id="{C08641AD-F50D-4C6C-E136-9EF307C228FC}"/>
              </a:ext>
            </a:extLst>
          </p:cNvPr>
          <p:cNvSpPr txBox="1"/>
          <p:nvPr/>
        </p:nvSpPr>
        <p:spPr>
          <a:xfrm>
            <a:off x="1105787" y="1819792"/>
            <a:ext cx="1244508" cy="369332"/>
          </a:xfrm>
          <a:prstGeom prst="rect">
            <a:avLst/>
          </a:prstGeom>
          <a:noFill/>
        </p:spPr>
        <p:txBody>
          <a:bodyPr wrap="none" rtlCol="0">
            <a:spAutoFit/>
          </a:bodyPr>
          <a:lstStyle/>
          <a:p>
            <a:r>
              <a:rPr lang="en-US" dirty="0"/>
              <a:t>Controller:</a:t>
            </a:r>
          </a:p>
        </p:txBody>
      </p:sp>
      <p:sp>
        <p:nvSpPr>
          <p:cNvPr id="10" name="TextBox 9">
            <a:extLst>
              <a:ext uri="{FF2B5EF4-FFF2-40B4-BE49-F238E27FC236}">
                <a16:creationId xmlns:a16="http://schemas.microsoft.com/office/drawing/2014/main" id="{C1449AF5-C040-AA7F-6094-646756B71A6C}"/>
              </a:ext>
            </a:extLst>
          </p:cNvPr>
          <p:cNvSpPr txBox="1"/>
          <p:nvPr/>
        </p:nvSpPr>
        <p:spPr>
          <a:xfrm>
            <a:off x="6181061" y="1819792"/>
            <a:ext cx="724301" cy="369332"/>
          </a:xfrm>
          <a:prstGeom prst="rect">
            <a:avLst/>
          </a:prstGeom>
          <a:noFill/>
        </p:spPr>
        <p:txBody>
          <a:bodyPr wrap="none" rtlCol="0">
            <a:spAutoFit/>
          </a:bodyPr>
          <a:lstStyle/>
          <a:p>
            <a:r>
              <a:rPr lang="en-US" dirty="0"/>
              <a:t>DTO:</a:t>
            </a:r>
          </a:p>
        </p:txBody>
      </p:sp>
    </p:spTree>
    <p:extLst>
      <p:ext uri="{BB962C8B-B14F-4D97-AF65-F5344CB8AC3E}">
        <p14:creationId xmlns:p14="http://schemas.microsoft.com/office/powerpoint/2010/main" val="492032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CF0D8-C86B-3B59-DBB3-204C8C2C9691}"/>
              </a:ext>
            </a:extLst>
          </p:cNvPr>
          <p:cNvSpPr>
            <a:spLocks noGrp="1"/>
          </p:cNvSpPr>
          <p:nvPr>
            <p:ph type="title"/>
          </p:nvPr>
        </p:nvSpPr>
        <p:spPr/>
        <p:txBody>
          <a:bodyPr/>
          <a:lstStyle/>
          <a:p>
            <a:r>
              <a:rPr lang="en-US" dirty="0"/>
              <a:t>Spring for </a:t>
            </a:r>
            <a:r>
              <a:rPr lang="en-US" dirty="0" err="1"/>
              <a:t>Graphql</a:t>
            </a:r>
            <a:endParaRPr lang="en-US" dirty="0"/>
          </a:p>
        </p:txBody>
      </p:sp>
      <p:sp>
        <p:nvSpPr>
          <p:cNvPr id="3" name="Content Placeholder 2">
            <a:extLst>
              <a:ext uri="{FF2B5EF4-FFF2-40B4-BE49-F238E27FC236}">
                <a16:creationId xmlns:a16="http://schemas.microsoft.com/office/drawing/2014/main" id="{8D644AD0-13A9-8904-7AD0-2F522798B859}"/>
              </a:ext>
            </a:extLst>
          </p:cNvPr>
          <p:cNvSpPr>
            <a:spLocks noGrp="1"/>
          </p:cNvSpPr>
          <p:nvPr>
            <p:ph idx="1"/>
          </p:nvPr>
        </p:nvSpPr>
        <p:spPr>
          <a:xfrm>
            <a:off x="581192" y="2180496"/>
            <a:ext cx="11029615" cy="4220304"/>
          </a:xfrm>
        </p:spPr>
        <p:txBody>
          <a:bodyPr>
            <a:normAutofit/>
          </a:bodyPr>
          <a:lstStyle/>
          <a:p>
            <a:r>
              <a:rPr lang="en-US" dirty="0" err="1"/>
              <a:t>GraphQL</a:t>
            </a:r>
            <a:r>
              <a:rPr lang="en-US" dirty="0"/>
              <a:t> is an API query language and runtime that lets clients request exactly the data they need. When you combine it with Spring Boot, you can build APIs that are flexible, strongly typed, and easy to evolve as your application grows.</a:t>
            </a:r>
          </a:p>
          <a:p>
            <a:r>
              <a:rPr lang="en-US" b="1" dirty="0"/>
              <a:t>The difference with REST? </a:t>
            </a:r>
          </a:p>
          <a:p>
            <a:pPr lvl="1"/>
            <a:r>
              <a:rPr lang="en-US" b="1" dirty="0"/>
              <a:t>REST typically exposes multiple endpoints, while </a:t>
            </a:r>
            <a:r>
              <a:rPr lang="en-US" b="1" dirty="0" err="1"/>
              <a:t>GraphQL</a:t>
            </a:r>
            <a:r>
              <a:rPr lang="en-US" b="1" dirty="0"/>
              <a:t> typically exposes one endpoint through which clients request different shapes of data.</a:t>
            </a:r>
            <a:endParaRPr lang="en-US" dirty="0"/>
          </a:p>
          <a:p>
            <a:r>
              <a:rPr lang="en-US" dirty="0"/>
              <a:t>Rest may have:</a:t>
            </a:r>
          </a:p>
          <a:p>
            <a:pPr lvl="1"/>
            <a:r>
              <a:rPr lang="en-US" dirty="0"/>
              <a:t>GET /</a:t>
            </a:r>
            <a:r>
              <a:rPr lang="en-US" dirty="0" err="1"/>
              <a:t>api</a:t>
            </a:r>
            <a:r>
              <a:rPr lang="en-US" dirty="0"/>
              <a:t>/customers/1</a:t>
            </a:r>
          </a:p>
          <a:p>
            <a:pPr lvl="1"/>
            <a:r>
              <a:rPr lang="en-US" dirty="0"/>
              <a:t>GET /</a:t>
            </a:r>
            <a:r>
              <a:rPr lang="en-US" dirty="0" err="1"/>
              <a:t>api</a:t>
            </a:r>
            <a:r>
              <a:rPr lang="en-US" dirty="0"/>
              <a:t>/customers/1/orders</a:t>
            </a:r>
          </a:p>
          <a:p>
            <a:pPr lvl="1"/>
            <a:r>
              <a:rPr lang="en-US" dirty="0"/>
              <a:t>GET /</a:t>
            </a:r>
            <a:r>
              <a:rPr lang="en-US" dirty="0" err="1"/>
              <a:t>api</a:t>
            </a:r>
            <a:r>
              <a:rPr lang="en-US" dirty="0"/>
              <a:t>/orders/101/items</a:t>
            </a:r>
          </a:p>
          <a:p>
            <a:r>
              <a:rPr lang="en-US" dirty="0"/>
              <a:t>While a </a:t>
            </a:r>
            <a:r>
              <a:rPr lang="en-US" dirty="0" err="1"/>
              <a:t>GraphQL</a:t>
            </a:r>
            <a:r>
              <a:rPr lang="en-US" dirty="0"/>
              <a:t> query may look like this:</a:t>
            </a:r>
          </a:p>
        </p:txBody>
      </p:sp>
      <p:sp>
        <p:nvSpPr>
          <p:cNvPr id="5" name="TextBox 4">
            <a:extLst>
              <a:ext uri="{FF2B5EF4-FFF2-40B4-BE49-F238E27FC236}">
                <a16:creationId xmlns:a16="http://schemas.microsoft.com/office/drawing/2014/main" id="{3A88F3F3-97EA-72C2-376E-BBEB99ECB367}"/>
              </a:ext>
            </a:extLst>
          </p:cNvPr>
          <p:cNvSpPr txBox="1"/>
          <p:nvPr/>
        </p:nvSpPr>
        <p:spPr>
          <a:xfrm>
            <a:off x="6706674" y="4280017"/>
            <a:ext cx="2913845" cy="2585323"/>
          </a:xfrm>
          <a:prstGeom prst="rect">
            <a:avLst/>
          </a:prstGeom>
          <a:noFill/>
        </p:spPr>
        <p:txBody>
          <a:bodyPr wrap="square">
            <a:spAutoFit/>
          </a:bodyPr>
          <a:lstStyle/>
          <a:p>
            <a:pPr indent="0" algn="l">
              <a:buNone/>
            </a:pPr>
            <a:r>
              <a:rPr lang="en-US" sz="1800" b="0" i="0" dirty="0">
                <a:solidFill>
                  <a:schemeClr val="tx1"/>
                </a:solidFill>
                <a:effectLst/>
                <a:latin typeface="+mn-lt"/>
              </a:rPr>
              <a:t>query {</a:t>
            </a:r>
          </a:p>
          <a:p>
            <a:pPr indent="0" algn="l">
              <a:buNone/>
            </a:pPr>
            <a:r>
              <a:rPr lang="en-US" sz="1800" b="0" i="0" dirty="0">
                <a:solidFill>
                  <a:schemeClr val="tx1"/>
                </a:solidFill>
                <a:effectLst/>
                <a:latin typeface="+mn-lt"/>
              </a:rPr>
              <a:t>  customer(id: "1") {</a:t>
            </a:r>
          </a:p>
          <a:p>
            <a:pPr indent="0" algn="l">
              <a:buNone/>
            </a:pPr>
            <a:r>
              <a:rPr lang="en-US" sz="1800" b="0" i="0" dirty="0">
                <a:solidFill>
                  <a:schemeClr val="tx1"/>
                </a:solidFill>
                <a:effectLst/>
                <a:latin typeface="+mn-lt"/>
              </a:rPr>
              <a:t>    name</a:t>
            </a:r>
          </a:p>
          <a:p>
            <a:pPr indent="0" algn="l">
              <a:buNone/>
            </a:pPr>
            <a:r>
              <a:rPr lang="en-US" sz="1800" b="0" i="0" dirty="0">
                <a:solidFill>
                  <a:schemeClr val="tx1"/>
                </a:solidFill>
                <a:effectLst/>
                <a:latin typeface="+mn-lt"/>
              </a:rPr>
              <a:t>    orders {</a:t>
            </a:r>
          </a:p>
          <a:p>
            <a:pPr indent="0" algn="l">
              <a:buNone/>
            </a:pPr>
            <a:r>
              <a:rPr lang="en-US" sz="1800" b="0" i="0" dirty="0">
                <a:solidFill>
                  <a:schemeClr val="tx1"/>
                </a:solidFill>
                <a:effectLst/>
                <a:latin typeface="+mn-lt"/>
              </a:rPr>
              <a:t>      id</a:t>
            </a:r>
          </a:p>
          <a:p>
            <a:pPr indent="0" algn="l">
              <a:buNone/>
            </a:pPr>
            <a:r>
              <a:rPr lang="en-US" sz="1800" b="0" i="0" dirty="0">
                <a:solidFill>
                  <a:schemeClr val="tx1"/>
                </a:solidFill>
                <a:effectLst/>
                <a:latin typeface="+mn-lt"/>
              </a:rPr>
              <a:t>      total</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a:t>
            </a:r>
            <a:endParaRPr lang="en-US" sz="1200" b="0" i="0" dirty="0">
              <a:solidFill>
                <a:srgbClr val="FFFFFF"/>
              </a:solidFill>
              <a:effectLst/>
              <a:latin typeface="Courier New" panose="02070309020205020404" pitchFamily="49" charset="0"/>
            </a:endParaRPr>
          </a:p>
        </p:txBody>
      </p:sp>
    </p:spTree>
    <p:extLst>
      <p:ext uri="{BB962C8B-B14F-4D97-AF65-F5344CB8AC3E}">
        <p14:creationId xmlns:p14="http://schemas.microsoft.com/office/powerpoint/2010/main" val="31804385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71FD1-AAB3-C518-4DB6-33EFA25D152C}"/>
              </a:ext>
            </a:extLst>
          </p:cNvPr>
          <p:cNvSpPr>
            <a:spLocks noGrp="1"/>
          </p:cNvSpPr>
          <p:nvPr>
            <p:ph type="title"/>
          </p:nvPr>
        </p:nvSpPr>
        <p:spPr/>
        <p:txBody>
          <a:bodyPr/>
          <a:lstStyle/>
          <a:p>
            <a:r>
              <a:rPr lang="en-US" dirty="0" err="1"/>
              <a:t>Graphql</a:t>
            </a:r>
            <a:r>
              <a:rPr lang="en-US" dirty="0"/>
              <a:t> setup for spring boot</a:t>
            </a:r>
          </a:p>
        </p:txBody>
      </p:sp>
      <p:sp>
        <p:nvSpPr>
          <p:cNvPr id="3" name="Content Placeholder 2">
            <a:extLst>
              <a:ext uri="{FF2B5EF4-FFF2-40B4-BE49-F238E27FC236}">
                <a16:creationId xmlns:a16="http://schemas.microsoft.com/office/drawing/2014/main" id="{5761D988-7E43-4034-3C17-12A08C81E8F9}"/>
              </a:ext>
            </a:extLst>
          </p:cNvPr>
          <p:cNvSpPr>
            <a:spLocks noGrp="1"/>
          </p:cNvSpPr>
          <p:nvPr>
            <p:ph idx="1"/>
          </p:nvPr>
        </p:nvSpPr>
        <p:spPr>
          <a:xfrm>
            <a:off x="581192" y="1893196"/>
            <a:ext cx="5514808" cy="1944710"/>
          </a:xfrm>
        </p:spPr>
        <p:txBody>
          <a:bodyPr>
            <a:normAutofit fontScale="92500" lnSpcReduction="20000"/>
          </a:bodyPr>
          <a:lstStyle/>
          <a:p>
            <a:r>
              <a:rPr lang="en-US" dirty="0"/>
              <a:t>Step 1: Include the dependencies (Maven shown)</a:t>
            </a:r>
          </a:p>
          <a:p>
            <a:r>
              <a:rPr lang="en-US" dirty="0"/>
              <a:t>Step 2: Create a file to store the schema</a:t>
            </a:r>
          </a:p>
          <a:p>
            <a:pPr lvl="1"/>
            <a:r>
              <a:rPr lang="en-US" dirty="0" err="1"/>
              <a:t>src</a:t>
            </a:r>
            <a:r>
              <a:rPr lang="en-US" dirty="0"/>
              <a:t>/main/resources/</a:t>
            </a:r>
            <a:r>
              <a:rPr lang="en-US" dirty="0" err="1"/>
              <a:t>graphql</a:t>
            </a:r>
            <a:r>
              <a:rPr lang="en-US" dirty="0"/>
              <a:t>/</a:t>
            </a:r>
            <a:r>
              <a:rPr lang="en-US" dirty="0" err="1"/>
              <a:t>schema.graphqls</a:t>
            </a:r>
            <a:endParaRPr lang="en-US" dirty="0"/>
          </a:p>
          <a:p>
            <a:pPr lvl="1"/>
            <a:r>
              <a:rPr lang="en-US" dirty="0"/>
              <a:t>Spring Boot automatically discovers .</a:t>
            </a:r>
            <a:r>
              <a:rPr lang="en-US" dirty="0" err="1"/>
              <a:t>graphqls</a:t>
            </a:r>
            <a:r>
              <a:rPr lang="en-US" dirty="0"/>
              <a:t> and .</a:t>
            </a:r>
            <a:r>
              <a:rPr lang="en-US" dirty="0" err="1"/>
              <a:t>gqls</a:t>
            </a:r>
            <a:r>
              <a:rPr lang="en-US" dirty="0"/>
              <a:t> schema files in the default </a:t>
            </a:r>
            <a:r>
              <a:rPr lang="en-US" dirty="0" err="1"/>
              <a:t>src</a:t>
            </a:r>
            <a:r>
              <a:rPr lang="en-US" dirty="0"/>
              <a:t>/main/resources/</a:t>
            </a:r>
            <a:r>
              <a:rPr lang="en-US" dirty="0" err="1"/>
              <a:t>graphql</a:t>
            </a:r>
            <a:r>
              <a:rPr lang="en-US" dirty="0"/>
              <a:t>/ location. (the file types are equivalent)</a:t>
            </a:r>
            <a:br>
              <a:rPr lang="en-US" dirty="0"/>
            </a:br>
            <a:endParaRPr lang="en-US" dirty="0"/>
          </a:p>
        </p:txBody>
      </p:sp>
      <p:sp>
        <p:nvSpPr>
          <p:cNvPr id="5" name="TextBox 4">
            <a:extLst>
              <a:ext uri="{FF2B5EF4-FFF2-40B4-BE49-F238E27FC236}">
                <a16:creationId xmlns:a16="http://schemas.microsoft.com/office/drawing/2014/main" id="{C1FFCFF3-BD01-9C51-593B-A659D4578CFC}"/>
              </a:ext>
            </a:extLst>
          </p:cNvPr>
          <p:cNvSpPr txBox="1"/>
          <p:nvPr/>
        </p:nvSpPr>
        <p:spPr>
          <a:xfrm>
            <a:off x="5422006" y="2113336"/>
            <a:ext cx="6098146" cy="954107"/>
          </a:xfrm>
          <a:prstGeom prst="rect">
            <a:avLst/>
          </a:prstGeom>
          <a:noFill/>
        </p:spPr>
        <p:txBody>
          <a:bodyPr wrap="square">
            <a:spAutoFit/>
          </a:bodyPr>
          <a:lstStyle/>
          <a:p>
            <a:pPr indent="0" algn="l">
              <a:buNone/>
            </a:pPr>
            <a:r>
              <a:rPr lang="en-US" sz="1400" b="0" i="0" dirty="0">
                <a:solidFill>
                  <a:schemeClr val="tx1"/>
                </a:solidFill>
                <a:effectLst/>
                <a:latin typeface="+mn-lt"/>
              </a:rPr>
              <a:t> &lt;dependency&gt;</a:t>
            </a:r>
          </a:p>
          <a:p>
            <a:pPr indent="0" algn="l">
              <a:buNone/>
            </a:pPr>
            <a:r>
              <a:rPr lang="en-US" sz="1400" b="0" i="0" dirty="0">
                <a:solidFill>
                  <a:schemeClr val="tx1"/>
                </a:solidFill>
                <a:effectLst/>
                <a:latin typeface="+mn-lt"/>
              </a:rPr>
              <a:t>        &lt;</a:t>
            </a:r>
            <a:r>
              <a:rPr lang="en-US" sz="1400" b="0" i="0" dirty="0" err="1">
                <a:solidFill>
                  <a:schemeClr val="tx1"/>
                </a:solidFill>
                <a:effectLst/>
                <a:latin typeface="+mn-lt"/>
              </a:rPr>
              <a:t>groupId</a:t>
            </a:r>
            <a:r>
              <a:rPr lang="en-US" sz="1400" b="0" i="0" dirty="0">
                <a:solidFill>
                  <a:schemeClr val="tx1"/>
                </a:solidFill>
                <a:effectLst/>
                <a:latin typeface="+mn-lt"/>
              </a:rPr>
              <a:t>&gt;</a:t>
            </a:r>
            <a:r>
              <a:rPr lang="en-US" sz="1400" b="0" i="0" dirty="0" err="1">
                <a:solidFill>
                  <a:schemeClr val="tx1"/>
                </a:solidFill>
                <a:effectLst/>
                <a:latin typeface="+mn-lt"/>
              </a:rPr>
              <a:t>org.springframework.boot</a:t>
            </a:r>
            <a:r>
              <a:rPr lang="en-US" sz="1400" b="0" i="0" dirty="0">
                <a:solidFill>
                  <a:schemeClr val="tx1"/>
                </a:solidFill>
                <a:effectLst/>
                <a:latin typeface="+mn-lt"/>
              </a:rPr>
              <a:t>&lt;/</a:t>
            </a:r>
            <a:r>
              <a:rPr lang="en-US" sz="1400" b="0" i="0" dirty="0" err="1">
                <a:solidFill>
                  <a:schemeClr val="tx1"/>
                </a:solidFill>
                <a:effectLst/>
                <a:latin typeface="+mn-lt"/>
              </a:rPr>
              <a:t>groupId</a:t>
            </a:r>
            <a:r>
              <a:rPr lang="en-US" sz="1400" b="0" i="0" dirty="0">
                <a:solidFill>
                  <a:schemeClr val="tx1"/>
                </a:solidFill>
                <a:effectLst/>
                <a:latin typeface="+mn-lt"/>
              </a:rPr>
              <a:t>&gt;</a:t>
            </a:r>
          </a:p>
          <a:p>
            <a:pPr indent="0" algn="l">
              <a:buNone/>
            </a:pPr>
            <a:r>
              <a:rPr lang="en-US" sz="1400" b="0" i="0" dirty="0">
                <a:solidFill>
                  <a:schemeClr val="tx1"/>
                </a:solidFill>
                <a:effectLst/>
                <a:latin typeface="+mn-lt"/>
              </a:rPr>
              <a:t>        &lt;</a:t>
            </a:r>
            <a:r>
              <a:rPr lang="en-US" sz="1400" b="0" i="0" dirty="0" err="1">
                <a:solidFill>
                  <a:schemeClr val="tx1"/>
                </a:solidFill>
                <a:effectLst/>
                <a:latin typeface="+mn-lt"/>
              </a:rPr>
              <a:t>artifactId</a:t>
            </a:r>
            <a:r>
              <a:rPr lang="en-US" sz="1400" b="0" i="0" dirty="0">
                <a:solidFill>
                  <a:schemeClr val="tx1"/>
                </a:solidFill>
                <a:effectLst/>
                <a:latin typeface="+mn-lt"/>
              </a:rPr>
              <a:t>&gt;spring-boot-starter-</a:t>
            </a:r>
            <a:r>
              <a:rPr lang="en-US" sz="1400" b="0" i="0" dirty="0" err="1">
                <a:solidFill>
                  <a:schemeClr val="tx1"/>
                </a:solidFill>
                <a:effectLst/>
                <a:latin typeface="+mn-lt"/>
              </a:rPr>
              <a:t>graphql</a:t>
            </a:r>
            <a:r>
              <a:rPr lang="en-US" sz="1400" b="0" i="0" dirty="0">
                <a:solidFill>
                  <a:schemeClr val="tx1"/>
                </a:solidFill>
                <a:effectLst/>
                <a:latin typeface="+mn-lt"/>
              </a:rPr>
              <a:t>&lt;/</a:t>
            </a:r>
            <a:r>
              <a:rPr lang="en-US" sz="1400" b="0" i="0" dirty="0" err="1">
                <a:solidFill>
                  <a:schemeClr val="tx1"/>
                </a:solidFill>
                <a:effectLst/>
                <a:latin typeface="+mn-lt"/>
              </a:rPr>
              <a:t>artifactId</a:t>
            </a:r>
            <a:r>
              <a:rPr lang="en-US" sz="1400" b="0" i="0" dirty="0">
                <a:solidFill>
                  <a:schemeClr val="tx1"/>
                </a:solidFill>
                <a:effectLst/>
                <a:latin typeface="+mn-lt"/>
              </a:rPr>
              <a:t>&gt;</a:t>
            </a:r>
          </a:p>
          <a:p>
            <a:pPr indent="0" algn="l">
              <a:buNone/>
            </a:pPr>
            <a:r>
              <a:rPr lang="en-US" sz="1400" b="0" i="0" dirty="0">
                <a:solidFill>
                  <a:schemeClr val="tx1"/>
                </a:solidFill>
                <a:effectLst/>
                <a:latin typeface="+mn-lt"/>
              </a:rPr>
              <a:t>    &lt;/dependency&gt;</a:t>
            </a:r>
            <a:endParaRPr lang="en-US" sz="1050" b="0" i="0" dirty="0">
              <a:solidFill>
                <a:srgbClr val="FFFFFF"/>
              </a:solidFill>
              <a:effectLst/>
              <a:latin typeface="Courier New" panose="02070309020205020404" pitchFamily="49" charset="0"/>
            </a:endParaRPr>
          </a:p>
        </p:txBody>
      </p:sp>
      <p:sp>
        <p:nvSpPr>
          <p:cNvPr id="7" name="TextBox 6">
            <a:extLst>
              <a:ext uri="{FF2B5EF4-FFF2-40B4-BE49-F238E27FC236}">
                <a16:creationId xmlns:a16="http://schemas.microsoft.com/office/drawing/2014/main" id="{B5336B0F-A100-7EB6-B367-58D3DC294A1C}"/>
              </a:ext>
            </a:extLst>
          </p:cNvPr>
          <p:cNvSpPr txBox="1"/>
          <p:nvPr/>
        </p:nvSpPr>
        <p:spPr>
          <a:xfrm>
            <a:off x="6359272" y="3587773"/>
            <a:ext cx="4647630" cy="3108543"/>
          </a:xfrm>
          <a:prstGeom prst="rect">
            <a:avLst/>
          </a:prstGeom>
          <a:noFill/>
        </p:spPr>
        <p:txBody>
          <a:bodyPr wrap="square">
            <a:spAutoFit/>
          </a:bodyPr>
          <a:lstStyle/>
          <a:p>
            <a:pPr indent="0" algn="l">
              <a:buNone/>
            </a:pPr>
            <a:r>
              <a:rPr lang="en-US" sz="1400" b="0" i="0" dirty="0">
                <a:solidFill>
                  <a:schemeClr val="tx1"/>
                </a:solidFill>
                <a:effectLst/>
                <a:latin typeface="+mn-lt"/>
              </a:rPr>
              <a:t>type Customer {</a:t>
            </a:r>
          </a:p>
          <a:p>
            <a:pPr indent="0" algn="l">
              <a:buNone/>
            </a:pPr>
            <a:r>
              <a:rPr lang="en-US" sz="1400" b="0" i="0" dirty="0">
                <a:solidFill>
                  <a:schemeClr val="tx1"/>
                </a:solidFill>
                <a:effectLst/>
                <a:latin typeface="+mn-lt"/>
              </a:rPr>
              <a:t>    id: ID!</a:t>
            </a:r>
          </a:p>
          <a:p>
            <a:pPr indent="0" algn="l">
              <a:buNone/>
            </a:pPr>
            <a:r>
              <a:rPr lang="en-US" sz="1400" b="0" i="0" dirty="0">
                <a:solidFill>
                  <a:schemeClr val="tx1"/>
                </a:solidFill>
                <a:effectLst/>
                <a:latin typeface="+mn-lt"/>
              </a:rPr>
              <a:t>    name: String!</a:t>
            </a:r>
          </a:p>
          <a:p>
            <a:pPr indent="0" algn="l">
              <a:buNone/>
            </a:pPr>
            <a:r>
              <a:rPr lang="en-US" sz="1400" b="0" i="0" dirty="0">
                <a:solidFill>
                  <a:schemeClr val="tx1"/>
                </a:solidFill>
                <a:effectLst/>
                <a:latin typeface="+mn-lt"/>
              </a:rPr>
              <a:t>    email: String!</a:t>
            </a:r>
          </a:p>
          <a:p>
            <a:pPr indent="0" algn="l">
              <a:buNone/>
            </a:pPr>
            <a:r>
              <a:rPr lang="en-US" sz="1400" b="0" i="0" dirty="0">
                <a:solidFill>
                  <a:schemeClr val="tx1"/>
                </a:solidFill>
                <a:effectLst/>
                <a:latin typeface="+mn-lt"/>
              </a:rPr>
              <a:t>}</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type Query {</a:t>
            </a:r>
          </a:p>
          <a:p>
            <a:pPr indent="0" algn="l">
              <a:buNone/>
            </a:pPr>
            <a:r>
              <a:rPr lang="en-US" sz="1400" b="0" i="0" dirty="0">
                <a:solidFill>
                  <a:schemeClr val="tx1"/>
                </a:solidFill>
                <a:effectLst/>
                <a:latin typeface="+mn-lt"/>
              </a:rPr>
              <a:t>    customers: [Customer!]!</a:t>
            </a:r>
          </a:p>
          <a:p>
            <a:pPr indent="0" algn="l">
              <a:buNone/>
            </a:pPr>
            <a:r>
              <a:rPr lang="en-US" sz="1400" b="0" i="0" dirty="0">
                <a:solidFill>
                  <a:schemeClr val="tx1"/>
                </a:solidFill>
                <a:effectLst/>
                <a:latin typeface="+mn-lt"/>
              </a:rPr>
              <a:t>    </a:t>
            </a:r>
            <a:r>
              <a:rPr lang="en-US" sz="1400" b="0" i="0" dirty="0" err="1">
                <a:solidFill>
                  <a:schemeClr val="tx1"/>
                </a:solidFill>
                <a:effectLst/>
                <a:latin typeface="+mn-lt"/>
              </a:rPr>
              <a:t>customerById</a:t>
            </a:r>
            <a:r>
              <a:rPr lang="en-US" sz="1400" b="0" i="0" dirty="0">
                <a:solidFill>
                  <a:schemeClr val="tx1"/>
                </a:solidFill>
                <a:effectLst/>
                <a:latin typeface="+mn-lt"/>
              </a:rPr>
              <a:t>(id: ID!): Customer</a:t>
            </a:r>
          </a:p>
          <a:p>
            <a:pPr indent="0" algn="l">
              <a:buNone/>
            </a:pPr>
            <a:r>
              <a:rPr lang="en-US" sz="1400" b="0" i="0" dirty="0">
                <a:solidFill>
                  <a:schemeClr val="tx1"/>
                </a:solidFill>
                <a:effectLst/>
                <a:latin typeface="+mn-lt"/>
              </a:rPr>
              <a:t>}</a:t>
            </a:r>
          </a:p>
          <a:p>
            <a:pPr indent="0" algn="l">
              <a:buNone/>
            </a:pPr>
            <a:endParaRPr lang="en-US" sz="1400" b="0" i="0" dirty="0">
              <a:solidFill>
                <a:schemeClr val="tx1"/>
              </a:solidFill>
              <a:effectLst/>
              <a:latin typeface="+mn-lt"/>
            </a:endParaRPr>
          </a:p>
          <a:p>
            <a:pPr indent="0" algn="l">
              <a:buNone/>
            </a:pPr>
            <a:r>
              <a:rPr lang="en-US" sz="1400" b="0" i="0" dirty="0">
                <a:solidFill>
                  <a:schemeClr val="tx1"/>
                </a:solidFill>
                <a:effectLst/>
                <a:latin typeface="+mn-lt"/>
              </a:rPr>
              <a:t>type Mutation {</a:t>
            </a:r>
          </a:p>
          <a:p>
            <a:pPr indent="0" algn="l">
              <a:buNone/>
            </a:pPr>
            <a:r>
              <a:rPr lang="en-US" sz="1400" b="0" i="0" dirty="0">
                <a:solidFill>
                  <a:schemeClr val="tx1"/>
                </a:solidFill>
                <a:effectLst/>
                <a:latin typeface="+mn-lt"/>
              </a:rPr>
              <a:t>    </a:t>
            </a:r>
            <a:r>
              <a:rPr lang="en-US" sz="1400" b="0" i="0" dirty="0" err="1">
                <a:solidFill>
                  <a:schemeClr val="tx1"/>
                </a:solidFill>
                <a:effectLst/>
                <a:latin typeface="+mn-lt"/>
              </a:rPr>
              <a:t>createCustomer</a:t>
            </a:r>
            <a:r>
              <a:rPr lang="en-US" sz="1400" b="0" i="0" dirty="0">
                <a:solidFill>
                  <a:schemeClr val="tx1"/>
                </a:solidFill>
                <a:effectLst/>
                <a:latin typeface="+mn-lt"/>
              </a:rPr>
              <a:t>(name: String!, email: String!): Customer!</a:t>
            </a:r>
          </a:p>
          <a:p>
            <a:pPr indent="0" algn="l">
              <a:buNone/>
            </a:pPr>
            <a:r>
              <a:rPr lang="en-US" sz="1400" b="0" i="0" dirty="0">
                <a:solidFill>
                  <a:schemeClr val="tx1"/>
                </a:solidFill>
                <a:effectLst/>
                <a:latin typeface="+mn-lt"/>
              </a:rPr>
              <a:t>}</a:t>
            </a:r>
            <a:endParaRPr lang="en-US" sz="1050" b="0" i="0" dirty="0">
              <a:solidFill>
                <a:srgbClr val="FFFFFF"/>
              </a:solidFill>
              <a:effectLst/>
              <a:latin typeface="Courier New" panose="02070309020205020404" pitchFamily="49" charset="0"/>
            </a:endParaRPr>
          </a:p>
        </p:txBody>
      </p:sp>
      <p:sp>
        <p:nvSpPr>
          <p:cNvPr id="8" name="TextBox 7">
            <a:extLst>
              <a:ext uri="{FF2B5EF4-FFF2-40B4-BE49-F238E27FC236}">
                <a16:creationId xmlns:a16="http://schemas.microsoft.com/office/drawing/2014/main" id="{5163939F-33F8-D5CD-C72B-B77007EFAC40}"/>
              </a:ext>
            </a:extLst>
          </p:cNvPr>
          <p:cNvSpPr txBox="1"/>
          <p:nvPr/>
        </p:nvSpPr>
        <p:spPr>
          <a:xfrm>
            <a:off x="6359272" y="3189253"/>
            <a:ext cx="1787669" cy="369332"/>
          </a:xfrm>
          <a:prstGeom prst="rect">
            <a:avLst/>
          </a:prstGeom>
          <a:noFill/>
        </p:spPr>
        <p:txBody>
          <a:bodyPr wrap="none" rtlCol="0">
            <a:spAutoFit/>
          </a:bodyPr>
          <a:lstStyle/>
          <a:p>
            <a:r>
              <a:rPr lang="en-US" dirty="0"/>
              <a:t>Schema example:</a:t>
            </a:r>
          </a:p>
        </p:txBody>
      </p:sp>
      <p:graphicFrame>
        <p:nvGraphicFramePr>
          <p:cNvPr id="9" name="Table 8">
            <a:extLst>
              <a:ext uri="{FF2B5EF4-FFF2-40B4-BE49-F238E27FC236}">
                <a16:creationId xmlns:a16="http://schemas.microsoft.com/office/drawing/2014/main" id="{6EB3BCA3-F141-274A-01EE-00D23A0B05F4}"/>
              </a:ext>
            </a:extLst>
          </p:cNvPr>
          <p:cNvGraphicFramePr>
            <a:graphicFrameLocks noGrp="1"/>
          </p:cNvGraphicFramePr>
          <p:nvPr>
            <p:extLst>
              <p:ext uri="{D42A27DB-BD31-4B8C-83A1-F6EECF244321}">
                <p14:modId xmlns:p14="http://schemas.microsoft.com/office/powerpoint/2010/main" val="1705532183"/>
              </p:ext>
            </p:extLst>
          </p:nvPr>
        </p:nvGraphicFramePr>
        <p:xfrm>
          <a:off x="941632" y="3723925"/>
          <a:ext cx="4480374" cy="2836237"/>
        </p:xfrm>
        <a:graphic>
          <a:graphicData uri="http://schemas.openxmlformats.org/drawingml/2006/table">
            <a:tbl>
              <a:tblPr>
                <a:tableStyleId>{5C22544A-7EE6-4342-B048-85BDC9FD1C3A}</a:tableStyleId>
              </a:tblPr>
              <a:tblGrid>
                <a:gridCol w="2240187">
                  <a:extLst>
                    <a:ext uri="{9D8B030D-6E8A-4147-A177-3AD203B41FA5}">
                      <a16:colId xmlns:a16="http://schemas.microsoft.com/office/drawing/2014/main" val="1032056092"/>
                    </a:ext>
                  </a:extLst>
                </a:gridCol>
                <a:gridCol w="2240187">
                  <a:extLst>
                    <a:ext uri="{9D8B030D-6E8A-4147-A177-3AD203B41FA5}">
                      <a16:colId xmlns:a16="http://schemas.microsoft.com/office/drawing/2014/main" val="4040580674"/>
                    </a:ext>
                  </a:extLst>
                </a:gridCol>
              </a:tblGrid>
              <a:tr h="338411">
                <a:tc>
                  <a:txBody>
                    <a:bodyPr/>
                    <a:lstStyle/>
                    <a:p>
                      <a:pPr marL="0" marR="0" algn="l" fontAlgn="t">
                        <a:buNone/>
                      </a:pPr>
                      <a:r>
                        <a:rPr lang="en-US" sz="1200" b="1" spc="0">
                          <a:effectLst/>
                        </a:rPr>
                        <a:t>Syntax</a:t>
                      </a:r>
                      <a:endParaRPr lang="en-US" sz="1200" b="1" i="0" spc="0">
                        <a:solidFill>
                          <a:srgbClr val="FFFFFF"/>
                        </a:solidFill>
                        <a:effectLst/>
                        <a:latin typeface="-apple-system-body"/>
                      </a:endParaRPr>
                    </a:p>
                  </a:txBody>
                  <a:tcPr marT="50800" marB="50800"/>
                </a:tc>
                <a:tc>
                  <a:txBody>
                    <a:bodyPr/>
                    <a:lstStyle/>
                    <a:p>
                      <a:pPr marL="0" marR="0" algn="l" fontAlgn="t">
                        <a:buNone/>
                      </a:pPr>
                      <a:r>
                        <a:rPr lang="en-US" sz="1200" b="1" spc="0" dirty="0">
                          <a:effectLst/>
                        </a:rPr>
                        <a:t>Meaning</a:t>
                      </a:r>
                      <a:endParaRPr lang="en-US" sz="1200" b="1" i="0" spc="0" dirty="0">
                        <a:solidFill>
                          <a:srgbClr val="FFFFFF"/>
                        </a:solidFill>
                        <a:effectLst/>
                        <a:latin typeface="-apple-system-body"/>
                      </a:endParaRPr>
                    </a:p>
                  </a:txBody>
                  <a:tcPr marT="50800" marB="50800"/>
                </a:tc>
                <a:extLst>
                  <a:ext uri="{0D108BD9-81ED-4DB2-BD59-A6C34878D82A}">
                    <a16:rowId xmlns:a16="http://schemas.microsoft.com/office/drawing/2014/main" val="1260539649"/>
                  </a:ext>
                </a:extLst>
              </a:tr>
              <a:tr h="338411">
                <a:tc>
                  <a:txBody>
                    <a:bodyPr/>
                    <a:lstStyle/>
                    <a:p>
                      <a:pPr marL="0" marR="0" algn="l" fontAlgn="t">
                        <a:buNone/>
                      </a:pPr>
                      <a:r>
                        <a:rPr lang="en-US" sz="1200" spc="0" dirty="0">
                          <a:effectLst/>
                        </a:rPr>
                        <a:t>type Customer</a:t>
                      </a:r>
                      <a:endParaRPr lang="en-US" sz="1200" b="0" i="0" spc="0" dirty="0">
                        <a:solidFill>
                          <a:srgbClr val="FFFFFF"/>
                        </a:solidFill>
                        <a:effectLst/>
                        <a:latin typeface="-apple-system-body"/>
                      </a:endParaRPr>
                    </a:p>
                  </a:txBody>
                  <a:tcPr marT="50800" marB="50800"/>
                </a:tc>
                <a:tc>
                  <a:txBody>
                    <a:bodyPr/>
                    <a:lstStyle/>
                    <a:p>
                      <a:pPr marL="0" marR="0" algn="l" fontAlgn="t">
                        <a:buNone/>
                      </a:pPr>
                      <a:r>
                        <a:rPr lang="en-US" sz="1200" spc="0">
                          <a:effectLst/>
                        </a:rPr>
                        <a:t>Defines an object type</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2542915901"/>
                  </a:ext>
                </a:extLst>
              </a:tr>
              <a:tr h="338411">
                <a:tc>
                  <a:txBody>
                    <a:bodyPr/>
                    <a:lstStyle/>
                    <a:p>
                      <a:pPr marL="0" marR="0" algn="l" fontAlgn="t">
                        <a:buNone/>
                      </a:pPr>
                      <a:r>
                        <a:rPr lang="en-US" sz="1200" spc="0" dirty="0">
                          <a:effectLst/>
                        </a:rPr>
                        <a:t>type Query</a:t>
                      </a:r>
                      <a:endParaRPr lang="en-US" sz="1200" b="0" i="0" spc="0" dirty="0">
                        <a:solidFill>
                          <a:srgbClr val="FFFFFF"/>
                        </a:solidFill>
                        <a:effectLst/>
                        <a:latin typeface="-apple-system-body"/>
                      </a:endParaRPr>
                    </a:p>
                  </a:txBody>
                  <a:tcPr marT="50800" marB="50800"/>
                </a:tc>
                <a:tc>
                  <a:txBody>
                    <a:bodyPr/>
                    <a:lstStyle/>
                    <a:p>
                      <a:pPr marL="0" marR="0" algn="l" fontAlgn="t">
                        <a:buNone/>
                      </a:pPr>
                      <a:r>
                        <a:rPr lang="en-US" sz="1200" spc="0">
                          <a:effectLst/>
                        </a:rPr>
                        <a:t>Defines read operations</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1824469812"/>
                  </a:ext>
                </a:extLst>
              </a:tr>
              <a:tr h="338411">
                <a:tc>
                  <a:txBody>
                    <a:bodyPr/>
                    <a:lstStyle/>
                    <a:p>
                      <a:pPr marL="0" marR="0" algn="l" fontAlgn="t">
                        <a:buNone/>
                      </a:pPr>
                      <a:r>
                        <a:rPr lang="en-US" sz="1200" spc="0">
                          <a:effectLst/>
                        </a:rPr>
                        <a:t>type Mutation</a:t>
                      </a:r>
                      <a:endParaRPr lang="en-US" sz="1200" b="0" i="0" spc="0">
                        <a:solidFill>
                          <a:srgbClr val="FFFFFF"/>
                        </a:solidFill>
                        <a:effectLst/>
                        <a:latin typeface="-apple-system-body"/>
                      </a:endParaRPr>
                    </a:p>
                  </a:txBody>
                  <a:tcPr marT="50800" marB="50800"/>
                </a:tc>
                <a:tc>
                  <a:txBody>
                    <a:bodyPr/>
                    <a:lstStyle/>
                    <a:p>
                      <a:pPr marL="0" marR="0" algn="l" fontAlgn="t">
                        <a:buNone/>
                      </a:pPr>
                      <a:r>
                        <a:rPr lang="en-US" sz="1200" spc="0">
                          <a:effectLst/>
                        </a:rPr>
                        <a:t>Defines write operations</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4008926734"/>
                  </a:ext>
                </a:extLst>
              </a:tr>
              <a:tr h="338411">
                <a:tc>
                  <a:txBody>
                    <a:bodyPr/>
                    <a:lstStyle/>
                    <a:p>
                      <a:pPr marL="0" marR="0" algn="l" fontAlgn="t">
                        <a:buNone/>
                      </a:pPr>
                      <a:r>
                        <a:rPr lang="en-US" sz="1200" spc="0">
                          <a:effectLst/>
                        </a:rPr>
                        <a:t>ID</a:t>
                      </a:r>
                      <a:endParaRPr lang="en-US" sz="1200" b="0" i="0" spc="0">
                        <a:solidFill>
                          <a:srgbClr val="FFFFFF"/>
                        </a:solidFill>
                        <a:effectLst/>
                        <a:latin typeface="-apple-system-body"/>
                      </a:endParaRPr>
                    </a:p>
                  </a:txBody>
                  <a:tcPr marT="50800" marB="50800"/>
                </a:tc>
                <a:tc>
                  <a:txBody>
                    <a:bodyPr/>
                    <a:lstStyle/>
                    <a:p>
                      <a:pPr marL="0" marR="0" algn="l" fontAlgn="t">
                        <a:buNone/>
                      </a:pPr>
                      <a:r>
                        <a:rPr lang="en-US" sz="1200" spc="0">
                          <a:effectLst/>
                        </a:rPr>
                        <a:t>Represents an identifier</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1128085909"/>
                  </a:ext>
                </a:extLst>
              </a:tr>
              <a:tr h="338411">
                <a:tc>
                  <a:txBody>
                    <a:bodyPr/>
                    <a:lstStyle/>
                    <a:p>
                      <a:pPr marL="0" marR="0" algn="l" fontAlgn="t">
                        <a:buNone/>
                      </a:pPr>
                      <a:r>
                        <a:rPr lang="en-US" sz="1200" spc="0">
                          <a:effectLst/>
                        </a:rPr>
                        <a:t>String</a:t>
                      </a:r>
                      <a:endParaRPr lang="en-US" sz="1200" b="0" i="0" spc="0">
                        <a:solidFill>
                          <a:srgbClr val="FFFFFF"/>
                        </a:solidFill>
                        <a:effectLst/>
                        <a:latin typeface="-apple-system-body"/>
                      </a:endParaRPr>
                    </a:p>
                  </a:txBody>
                  <a:tcPr marT="50800" marB="50800"/>
                </a:tc>
                <a:tc>
                  <a:txBody>
                    <a:bodyPr/>
                    <a:lstStyle/>
                    <a:p>
                      <a:pPr marL="0" marR="0" algn="l" fontAlgn="t">
                        <a:buNone/>
                      </a:pPr>
                      <a:r>
                        <a:rPr lang="en-US" sz="1200" spc="0">
                          <a:effectLst/>
                        </a:rPr>
                        <a:t>Represents text</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299527410"/>
                  </a:ext>
                </a:extLst>
              </a:tr>
              <a:tr h="338411">
                <a:tc>
                  <a:txBody>
                    <a:bodyPr/>
                    <a:lstStyle/>
                    <a:p>
                      <a:pPr marL="0" marR="0" algn="l" fontAlgn="t">
                        <a:buNone/>
                      </a:pPr>
                      <a:r>
                        <a:rPr lang="en-US" sz="1200" spc="0">
                          <a:effectLst/>
                        </a:rPr>
                        <a:t>!</a:t>
                      </a:r>
                      <a:endParaRPr lang="en-US" sz="1200" b="0" i="0" spc="0">
                        <a:solidFill>
                          <a:srgbClr val="FFFFFF"/>
                        </a:solidFill>
                        <a:effectLst/>
                        <a:latin typeface="-apple-system-body"/>
                      </a:endParaRPr>
                    </a:p>
                  </a:txBody>
                  <a:tcPr marT="50800" marB="50800"/>
                </a:tc>
                <a:tc>
                  <a:txBody>
                    <a:bodyPr/>
                    <a:lstStyle/>
                    <a:p>
                      <a:pPr marL="0" marR="0" algn="l" fontAlgn="t">
                        <a:buNone/>
                      </a:pPr>
                      <a:r>
                        <a:rPr lang="en-US" sz="1200" spc="0">
                          <a:effectLst/>
                        </a:rPr>
                        <a:t>The value cannot be null</a:t>
                      </a:r>
                      <a:endParaRPr lang="en-US" sz="1200" b="0" i="0" spc="0">
                        <a:solidFill>
                          <a:srgbClr val="FFFFFF"/>
                        </a:solidFill>
                        <a:effectLst/>
                        <a:latin typeface="-apple-system-body"/>
                      </a:endParaRPr>
                    </a:p>
                  </a:txBody>
                  <a:tcPr marT="50800" marB="50800"/>
                </a:tc>
                <a:extLst>
                  <a:ext uri="{0D108BD9-81ED-4DB2-BD59-A6C34878D82A}">
                    <a16:rowId xmlns:a16="http://schemas.microsoft.com/office/drawing/2014/main" val="2690487753"/>
                  </a:ext>
                </a:extLst>
              </a:tr>
              <a:tr h="338411">
                <a:tc>
                  <a:txBody>
                    <a:bodyPr/>
                    <a:lstStyle/>
                    <a:p>
                      <a:pPr marL="0" marR="0" algn="l" fontAlgn="t">
                        <a:buNone/>
                      </a:pPr>
                      <a:r>
                        <a:rPr lang="en-US" sz="1200" spc="0">
                          <a:effectLst/>
                        </a:rPr>
                        <a:t>[Customer!]!</a:t>
                      </a:r>
                      <a:endParaRPr lang="en-US" sz="1200" b="0" i="0" spc="0">
                        <a:solidFill>
                          <a:srgbClr val="FFFFFF"/>
                        </a:solidFill>
                        <a:effectLst/>
                        <a:latin typeface="-apple-system-body"/>
                      </a:endParaRPr>
                    </a:p>
                  </a:txBody>
                  <a:tcPr marT="50800" marB="50800"/>
                </a:tc>
                <a:tc>
                  <a:txBody>
                    <a:bodyPr/>
                    <a:lstStyle/>
                    <a:p>
                      <a:pPr marL="0" marR="0" algn="l" fontAlgn="t">
                        <a:buNone/>
                      </a:pPr>
                      <a:r>
                        <a:rPr lang="en-US" sz="1200" spc="0" dirty="0">
                          <a:effectLst/>
                        </a:rPr>
                        <a:t>A non-null list containing non-null customers</a:t>
                      </a:r>
                      <a:endParaRPr lang="en-US" sz="1200" b="0" i="0" spc="0" dirty="0">
                        <a:solidFill>
                          <a:srgbClr val="FFFFFF"/>
                        </a:solidFill>
                        <a:effectLst/>
                        <a:latin typeface="-apple-system-body"/>
                      </a:endParaRPr>
                    </a:p>
                  </a:txBody>
                  <a:tcPr marT="50800" marB="50800"/>
                </a:tc>
                <a:extLst>
                  <a:ext uri="{0D108BD9-81ED-4DB2-BD59-A6C34878D82A}">
                    <a16:rowId xmlns:a16="http://schemas.microsoft.com/office/drawing/2014/main" val="673218905"/>
                  </a:ext>
                </a:extLst>
              </a:tr>
            </a:tbl>
          </a:graphicData>
        </a:graphic>
      </p:graphicFrame>
    </p:spTree>
    <p:extLst>
      <p:ext uri="{BB962C8B-B14F-4D97-AF65-F5344CB8AC3E}">
        <p14:creationId xmlns:p14="http://schemas.microsoft.com/office/powerpoint/2010/main" val="2582658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FE231B-B99B-EB82-550F-1489F7399BD8}"/>
              </a:ext>
            </a:extLst>
          </p:cNvPr>
          <p:cNvSpPr>
            <a:spLocks noGrp="1"/>
          </p:cNvSpPr>
          <p:nvPr>
            <p:ph type="title"/>
          </p:nvPr>
        </p:nvSpPr>
        <p:spPr/>
        <p:txBody>
          <a:bodyPr/>
          <a:lstStyle/>
          <a:p>
            <a:r>
              <a:rPr lang="en-US" dirty="0" err="1"/>
              <a:t>Graphql</a:t>
            </a:r>
            <a:r>
              <a:rPr lang="en-US" dirty="0"/>
              <a:t> setup for spring boot</a:t>
            </a:r>
          </a:p>
        </p:txBody>
      </p:sp>
      <p:sp>
        <p:nvSpPr>
          <p:cNvPr id="3" name="Content Placeholder 2">
            <a:extLst>
              <a:ext uri="{FF2B5EF4-FFF2-40B4-BE49-F238E27FC236}">
                <a16:creationId xmlns:a16="http://schemas.microsoft.com/office/drawing/2014/main" id="{807EA513-D019-FC8C-208E-AB56B6895969}"/>
              </a:ext>
            </a:extLst>
          </p:cNvPr>
          <p:cNvSpPr>
            <a:spLocks noGrp="1"/>
          </p:cNvSpPr>
          <p:nvPr>
            <p:ph idx="1"/>
          </p:nvPr>
        </p:nvSpPr>
        <p:spPr>
          <a:xfrm>
            <a:off x="581192" y="2180496"/>
            <a:ext cx="5514807" cy="3678303"/>
          </a:xfrm>
        </p:spPr>
        <p:txBody>
          <a:bodyPr>
            <a:normAutofit/>
          </a:bodyPr>
          <a:lstStyle/>
          <a:p>
            <a:r>
              <a:rPr lang="en-US" dirty="0"/>
              <a:t>Step 3: Create Models/DTOs (we've done this before)</a:t>
            </a:r>
          </a:p>
          <a:p>
            <a:r>
              <a:rPr lang="en-US" dirty="0"/>
              <a:t>Step 4: Implement a </a:t>
            </a:r>
            <a:r>
              <a:rPr lang="en-US" dirty="0" err="1"/>
              <a:t>GraphQL</a:t>
            </a:r>
            <a:r>
              <a:rPr lang="en-US" dirty="0"/>
              <a:t> controller</a:t>
            </a:r>
          </a:p>
          <a:p>
            <a:pPr lvl="1"/>
            <a:r>
              <a:rPr lang="en-US" dirty="0"/>
              <a:t>@Controller — registers the Spring controller.</a:t>
            </a:r>
          </a:p>
          <a:p>
            <a:pPr lvl="1"/>
            <a:r>
              <a:rPr lang="en-US" dirty="0"/>
              <a:t>@QueryMapping — maps a Java method to a field under the schema's Query type.</a:t>
            </a:r>
          </a:p>
          <a:p>
            <a:pPr lvl="1"/>
            <a:r>
              <a:rPr lang="en-US" dirty="0"/>
              <a:t>@MutationMapping — maps a Java method to a field under the schema's Mutation type.</a:t>
            </a:r>
          </a:p>
          <a:p>
            <a:pPr lvl="1"/>
            <a:r>
              <a:rPr lang="en-US" dirty="0"/>
              <a:t>@Argument — binds a </a:t>
            </a:r>
            <a:r>
              <a:rPr lang="en-US" dirty="0" err="1"/>
              <a:t>GraphQL</a:t>
            </a:r>
            <a:r>
              <a:rPr lang="en-US" dirty="0"/>
              <a:t> argument to a Java method parameter.</a:t>
            </a:r>
          </a:p>
        </p:txBody>
      </p:sp>
      <p:sp>
        <p:nvSpPr>
          <p:cNvPr id="5" name="TextBox 4">
            <a:extLst>
              <a:ext uri="{FF2B5EF4-FFF2-40B4-BE49-F238E27FC236}">
                <a16:creationId xmlns:a16="http://schemas.microsoft.com/office/drawing/2014/main" id="{CEF48F00-64C2-0073-B869-E05629F8D239}"/>
              </a:ext>
            </a:extLst>
          </p:cNvPr>
          <p:cNvSpPr txBox="1"/>
          <p:nvPr/>
        </p:nvSpPr>
        <p:spPr>
          <a:xfrm>
            <a:off x="6478576" y="1977500"/>
            <a:ext cx="4493084" cy="4524315"/>
          </a:xfrm>
          <a:prstGeom prst="rect">
            <a:avLst/>
          </a:prstGeom>
          <a:noFill/>
        </p:spPr>
        <p:txBody>
          <a:bodyPr wrap="square">
            <a:spAutoFit/>
          </a:bodyPr>
          <a:lstStyle/>
          <a:p>
            <a:pPr indent="0" algn="l">
              <a:buNone/>
            </a:pPr>
            <a:r>
              <a:rPr lang="en-US" sz="1200" b="0" i="0" dirty="0">
                <a:solidFill>
                  <a:schemeClr val="tx1"/>
                </a:solidFill>
                <a:effectLst/>
                <a:latin typeface="+mn-lt"/>
              </a:rPr>
              <a:t>@Controller</a:t>
            </a:r>
          </a:p>
          <a:p>
            <a:pPr indent="0" algn="l">
              <a:buNone/>
            </a:pPr>
            <a:r>
              <a:rPr lang="en-US" sz="1200" b="0" i="0" dirty="0">
                <a:solidFill>
                  <a:schemeClr val="tx1"/>
                </a:solidFill>
                <a:effectLst/>
                <a:latin typeface="+mn-lt"/>
              </a:rPr>
              <a:t>public class </a:t>
            </a:r>
            <a:r>
              <a:rPr lang="en-US" sz="1200" b="0" i="0" dirty="0" err="1">
                <a:solidFill>
                  <a:schemeClr val="tx1"/>
                </a:solidFill>
                <a:effectLst/>
                <a:latin typeface="+mn-lt"/>
              </a:rPr>
              <a:t>CustomerGraphQLController</a:t>
            </a:r>
            <a:r>
              <a:rPr lang="en-US" sz="1200" b="0" i="0" dirty="0">
                <a:solidFill>
                  <a:schemeClr val="tx1"/>
                </a:solidFill>
                <a:effectLst/>
                <a:latin typeface="+mn-lt"/>
              </a:rPr>
              <a:t> {</a:t>
            </a:r>
          </a:p>
          <a:p>
            <a:pPr indent="0" algn="l">
              <a:buNone/>
            </a:pPr>
            <a:endParaRPr lang="en-US" sz="1200" b="0" i="0" dirty="0">
              <a:solidFill>
                <a:schemeClr val="tx1"/>
              </a:solidFill>
              <a:effectLst/>
              <a:latin typeface="+mn-lt"/>
            </a:endParaRPr>
          </a:p>
          <a:p>
            <a:pPr indent="0" algn="l">
              <a:buNone/>
            </a:pPr>
            <a:r>
              <a:rPr lang="en-US" sz="1200" b="0" i="0" dirty="0">
                <a:solidFill>
                  <a:schemeClr val="tx1"/>
                </a:solidFill>
                <a:effectLst/>
                <a:latin typeface="+mn-lt"/>
              </a:rPr>
              <a:t>    @QueryMapping</a:t>
            </a:r>
          </a:p>
          <a:p>
            <a:pPr indent="0" algn="l">
              <a:buNone/>
            </a:pPr>
            <a:r>
              <a:rPr lang="en-US" sz="1200" b="0" i="0" dirty="0">
                <a:solidFill>
                  <a:schemeClr val="tx1"/>
                </a:solidFill>
                <a:effectLst/>
                <a:latin typeface="+mn-lt"/>
              </a:rPr>
              <a:t>    public List&lt;Customer&gt; customers() {</a:t>
            </a:r>
          </a:p>
          <a:p>
            <a:pPr indent="0" algn="l">
              <a:buNone/>
            </a:pPr>
            <a:r>
              <a:rPr lang="en-US" sz="1200" b="0" i="0" dirty="0">
                <a:solidFill>
                  <a:schemeClr val="tx1"/>
                </a:solidFill>
                <a:effectLst/>
                <a:latin typeface="+mn-lt"/>
              </a:rPr>
              <a:t>        return </a:t>
            </a:r>
            <a:r>
              <a:rPr lang="en-US" sz="1200" b="0" i="0" dirty="0" err="1">
                <a:solidFill>
                  <a:schemeClr val="tx1"/>
                </a:solidFill>
                <a:effectLst/>
                <a:latin typeface="+mn-lt"/>
              </a:rPr>
              <a:t>List.of</a:t>
            </a:r>
            <a:r>
              <a:rPr lang="en-US" sz="1200" b="0" i="0" dirty="0">
                <a:solidFill>
                  <a:schemeClr val="tx1"/>
                </a:solidFill>
                <a:effectLst/>
                <a:latin typeface="+mn-lt"/>
              </a:rPr>
              <a:t>(</a:t>
            </a:r>
          </a:p>
          <a:p>
            <a:pPr indent="0" algn="l">
              <a:buNone/>
            </a:pPr>
            <a:r>
              <a:rPr lang="en-US" sz="1200" b="0" i="0" dirty="0">
                <a:solidFill>
                  <a:schemeClr val="tx1"/>
                </a:solidFill>
                <a:effectLst/>
                <a:latin typeface="+mn-lt"/>
              </a:rPr>
              <a:t>            new Customer(1L, "Alice", "alice@example.com"),</a:t>
            </a:r>
          </a:p>
          <a:p>
            <a:pPr indent="0" algn="l">
              <a:buNone/>
            </a:pPr>
            <a:r>
              <a:rPr lang="en-US" sz="1200" b="0" i="0" dirty="0">
                <a:solidFill>
                  <a:schemeClr val="tx1"/>
                </a:solidFill>
                <a:effectLst/>
                <a:latin typeface="+mn-lt"/>
              </a:rPr>
              <a:t>            new Customer(2L, "Bob", "bob@example.com")</a:t>
            </a:r>
          </a:p>
          <a:p>
            <a:pPr indent="0" algn="l">
              <a:buNone/>
            </a:pPr>
            <a:r>
              <a:rPr lang="en-US" sz="1200" b="0" i="0" dirty="0">
                <a:solidFill>
                  <a:schemeClr val="tx1"/>
                </a:solidFill>
                <a:effectLst/>
                <a:latin typeface="+mn-lt"/>
              </a:rPr>
              <a:t>        );</a:t>
            </a:r>
          </a:p>
          <a:p>
            <a:pPr indent="0" algn="l">
              <a:buNone/>
            </a:pPr>
            <a:r>
              <a:rPr lang="en-US" sz="1200" b="0" i="0" dirty="0">
                <a:solidFill>
                  <a:schemeClr val="tx1"/>
                </a:solidFill>
                <a:effectLst/>
                <a:latin typeface="+mn-lt"/>
              </a:rPr>
              <a:t>    }</a:t>
            </a:r>
          </a:p>
          <a:p>
            <a:pPr indent="0" algn="l">
              <a:buNone/>
            </a:pPr>
            <a:endParaRPr lang="en-US" sz="1200" b="0" i="0" dirty="0">
              <a:solidFill>
                <a:schemeClr val="tx1"/>
              </a:solidFill>
              <a:effectLst/>
              <a:latin typeface="+mn-lt"/>
            </a:endParaRPr>
          </a:p>
          <a:p>
            <a:pPr indent="0" algn="l">
              <a:buNone/>
            </a:pPr>
            <a:r>
              <a:rPr lang="en-US" sz="1200" b="0" i="0" dirty="0">
                <a:solidFill>
                  <a:schemeClr val="tx1"/>
                </a:solidFill>
                <a:effectLst/>
                <a:latin typeface="+mn-lt"/>
              </a:rPr>
              <a:t>    @QueryMapping</a:t>
            </a:r>
          </a:p>
          <a:p>
            <a:pPr indent="0" algn="l">
              <a:buNone/>
            </a:pPr>
            <a:r>
              <a:rPr lang="en-US" sz="1200" b="0" i="0" dirty="0">
                <a:solidFill>
                  <a:schemeClr val="tx1"/>
                </a:solidFill>
                <a:effectLst/>
                <a:latin typeface="+mn-lt"/>
              </a:rPr>
              <a:t>    public Customer </a:t>
            </a:r>
            <a:r>
              <a:rPr lang="en-US" sz="1200" b="0" i="0" dirty="0" err="1">
                <a:solidFill>
                  <a:schemeClr val="tx1"/>
                </a:solidFill>
                <a:effectLst/>
                <a:latin typeface="+mn-lt"/>
              </a:rPr>
              <a:t>customerById</a:t>
            </a:r>
            <a:r>
              <a:rPr lang="en-US" sz="1200" b="0" i="0" dirty="0">
                <a:solidFill>
                  <a:schemeClr val="tx1"/>
                </a:solidFill>
                <a:effectLst/>
                <a:latin typeface="+mn-lt"/>
              </a:rPr>
              <a:t>(@Argument Long id) {</a:t>
            </a:r>
          </a:p>
          <a:p>
            <a:pPr indent="0" algn="l">
              <a:buNone/>
            </a:pPr>
            <a:r>
              <a:rPr lang="en-US" sz="1200" b="0" i="0" dirty="0">
                <a:solidFill>
                  <a:schemeClr val="tx1"/>
                </a:solidFill>
                <a:effectLst/>
                <a:latin typeface="+mn-lt"/>
              </a:rPr>
              <a:t>        return new Customer(id, "Alice", "alice@example.com");</a:t>
            </a:r>
          </a:p>
          <a:p>
            <a:pPr indent="0" algn="l">
              <a:buNone/>
            </a:pPr>
            <a:r>
              <a:rPr lang="en-US" sz="1200" b="0" i="0" dirty="0">
                <a:solidFill>
                  <a:schemeClr val="tx1"/>
                </a:solidFill>
                <a:effectLst/>
                <a:latin typeface="+mn-lt"/>
              </a:rPr>
              <a:t>    }</a:t>
            </a:r>
          </a:p>
          <a:p>
            <a:pPr indent="0" algn="l">
              <a:buNone/>
            </a:pPr>
            <a:endParaRPr lang="en-US" sz="1200" b="0" i="0" dirty="0">
              <a:solidFill>
                <a:schemeClr val="tx1"/>
              </a:solidFill>
              <a:effectLst/>
              <a:latin typeface="+mn-lt"/>
            </a:endParaRPr>
          </a:p>
          <a:p>
            <a:pPr indent="0" algn="l">
              <a:buNone/>
            </a:pPr>
            <a:r>
              <a:rPr lang="en-US" sz="1200" b="0" i="0" dirty="0">
                <a:solidFill>
                  <a:schemeClr val="tx1"/>
                </a:solidFill>
                <a:effectLst/>
                <a:latin typeface="+mn-lt"/>
              </a:rPr>
              <a:t>    @MutationMapping</a:t>
            </a:r>
          </a:p>
          <a:p>
            <a:pPr indent="0" algn="l">
              <a:buNone/>
            </a:pPr>
            <a:r>
              <a:rPr lang="en-US" sz="1200" b="0" i="0" dirty="0">
                <a:solidFill>
                  <a:schemeClr val="tx1"/>
                </a:solidFill>
                <a:effectLst/>
                <a:latin typeface="+mn-lt"/>
              </a:rPr>
              <a:t>    public Customer </a:t>
            </a:r>
            <a:r>
              <a:rPr lang="en-US" sz="1200" b="0" i="0" dirty="0" err="1">
                <a:solidFill>
                  <a:schemeClr val="tx1"/>
                </a:solidFill>
                <a:effectLst/>
                <a:latin typeface="+mn-lt"/>
              </a:rPr>
              <a:t>createCustomer</a:t>
            </a:r>
            <a:r>
              <a:rPr lang="en-US" sz="1200" b="0" i="0" dirty="0">
                <a:solidFill>
                  <a:schemeClr val="tx1"/>
                </a:solidFill>
                <a:effectLst/>
                <a:latin typeface="+mn-lt"/>
              </a:rPr>
              <a:t>(</a:t>
            </a:r>
          </a:p>
          <a:p>
            <a:pPr indent="0" algn="l">
              <a:buNone/>
            </a:pPr>
            <a:r>
              <a:rPr lang="en-US" sz="1200" b="0" i="0" dirty="0">
                <a:solidFill>
                  <a:schemeClr val="tx1"/>
                </a:solidFill>
                <a:effectLst/>
                <a:latin typeface="+mn-lt"/>
              </a:rPr>
              <a:t>            @Argument String name,</a:t>
            </a:r>
          </a:p>
          <a:p>
            <a:pPr indent="0" algn="l">
              <a:buNone/>
            </a:pPr>
            <a:r>
              <a:rPr lang="en-US" sz="1200" b="0" i="0" dirty="0">
                <a:solidFill>
                  <a:schemeClr val="tx1"/>
                </a:solidFill>
                <a:effectLst/>
                <a:latin typeface="+mn-lt"/>
              </a:rPr>
              <a:t>            @Argument String email) {</a:t>
            </a:r>
          </a:p>
          <a:p>
            <a:pPr indent="0" algn="l">
              <a:buNone/>
            </a:pPr>
            <a:endParaRPr lang="en-US" sz="1200" b="0" i="0" dirty="0">
              <a:solidFill>
                <a:schemeClr val="tx1"/>
              </a:solidFill>
              <a:effectLst/>
              <a:latin typeface="+mn-lt"/>
            </a:endParaRPr>
          </a:p>
          <a:p>
            <a:pPr indent="0" algn="l">
              <a:buNone/>
            </a:pPr>
            <a:r>
              <a:rPr lang="en-US" sz="1200" dirty="0"/>
              <a:t>       </a:t>
            </a:r>
            <a:r>
              <a:rPr lang="en-US" sz="1200" b="0" i="0" dirty="0">
                <a:solidFill>
                  <a:schemeClr val="tx1"/>
                </a:solidFill>
                <a:effectLst/>
                <a:latin typeface="+mn-lt"/>
              </a:rPr>
              <a:t>return new Customer(3L, name, email);</a:t>
            </a:r>
          </a:p>
          <a:p>
            <a:pPr indent="0" algn="l">
              <a:buNone/>
            </a:pPr>
            <a:r>
              <a:rPr lang="en-US" sz="1200" b="0" i="0" dirty="0">
                <a:solidFill>
                  <a:schemeClr val="tx1"/>
                </a:solidFill>
                <a:effectLst/>
                <a:latin typeface="+mn-lt"/>
              </a:rPr>
              <a:t>    }</a:t>
            </a:r>
          </a:p>
          <a:p>
            <a:pPr indent="0" algn="l">
              <a:buNone/>
            </a:pPr>
            <a:r>
              <a:rPr lang="en-US" sz="1200" b="0" i="0" dirty="0">
                <a:solidFill>
                  <a:schemeClr val="tx1"/>
                </a:solidFill>
                <a:effectLst/>
                <a:latin typeface="+mn-lt"/>
              </a:rPr>
              <a:t>}</a:t>
            </a:r>
            <a:endParaRPr lang="en-US" sz="1000" b="0" i="0" dirty="0">
              <a:solidFill>
                <a:srgbClr val="FFFFFF"/>
              </a:solidFill>
              <a:effectLst/>
              <a:latin typeface="Courier New" panose="02070309020205020404" pitchFamily="49" charset="0"/>
            </a:endParaRPr>
          </a:p>
        </p:txBody>
      </p:sp>
      <p:sp>
        <p:nvSpPr>
          <p:cNvPr id="6" name="TextBox 5">
            <a:extLst>
              <a:ext uri="{FF2B5EF4-FFF2-40B4-BE49-F238E27FC236}">
                <a16:creationId xmlns:a16="http://schemas.microsoft.com/office/drawing/2014/main" id="{69A98CD9-5B81-F88E-B13E-F9D9E8FF7D9C}"/>
              </a:ext>
            </a:extLst>
          </p:cNvPr>
          <p:cNvSpPr txBox="1"/>
          <p:nvPr/>
        </p:nvSpPr>
        <p:spPr>
          <a:xfrm>
            <a:off x="1971637" y="6394027"/>
            <a:ext cx="9013878" cy="369332"/>
          </a:xfrm>
          <a:prstGeom prst="rect">
            <a:avLst/>
          </a:prstGeom>
          <a:noFill/>
        </p:spPr>
        <p:txBody>
          <a:bodyPr wrap="none" rtlCol="0">
            <a:spAutoFit/>
          </a:bodyPr>
          <a:lstStyle/>
          <a:p>
            <a:r>
              <a:rPr lang="en-US" dirty="0"/>
              <a:t>Note: our controller is small for demo purposes. You should have a service/repo layer, however.</a:t>
            </a:r>
          </a:p>
        </p:txBody>
      </p:sp>
    </p:spTree>
    <p:extLst>
      <p:ext uri="{BB962C8B-B14F-4D97-AF65-F5344CB8AC3E}">
        <p14:creationId xmlns:p14="http://schemas.microsoft.com/office/powerpoint/2010/main" val="15071286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9D7-EF05-49FC-00A7-D493BFD6EBCB}"/>
              </a:ext>
            </a:extLst>
          </p:cNvPr>
          <p:cNvSpPr>
            <a:spLocks noGrp="1"/>
          </p:cNvSpPr>
          <p:nvPr>
            <p:ph type="title"/>
          </p:nvPr>
        </p:nvSpPr>
        <p:spPr/>
        <p:txBody>
          <a:bodyPr/>
          <a:lstStyle/>
          <a:p>
            <a:r>
              <a:rPr lang="en-US" dirty="0" err="1"/>
              <a:t>Graphql</a:t>
            </a:r>
            <a:r>
              <a:rPr lang="en-US" dirty="0"/>
              <a:t> setup for spring boot</a:t>
            </a:r>
          </a:p>
        </p:txBody>
      </p:sp>
      <p:sp>
        <p:nvSpPr>
          <p:cNvPr id="3" name="Content Placeholder 2">
            <a:extLst>
              <a:ext uri="{FF2B5EF4-FFF2-40B4-BE49-F238E27FC236}">
                <a16:creationId xmlns:a16="http://schemas.microsoft.com/office/drawing/2014/main" id="{C93742EA-E081-AD11-6913-7EB49EEF840C}"/>
              </a:ext>
            </a:extLst>
          </p:cNvPr>
          <p:cNvSpPr>
            <a:spLocks noGrp="1"/>
          </p:cNvSpPr>
          <p:nvPr>
            <p:ph idx="1"/>
          </p:nvPr>
        </p:nvSpPr>
        <p:spPr>
          <a:xfrm>
            <a:off x="581193" y="2180497"/>
            <a:ext cx="8897658" cy="1528618"/>
          </a:xfrm>
        </p:spPr>
        <p:txBody>
          <a:bodyPr>
            <a:normAutofit fontScale="85000" lnSpcReduction="20000"/>
          </a:bodyPr>
          <a:lstStyle/>
          <a:p>
            <a:r>
              <a:rPr lang="en-US" dirty="0"/>
              <a:t>Step 4: Call the API</a:t>
            </a:r>
          </a:p>
          <a:p>
            <a:r>
              <a:rPr lang="en-US" dirty="0"/>
              <a:t>We typically use POST for endpoints</a:t>
            </a:r>
          </a:p>
          <a:p>
            <a:r>
              <a:rPr lang="en-US" dirty="0"/>
              <a:t>This example fetches all customers</a:t>
            </a:r>
          </a:p>
          <a:p>
            <a:r>
              <a:rPr lang="en-US" dirty="0"/>
              <a:t>POST </a:t>
            </a:r>
            <a:r>
              <a:rPr lang="en-US" dirty="0">
                <a:hlinkClick r:id="rId2"/>
              </a:rPr>
              <a:t>http://localhost:8080/graphql</a:t>
            </a:r>
            <a:endParaRPr lang="en-US" dirty="0"/>
          </a:p>
          <a:p>
            <a:r>
              <a:rPr lang="en-US" dirty="0"/>
              <a:t>JSON Body of request:</a:t>
            </a:r>
          </a:p>
        </p:txBody>
      </p:sp>
      <p:sp>
        <p:nvSpPr>
          <p:cNvPr id="5" name="TextBox 4">
            <a:extLst>
              <a:ext uri="{FF2B5EF4-FFF2-40B4-BE49-F238E27FC236}">
                <a16:creationId xmlns:a16="http://schemas.microsoft.com/office/drawing/2014/main" id="{94056C61-28B1-00F4-550D-8CA7D39E1242}"/>
              </a:ext>
            </a:extLst>
          </p:cNvPr>
          <p:cNvSpPr txBox="1"/>
          <p:nvPr/>
        </p:nvSpPr>
        <p:spPr>
          <a:xfrm>
            <a:off x="845714" y="4173656"/>
            <a:ext cx="4536584" cy="923330"/>
          </a:xfrm>
          <a:prstGeom prst="rect">
            <a:avLst/>
          </a:prstGeom>
          <a:noFill/>
        </p:spPr>
        <p:txBody>
          <a:bodyPr wrap="square">
            <a:spAutoFit/>
          </a:bodyPr>
          <a:lstStyle/>
          <a:p>
            <a:r>
              <a:rPr lang="en-US" dirty="0"/>
              <a:t>{</a:t>
            </a:r>
          </a:p>
          <a:p>
            <a:r>
              <a:rPr lang="en-US" dirty="0"/>
              <a:t>  "query": "query { customers { id name } }"</a:t>
            </a:r>
          </a:p>
          <a:p>
            <a:r>
              <a:rPr lang="en-US" dirty="0"/>
              <a:t>}</a:t>
            </a:r>
          </a:p>
        </p:txBody>
      </p:sp>
      <p:sp>
        <p:nvSpPr>
          <p:cNvPr id="7" name="TextBox 6">
            <a:extLst>
              <a:ext uri="{FF2B5EF4-FFF2-40B4-BE49-F238E27FC236}">
                <a16:creationId xmlns:a16="http://schemas.microsoft.com/office/drawing/2014/main" id="{C252A778-1138-49AA-6F61-3E2B345927BA}"/>
              </a:ext>
            </a:extLst>
          </p:cNvPr>
          <p:cNvSpPr txBox="1"/>
          <p:nvPr/>
        </p:nvSpPr>
        <p:spPr>
          <a:xfrm>
            <a:off x="6809703" y="2188497"/>
            <a:ext cx="2823693" cy="4247317"/>
          </a:xfrm>
          <a:prstGeom prst="rect">
            <a:avLst/>
          </a:prstGeom>
          <a:noFill/>
        </p:spPr>
        <p:txBody>
          <a:bodyPr wrap="square">
            <a:spAutoFit/>
          </a:bodyPr>
          <a:lstStyle/>
          <a:p>
            <a:pPr indent="0" algn="l">
              <a:buNone/>
            </a:pPr>
            <a:r>
              <a:rPr lang="en-US" sz="1800" b="0" i="0" dirty="0">
                <a:solidFill>
                  <a:schemeClr val="tx1"/>
                </a:solidFill>
                <a:effectLst/>
                <a:latin typeface="+mn-lt"/>
              </a:rPr>
              <a:t>Response</a:t>
            </a:r>
          </a:p>
          <a:p>
            <a:pPr indent="0" algn="l">
              <a:buNone/>
            </a:pPr>
            <a:r>
              <a:rPr lang="en-US" sz="1800" b="0" i="0" dirty="0">
                <a:solidFill>
                  <a:schemeClr val="tx1"/>
                </a:solidFill>
                <a:effectLst/>
                <a:latin typeface="+mn-lt"/>
              </a:rPr>
              <a:t>{</a:t>
            </a:r>
          </a:p>
          <a:p>
            <a:pPr indent="0" algn="l">
              <a:buNone/>
            </a:pPr>
            <a:r>
              <a:rPr lang="en-US" sz="1800" b="0" i="0" dirty="0">
                <a:solidFill>
                  <a:schemeClr val="tx1"/>
                </a:solidFill>
                <a:effectLst/>
                <a:latin typeface="+mn-lt"/>
              </a:rPr>
              <a:t>  "data": {</a:t>
            </a:r>
          </a:p>
          <a:p>
            <a:pPr indent="0" algn="l">
              <a:buNone/>
            </a:pPr>
            <a:r>
              <a:rPr lang="en-US" sz="1800" b="0" i="0" dirty="0">
                <a:solidFill>
                  <a:schemeClr val="tx1"/>
                </a:solidFill>
                <a:effectLst/>
                <a:latin typeface="+mn-lt"/>
              </a:rPr>
              <a:t>    "customers":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"id": "1",</a:t>
            </a:r>
          </a:p>
          <a:p>
            <a:pPr indent="0" algn="l">
              <a:buNone/>
            </a:pPr>
            <a:r>
              <a:rPr lang="en-US" sz="1800" b="0" i="0" dirty="0">
                <a:solidFill>
                  <a:schemeClr val="tx1"/>
                </a:solidFill>
                <a:effectLst/>
                <a:latin typeface="+mn-lt"/>
              </a:rPr>
              <a:t>        "name": "Alice"</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"id": "2",</a:t>
            </a:r>
          </a:p>
          <a:p>
            <a:pPr indent="0" algn="l">
              <a:buNone/>
            </a:pPr>
            <a:r>
              <a:rPr lang="en-US" sz="1800" b="0" i="0" dirty="0">
                <a:solidFill>
                  <a:schemeClr val="tx1"/>
                </a:solidFill>
                <a:effectLst/>
                <a:latin typeface="+mn-lt"/>
              </a:rPr>
              <a:t>        "name": "Bob"</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a:t>
            </a:r>
            <a:endParaRPr lang="en-US" sz="1200" b="0" i="0" dirty="0">
              <a:solidFill>
                <a:srgbClr val="FFFFFF"/>
              </a:solidFill>
              <a:effectLst/>
              <a:latin typeface="Courier New" panose="02070309020205020404" pitchFamily="49" charset="0"/>
            </a:endParaRPr>
          </a:p>
        </p:txBody>
      </p:sp>
      <p:sp>
        <p:nvSpPr>
          <p:cNvPr id="8" name="TextBox 7">
            <a:extLst>
              <a:ext uri="{FF2B5EF4-FFF2-40B4-BE49-F238E27FC236}">
                <a16:creationId xmlns:a16="http://schemas.microsoft.com/office/drawing/2014/main" id="{F3AD648E-ADAF-7DC2-FEE2-EDF2D5BD1519}"/>
              </a:ext>
            </a:extLst>
          </p:cNvPr>
          <p:cNvSpPr txBox="1"/>
          <p:nvPr/>
        </p:nvSpPr>
        <p:spPr>
          <a:xfrm>
            <a:off x="1017432" y="5561527"/>
            <a:ext cx="4653566" cy="646331"/>
          </a:xfrm>
          <a:prstGeom prst="rect">
            <a:avLst/>
          </a:prstGeom>
          <a:noFill/>
        </p:spPr>
        <p:txBody>
          <a:bodyPr wrap="square" rtlCol="0">
            <a:spAutoFit/>
          </a:bodyPr>
          <a:lstStyle/>
          <a:p>
            <a:r>
              <a:rPr lang="en-US" dirty="0"/>
              <a:t>Note that </a:t>
            </a:r>
            <a:r>
              <a:rPr lang="en-US" dirty="0" err="1"/>
              <a:t>GraphQL</a:t>
            </a:r>
            <a:r>
              <a:rPr lang="en-US" dirty="0"/>
              <a:t> queries do not require commas between field names</a:t>
            </a:r>
          </a:p>
        </p:txBody>
      </p:sp>
      <p:cxnSp>
        <p:nvCxnSpPr>
          <p:cNvPr id="10" name="Straight Arrow Connector 9">
            <a:extLst>
              <a:ext uri="{FF2B5EF4-FFF2-40B4-BE49-F238E27FC236}">
                <a16:creationId xmlns:a16="http://schemas.microsoft.com/office/drawing/2014/main" id="{125A2C19-ACA6-1CD2-F52D-74B64692D683}"/>
              </a:ext>
            </a:extLst>
          </p:cNvPr>
          <p:cNvCxnSpPr/>
          <p:nvPr/>
        </p:nvCxnSpPr>
        <p:spPr>
          <a:xfrm flipV="1">
            <a:off x="4172755" y="4803820"/>
            <a:ext cx="0" cy="579549"/>
          </a:xfrm>
          <a:prstGeom prst="straightConnector1">
            <a:avLst/>
          </a:prstGeom>
          <a:ln>
            <a:solidFill>
              <a:srgbClr val="FF0000"/>
            </a:solidFill>
            <a:headEnd type="none" w="med" len="med"/>
            <a:tailEnd type="arrow" w="med" len="med"/>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660300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FDF05-18F6-2382-34F5-21553CC84AAA}"/>
              </a:ext>
            </a:extLst>
          </p:cNvPr>
          <p:cNvSpPr>
            <a:spLocks noGrp="1"/>
          </p:cNvSpPr>
          <p:nvPr>
            <p:ph type="title"/>
          </p:nvPr>
        </p:nvSpPr>
        <p:spPr/>
        <p:txBody>
          <a:bodyPr/>
          <a:lstStyle/>
          <a:p>
            <a:r>
              <a:rPr lang="en-US" dirty="0" err="1"/>
              <a:t>Graphql</a:t>
            </a:r>
            <a:r>
              <a:rPr lang="en-US" dirty="0"/>
              <a:t> more example queries</a:t>
            </a:r>
          </a:p>
        </p:txBody>
      </p:sp>
      <p:sp>
        <p:nvSpPr>
          <p:cNvPr id="3" name="Content Placeholder 2">
            <a:extLst>
              <a:ext uri="{FF2B5EF4-FFF2-40B4-BE49-F238E27FC236}">
                <a16:creationId xmlns:a16="http://schemas.microsoft.com/office/drawing/2014/main" id="{A2E097F5-336A-F7FA-9256-477044E3D80C}"/>
              </a:ext>
            </a:extLst>
          </p:cNvPr>
          <p:cNvSpPr>
            <a:spLocks noGrp="1"/>
          </p:cNvSpPr>
          <p:nvPr>
            <p:ph idx="1"/>
          </p:nvPr>
        </p:nvSpPr>
        <p:spPr>
          <a:xfrm>
            <a:off x="581192" y="2180496"/>
            <a:ext cx="11029615" cy="1013801"/>
          </a:xfrm>
        </p:spPr>
        <p:txBody>
          <a:bodyPr/>
          <a:lstStyle/>
          <a:p>
            <a:r>
              <a:rPr lang="en-US" dirty="0"/>
              <a:t>Fetch a single customer:</a:t>
            </a:r>
          </a:p>
        </p:txBody>
      </p:sp>
      <p:sp>
        <p:nvSpPr>
          <p:cNvPr id="5" name="TextBox 4">
            <a:extLst>
              <a:ext uri="{FF2B5EF4-FFF2-40B4-BE49-F238E27FC236}">
                <a16:creationId xmlns:a16="http://schemas.microsoft.com/office/drawing/2014/main" id="{EF84E377-DEC5-06D0-A1F7-23B9C9C52C32}"/>
              </a:ext>
            </a:extLst>
          </p:cNvPr>
          <p:cNvSpPr txBox="1"/>
          <p:nvPr/>
        </p:nvSpPr>
        <p:spPr>
          <a:xfrm>
            <a:off x="476519" y="3194297"/>
            <a:ext cx="6143222" cy="2308324"/>
          </a:xfrm>
          <a:prstGeom prst="rect">
            <a:avLst/>
          </a:prstGeom>
          <a:noFill/>
        </p:spPr>
        <p:txBody>
          <a:bodyPr wrap="square">
            <a:spAutoFit/>
          </a:bodyPr>
          <a:lstStyle/>
          <a:p>
            <a:pPr>
              <a:buClr>
                <a:schemeClr val="accent2"/>
              </a:buClr>
              <a:buSzPct val="92000"/>
            </a:pPr>
            <a:r>
              <a:rPr lang="en-US" dirty="0"/>
              <a:t>POST </a:t>
            </a:r>
            <a:r>
              <a:rPr lang="en-US" dirty="0">
                <a:hlinkClick r:id="rId2"/>
              </a:rPr>
              <a:t>http://localhost:8080/graphql</a:t>
            </a:r>
            <a:endParaRPr lang="en-US" dirty="0"/>
          </a:p>
          <a:p>
            <a:pPr indent="0" algn="l">
              <a:buNone/>
            </a:pPr>
            <a:endParaRPr lang="en-US" sz="1800" b="0" i="0" dirty="0">
              <a:solidFill>
                <a:schemeClr val="tx1"/>
              </a:solidFill>
              <a:effectLst/>
              <a:latin typeface="+mn-lt"/>
            </a:endParaRPr>
          </a:p>
          <a:p>
            <a:pPr indent="0" algn="l">
              <a:buNone/>
            </a:pPr>
            <a:r>
              <a:rPr lang="en-US" dirty="0"/>
              <a:t>JSON body:</a:t>
            </a:r>
            <a:endParaRPr lang="en-US" sz="1800" b="0" i="0" dirty="0">
              <a:solidFill>
                <a:schemeClr val="tx1"/>
              </a:solidFill>
              <a:effectLst/>
              <a:latin typeface="+mn-lt"/>
            </a:endParaRPr>
          </a:p>
          <a:p>
            <a:r>
              <a:rPr lang="en-US" dirty="0"/>
              <a:t>{</a:t>
            </a:r>
          </a:p>
          <a:p>
            <a:r>
              <a:rPr lang="en-US" dirty="0"/>
              <a:t>  "query": "query { </a:t>
            </a:r>
            <a:r>
              <a:rPr lang="en-US" dirty="0" err="1"/>
              <a:t>customerById</a:t>
            </a:r>
            <a:r>
              <a:rPr lang="en-US" dirty="0"/>
              <a:t>(id: \"1\") { id name email } }"</a:t>
            </a:r>
          </a:p>
          <a:p>
            <a:r>
              <a:rPr lang="en-US" dirty="0"/>
              <a:t>}</a:t>
            </a:r>
          </a:p>
          <a:p>
            <a:pPr>
              <a:buNone/>
            </a:pPr>
            <a:br>
              <a:rPr lang="en-US" dirty="0"/>
            </a:br>
            <a:endParaRPr lang="en-US" dirty="0"/>
          </a:p>
        </p:txBody>
      </p:sp>
      <p:sp>
        <p:nvSpPr>
          <p:cNvPr id="7" name="TextBox 6">
            <a:extLst>
              <a:ext uri="{FF2B5EF4-FFF2-40B4-BE49-F238E27FC236}">
                <a16:creationId xmlns:a16="http://schemas.microsoft.com/office/drawing/2014/main" id="{0BD7A3D3-2E19-89A1-10B0-51BAB5F34CCC}"/>
              </a:ext>
            </a:extLst>
          </p:cNvPr>
          <p:cNvSpPr txBox="1"/>
          <p:nvPr/>
        </p:nvSpPr>
        <p:spPr>
          <a:xfrm>
            <a:off x="6724414" y="2807930"/>
            <a:ext cx="4529070" cy="2862322"/>
          </a:xfrm>
          <a:prstGeom prst="rect">
            <a:avLst/>
          </a:prstGeom>
          <a:noFill/>
        </p:spPr>
        <p:txBody>
          <a:bodyPr wrap="square">
            <a:spAutoFit/>
          </a:bodyPr>
          <a:lstStyle/>
          <a:p>
            <a:pPr indent="0" algn="l">
              <a:buNone/>
            </a:pPr>
            <a:r>
              <a:rPr lang="en-US" sz="1800" b="0" i="0" dirty="0">
                <a:solidFill>
                  <a:schemeClr val="tx1"/>
                </a:solidFill>
                <a:effectLst/>
                <a:latin typeface="+mn-lt"/>
              </a:rPr>
              <a:t>Response:</a:t>
            </a:r>
          </a:p>
          <a:p>
            <a:pPr indent="0" algn="l">
              <a:buNone/>
            </a:pPr>
            <a:r>
              <a:rPr lang="en-US" sz="1800" b="0" i="0" dirty="0">
                <a:solidFill>
                  <a:schemeClr val="tx1"/>
                </a:solidFill>
                <a:effectLst/>
                <a:latin typeface="+mn-lt"/>
              </a:rPr>
              <a:t>{</a:t>
            </a:r>
          </a:p>
          <a:p>
            <a:pPr indent="0" algn="l">
              <a:buNone/>
            </a:pPr>
            <a:r>
              <a:rPr lang="en-US" sz="1800" b="0" i="0" dirty="0">
                <a:solidFill>
                  <a:schemeClr val="tx1"/>
                </a:solidFill>
                <a:effectLst/>
                <a:latin typeface="+mn-lt"/>
              </a:rPr>
              <a:t>  "data": {</a:t>
            </a:r>
          </a:p>
          <a:p>
            <a:pPr indent="0" algn="l">
              <a:buNone/>
            </a:pPr>
            <a:r>
              <a:rPr lang="en-US" sz="1800" b="0" i="0" dirty="0">
                <a:solidFill>
                  <a:schemeClr val="tx1"/>
                </a:solidFill>
                <a:effectLst/>
                <a:latin typeface="+mn-lt"/>
              </a:rPr>
              <a:t>    "</a:t>
            </a:r>
            <a:r>
              <a:rPr lang="en-US" sz="1800" b="0" i="0" dirty="0" err="1">
                <a:solidFill>
                  <a:schemeClr val="tx1"/>
                </a:solidFill>
                <a:effectLst/>
                <a:latin typeface="+mn-lt"/>
              </a:rPr>
              <a:t>customerById</a:t>
            </a:r>
            <a:r>
              <a:rPr lang="en-US" sz="1800" b="0" i="0" dirty="0">
                <a:solidFill>
                  <a:schemeClr val="tx1"/>
                </a:solidFill>
                <a:effectLst/>
                <a:latin typeface="+mn-lt"/>
              </a:rPr>
              <a:t>": {</a:t>
            </a:r>
          </a:p>
          <a:p>
            <a:pPr indent="0" algn="l">
              <a:buNone/>
            </a:pPr>
            <a:r>
              <a:rPr lang="en-US" sz="1800" b="0" i="0" dirty="0">
                <a:solidFill>
                  <a:schemeClr val="tx1"/>
                </a:solidFill>
                <a:effectLst/>
                <a:latin typeface="+mn-lt"/>
              </a:rPr>
              <a:t>      "id": "1",</a:t>
            </a:r>
          </a:p>
          <a:p>
            <a:pPr indent="0" algn="l">
              <a:buNone/>
            </a:pPr>
            <a:r>
              <a:rPr lang="en-US" sz="1800" b="0" i="0" dirty="0">
                <a:solidFill>
                  <a:schemeClr val="tx1"/>
                </a:solidFill>
                <a:effectLst/>
                <a:latin typeface="+mn-lt"/>
              </a:rPr>
              <a:t>      "name": "Alice",</a:t>
            </a:r>
          </a:p>
          <a:p>
            <a:pPr indent="0" algn="l">
              <a:buNone/>
            </a:pPr>
            <a:r>
              <a:rPr lang="en-US" sz="1800" b="0" i="0" dirty="0">
                <a:solidFill>
                  <a:schemeClr val="tx1"/>
                </a:solidFill>
                <a:effectLst/>
                <a:latin typeface="+mn-lt"/>
              </a:rPr>
              <a:t>      "email": "alice@example.com"</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  }</a:t>
            </a:r>
          </a:p>
          <a:p>
            <a:pPr indent="0" algn="l">
              <a:buNone/>
            </a:pPr>
            <a:r>
              <a:rPr lang="en-US" sz="1800" b="0" i="0" dirty="0">
                <a:solidFill>
                  <a:schemeClr val="tx1"/>
                </a:solidFill>
                <a:effectLst/>
                <a:latin typeface="+mn-lt"/>
              </a:rPr>
              <a:t>}</a:t>
            </a:r>
            <a:endParaRPr lang="en-US" sz="1200" b="0" i="0" dirty="0">
              <a:solidFill>
                <a:srgbClr val="FFFFFF"/>
              </a:solidFill>
              <a:effectLst/>
              <a:latin typeface="Courier New" panose="02070309020205020404" pitchFamily="49" charset="0"/>
            </a:endParaRPr>
          </a:p>
        </p:txBody>
      </p:sp>
    </p:spTree>
    <p:extLst>
      <p:ext uri="{BB962C8B-B14F-4D97-AF65-F5344CB8AC3E}">
        <p14:creationId xmlns:p14="http://schemas.microsoft.com/office/powerpoint/2010/main" val="17456318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98D45-3EC3-BCD6-F674-E27EEE1F25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349558-6862-C3F4-E92B-C7699AAD483D}"/>
              </a:ext>
            </a:extLst>
          </p:cNvPr>
          <p:cNvSpPr>
            <a:spLocks noGrp="1"/>
          </p:cNvSpPr>
          <p:nvPr>
            <p:ph type="title"/>
          </p:nvPr>
        </p:nvSpPr>
        <p:spPr/>
        <p:txBody>
          <a:bodyPr/>
          <a:lstStyle/>
          <a:p>
            <a:r>
              <a:rPr lang="en-US" dirty="0" err="1"/>
              <a:t>Graphql</a:t>
            </a:r>
            <a:r>
              <a:rPr lang="en-US" dirty="0"/>
              <a:t> more example queries</a:t>
            </a:r>
          </a:p>
        </p:txBody>
      </p:sp>
      <p:sp>
        <p:nvSpPr>
          <p:cNvPr id="3" name="Content Placeholder 2">
            <a:extLst>
              <a:ext uri="{FF2B5EF4-FFF2-40B4-BE49-F238E27FC236}">
                <a16:creationId xmlns:a16="http://schemas.microsoft.com/office/drawing/2014/main" id="{0CE5A0CF-D336-09E1-16A2-578603DE7C31}"/>
              </a:ext>
            </a:extLst>
          </p:cNvPr>
          <p:cNvSpPr>
            <a:spLocks noGrp="1"/>
          </p:cNvSpPr>
          <p:nvPr>
            <p:ph idx="1"/>
          </p:nvPr>
        </p:nvSpPr>
        <p:spPr>
          <a:xfrm>
            <a:off x="581192" y="2011010"/>
            <a:ext cx="11029615" cy="1013801"/>
          </a:xfrm>
        </p:spPr>
        <p:txBody>
          <a:bodyPr/>
          <a:lstStyle/>
          <a:p>
            <a:r>
              <a:rPr lang="en-US" dirty="0"/>
              <a:t>Create a customer:</a:t>
            </a:r>
          </a:p>
        </p:txBody>
      </p:sp>
      <p:sp>
        <p:nvSpPr>
          <p:cNvPr id="5" name="TextBox 4">
            <a:extLst>
              <a:ext uri="{FF2B5EF4-FFF2-40B4-BE49-F238E27FC236}">
                <a16:creationId xmlns:a16="http://schemas.microsoft.com/office/drawing/2014/main" id="{2D6A7698-F0F8-6B32-0984-6EAEF3538E40}"/>
              </a:ext>
            </a:extLst>
          </p:cNvPr>
          <p:cNvSpPr txBox="1"/>
          <p:nvPr/>
        </p:nvSpPr>
        <p:spPr>
          <a:xfrm>
            <a:off x="785610" y="2785393"/>
            <a:ext cx="10380371" cy="2308324"/>
          </a:xfrm>
          <a:prstGeom prst="rect">
            <a:avLst/>
          </a:prstGeom>
          <a:noFill/>
        </p:spPr>
        <p:txBody>
          <a:bodyPr wrap="square">
            <a:spAutoFit/>
          </a:bodyPr>
          <a:lstStyle/>
          <a:p>
            <a:pPr>
              <a:buClr>
                <a:schemeClr val="accent2"/>
              </a:buClr>
              <a:buSzPct val="92000"/>
            </a:pPr>
            <a:r>
              <a:rPr lang="en-US" dirty="0"/>
              <a:t>POST </a:t>
            </a:r>
            <a:r>
              <a:rPr lang="en-US" dirty="0">
                <a:hlinkClick r:id="rId2"/>
              </a:rPr>
              <a:t>http://localhost:8080/graphql</a:t>
            </a:r>
            <a:endParaRPr lang="en-US" dirty="0"/>
          </a:p>
          <a:p>
            <a:pPr indent="0" algn="l">
              <a:buNone/>
            </a:pPr>
            <a:endParaRPr lang="en-US" sz="1800" b="0" i="0" dirty="0">
              <a:solidFill>
                <a:schemeClr val="tx1"/>
              </a:solidFill>
              <a:effectLst/>
              <a:latin typeface="+mn-lt"/>
            </a:endParaRPr>
          </a:p>
          <a:p>
            <a:pPr indent="0" algn="l">
              <a:buNone/>
            </a:pPr>
            <a:r>
              <a:rPr lang="en-US" dirty="0"/>
              <a:t>JSON body:</a:t>
            </a:r>
            <a:endParaRPr lang="en-US" sz="1800" b="0" i="0" dirty="0">
              <a:solidFill>
                <a:schemeClr val="tx1"/>
              </a:solidFill>
              <a:effectLst/>
              <a:latin typeface="+mn-lt"/>
            </a:endParaRPr>
          </a:p>
          <a:p>
            <a:r>
              <a:rPr lang="en-US" dirty="0"/>
              <a:t>{</a:t>
            </a:r>
          </a:p>
          <a:p>
            <a:r>
              <a:rPr lang="en-US" dirty="0"/>
              <a:t>  "query": "mutation { </a:t>
            </a:r>
            <a:r>
              <a:rPr lang="en-US" dirty="0" err="1"/>
              <a:t>createCustomer</a:t>
            </a:r>
            <a:r>
              <a:rPr lang="en-US" dirty="0"/>
              <a:t>(name: \"Charlie\", email: \"charlie@example.com\") { id name email } }"</a:t>
            </a:r>
          </a:p>
          <a:p>
            <a:r>
              <a:rPr lang="en-US" dirty="0"/>
              <a:t>}</a:t>
            </a:r>
          </a:p>
          <a:p>
            <a:pPr>
              <a:buNone/>
            </a:pPr>
            <a:br>
              <a:rPr lang="en-US" dirty="0"/>
            </a:br>
            <a:endParaRPr lang="en-US" dirty="0"/>
          </a:p>
        </p:txBody>
      </p:sp>
      <p:sp>
        <p:nvSpPr>
          <p:cNvPr id="7" name="TextBox 6">
            <a:extLst>
              <a:ext uri="{FF2B5EF4-FFF2-40B4-BE49-F238E27FC236}">
                <a16:creationId xmlns:a16="http://schemas.microsoft.com/office/drawing/2014/main" id="{75774594-2A86-B2A2-C264-6A0DFC1C0988}"/>
              </a:ext>
            </a:extLst>
          </p:cNvPr>
          <p:cNvSpPr txBox="1"/>
          <p:nvPr/>
        </p:nvSpPr>
        <p:spPr>
          <a:xfrm>
            <a:off x="9284020" y="4944770"/>
            <a:ext cx="2086379" cy="923330"/>
          </a:xfrm>
          <a:prstGeom prst="rect">
            <a:avLst/>
          </a:prstGeom>
          <a:noFill/>
        </p:spPr>
        <p:txBody>
          <a:bodyPr wrap="square">
            <a:spAutoFit/>
          </a:bodyPr>
          <a:lstStyle/>
          <a:p>
            <a:pPr indent="0" algn="l">
              <a:buNone/>
            </a:pPr>
            <a:r>
              <a:rPr lang="en-US" sz="1800" b="0" i="0" dirty="0">
                <a:solidFill>
                  <a:schemeClr val="tx1"/>
                </a:solidFill>
                <a:effectLst/>
                <a:latin typeface="+mn-lt"/>
              </a:rPr>
              <a:t>Response:</a:t>
            </a:r>
          </a:p>
          <a:p>
            <a:pPr indent="0" algn="l">
              <a:buNone/>
            </a:pPr>
            <a:endParaRPr lang="en-US" dirty="0"/>
          </a:p>
          <a:p>
            <a:pPr indent="0" algn="l">
              <a:buNone/>
            </a:pPr>
            <a:r>
              <a:rPr lang="en-US" sz="1800" b="0" i="0" dirty="0">
                <a:solidFill>
                  <a:schemeClr val="tx1"/>
                </a:solidFill>
                <a:effectLst/>
                <a:latin typeface="+mn-lt"/>
              </a:rPr>
              <a:t>Id, name, </a:t>
            </a:r>
            <a:r>
              <a:rPr lang="en-US" dirty="0"/>
              <a:t>email</a:t>
            </a:r>
            <a:endParaRPr lang="en-US" sz="1800" b="0" i="0" dirty="0">
              <a:solidFill>
                <a:schemeClr val="tx1"/>
              </a:solidFill>
              <a:effectLst/>
              <a:latin typeface="+mn-lt"/>
            </a:endParaRPr>
          </a:p>
        </p:txBody>
      </p:sp>
      <p:cxnSp>
        <p:nvCxnSpPr>
          <p:cNvPr id="6" name="Straight Arrow Connector 5">
            <a:extLst>
              <a:ext uri="{FF2B5EF4-FFF2-40B4-BE49-F238E27FC236}">
                <a16:creationId xmlns:a16="http://schemas.microsoft.com/office/drawing/2014/main" id="{F004CE23-3114-3127-035C-1E2EF9F806BB}"/>
              </a:ext>
            </a:extLst>
          </p:cNvPr>
          <p:cNvCxnSpPr/>
          <p:nvPr/>
        </p:nvCxnSpPr>
        <p:spPr>
          <a:xfrm flipV="1">
            <a:off x="9852338" y="4237149"/>
            <a:ext cx="0" cy="592428"/>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2322621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C6E03E-28D9-991F-6B40-08FCAD1125D9}"/>
              </a:ext>
            </a:extLst>
          </p:cNvPr>
          <p:cNvSpPr>
            <a:spLocks noGrp="1"/>
          </p:cNvSpPr>
          <p:nvPr>
            <p:ph type="title"/>
          </p:nvPr>
        </p:nvSpPr>
        <p:spPr/>
        <p:txBody>
          <a:bodyPr/>
          <a:lstStyle/>
          <a:p>
            <a:r>
              <a:rPr lang="en-US" dirty="0" err="1"/>
              <a:t>GraphQL</a:t>
            </a:r>
            <a:r>
              <a:rPr lang="en-US" dirty="0"/>
              <a:t> config</a:t>
            </a:r>
          </a:p>
        </p:txBody>
      </p:sp>
      <p:sp>
        <p:nvSpPr>
          <p:cNvPr id="3" name="Content Placeholder 2">
            <a:extLst>
              <a:ext uri="{FF2B5EF4-FFF2-40B4-BE49-F238E27FC236}">
                <a16:creationId xmlns:a16="http://schemas.microsoft.com/office/drawing/2014/main" id="{4BC44EB4-9CDE-C11B-C216-25F6EBE89826}"/>
              </a:ext>
            </a:extLst>
          </p:cNvPr>
          <p:cNvSpPr>
            <a:spLocks noGrp="1"/>
          </p:cNvSpPr>
          <p:nvPr>
            <p:ph idx="1"/>
          </p:nvPr>
        </p:nvSpPr>
        <p:spPr>
          <a:xfrm>
            <a:off x="581192" y="2180497"/>
            <a:ext cx="11029615" cy="1013800"/>
          </a:xfrm>
        </p:spPr>
        <p:txBody>
          <a:bodyPr>
            <a:normAutofit fontScale="92500" lnSpcReduction="20000"/>
          </a:bodyPr>
          <a:lstStyle/>
          <a:p>
            <a:r>
              <a:rPr lang="en-US" dirty="0"/>
              <a:t>We can change settings in either of these files:</a:t>
            </a:r>
          </a:p>
          <a:p>
            <a:r>
              <a:rPr lang="en-US" dirty="0" err="1"/>
              <a:t>src</a:t>
            </a:r>
            <a:r>
              <a:rPr lang="en-US" dirty="0"/>
              <a:t>/main/resources/</a:t>
            </a:r>
            <a:r>
              <a:rPr lang="en-US" dirty="0" err="1"/>
              <a:t>application.yml</a:t>
            </a:r>
            <a:endParaRPr lang="en-US" dirty="0"/>
          </a:p>
          <a:p>
            <a:r>
              <a:rPr lang="en-US" dirty="0" err="1"/>
              <a:t>src</a:t>
            </a:r>
            <a:r>
              <a:rPr lang="en-US" dirty="0"/>
              <a:t>/main/resources/</a:t>
            </a:r>
            <a:r>
              <a:rPr lang="en-US" dirty="0" err="1"/>
              <a:t>application.properties</a:t>
            </a:r>
            <a:endParaRPr lang="en-US" dirty="0"/>
          </a:p>
        </p:txBody>
      </p:sp>
      <p:sp>
        <p:nvSpPr>
          <p:cNvPr id="5" name="TextBox 4">
            <a:extLst>
              <a:ext uri="{FF2B5EF4-FFF2-40B4-BE49-F238E27FC236}">
                <a16:creationId xmlns:a16="http://schemas.microsoft.com/office/drawing/2014/main" id="{2EB22D85-6F79-67C3-057A-79521B0B6E3B}"/>
              </a:ext>
            </a:extLst>
          </p:cNvPr>
          <p:cNvSpPr txBox="1"/>
          <p:nvPr/>
        </p:nvSpPr>
        <p:spPr>
          <a:xfrm>
            <a:off x="705118" y="3523481"/>
            <a:ext cx="6098146" cy="2462213"/>
          </a:xfrm>
          <a:prstGeom prst="rect">
            <a:avLst/>
          </a:prstGeom>
          <a:noFill/>
        </p:spPr>
        <p:txBody>
          <a:bodyPr wrap="square">
            <a:spAutoFit/>
          </a:bodyPr>
          <a:lstStyle/>
          <a:p>
            <a:pPr marL="0" marR="0" indent="0" algn="l">
              <a:spcBef>
                <a:spcPts val="1200"/>
              </a:spcBef>
              <a:buNone/>
            </a:pPr>
            <a:r>
              <a:rPr lang="en-US" sz="1800" b="0" i="0" dirty="0">
                <a:solidFill>
                  <a:schemeClr val="tx1"/>
                </a:solidFill>
                <a:effectLst/>
                <a:latin typeface="+mn-lt"/>
              </a:rPr>
              <a:t>For example, in </a:t>
            </a:r>
            <a:r>
              <a:rPr lang="en-US" sz="1800" b="0" i="0" dirty="0" err="1">
                <a:solidFill>
                  <a:schemeClr val="tx1"/>
                </a:solidFill>
                <a:effectLst/>
                <a:latin typeface="+mn-lt"/>
              </a:rPr>
              <a:t>src</a:t>
            </a:r>
            <a:r>
              <a:rPr lang="en-US" sz="1800" b="0" i="0" dirty="0">
                <a:solidFill>
                  <a:schemeClr val="tx1"/>
                </a:solidFill>
                <a:effectLst/>
                <a:latin typeface="+mn-lt"/>
              </a:rPr>
              <a:t>/main/resources/</a:t>
            </a:r>
            <a:r>
              <a:rPr lang="en-US" sz="1800" b="0" i="0" dirty="0" err="1">
                <a:solidFill>
                  <a:schemeClr val="tx1"/>
                </a:solidFill>
                <a:effectLst/>
                <a:latin typeface="+mn-lt"/>
              </a:rPr>
              <a:t>application.yml</a:t>
            </a:r>
            <a:r>
              <a:rPr lang="en-US" sz="1800" b="0" i="0" dirty="0">
                <a:solidFill>
                  <a:schemeClr val="tx1"/>
                </a:solidFill>
                <a:effectLst/>
                <a:latin typeface="+mn-lt"/>
              </a:rPr>
              <a:t>:</a:t>
            </a:r>
          </a:p>
          <a:p>
            <a:pPr indent="0" algn="l">
              <a:buNone/>
            </a:pPr>
            <a:endParaRPr lang="en-US" sz="1800" b="0" i="0" dirty="0">
              <a:solidFill>
                <a:schemeClr val="tx1"/>
              </a:solidFill>
              <a:effectLst/>
              <a:latin typeface="+mn-lt"/>
            </a:endParaRPr>
          </a:p>
          <a:p>
            <a:pPr indent="0" algn="l">
              <a:buNone/>
            </a:pPr>
            <a:r>
              <a:rPr lang="en-US" sz="1800" b="0" i="0" dirty="0">
                <a:solidFill>
                  <a:schemeClr val="tx1"/>
                </a:solidFill>
                <a:effectLst/>
                <a:latin typeface="+mn-lt"/>
              </a:rPr>
              <a:t>spring:</a:t>
            </a:r>
          </a:p>
          <a:p>
            <a:pPr indent="0" algn="l">
              <a:buNone/>
            </a:pPr>
            <a:r>
              <a:rPr lang="en-US" sz="1800" b="0" i="0" dirty="0">
                <a:solidFill>
                  <a:schemeClr val="tx1"/>
                </a:solidFill>
                <a:effectLst/>
                <a:latin typeface="+mn-lt"/>
              </a:rPr>
              <a:t>  </a:t>
            </a:r>
            <a:r>
              <a:rPr lang="en-US" sz="1800" b="0" i="0" dirty="0" err="1">
                <a:solidFill>
                  <a:schemeClr val="tx1"/>
                </a:solidFill>
                <a:effectLst/>
                <a:latin typeface="+mn-lt"/>
              </a:rPr>
              <a:t>graphql</a:t>
            </a:r>
            <a:r>
              <a:rPr lang="en-US" sz="1800" b="0" i="0" dirty="0">
                <a:solidFill>
                  <a:schemeClr val="tx1"/>
                </a:solidFill>
                <a:effectLst/>
                <a:latin typeface="+mn-lt"/>
              </a:rPr>
              <a:t>:</a:t>
            </a:r>
          </a:p>
          <a:p>
            <a:pPr indent="0" algn="l">
              <a:buNone/>
            </a:pPr>
            <a:r>
              <a:rPr lang="en-US" sz="1800" b="0" i="0" dirty="0">
                <a:solidFill>
                  <a:schemeClr val="tx1"/>
                </a:solidFill>
                <a:effectLst/>
                <a:latin typeface="+mn-lt"/>
              </a:rPr>
              <a:t>    path: /</a:t>
            </a:r>
            <a:r>
              <a:rPr lang="en-US" sz="1800" b="0" i="0" dirty="0" err="1">
                <a:solidFill>
                  <a:schemeClr val="tx1"/>
                </a:solidFill>
                <a:effectLst/>
                <a:latin typeface="+mn-lt"/>
              </a:rPr>
              <a:t>api</a:t>
            </a:r>
            <a:r>
              <a:rPr lang="en-US" sz="1800" b="0" i="0" dirty="0">
                <a:solidFill>
                  <a:schemeClr val="tx1"/>
                </a:solidFill>
                <a:effectLst/>
                <a:latin typeface="+mn-lt"/>
              </a:rPr>
              <a:t>/</a:t>
            </a:r>
            <a:r>
              <a:rPr lang="en-US" sz="1800" b="0" i="0" dirty="0" err="1">
                <a:solidFill>
                  <a:schemeClr val="tx1"/>
                </a:solidFill>
                <a:effectLst/>
                <a:latin typeface="+mn-lt"/>
              </a:rPr>
              <a:t>graphql</a:t>
            </a:r>
            <a:endParaRPr lang="en-US" sz="1800" b="0" i="0" dirty="0">
              <a:solidFill>
                <a:schemeClr val="tx1"/>
              </a:solidFill>
              <a:effectLst/>
              <a:latin typeface="+mn-lt"/>
            </a:endParaRPr>
          </a:p>
          <a:p>
            <a:pPr marL="0" marR="0" indent="0" algn="l">
              <a:spcBef>
                <a:spcPts val="1200"/>
              </a:spcBef>
              <a:buNone/>
            </a:pPr>
            <a:r>
              <a:rPr lang="en-US" sz="1800" b="0" i="0" dirty="0">
                <a:solidFill>
                  <a:schemeClr val="tx1"/>
                </a:solidFill>
                <a:effectLst/>
                <a:latin typeface="+mn-lt"/>
              </a:rPr>
              <a:t>Your endpoint is now:</a:t>
            </a:r>
          </a:p>
          <a:p>
            <a:pPr indent="0" algn="l">
              <a:buNone/>
            </a:pPr>
            <a:endParaRPr lang="en-US" sz="1800" b="0" i="0" dirty="0">
              <a:solidFill>
                <a:schemeClr val="tx1"/>
              </a:solidFill>
              <a:effectLst/>
              <a:latin typeface="+mn-lt"/>
            </a:endParaRPr>
          </a:p>
          <a:p>
            <a:pPr indent="0" algn="l">
              <a:buNone/>
            </a:pPr>
            <a:r>
              <a:rPr lang="en-US" sz="1800" b="0" i="0" dirty="0">
                <a:solidFill>
                  <a:schemeClr val="tx1"/>
                </a:solidFill>
                <a:effectLst/>
                <a:latin typeface="+mn-lt"/>
              </a:rPr>
              <a:t>http://localhost:8080/api/graphql</a:t>
            </a:r>
            <a:endParaRPr lang="en-US" sz="1200" b="0" i="0" dirty="0">
              <a:solidFill>
                <a:srgbClr val="FFFFFF"/>
              </a:solidFill>
              <a:effectLst/>
              <a:latin typeface="Courier New" panose="02070309020205020404" pitchFamily="49" charset="0"/>
            </a:endParaRPr>
          </a:p>
        </p:txBody>
      </p:sp>
      <p:sp>
        <p:nvSpPr>
          <p:cNvPr id="7" name="TextBox 6">
            <a:extLst>
              <a:ext uri="{FF2B5EF4-FFF2-40B4-BE49-F238E27FC236}">
                <a16:creationId xmlns:a16="http://schemas.microsoft.com/office/drawing/2014/main" id="{1C61EC31-5D85-54B3-7955-1586F1001BCC}"/>
              </a:ext>
            </a:extLst>
          </p:cNvPr>
          <p:cNvSpPr txBox="1"/>
          <p:nvPr/>
        </p:nvSpPr>
        <p:spPr>
          <a:xfrm>
            <a:off x="6095999" y="3429000"/>
            <a:ext cx="6098146" cy="923330"/>
          </a:xfrm>
          <a:prstGeom prst="rect">
            <a:avLst/>
          </a:prstGeom>
          <a:noFill/>
        </p:spPr>
        <p:txBody>
          <a:bodyPr wrap="square">
            <a:spAutoFit/>
          </a:bodyPr>
          <a:lstStyle/>
          <a:p>
            <a:pPr marL="0" marR="0" indent="0" algn="l">
              <a:spcBef>
                <a:spcPts val="1200"/>
              </a:spcBef>
              <a:buNone/>
            </a:pPr>
            <a:r>
              <a:rPr lang="en-US" sz="1800" b="0" i="0" dirty="0">
                <a:solidFill>
                  <a:schemeClr val="tx1"/>
                </a:solidFill>
                <a:effectLst/>
                <a:latin typeface="+mn-lt"/>
              </a:rPr>
              <a:t>The equivalent </a:t>
            </a:r>
            <a:r>
              <a:rPr lang="en-US" sz="1800" b="0" i="0" dirty="0" err="1">
                <a:solidFill>
                  <a:schemeClr val="tx1"/>
                </a:solidFill>
                <a:effectLst/>
                <a:latin typeface="+mn-lt"/>
              </a:rPr>
              <a:t>application.properties</a:t>
            </a:r>
            <a:r>
              <a:rPr lang="en-US" sz="1800" b="0" i="0" dirty="0">
                <a:solidFill>
                  <a:schemeClr val="tx1"/>
                </a:solidFill>
                <a:effectLst/>
                <a:latin typeface="+mn-lt"/>
              </a:rPr>
              <a:t> configuration is:</a:t>
            </a:r>
          </a:p>
          <a:p>
            <a:pPr indent="0" algn="l">
              <a:buNone/>
            </a:pPr>
            <a:endParaRPr lang="en-US" sz="1800" b="0" i="0" dirty="0">
              <a:solidFill>
                <a:schemeClr val="tx1"/>
              </a:solidFill>
              <a:effectLst/>
              <a:latin typeface="+mn-lt"/>
            </a:endParaRPr>
          </a:p>
          <a:p>
            <a:pPr indent="0" algn="l">
              <a:buNone/>
            </a:pPr>
            <a:r>
              <a:rPr lang="en-US" sz="1800" b="0" i="0" dirty="0" err="1">
                <a:solidFill>
                  <a:schemeClr val="tx1"/>
                </a:solidFill>
                <a:effectLst/>
                <a:latin typeface="+mn-lt"/>
              </a:rPr>
              <a:t>spring.graphql.path</a:t>
            </a:r>
            <a:r>
              <a:rPr lang="en-US" sz="1800" b="0" i="0" dirty="0">
                <a:solidFill>
                  <a:schemeClr val="tx1"/>
                </a:solidFill>
                <a:effectLst/>
                <a:latin typeface="+mn-lt"/>
              </a:rPr>
              <a:t>=/</a:t>
            </a:r>
            <a:r>
              <a:rPr lang="en-US" sz="1800" b="0" i="0" dirty="0" err="1">
                <a:solidFill>
                  <a:schemeClr val="tx1"/>
                </a:solidFill>
                <a:effectLst/>
                <a:latin typeface="+mn-lt"/>
              </a:rPr>
              <a:t>api</a:t>
            </a:r>
            <a:r>
              <a:rPr lang="en-US" sz="1800" b="0" i="0" dirty="0">
                <a:solidFill>
                  <a:schemeClr val="tx1"/>
                </a:solidFill>
                <a:effectLst/>
                <a:latin typeface="+mn-lt"/>
              </a:rPr>
              <a:t>/</a:t>
            </a:r>
            <a:r>
              <a:rPr lang="en-US" sz="1800" b="0" i="0" dirty="0" err="1">
                <a:solidFill>
                  <a:schemeClr val="tx1"/>
                </a:solidFill>
                <a:effectLst/>
                <a:latin typeface="+mn-lt"/>
              </a:rPr>
              <a:t>graphql</a:t>
            </a:r>
            <a:endParaRPr lang="en-US" sz="1200" b="0" i="0" dirty="0">
              <a:solidFill>
                <a:srgbClr val="FFFFFF"/>
              </a:solidFill>
              <a:effectLst/>
              <a:latin typeface="Courier New" panose="02070309020205020404" pitchFamily="49" charset="0"/>
            </a:endParaRPr>
          </a:p>
        </p:txBody>
      </p:sp>
      <p:sp>
        <p:nvSpPr>
          <p:cNvPr id="9" name="TextBox 8">
            <a:extLst>
              <a:ext uri="{FF2B5EF4-FFF2-40B4-BE49-F238E27FC236}">
                <a16:creationId xmlns:a16="http://schemas.microsoft.com/office/drawing/2014/main" id="{B779B0F8-834C-314B-DDC9-FFC6897EDF28}"/>
              </a:ext>
            </a:extLst>
          </p:cNvPr>
          <p:cNvSpPr txBox="1"/>
          <p:nvPr/>
        </p:nvSpPr>
        <p:spPr>
          <a:xfrm>
            <a:off x="5954331" y="4907341"/>
            <a:ext cx="6098146" cy="1754326"/>
          </a:xfrm>
          <a:prstGeom prst="rect">
            <a:avLst/>
          </a:prstGeom>
          <a:noFill/>
        </p:spPr>
        <p:txBody>
          <a:bodyPr wrap="square">
            <a:spAutoFit/>
          </a:bodyPr>
          <a:lstStyle/>
          <a:p>
            <a:pPr indent="0" algn="l">
              <a:buNone/>
            </a:pPr>
            <a:r>
              <a:rPr lang="en-US" sz="1800" b="0" i="0" dirty="0">
                <a:solidFill>
                  <a:schemeClr val="tx1"/>
                </a:solidFill>
                <a:effectLst/>
                <a:latin typeface="+mn-lt"/>
              </a:rPr>
              <a:t>BONUS (enabling CORS):</a:t>
            </a:r>
          </a:p>
          <a:p>
            <a:pPr indent="0" algn="l">
              <a:buNone/>
            </a:pPr>
            <a:r>
              <a:rPr lang="en-US" sz="1800" b="0" i="0" dirty="0">
                <a:solidFill>
                  <a:schemeClr val="tx1"/>
                </a:solidFill>
                <a:effectLst/>
                <a:latin typeface="+mn-lt"/>
              </a:rPr>
              <a:t>spring:</a:t>
            </a:r>
          </a:p>
          <a:p>
            <a:pPr indent="0" algn="l">
              <a:buNone/>
            </a:pPr>
            <a:r>
              <a:rPr lang="en-US" sz="1800" b="0" i="0" dirty="0">
                <a:solidFill>
                  <a:schemeClr val="tx1"/>
                </a:solidFill>
                <a:effectLst/>
                <a:latin typeface="+mn-lt"/>
              </a:rPr>
              <a:t>  </a:t>
            </a:r>
            <a:r>
              <a:rPr lang="en-US" sz="1800" b="0" i="0" dirty="0" err="1">
                <a:solidFill>
                  <a:schemeClr val="tx1"/>
                </a:solidFill>
                <a:effectLst/>
                <a:latin typeface="+mn-lt"/>
              </a:rPr>
              <a:t>graphql</a:t>
            </a:r>
            <a:r>
              <a:rPr lang="en-US" sz="1800" b="0" i="0" dirty="0">
                <a:solidFill>
                  <a:schemeClr val="tx1"/>
                </a:solidFill>
                <a:effectLst/>
                <a:latin typeface="+mn-lt"/>
              </a:rPr>
              <a:t>:</a:t>
            </a:r>
          </a:p>
          <a:p>
            <a:pPr indent="0" algn="l">
              <a:buNone/>
            </a:pPr>
            <a:r>
              <a:rPr lang="en-US" sz="1800" b="0" i="0" dirty="0">
                <a:solidFill>
                  <a:schemeClr val="tx1"/>
                </a:solidFill>
                <a:effectLst/>
                <a:latin typeface="+mn-lt"/>
              </a:rPr>
              <a:t>    </a:t>
            </a:r>
            <a:r>
              <a:rPr lang="en-US" sz="1800" b="0" i="0" dirty="0" err="1">
                <a:solidFill>
                  <a:schemeClr val="tx1"/>
                </a:solidFill>
                <a:effectLst/>
                <a:latin typeface="+mn-lt"/>
              </a:rPr>
              <a:t>cors</a:t>
            </a:r>
            <a:r>
              <a:rPr lang="en-US" sz="1800" b="0" i="0" dirty="0">
                <a:solidFill>
                  <a:schemeClr val="tx1"/>
                </a:solidFill>
                <a:effectLst/>
                <a:latin typeface="+mn-lt"/>
              </a:rPr>
              <a:t>:</a:t>
            </a:r>
          </a:p>
          <a:p>
            <a:pPr indent="0" algn="l">
              <a:buNone/>
            </a:pPr>
            <a:r>
              <a:rPr lang="en-US" sz="1800" b="0" i="0" dirty="0">
                <a:solidFill>
                  <a:schemeClr val="tx1"/>
                </a:solidFill>
                <a:effectLst/>
                <a:latin typeface="+mn-lt"/>
              </a:rPr>
              <a:t>      allowed-origins: "http://localhost:3000"</a:t>
            </a:r>
          </a:p>
          <a:p>
            <a:pPr indent="0" algn="l">
              <a:buNone/>
            </a:pPr>
            <a:r>
              <a:rPr lang="en-US" sz="1800" b="0" i="0" dirty="0">
                <a:solidFill>
                  <a:schemeClr val="tx1"/>
                </a:solidFill>
                <a:effectLst/>
                <a:latin typeface="+mn-lt"/>
              </a:rPr>
              <a:t>      allowed-methods: GET, POST</a:t>
            </a:r>
            <a:endParaRPr lang="en-US" sz="1200" b="0" i="0" dirty="0">
              <a:solidFill>
                <a:srgbClr val="FFFFFF"/>
              </a:solidFill>
              <a:effectLst/>
              <a:latin typeface="Courier New" panose="02070309020205020404" pitchFamily="49" charset="0"/>
            </a:endParaRPr>
          </a:p>
        </p:txBody>
      </p:sp>
    </p:spTree>
    <p:extLst>
      <p:ext uri="{BB962C8B-B14F-4D97-AF65-F5344CB8AC3E}">
        <p14:creationId xmlns:p14="http://schemas.microsoft.com/office/powerpoint/2010/main" val="30745329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D92F2-BD3F-5502-960E-3CFF357784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5D234C-D59D-E997-1AA0-D508BFFD3CB6}"/>
              </a:ext>
            </a:extLst>
          </p:cNvPr>
          <p:cNvSpPr>
            <a:spLocks noGrp="1"/>
          </p:cNvSpPr>
          <p:nvPr>
            <p:ph type="title"/>
          </p:nvPr>
        </p:nvSpPr>
        <p:spPr/>
        <p:txBody>
          <a:bodyPr/>
          <a:lstStyle/>
          <a:p>
            <a:r>
              <a:rPr lang="en-US" dirty="0"/>
              <a:t>Challenge</a:t>
            </a:r>
          </a:p>
        </p:txBody>
      </p:sp>
      <p:sp>
        <p:nvSpPr>
          <p:cNvPr id="3" name="Content Placeholder 2">
            <a:extLst>
              <a:ext uri="{FF2B5EF4-FFF2-40B4-BE49-F238E27FC236}">
                <a16:creationId xmlns:a16="http://schemas.microsoft.com/office/drawing/2014/main" id="{23F8E57B-9E41-4816-C2F2-1105A90F87A9}"/>
              </a:ext>
            </a:extLst>
          </p:cNvPr>
          <p:cNvSpPr>
            <a:spLocks noGrp="1"/>
          </p:cNvSpPr>
          <p:nvPr>
            <p:ph idx="1"/>
          </p:nvPr>
        </p:nvSpPr>
        <p:spPr>
          <a:xfrm>
            <a:off x="581192" y="2444565"/>
            <a:ext cx="5317584" cy="1681246"/>
          </a:xfrm>
        </p:spPr>
        <p:txBody>
          <a:bodyPr/>
          <a:lstStyle/>
          <a:p>
            <a:r>
              <a:rPr lang="en-US" dirty="0"/>
              <a:t>Implement Swagger &amp; </a:t>
            </a:r>
            <a:r>
              <a:rPr lang="en-US" dirty="0" err="1"/>
              <a:t>GraphQL</a:t>
            </a:r>
            <a:endParaRPr lang="en-US" dirty="0"/>
          </a:p>
        </p:txBody>
      </p:sp>
      <p:sp>
        <p:nvSpPr>
          <p:cNvPr id="6" name="TextBox 5">
            <a:extLst>
              <a:ext uri="{FF2B5EF4-FFF2-40B4-BE49-F238E27FC236}">
                <a16:creationId xmlns:a16="http://schemas.microsoft.com/office/drawing/2014/main" id="{2DE50FF0-C783-F3C0-044D-2F094F317804}"/>
              </a:ext>
            </a:extLst>
          </p:cNvPr>
          <p:cNvSpPr txBox="1"/>
          <p:nvPr/>
        </p:nvSpPr>
        <p:spPr>
          <a:xfrm>
            <a:off x="1228165" y="2402747"/>
            <a:ext cx="756938" cy="369332"/>
          </a:xfrm>
          <a:prstGeom prst="rect">
            <a:avLst/>
          </a:prstGeom>
          <a:noFill/>
        </p:spPr>
        <p:txBody>
          <a:bodyPr wrap="none" rtlCol="0">
            <a:spAutoFit/>
          </a:bodyPr>
          <a:lstStyle/>
          <a:p>
            <a:r>
              <a:rPr lang="en-US" b="1" dirty="0"/>
              <a:t>Goal:</a:t>
            </a:r>
          </a:p>
        </p:txBody>
      </p:sp>
      <p:sp>
        <p:nvSpPr>
          <p:cNvPr id="7" name="TextBox 6">
            <a:extLst>
              <a:ext uri="{FF2B5EF4-FFF2-40B4-BE49-F238E27FC236}">
                <a16:creationId xmlns:a16="http://schemas.microsoft.com/office/drawing/2014/main" id="{405306AE-2095-D0AE-E069-321DBC55370F}"/>
              </a:ext>
            </a:extLst>
          </p:cNvPr>
          <p:cNvSpPr txBox="1"/>
          <p:nvPr/>
        </p:nvSpPr>
        <p:spPr>
          <a:xfrm>
            <a:off x="6949165" y="2402747"/>
            <a:ext cx="4661643" cy="369332"/>
          </a:xfrm>
          <a:prstGeom prst="rect">
            <a:avLst/>
          </a:prstGeom>
          <a:noFill/>
        </p:spPr>
        <p:txBody>
          <a:bodyPr wrap="square" rtlCol="0">
            <a:spAutoFit/>
          </a:bodyPr>
          <a:lstStyle/>
          <a:p>
            <a:r>
              <a:rPr lang="en-US" b="1" dirty="0"/>
              <a:t>Scenario:  			  </a:t>
            </a:r>
          </a:p>
        </p:txBody>
      </p:sp>
      <p:sp>
        <p:nvSpPr>
          <p:cNvPr id="8" name="Content Placeholder 2">
            <a:extLst>
              <a:ext uri="{FF2B5EF4-FFF2-40B4-BE49-F238E27FC236}">
                <a16:creationId xmlns:a16="http://schemas.microsoft.com/office/drawing/2014/main" id="{61B443B1-E14C-64AB-9E9D-75FFCF923C2B}"/>
              </a:ext>
            </a:extLst>
          </p:cNvPr>
          <p:cNvSpPr txBox="1">
            <a:spLocks/>
          </p:cNvSpPr>
          <p:nvPr/>
        </p:nvSpPr>
        <p:spPr>
          <a:xfrm>
            <a:off x="6674538" y="2972188"/>
            <a:ext cx="4661642" cy="236996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t>Setup Swagger for a single REST endpoint, include proper annotations so Swagger can include them in documentation </a:t>
            </a:r>
          </a:p>
          <a:p>
            <a:r>
              <a:rPr lang="en-US" dirty="0"/>
              <a:t>Setup </a:t>
            </a:r>
            <a:r>
              <a:rPr lang="en-US" dirty="0" err="1"/>
              <a:t>GraphQL</a:t>
            </a:r>
            <a:r>
              <a:rPr lang="en-US" dirty="0"/>
              <a:t> and create a single query + mutation</a:t>
            </a:r>
          </a:p>
          <a:p>
            <a:r>
              <a:rPr lang="en-US" dirty="0"/>
              <a:t>Recommended to do this on a copy of our starter projects</a:t>
            </a:r>
          </a:p>
        </p:txBody>
      </p:sp>
    </p:spTree>
    <p:extLst>
      <p:ext uri="{BB962C8B-B14F-4D97-AF65-F5344CB8AC3E}">
        <p14:creationId xmlns:p14="http://schemas.microsoft.com/office/powerpoint/2010/main" val="358787138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366658"/>
      </a:accent1>
      <a:accent2>
        <a:srgbClr val="8CB64A"/>
      </a:accent2>
      <a:accent3>
        <a:srgbClr val="88D5A9"/>
      </a:accent3>
      <a:accent4>
        <a:srgbClr val="969FA7"/>
      </a:accent4>
      <a:accent5>
        <a:srgbClr val="E8A844"/>
      </a:accent5>
      <a:accent6>
        <a:srgbClr val="A1561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4BEC0EAF-CF86-4D49-B83B-56CC62D3CFF1}"/>
    </a:ext>
  </a:extLst>
</a:theme>
</file>

<file path=docMetadata/LabelInfo.xml><?xml version="1.0" encoding="utf-8"?>
<clbl:labelList xmlns:clbl="http://schemas.microsoft.com/office/2020/mipLabelMetadata">
  <clbl:label id="{6b63e28a-a8f9-47b5-aa40-97e231215164}" enabled="0" method="" siteId="{6b63e28a-a8f9-47b5-aa40-97e231215164}" removed="1"/>
</clbl:labelList>
</file>

<file path=docProps/app.xml><?xml version="1.0" encoding="utf-8"?>
<Properties xmlns="http://schemas.openxmlformats.org/officeDocument/2006/extended-properties" xmlns:vt="http://schemas.openxmlformats.org/officeDocument/2006/docPropsVTypes">
  <Template>office theme</Template>
  <TotalTime>314</TotalTime>
  <Words>1457</Words>
  <Application>Microsoft Office PowerPoint</Application>
  <PresentationFormat>Widescreen</PresentationFormat>
  <Paragraphs>254</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-apple-system-body</vt:lpstr>
      <vt:lpstr>Courier New</vt:lpstr>
      <vt:lpstr>Gill Sans MT</vt:lpstr>
      <vt:lpstr>Wingdings 2</vt:lpstr>
      <vt:lpstr>Dividend</vt:lpstr>
      <vt:lpstr>Spring Boot – modules</vt:lpstr>
      <vt:lpstr>Overview</vt:lpstr>
      <vt:lpstr>MVC</vt:lpstr>
      <vt:lpstr>MVC implementations </vt:lpstr>
      <vt:lpstr>Swagger</vt:lpstr>
      <vt:lpstr>Swagger Annotations</vt:lpstr>
      <vt:lpstr>Swagger annotation example</vt:lpstr>
      <vt:lpstr>Spring for Graphql</vt:lpstr>
      <vt:lpstr>Graphql setup for spring boot</vt:lpstr>
      <vt:lpstr>Graphql setup for spring boot</vt:lpstr>
      <vt:lpstr>Graphql setup for spring boot</vt:lpstr>
      <vt:lpstr>Graphql more example queries</vt:lpstr>
      <vt:lpstr>Graphql more example queries</vt:lpstr>
      <vt:lpstr>GraphQL config</vt:lpstr>
      <vt:lpstr>Challenge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Wilson</dc:creator>
  <cp:lastModifiedBy>Ethan Wilson</cp:lastModifiedBy>
  <cp:revision>594</cp:revision>
  <dcterms:created xsi:type="dcterms:W3CDTF">2025-02-12T19:53:45Z</dcterms:created>
  <dcterms:modified xsi:type="dcterms:W3CDTF">2026-10-11T22:11:51Z</dcterms:modified>
</cp:coreProperties>
</file>