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8" r:id="rId3"/>
    <p:sldId id="263" r:id="rId4"/>
    <p:sldId id="264" r:id="rId5"/>
    <p:sldId id="265" r:id="rId6"/>
    <p:sldId id="266" r:id="rId7"/>
    <p:sldId id="267" r:id="rId8"/>
    <p:sldId id="269" r:id="rId9"/>
    <p:sldId id="271" r:id="rId10"/>
    <p:sldId id="272" r:id="rId11"/>
    <p:sldId id="273" r:id="rId12"/>
    <p:sldId id="274" r:id="rId13"/>
    <p:sldId id="275" r:id="rId14"/>
    <p:sldId id="276" r:id="rId15"/>
    <p:sldId id="262" r:id="rId16"/>
    <p:sldId id="277" r:id="rId17"/>
    <p:sldId id="278" r:id="rId18"/>
    <p:sldId id="279" r:id="rId19"/>
    <p:sldId id="280" r:id="rId20"/>
    <p:sldId id="287" r:id="rId21"/>
    <p:sldId id="281" r:id="rId22"/>
    <p:sldId id="282" r:id="rId23"/>
    <p:sldId id="285" r:id="rId24"/>
    <p:sldId id="283" r:id="rId25"/>
    <p:sldId id="284"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53" d="100"/>
          <a:sy n="153" d="100"/>
        </p:scale>
        <p:origin x="16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10/14/2026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localhost:8080/graphq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localhost:8080/graphq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localhost:8080/graphq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Spring Boot – modules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D7181-AF20-DD71-CD38-AD0EEFE00A6F}"/>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8AC5F723-68FA-FA86-0FF2-98B6DB778E73}"/>
              </a:ext>
            </a:extLst>
          </p:cNvPr>
          <p:cNvSpPr>
            <a:spLocks noGrp="1"/>
          </p:cNvSpPr>
          <p:nvPr>
            <p:ph idx="1"/>
          </p:nvPr>
        </p:nvSpPr>
        <p:spPr/>
        <p:txBody>
          <a:bodyPr/>
          <a:lstStyle/>
          <a:p>
            <a:r>
              <a:rPr lang="en-US" dirty="0"/>
              <a:t>Each of these are separate Spring projects or technologies we will discuss in this section</a:t>
            </a:r>
          </a:p>
          <a:p>
            <a:r>
              <a:rPr lang="en-US" dirty="0"/>
              <a:t>Spring MVC – architecture pattern, server-side rendering</a:t>
            </a:r>
          </a:p>
          <a:p>
            <a:r>
              <a:rPr lang="en-US" dirty="0"/>
              <a:t>Swagger – testing &amp; development module </a:t>
            </a:r>
          </a:p>
          <a:p>
            <a:r>
              <a:rPr lang="en-US" dirty="0"/>
              <a:t>Spring for </a:t>
            </a:r>
            <a:r>
              <a:rPr lang="en-US" dirty="0" err="1"/>
              <a:t>GraphQL</a:t>
            </a:r>
            <a:r>
              <a:rPr lang="en-US" dirty="0"/>
              <a:t> – Spring project for making queries of different shapes of data</a:t>
            </a:r>
          </a:p>
          <a:p>
            <a:r>
              <a:rPr lang="en-US" dirty="0"/>
              <a:t>Spring Security – Spring project for Authentication/Authorization, RBAC</a:t>
            </a:r>
          </a:p>
          <a:p>
            <a:r>
              <a:rPr lang="en-US" dirty="0"/>
              <a:t>Spring AI – Spring project to connect AI models from providers such as OpenAI, Anthropic, and </a:t>
            </a:r>
            <a:r>
              <a:rPr lang="en-US" dirty="0" err="1"/>
              <a:t>Ollama</a:t>
            </a:r>
            <a:r>
              <a:rPr lang="en-US" dirty="0"/>
              <a:t> using familiar Spring programming patterns</a:t>
            </a:r>
          </a:p>
        </p:txBody>
      </p:sp>
    </p:spTree>
    <p:extLst>
      <p:ext uri="{BB962C8B-B14F-4D97-AF65-F5344CB8AC3E}">
        <p14:creationId xmlns:p14="http://schemas.microsoft.com/office/powerpoint/2010/main" val="245368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DBA0-772B-3F19-5943-6DA000D8B8B0}"/>
              </a:ext>
            </a:extLst>
          </p:cNvPr>
          <p:cNvSpPr>
            <a:spLocks noGrp="1"/>
          </p:cNvSpPr>
          <p:nvPr>
            <p:ph type="title"/>
          </p:nvPr>
        </p:nvSpPr>
        <p:spPr/>
        <p:txBody>
          <a:bodyPr/>
          <a:lstStyle/>
          <a:p>
            <a:r>
              <a:rPr lang="en-US" dirty="0"/>
              <a:t>MVC</a:t>
            </a:r>
          </a:p>
        </p:txBody>
      </p:sp>
      <p:sp>
        <p:nvSpPr>
          <p:cNvPr id="3" name="Content Placeholder 2">
            <a:extLst>
              <a:ext uri="{FF2B5EF4-FFF2-40B4-BE49-F238E27FC236}">
                <a16:creationId xmlns:a16="http://schemas.microsoft.com/office/drawing/2014/main" id="{91F595EF-3007-9AD9-F086-0AA6F0229E0B}"/>
              </a:ext>
            </a:extLst>
          </p:cNvPr>
          <p:cNvSpPr>
            <a:spLocks noGrp="1"/>
          </p:cNvSpPr>
          <p:nvPr>
            <p:ph idx="1"/>
          </p:nvPr>
        </p:nvSpPr>
        <p:spPr>
          <a:xfrm>
            <a:off x="581192" y="2212394"/>
            <a:ext cx="11029615" cy="3678303"/>
          </a:xfrm>
        </p:spPr>
        <p:txBody>
          <a:bodyPr>
            <a:normAutofit/>
          </a:bodyPr>
          <a:lstStyle/>
          <a:p>
            <a:r>
              <a:rPr lang="en-US" b="1" dirty="0"/>
              <a:t>Model</a:t>
            </a:r>
          </a:p>
          <a:p>
            <a:r>
              <a:rPr lang="en-US" dirty="0"/>
              <a:t>Represents application data and business rules.</a:t>
            </a:r>
          </a:p>
          <a:p>
            <a:r>
              <a:rPr lang="en-US" dirty="0"/>
              <a:t>Examples: entities, services, repositories, domain logic</a:t>
            </a:r>
          </a:p>
          <a:p>
            <a:r>
              <a:rPr lang="en-US" b="1" dirty="0"/>
              <a:t>Controller</a:t>
            </a:r>
          </a:p>
          <a:p>
            <a:r>
              <a:rPr lang="en-US" dirty="0"/>
              <a:t>Handles input, coordinates application operations, and determines the response.</a:t>
            </a:r>
          </a:p>
          <a:p>
            <a:r>
              <a:rPr lang="en-US" dirty="0"/>
              <a:t>Examples: Spring @Controller or @RestController</a:t>
            </a:r>
          </a:p>
          <a:p>
            <a:r>
              <a:rPr lang="en-US" b="1" dirty="0"/>
              <a:t>View</a:t>
            </a:r>
          </a:p>
          <a:p>
            <a:r>
              <a:rPr lang="en-US" dirty="0"/>
              <a:t>Presents information to the user.</a:t>
            </a:r>
          </a:p>
          <a:p>
            <a:r>
              <a:rPr lang="en-US" dirty="0"/>
              <a:t>Examples: HTML templates, JSON consumed by a UI, or a rendered interface</a:t>
            </a:r>
          </a:p>
        </p:txBody>
      </p:sp>
    </p:spTree>
    <p:extLst>
      <p:ext uri="{BB962C8B-B14F-4D97-AF65-F5344CB8AC3E}">
        <p14:creationId xmlns:p14="http://schemas.microsoft.com/office/powerpoint/2010/main" val="97147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0CC3-FCD7-3ADC-9649-8CE05F7CEAD4}"/>
              </a:ext>
            </a:extLst>
          </p:cNvPr>
          <p:cNvSpPr>
            <a:spLocks noGrp="1"/>
          </p:cNvSpPr>
          <p:nvPr>
            <p:ph type="title"/>
          </p:nvPr>
        </p:nvSpPr>
        <p:spPr/>
        <p:txBody>
          <a:bodyPr/>
          <a:lstStyle/>
          <a:p>
            <a:r>
              <a:rPr lang="en-US" dirty="0"/>
              <a:t>MVC implementations </a:t>
            </a:r>
          </a:p>
        </p:txBody>
      </p:sp>
      <p:sp>
        <p:nvSpPr>
          <p:cNvPr id="3" name="Content Placeholder 2">
            <a:extLst>
              <a:ext uri="{FF2B5EF4-FFF2-40B4-BE49-F238E27FC236}">
                <a16:creationId xmlns:a16="http://schemas.microsoft.com/office/drawing/2014/main" id="{9830F1CC-F693-75D6-DACF-6A7079E6FD2E}"/>
              </a:ext>
            </a:extLst>
          </p:cNvPr>
          <p:cNvSpPr>
            <a:spLocks noGrp="1"/>
          </p:cNvSpPr>
          <p:nvPr>
            <p:ph idx="1"/>
          </p:nvPr>
        </p:nvSpPr>
        <p:spPr/>
        <p:txBody>
          <a:bodyPr/>
          <a:lstStyle/>
          <a:p>
            <a:r>
              <a:rPr lang="en-US" dirty="0"/>
              <a:t>Spring Boot app that returns JSON + React/Angular </a:t>
            </a:r>
          </a:p>
          <a:p>
            <a:r>
              <a:rPr lang="en-US" dirty="0"/>
              <a:t>Spring Boot MVC + </a:t>
            </a:r>
            <a:r>
              <a:rPr lang="en-US" dirty="0" err="1"/>
              <a:t>thymeleaf</a:t>
            </a:r>
            <a:endParaRPr lang="en-US" dirty="0"/>
          </a:p>
          <a:p>
            <a:r>
              <a:rPr lang="en-US" dirty="0"/>
              <a:t>BOTH follow a MVC pattern </a:t>
            </a:r>
          </a:p>
        </p:txBody>
      </p:sp>
    </p:spTree>
    <p:extLst>
      <p:ext uri="{BB962C8B-B14F-4D97-AF65-F5344CB8AC3E}">
        <p14:creationId xmlns:p14="http://schemas.microsoft.com/office/powerpoint/2010/main" val="3247867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E9FAB-FFE3-6C2A-A7BB-7FD17E63BF56}"/>
              </a:ext>
            </a:extLst>
          </p:cNvPr>
          <p:cNvSpPr>
            <a:spLocks noGrp="1"/>
          </p:cNvSpPr>
          <p:nvPr>
            <p:ph type="title"/>
          </p:nvPr>
        </p:nvSpPr>
        <p:spPr/>
        <p:txBody>
          <a:bodyPr/>
          <a:lstStyle/>
          <a:p>
            <a:r>
              <a:rPr lang="en-US" dirty="0"/>
              <a:t>Swagger</a:t>
            </a:r>
          </a:p>
        </p:txBody>
      </p:sp>
      <p:sp>
        <p:nvSpPr>
          <p:cNvPr id="3" name="Content Placeholder 2">
            <a:extLst>
              <a:ext uri="{FF2B5EF4-FFF2-40B4-BE49-F238E27FC236}">
                <a16:creationId xmlns:a16="http://schemas.microsoft.com/office/drawing/2014/main" id="{83BAF0A5-8B02-874D-AEA2-48F9326A16B5}"/>
              </a:ext>
            </a:extLst>
          </p:cNvPr>
          <p:cNvSpPr>
            <a:spLocks noGrp="1"/>
          </p:cNvSpPr>
          <p:nvPr>
            <p:ph idx="1"/>
          </p:nvPr>
        </p:nvSpPr>
        <p:spPr>
          <a:xfrm>
            <a:off x="581192" y="2180496"/>
            <a:ext cx="4543701" cy="4252201"/>
          </a:xfrm>
        </p:spPr>
        <p:txBody>
          <a:bodyPr/>
          <a:lstStyle/>
          <a:p>
            <a:r>
              <a:rPr lang="en-US" dirty="0"/>
              <a:t>Swagger is a set of tools and conventions for describing, documenting, and testing REST APIs. </a:t>
            </a:r>
          </a:p>
          <a:p>
            <a:r>
              <a:rPr lang="en-US" dirty="0"/>
              <a:t>In a Spring Boot application, it helps you expose your API endpoints in an interactive web page so developers can understand your API and try requests without needing Postman or writing a client first.</a:t>
            </a:r>
          </a:p>
        </p:txBody>
      </p:sp>
      <p:pic>
        <p:nvPicPr>
          <p:cNvPr id="5" name="Picture 4">
            <a:extLst>
              <a:ext uri="{FF2B5EF4-FFF2-40B4-BE49-F238E27FC236}">
                <a16:creationId xmlns:a16="http://schemas.microsoft.com/office/drawing/2014/main" id="{CC0AB4AA-F463-EEEF-1F06-DF3B0AFA410A}"/>
              </a:ext>
            </a:extLst>
          </p:cNvPr>
          <p:cNvPicPr>
            <a:picLocks noChangeAspect="1"/>
          </p:cNvPicPr>
          <p:nvPr/>
        </p:nvPicPr>
        <p:blipFill>
          <a:blip r:embed="rId2"/>
          <a:stretch>
            <a:fillRect/>
          </a:stretch>
        </p:blipFill>
        <p:spPr>
          <a:xfrm>
            <a:off x="5284381" y="2624901"/>
            <a:ext cx="6326426" cy="2884777"/>
          </a:xfrm>
          <a:prstGeom prst="rect">
            <a:avLst/>
          </a:prstGeom>
        </p:spPr>
      </p:pic>
    </p:spTree>
    <p:extLst>
      <p:ext uri="{BB962C8B-B14F-4D97-AF65-F5344CB8AC3E}">
        <p14:creationId xmlns:p14="http://schemas.microsoft.com/office/powerpoint/2010/main" val="85981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BCC6E-FB22-F534-0D23-ABA7A2FECB65}"/>
              </a:ext>
            </a:extLst>
          </p:cNvPr>
          <p:cNvSpPr>
            <a:spLocks noGrp="1"/>
          </p:cNvSpPr>
          <p:nvPr>
            <p:ph type="title"/>
          </p:nvPr>
        </p:nvSpPr>
        <p:spPr/>
        <p:txBody>
          <a:bodyPr/>
          <a:lstStyle/>
          <a:p>
            <a:r>
              <a:rPr lang="en-US" dirty="0"/>
              <a:t>Swagger Annotations</a:t>
            </a:r>
          </a:p>
        </p:txBody>
      </p:sp>
      <p:graphicFrame>
        <p:nvGraphicFramePr>
          <p:cNvPr id="4" name="Content Placeholder 3">
            <a:extLst>
              <a:ext uri="{FF2B5EF4-FFF2-40B4-BE49-F238E27FC236}">
                <a16:creationId xmlns:a16="http://schemas.microsoft.com/office/drawing/2014/main" id="{12C32F41-FC16-70F9-D801-C39155196DB9}"/>
              </a:ext>
            </a:extLst>
          </p:cNvPr>
          <p:cNvGraphicFramePr>
            <a:graphicFrameLocks noGrp="1"/>
          </p:cNvGraphicFramePr>
          <p:nvPr>
            <p:ph idx="1"/>
            <p:extLst>
              <p:ext uri="{D42A27DB-BD31-4B8C-83A1-F6EECF244321}">
                <p14:modId xmlns:p14="http://schemas.microsoft.com/office/powerpoint/2010/main" val="1300941254"/>
              </p:ext>
            </p:extLst>
          </p:nvPr>
        </p:nvGraphicFramePr>
        <p:xfrm>
          <a:off x="580691" y="2280062"/>
          <a:ext cx="11029950" cy="3431970"/>
        </p:xfrm>
        <a:graphic>
          <a:graphicData uri="http://schemas.openxmlformats.org/drawingml/2006/table">
            <a:tbl>
              <a:tblPr>
                <a:tableStyleId>{5C22544A-7EE6-4342-B048-85BDC9FD1C3A}</a:tableStyleId>
              </a:tblPr>
              <a:tblGrid>
                <a:gridCol w="5514975">
                  <a:extLst>
                    <a:ext uri="{9D8B030D-6E8A-4147-A177-3AD203B41FA5}">
                      <a16:colId xmlns:a16="http://schemas.microsoft.com/office/drawing/2014/main" val="500209547"/>
                    </a:ext>
                  </a:extLst>
                </a:gridCol>
                <a:gridCol w="5514975">
                  <a:extLst>
                    <a:ext uri="{9D8B030D-6E8A-4147-A177-3AD203B41FA5}">
                      <a16:colId xmlns:a16="http://schemas.microsoft.com/office/drawing/2014/main" val="2899805654"/>
                    </a:ext>
                  </a:extLst>
                </a:gridCol>
              </a:tblGrid>
              <a:tr h="571995">
                <a:tc>
                  <a:txBody>
                    <a:bodyPr/>
                    <a:lstStyle/>
                    <a:p>
                      <a:pPr marL="0" marR="0" algn="l" fontAlgn="t">
                        <a:buNone/>
                      </a:pPr>
                      <a:r>
                        <a:rPr lang="en-US" sz="1600" b="1" spc="0" dirty="0">
                          <a:effectLst/>
                        </a:rPr>
                        <a:t>Annotation</a:t>
                      </a:r>
                      <a:endParaRPr lang="en-US" sz="1600" b="1" i="0" spc="0" dirty="0">
                        <a:solidFill>
                          <a:srgbClr val="FFFFFF"/>
                        </a:solidFill>
                        <a:effectLst/>
                        <a:latin typeface="-apple-system-body"/>
                      </a:endParaRPr>
                    </a:p>
                  </a:txBody>
                  <a:tcPr marT="50800" marB="50800"/>
                </a:tc>
                <a:tc>
                  <a:txBody>
                    <a:bodyPr/>
                    <a:lstStyle/>
                    <a:p>
                      <a:pPr marL="0" marR="0" algn="l" fontAlgn="t">
                        <a:buNone/>
                      </a:pPr>
                      <a:r>
                        <a:rPr lang="en-US" sz="1600" b="1" spc="0" dirty="0">
                          <a:effectLst/>
                        </a:rPr>
                        <a:t>Purpose</a:t>
                      </a:r>
                      <a:endParaRPr lang="en-US" sz="1600" b="1" i="0" spc="0" dirty="0">
                        <a:solidFill>
                          <a:srgbClr val="FFFFFF"/>
                        </a:solidFill>
                        <a:effectLst/>
                        <a:latin typeface="-apple-system-body"/>
                      </a:endParaRPr>
                    </a:p>
                  </a:txBody>
                  <a:tcPr marT="50800" marB="50800"/>
                </a:tc>
                <a:extLst>
                  <a:ext uri="{0D108BD9-81ED-4DB2-BD59-A6C34878D82A}">
                    <a16:rowId xmlns:a16="http://schemas.microsoft.com/office/drawing/2014/main" val="4244920551"/>
                  </a:ext>
                </a:extLst>
              </a:tr>
              <a:tr h="571995">
                <a:tc>
                  <a:txBody>
                    <a:bodyPr/>
                    <a:lstStyle/>
                    <a:p>
                      <a:pPr marL="0" marR="0" algn="l" fontAlgn="t">
                        <a:buNone/>
                      </a:pPr>
                      <a:r>
                        <a:rPr lang="en-US" sz="1600" spc="0">
                          <a:effectLst/>
                        </a:rPr>
                        <a:t>@Tag</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Groups related endpoints under a named section.</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4150998928"/>
                  </a:ext>
                </a:extLst>
              </a:tr>
              <a:tr h="571995">
                <a:tc>
                  <a:txBody>
                    <a:bodyPr/>
                    <a:lstStyle/>
                    <a:p>
                      <a:pPr marL="0" marR="0" algn="l" fontAlgn="t">
                        <a:buNone/>
                      </a:pPr>
                      <a:r>
                        <a:rPr lang="en-US" sz="1600" spc="0">
                          <a:effectLst/>
                        </a:rPr>
                        <a:t>@Operation</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Provides a summary and detailed endpoint description.</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1299979565"/>
                  </a:ext>
                </a:extLst>
              </a:tr>
              <a:tr h="571995">
                <a:tc>
                  <a:txBody>
                    <a:bodyPr/>
                    <a:lstStyle/>
                    <a:p>
                      <a:pPr marL="0" marR="0" algn="l" fontAlgn="t">
                        <a:buNone/>
                      </a:pPr>
                      <a:r>
                        <a:rPr lang="en-US" sz="1600" spc="0">
                          <a:effectLst/>
                        </a:rPr>
                        <a:t>@ApiResponse</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Documents possible HTTP responses.</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2703041202"/>
                  </a:ext>
                </a:extLst>
              </a:tr>
              <a:tr h="571995">
                <a:tc>
                  <a:txBody>
                    <a:bodyPr/>
                    <a:lstStyle/>
                    <a:p>
                      <a:pPr marL="0" marR="0" algn="l" fontAlgn="t">
                        <a:buNone/>
                      </a:pPr>
                      <a:r>
                        <a:rPr lang="en-US" sz="1600" spc="0">
                          <a:effectLst/>
                        </a:rPr>
                        <a:t>@Parameter</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Describes a path, query, or other parameter.</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3037789768"/>
                  </a:ext>
                </a:extLst>
              </a:tr>
              <a:tr h="571995">
                <a:tc>
                  <a:txBody>
                    <a:bodyPr/>
                    <a:lstStyle/>
                    <a:p>
                      <a:pPr marL="0" marR="0" algn="l" fontAlgn="t">
                        <a:buNone/>
                      </a:pPr>
                      <a:r>
                        <a:rPr lang="en-US" sz="1600" spc="0">
                          <a:effectLst/>
                        </a:rPr>
                        <a:t>@Schema</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dirty="0">
                          <a:effectLst/>
                        </a:rPr>
                        <a:t>Documents a DTO's fields, constraints, and example values.</a:t>
                      </a:r>
                      <a:endParaRPr lang="en-US" sz="1600" b="0" i="0" spc="0" dirty="0">
                        <a:solidFill>
                          <a:srgbClr val="FFFFFF"/>
                        </a:solidFill>
                        <a:effectLst/>
                        <a:latin typeface="-apple-system-body"/>
                      </a:endParaRPr>
                    </a:p>
                  </a:txBody>
                  <a:tcPr marT="50800" marB="50800"/>
                </a:tc>
                <a:extLst>
                  <a:ext uri="{0D108BD9-81ED-4DB2-BD59-A6C34878D82A}">
                    <a16:rowId xmlns:a16="http://schemas.microsoft.com/office/drawing/2014/main" val="2741424499"/>
                  </a:ext>
                </a:extLst>
              </a:tr>
            </a:tbl>
          </a:graphicData>
        </a:graphic>
      </p:graphicFrame>
    </p:spTree>
    <p:extLst>
      <p:ext uri="{BB962C8B-B14F-4D97-AF65-F5344CB8AC3E}">
        <p14:creationId xmlns:p14="http://schemas.microsoft.com/office/powerpoint/2010/main" val="1903496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5084F-FD50-8CA5-621B-B8EF4DF648B6}"/>
              </a:ext>
            </a:extLst>
          </p:cNvPr>
          <p:cNvSpPr>
            <a:spLocks noGrp="1"/>
          </p:cNvSpPr>
          <p:nvPr>
            <p:ph type="title"/>
          </p:nvPr>
        </p:nvSpPr>
        <p:spPr/>
        <p:txBody>
          <a:bodyPr/>
          <a:lstStyle/>
          <a:p>
            <a:r>
              <a:rPr lang="en-US" dirty="0"/>
              <a:t>Swagger annotation example</a:t>
            </a:r>
          </a:p>
        </p:txBody>
      </p:sp>
      <p:sp>
        <p:nvSpPr>
          <p:cNvPr id="5" name="TextBox 4">
            <a:extLst>
              <a:ext uri="{FF2B5EF4-FFF2-40B4-BE49-F238E27FC236}">
                <a16:creationId xmlns:a16="http://schemas.microsoft.com/office/drawing/2014/main" id="{E05ACA7B-68C0-D9C3-B115-C3F4E2F42318}"/>
              </a:ext>
            </a:extLst>
          </p:cNvPr>
          <p:cNvSpPr txBox="1"/>
          <p:nvPr/>
        </p:nvSpPr>
        <p:spPr>
          <a:xfrm>
            <a:off x="793843" y="2189124"/>
            <a:ext cx="4894625" cy="4401205"/>
          </a:xfrm>
          <a:prstGeom prst="rect">
            <a:avLst/>
          </a:prstGeom>
          <a:noFill/>
        </p:spPr>
        <p:txBody>
          <a:bodyPr wrap="square">
            <a:spAutoFit/>
          </a:bodyPr>
          <a:lstStyle/>
          <a:p>
            <a:pPr indent="0" algn="l">
              <a:buNone/>
            </a:pPr>
            <a:r>
              <a:rPr lang="en-US" sz="1400" b="0" i="0" dirty="0">
                <a:solidFill>
                  <a:schemeClr val="tx1"/>
                </a:solidFill>
                <a:effectLst/>
                <a:latin typeface="+mn-lt"/>
              </a:rPr>
              <a:t>@GetMapping("/{id}")</a:t>
            </a:r>
          </a:p>
          <a:p>
            <a:pPr indent="0" algn="l">
              <a:buNone/>
            </a:pPr>
            <a:r>
              <a:rPr lang="en-US" sz="1400" b="0" i="0" dirty="0">
                <a:solidFill>
                  <a:schemeClr val="tx1"/>
                </a:solidFill>
                <a:effectLst/>
                <a:latin typeface="+mn-lt"/>
              </a:rPr>
              <a:t>    @Operation(</a:t>
            </a:r>
          </a:p>
          <a:p>
            <a:pPr indent="0" algn="l">
              <a:buNone/>
            </a:pPr>
            <a:r>
              <a:rPr lang="en-US" sz="1400" b="0" i="0" dirty="0">
                <a:solidFill>
                  <a:schemeClr val="tx1"/>
                </a:solidFill>
                <a:effectLst/>
                <a:latin typeface="+mn-lt"/>
              </a:rPr>
              <a:t>        summary = "Get a product",</a:t>
            </a:r>
          </a:p>
          <a:p>
            <a:pPr indent="0" algn="l">
              <a:buNone/>
            </a:pPr>
            <a:r>
              <a:rPr lang="en-US" sz="1400" b="0" i="0" dirty="0">
                <a:solidFill>
                  <a:schemeClr val="tx1"/>
                </a:solidFill>
                <a:effectLst/>
                <a:latin typeface="+mn-lt"/>
              </a:rPr>
              <a:t>        description = "Returns a product by its ID"</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    @ApiResponse(</a:t>
            </a:r>
          </a:p>
          <a:p>
            <a:pPr indent="0" algn="l">
              <a:buNone/>
            </a:pPr>
            <a:r>
              <a:rPr lang="en-US" sz="1400" b="0" i="0" dirty="0">
                <a:solidFill>
                  <a:schemeClr val="tx1"/>
                </a:solidFill>
                <a:effectLst/>
                <a:latin typeface="+mn-lt"/>
              </a:rPr>
              <a:t>        </a:t>
            </a:r>
            <a:r>
              <a:rPr lang="en-US" sz="1400" b="0" i="0" dirty="0" err="1">
                <a:solidFill>
                  <a:schemeClr val="tx1"/>
                </a:solidFill>
                <a:effectLst/>
                <a:latin typeface="+mn-lt"/>
              </a:rPr>
              <a:t>responseCode</a:t>
            </a:r>
            <a:r>
              <a:rPr lang="en-US" sz="1400" b="0" i="0" dirty="0">
                <a:solidFill>
                  <a:schemeClr val="tx1"/>
                </a:solidFill>
                <a:effectLst/>
                <a:latin typeface="+mn-lt"/>
              </a:rPr>
              <a:t> = "200",</a:t>
            </a:r>
          </a:p>
          <a:p>
            <a:pPr indent="0" algn="l">
              <a:buNone/>
            </a:pPr>
            <a:r>
              <a:rPr lang="en-US" sz="1400" b="0" i="0" dirty="0">
                <a:solidFill>
                  <a:schemeClr val="tx1"/>
                </a:solidFill>
                <a:effectLst/>
                <a:latin typeface="+mn-lt"/>
              </a:rPr>
              <a:t>        description = "Product found"</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    @ApiResponse(</a:t>
            </a:r>
          </a:p>
          <a:p>
            <a:pPr indent="0" algn="l">
              <a:buNone/>
            </a:pPr>
            <a:r>
              <a:rPr lang="en-US" sz="1400" b="0" i="0" dirty="0">
                <a:solidFill>
                  <a:schemeClr val="tx1"/>
                </a:solidFill>
                <a:effectLst/>
                <a:latin typeface="+mn-lt"/>
              </a:rPr>
              <a:t>        </a:t>
            </a:r>
            <a:r>
              <a:rPr lang="en-US" sz="1400" b="0" i="0" dirty="0" err="1">
                <a:solidFill>
                  <a:schemeClr val="tx1"/>
                </a:solidFill>
                <a:effectLst/>
                <a:latin typeface="+mn-lt"/>
              </a:rPr>
              <a:t>responseCode</a:t>
            </a:r>
            <a:r>
              <a:rPr lang="en-US" sz="1400" b="0" i="0" dirty="0">
                <a:solidFill>
                  <a:schemeClr val="tx1"/>
                </a:solidFill>
                <a:effectLst/>
                <a:latin typeface="+mn-lt"/>
              </a:rPr>
              <a:t> = "404",</a:t>
            </a:r>
          </a:p>
          <a:p>
            <a:pPr indent="0" algn="l">
              <a:buNone/>
            </a:pPr>
            <a:r>
              <a:rPr lang="en-US" sz="1400" b="0" i="0" dirty="0">
                <a:solidFill>
                  <a:schemeClr val="tx1"/>
                </a:solidFill>
                <a:effectLst/>
                <a:latin typeface="+mn-lt"/>
              </a:rPr>
              <a:t>        description = "Product not found"</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    public </a:t>
            </a:r>
            <a:r>
              <a:rPr lang="en-US" sz="1400" b="0" i="0" dirty="0" err="1">
                <a:solidFill>
                  <a:schemeClr val="tx1"/>
                </a:solidFill>
                <a:effectLst/>
                <a:latin typeface="+mn-lt"/>
              </a:rPr>
              <a:t>ProductDto</a:t>
            </a:r>
            <a:r>
              <a:rPr lang="en-US" sz="1400" b="0" i="0" dirty="0">
                <a:solidFill>
                  <a:schemeClr val="tx1"/>
                </a:solidFill>
                <a:effectLst/>
                <a:latin typeface="+mn-lt"/>
              </a:rPr>
              <a:t> </a:t>
            </a:r>
            <a:r>
              <a:rPr lang="en-US" sz="1400" b="0" i="0" dirty="0" err="1">
                <a:solidFill>
                  <a:schemeClr val="tx1"/>
                </a:solidFill>
                <a:effectLst/>
                <a:latin typeface="+mn-lt"/>
              </a:rPr>
              <a:t>getProduct</a:t>
            </a:r>
            <a:r>
              <a:rPr lang="en-US" sz="1400" b="0" i="0" dirty="0">
                <a:solidFill>
                  <a:schemeClr val="tx1"/>
                </a:solidFill>
                <a:effectLst/>
                <a:latin typeface="+mn-lt"/>
              </a:rPr>
              <a:t>(</a:t>
            </a:r>
          </a:p>
          <a:p>
            <a:pPr indent="0" algn="l">
              <a:buNone/>
            </a:pPr>
            <a:r>
              <a:rPr lang="en-US" sz="1400" b="0" i="0" dirty="0">
                <a:solidFill>
                  <a:schemeClr val="tx1"/>
                </a:solidFill>
                <a:effectLst/>
                <a:latin typeface="+mn-lt"/>
              </a:rPr>
              <a:t>        @Parameter(description = "Unique product ID")</a:t>
            </a:r>
          </a:p>
          <a:p>
            <a:pPr indent="0" algn="l">
              <a:buNone/>
            </a:pPr>
            <a:r>
              <a:rPr lang="en-US" sz="1400" b="0" i="0" dirty="0">
                <a:solidFill>
                  <a:schemeClr val="tx1"/>
                </a:solidFill>
                <a:effectLst/>
                <a:latin typeface="+mn-lt"/>
              </a:rPr>
              <a:t>        @PathVariable Long id</a:t>
            </a:r>
          </a:p>
          <a:p>
            <a:pPr indent="0" algn="l">
              <a:buNone/>
            </a:pPr>
            <a:r>
              <a:rPr lang="en-US" sz="1400" b="0" i="0" dirty="0">
                <a:solidFill>
                  <a:schemeClr val="tx1"/>
                </a:solidFill>
                <a:effectLst/>
                <a:latin typeface="+mn-lt"/>
              </a:rPr>
              <a:t>    ) {</a:t>
            </a:r>
          </a:p>
          <a:p>
            <a:pPr indent="0" algn="l">
              <a:buNone/>
            </a:pPr>
            <a:r>
              <a:rPr lang="en-US" sz="1400" b="0" i="0" dirty="0">
                <a:solidFill>
                  <a:schemeClr val="tx1"/>
                </a:solidFill>
                <a:effectLst/>
                <a:latin typeface="+mn-lt"/>
              </a:rPr>
              <a:t>        return </a:t>
            </a:r>
            <a:r>
              <a:rPr lang="en-US" sz="1400" b="0" i="0" dirty="0" err="1">
                <a:solidFill>
                  <a:schemeClr val="tx1"/>
                </a:solidFill>
                <a:effectLst/>
                <a:latin typeface="+mn-lt"/>
              </a:rPr>
              <a:t>productService.getById</a:t>
            </a:r>
            <a:r>
              <a:rPr lang="en-US" sz="1400" b="0" i="0" dirty="0">
                <a:solidFill>
                  <a:schemeClr val="tx1"/>
                </a:solidFill>
                <a:effectLst/>
                <a:latin typeface="+mn-lt"/>
              </a:rPr>
              <a:t>(id);</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a:t>
            </a:r>
            <a:endParaRPr lang="en-US" sz="1050" b="0" i="0" dirty="0">
              <a:solidFill>
                <a:srgbClr val="FFFFFF"/>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2420AE51-F945-D4B8-E1A2-797C7BB34435}"/>
              </a:ext>
            </a:extLst>
          </p:cNvPr>
          <p:cNvSpPr txBox="1"/>
          <p:nvPr/>
        </p:nvSpPr>
        <p:spPr>
          <a:xfrm>
            <a:off x="6181061" y="2189124"/>
            <a:ext cx="6097772" cy="4185761"/>
          </a:xfrm>
          <a:prstGeom prst="rect">
            <a:avLst/>
          </a:prstGeom>
          <a:noFill/>
        </p:spPr>
        <p:txBody>
          <a:bodyPr wrap="square">
            <a:spAutoFit/>
          </a:bodyPr>
          <a:lstStyle/>
          <a:p>
            <a:pPr indent="0" algn="l">
              <a:buNone/>
            </a:pPr>
            <a:r>
              <a:rPr lang="en-US" sz="1400" b="0" i="0" dirty="0">
                <a:solidFill>
                  <a:schemeClr val="tx1"/>
                </a:solidFill>
                <a:effectLst/>
                <a:latin typeface="+mn-lt"/>
              </a:rPr>
              <a:t>import io.swagger.v3.oas.annotations.media.Schema;</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@Schema(description = "Product information")</a:t>
            </a:r>
          </a:p>
          <a:p>
            <a:pPr indent="0" algn="l">
              <a:buNone/>
            </a:pPr>
            <a:r>
              <a:rPr lang="en-US" sz="1400" b="0" i="0" dirty="0">
                <a:solidFill>
                  <a:schemeClr val="tx1"/>
                </a:solidFill>
                <a:effectLst/>
                <a:latin typeface="+mn-lt"/>
              </a:rPr>
              <a:t>public class </a:t>
            </a:r>
            <a:r>
              <a:rPr lang="en-US" sz="1400" b="0" i="0" dirty="0" err="1">
                <a:solidFill>
                  <a:schemeClr val="tx1"/>
                </a:solidFill>
                <a:effectLst/>
                <a:latin typeface="+mn-lt"/>
              </a:rPr>
              <a:t>ProductDto</a:t>
            </a:r>
            <a:r>
              <a:rPr lang="en-US" sz="1400" b="0" i="0" dirty="0">
                <a:solidFill>
                  <a:schemeClr val="tx1"/>
                </a:solidFill>
                <a:effectLst/>
                <a:latin typeface="+mn-lt"/>
              </a:rPr>
              <a:t> {</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    @Schema(</a:t>
            </a:r>
          </a:p>
          <a:p>
            <a:pPr indent="0" algn="l">
              <a:buNone/>
            </a:pPr>
            <a:r>
              <a:rPr lang="en-US" sz="1400" b="0" i="0" dirty="0">
                <a:solidFill>
                  <a:schemeClr val="tx1"/>
                </a:solidFill>
                <a:effectLst/>
                <a:latin typeface="+mn-lt"/>
              </a:rPr>
              <a:t>        description = "Unique product identifier",</a:t>
            </a:r>
          </a:p>
          <a:p>
            <a:pPr indent="0" algn="l">
              <a:buNone/>
            </a:pPr>
            <a:r>
              <a:rPr lang="en-US" sz="1400" b="0" i="0" dirty="0">
                <a:solidFill>
                  <a:schemeClr val="tx1"/>
                </a:solidFill>
                <a:effectLst/>
                <a:latin typeface="+mn-lt"/>
              </a:rPr>
              <a:t>        example = "101"</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    private Long id;</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    @Schema(</a:t>
            </a:r>
          </a:p>
          <a:p>
            <a:pPr indent="0" algn="l">
              <a:buNone/>
            </a:pPr>
            <a:r>
              <a:rPr lang="en-US" sz="1400" b="0" i="0" dirty="0">
                <a:solidFill>
                  <a:schemeClr val="tx1"/>
                </a:solidFill>
                <a:effectLst/>
                <a:latin typeface="+mn-lt"/>
              </a:rPr>
              <a:t>        description = "Display name",</a:t>
            </a:r>
          </a:p>
          <a:p>
            <a:pPr indent="0" algn="l">
              <a:buNone/>
            </a:pPr>
            <a:r>
              <a:rPr lang="en-US" sz="1400" b="0" i="0" dirty="0">
                <a:solidFill>
                  <a:schemeClr val="tx1"/>
                </a:solidFill>
                <a:effectLst/>
                <a:latin typeface="+mn-lt"/>
              </a:rPr>
              <a:t>        example = "Wireless Keyboard"</a:t>
            </a:r>
          </a:p>
          <a:p>
            <a:pPr indent="0" algn="l">
              <a:buNone/>
            </a:pPr>
            <a:r>
              <a:rPr lang="en-US" sz="1400" b="0" i="0" dirty="0">
                <a:solidFill>
                  <a:schemeClr val="tx1"/>
                </a:solidFill>
                <a:effectLst/>
                <a:latin typeface="+mn-lt"/>
              </a:rPr>
              <a:t>    )</a:t>
            </a:r>
          </a:p>
          <a:p>
            <a:pPr indent="0" algn="l">
              <a:buNone/>
            </a:pPr>
            <a:r>
              <a:rPr lang="en-US" sz="1400" b="0" i="0" dirty="0">
                <a:solidFill>
                  <a:schemeClr val="tx1"/>
                </a:solidFill>
                <a:effectLst/>
                <a:latin typeface="+mn-lt"/>
              </a:rPr>
              <a:t>    private String name;</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    // Constructors, getters and setters</a:t>
            </a:r>
          </a:p>
          <a:p>
            <a:pPr indent="0" algn="l">
              <a:buNone/>
            </a:pPr>
            <a:r>
              <a:rPr lang="en-US" sz="1400" b="0" i="0" dirty="0">
                <a:solidFill>
                  <a:schemeClr val="tx1"/>
                </a:solidFill>
                <a:effectLst/>
                <a:latin typeface="+mn-lt"/>
              </a:rPr>
              <a:t>}</a:t>
            </a:r>
            <a:endParaRPr lang="en-US" sz="1050" b="0" i="0" dirty="0">
              <a:solidFill>
                <a:srgbClr val="FFFFFF"/>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C08641AD-F50D-4C6C-E136-9EF307C228FC}"/>
              </a:ext>
            </a:extLst>
          </p:cNvPr>
          <p:cNvSpPr txBox="1"/>
          <p:nvPr/>
        </p:nvSpPr>
        <p:spPr>
          <a:xfrm>
            <a:off x="1105787" y="1819792"/>
            <a:ext cx="1244508" cy="369332"/>
          </a:xfrm>
          <a:prstGeom prst="rect">
            <a:avLst/>
          </a:prstGeom>
          <a:noFill/>
        </p:spPr>
        <p:txBody>
          <a:bodyPr wrap="none" rtlCol="0">
            <a:spAutoFit/>
          </a:bodyPr>
          <a:lstStyle/>
          <a:p>
            <a:r>
              <a:rPr lang="en-US" dirty="0"/>
              <a:t>Controller:</a:t>
            </a:r>
          </a:p>
        </p:txBody>
      </p:sp>
      <p:sp>
        <p:nvSpPr>
          <p:cNvPr id="10" name="TextBox 9">
            <a:extLst>
              <a:ext uri="{FF2B5EF4-FFF2-40B4-BE49-F238E27FC236}">
                <a16:creationId xmlns:a16="http://schemas.microsoft.com/office/drawing/2014/main" id="{C1449AF5-C040-AA7F-6094-646756B71A6C}"/>
              </a:ext>
            </a:extLst>
          </p:cNvPr>
          <p:cNvSpPr txBox="1"/>
          <p:nvPr/>
        </p:nvSpPr>
        <p:spPr>
          <a:xfrm>
            <a:off x="6181061" y="1819792"/>
            <a:ext cx="724301" cy="369332"/>
          </a:xfrm>
          <a:prstGeom prst="rect">
            <a:avLst/>
          </a:prstGeom>
          <a:noFill/>
        </p:spPr>
        <p:txBody>
          <a:bodyPr wrap="none" rtlCol="0">
            <a:spAutoFit/>
          </a:bodyPr>
          <a:lstStyle/>
          <a:p>
            <a:r>
              <a:rPr lang="en-US" dirty="0"/>
              <a:t>DTO:</a:t>
            </a:r>
          </a:p>
        </p:txBody>
      </p:sp>
    </p:spTree>
    <p:extLst>
      <p:ext uri="{BB962C8B-B14F-4D97-AF65-F5344CB8AC3E}">
        <p14:creationId xmlns:p14="http://schemas.microsoft.com/office/powerpoint/2010/main" val="492032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F0D8-C86B-3B59-DBB3-204C8C2C9691}"/>
              </a:ext>
            </a:extLst>
          </p:cNvPr>
          <p:cNvSpPr>
            <a:spLocks noGrp="1"/>
          </p:cNvSpPr>
          <p:nvPr>
            <p:ph type="title"/>
          </p:nvPr>
        </p:nvSpPr>
        <p:spPr/>
        <p:txBody>
          <a:bodyPr/>
          <a:lstStyle/>
          <a:p>
            <a:r>
              <a:rPr lang="en-US" dirty="0"/>
              <a:t>Spring for </a:t>
            </a:r>
            <a:r>
              <a:rPr lang="en-US" dirty="0" err="1"/>
              <a:t>Graphql</a:t>
            </a:r>
            <a:endParaRPr lang="en-US" dirty="0"/>
          </a:p>
        </p:txBody>
      </p:sp>
      <p:sp>
        <p:nvSpPr>
          <p:cNvPr id="3" name="Content Placeholder 2">
            <a:extLst>
              <a:ext uri="{FF2B5EF4-FFF2-40B4-BE49-F238E27FC236}">
                <a16:creationId xmlns:a16="http://schemas.microsoft.com/office/drawing/2014/main" id="{8D644AD0-13A9-8904-7AD0-2F522798B859}"/>
              </a:ext>
            </a:extLst>
          </p:cNvPr>
          <p:cNvSpPr>
            <a:spLocks noGrp="1"/>
          </p:cNvSpPr>
          <p:nvPr>
            <p:ph idx="1"/>
          </p:nvPr>
        </p:nvSpPr>
        <p:spPr>
          <a:xfrm>
            <a:off x="581192" y="2180496"/>
            <a:ext cx="11029615" cy="4220304"/>
          </a:xfrm>
        </p:spPr>
        <p:txBody>
          <a:bodyPr>
            <a:normAutofit/>
          </a:bodyPr>
          <a:lstStyle/>
          <a:p>
            <a:r>
              <a:rPr lang="en-US" dirty="0" err="1"/>
              <a:t>GraphQL</a:t>
            </a:r>
            <a:r>
              <a:rPr lang="en-US" dirty="0"/>
              <a:t> is an API query language and runtime that lets clients request exactly the data they need. When you combine it with Spring Boot, you can build APIs that are flexible, strongly typed, and easy to evolve as your application grows.</a:t>
            </a:r>
          </a:p>
          <a:p>
            <a:r>
              <a:rPr lang="en-US" b="1" dirty="0"/>
              <a:t>The difference with REST? </a:t>
            </a:r>
          </a:p>
          <a:p>
            <a:pPr lvl="1"/>
            <a:r>
              <a:rPr lang="en-US" b="1" dirty="0"/>
              <a:t>REST typically exposes multiple endpoints, while </a:t>
            </a:r>
            <a:r>
              <a:rPr lang="en-US" b="1" dirty="0" err="1"/>
              <a:t>GraphQL</a:t>
            </a:r>
            <a:r>
              <a:rPr lang="en-US" b="1" dirty="0"/>
              <a:t> typically exposes one endpoint through which clients request different shapes of data.</a:t>
            </a:r>
            <a:endParaRPr lang="en-US" dirty="0"/>
          </a:p>
          <a:p>
            <a:r>
              <a:rPr lang="en-US" dirty="0"/>
              <a:t>Rest may have:</a:t>
            </a:r>
          </a:p>
          <a:p>
            <a:pPr lvl="1"/>
            <a:r>
              <a:rPr lang="en-US" dirty="0"/>
              <a:t>GET /</a:t>
            </a:r>
            <a:r>
              <a:rPr lang="en-US" dirty="0" err="1"/>
              <a:t>api</a:t>
            </a:r>
            <a:r>
              <a:rPr lang="en-US" dirty="0"/>
              <a:t>/customers/1</a:t>
            </a:r>
          </a:p>
          <a:p>
            <a:pPr lvl="1"/>
            <a:r>
              <a:rPr lang="en-US" dirty="0"/>
              <a:t>GET /</a:t>
            </a:r>
            <a:r>
              <a:rPr lang="en-US" dirty="0" err="1"/>
              <a:t>api</a:t>
            </a:r>
            <a:r>
              <a:rPr lang="en-US" dirty="0"/>
              <a:t>/customers/1/orders</a:t>
            </a:r>
          </a:p>
          <a:p>
            <a:pPr lvl="1"/>
            <a:r>
              <a:rPr lang="en-US" dirty="0"/>
              <a:t>GET /</a:t>
            </a:r>
            <a:r>
              <a:rPr lang="en-US" dirty="0" err="1"/>
              <a:t>api</a:t>
            </a:r>
            <a:r>
              <a:rPr lang="en-US" dirty="0"/>
              <a:t>/orders/101/items</a:t>
            </a:r>
          </a:p>
          <a:p>
            <a:r>
              <a:rPr lang="en-US" dirty="0"/>
              <a:t>While a </a:t>
            </a:r>
            <a:r>
              <a:rPr lang="en-US" dirty="0" err="1"/>
              <a:t>GraphQL</a:t>
            </a:r>
            <a:r>
              <a:rPr lang="en-US" dirty="0"/>
              <a:t> query may look like this:</a:t>
            </a:r>
          </a:p>
        </p:txBody>
      </p:sp>
      <p:sp>
        <p:nvSpPr>
          <p:cNvPr id="5" name="TextBox 4">
            <a:extLst>
              <a:ext uri="{FF2B5EF4-FFF2-40B4-BE49-F238E27FC236}">
                <a16:creationId xmlns:a16="http://schemas.microsoft.com/office/drawing/2014/main" id="{3A88F3F3-97EA-72C2-376E-BBEB99ECB367}"/>
              </a:ext>
            </a:extLst>
          </p:cNvPr>
          <p:cNvSpPr txBox="1"/>
          <p:nvPr/>
        </p:nvSpPr>
        <p:spPr>
          <a:xfrm>
            <a:off x="6706674" y="4280017"/>
            <a:ext cx="2913845" cy="2585323"/>
          </a:xfrm>
          <a:prstGeom prst="rect">
            <a:avLst/>
          </a:prstGeom>
          <a:noFill/>
        </p:spPr>
        <p:txBody>
          <a:bodyPr wrap="square">
            <a:spAutoFit/>
          </a:bodyPr>
          <a:lstStyle/>
          <a:p>
            <a:pPr indent="0" algn="l">
              <a:buNone/>
            </a:pPr>
            <a:r>
              <a:rPr lang="en-US" sz="1800" b="0" i="0" dirty="0">
                <a:solidFill>
                  <a:schemeClr val="tx1"/>
                </a:solidFill>
                <a:effectLst/>
                <a:latin typeface="+mn-lt"/>
              </a:rPr>
              <a:t>query {</a:t>
            </a:r>
          </a:p>
          <a:p>
            <a:pPr indent="0" algn="l">
              <a:buNone/>
            </a:pPr>
            <a:r>
              <a:rPr lang="en-US" sz="1800" b="0" i="0" dirty="0">
                <a:solidFill>
                  <a:schemeClr val="tx1"/>
                </a:solidFill>
                <a:effectLst/>
                <a:latin typeface="+mn-lt"/>
              </a:rPr>
              <a:t>  customer(id: "1") {</a:t>
            </a:r>
          </a:p>
          <a:p>
            <a:pPr indent="0" algn="l">
              <a:buNone/>
            </a:pPr>
            <a:r>
              <a:rPr lang="en-US" sz="1800" b="0" i="0" dirty="0">
                <a:solidFill>
                  <a:schemeClr val="tx1"/>
                </a:solidFill>
                <a:effectLst/>
                <a:latin typeface="+mn-lt"/>
              </a:rPr>
              <a:t>    name</a:t>
            </a:r>
          </a:p>
          <a:p>
            <a:pPr indent="0" algn="l">
              <a:buNone/>
            </a:pPr>
            <a:r>
              <a:rPr lang="en-US" sz="1800" b="0" i="0" dirty="0">
                <a:solidFill>
                  <a:schemeClr val="tx1"/>
                </a:solidFill>
                <a:effectLst/>
                <a:latin typeface="+mn-lt"/>
              </a:rPr>
              <a:t>    orders {</a:t>
            </a:r>
          </a:p>
          <a:p>
            <a:pPr indent="0" algn="l">
              <a:buNone/>
            </a:pPr>
            <a:r>
              <a:rPr lang="en-US" sz="1800" b="0" i="0" dirty="0">
                <a:solidFill>
                  <a:schemeClr val="tx1"/>
                </a:solidFill>
                <a:effectLst/>
                <a:latin typeface="+mn-lt"/>
              </a:rPr>
              <a:t>      id</a:t>
            </a:r>
          </a:p>
          <a:p>
            <a:pPr indent="0" algn="l">
              <a:buNone/>
            </a:pPr>
            <a:r>
              <a:rPr lang="en-US" sz="1800" b="0" i="0" dirty="0">
                <a:solidFill>
                  <a:schemeClr val="tx1"/>
                </a:solidFill>
                <a:effectLst/>
                <a:latin typeface="+mn-lt"/>
              </a:rPr>
              <a:t>      total</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318043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71FD1-AAB3-C518-4DB6-33EFA25D152C}"/>
              </a:ext>
            </a:extLst>
          </p:cNvPr>
          <p:cNvSpPr>
            <a:spLocks noGrp="1"/>
          </p:cNvSpPr>
          <p:nvPr>
            <p:ph type="title"/>
          </p:nvPr>
        </p:nvSpPr>
        <p:spPr/>
        <p:txBody>
          <a:bodyPr/>
          <a:lstStyle/>
          <a:p>
            <a:r>
              <a:rPr lang="en-US" dirty="0" err="1"/>
              <a:t>Graphql</a:t>
            </a:r>
            <a:r>
              <a:rPr lang="en-US" dirty="0"/>
              <a:t> setup for spring boot</a:t>
            </a:r>
          </a:p>
        </p:txBody>
      </p:sp>
      <p:sp>
        <p:nvSpPr>
          <p:cNvPr id="3" name="Content Placeholder 2">
            <a:extLst>
              <a:ext uri="{FF2B5EF4-FFF2-40B4-BE49-F238E27FC236}">
                <a16:creationId xmlns:a16="http://schemas.microsoft.com/office/drawing/2014/main" id="{5761D988-7E43-4034-3C17-12A08C81E8F9}"/>
              </a:ext>
            </a:extLst>
          </p:cNvPr>
          <p:cNvSpPr>
            <a:spLocks noGrp="1"/>
          </p:cNvSpPr>
          <p:nvPr>
            <p:ph idx="1"/>
          </p:nvPr>
        </p:nvSpPr>
        <p:spPr>
          <a:xfrm>
            <a:off x="581192" y="1893196"/>
            <a:ext cx="5514808" cy="1944710"/>
          </a:xfrm>
        </p:spPr>
        <p:txBody>
          <a:bodyPr>
            <a:normAutofit fontScale="92500" lnSpcReduction="20000"/>
          </a:bodyPr>
          <a:lstStyle/>
          <a:p>
            <a:r>
              <a:rPr lang="en-US" dirty="0"/>
              <a:t>Step 1: Include the dependencies (Maven shown)</a:t>
            </a:r>
          </a:p>
          <a:p>
            <a:r>
              <a:rPr lang="en-US" dirty="0"/>
              <a:t>Step 2: Create a file to store the schema</a:t>
            </a:r>
          </a:p>
          <a:p>
            <a:pPr lvl="1"/>
            <a:r>
              <a:rPr lang="en-US" dirty="0" err="1"/>
              <a:t>src</a:t>
            </a:r>
            <a:r>
              <a:rPr lang="en-US" dirty="0"/>
              <a:t>/main/resources/</a:t>
            </a:r>
            <a:r>
              <a:rPr lang="en-US" dirty="0" err="1"/>
              <a:t>graphql</a:t>
            </a:r>
            <a:r>
              <a:rPr lang="en-US" dirty="0"/>
              <a:t>/</a:t>
            </a:r>
            <a:r>
              <a:rPr lang="en-US" dirty="0" err="1"/>
              <a:t>schema.graphqls</a:t>
            </a:r>
            <a:endParaRPr lang="en-US" dirty="0"/>
          </a:p>
          <a:p>
            <a:pPr lvl="1"/>
            <a:r>
              <a:rPr lang="en-US" dirty="0"/>
              <a:t>Spring Boot automatically discovers .</a:t>
            </a:r>
            <a:r>
              <a:rPr lang="en-US" dirty="0" err="1"/>
              <a:t>graphqls</a:t>
            </a:r>
            <a:r>
              <a:rPr lang="en-US" dirty="0"/>
              <a:t> and .</a:t>
            </a:r>
            <a:r>
              <a:rPr lang="en-US" dirty="0" err="1"/>
              <a:t>gqls</a:t>
            </a:r>
            <a:r>
              <a:rPr lang="en-US" dirty="0"/>
              <a:t> schema files in the default </a:t>
            </a:r>
            <a:r>
              <a:rPr lang="en-US" dirty="0" err="1"/>
              <a:t>src</a:t>
            </a:r>
            <a:r>
              <a:rPr lang="en-US" dirty="0"/>
              <a:t>/main/resources/</a:t>
            </a:r>
            <a:r>
              <a:rPr lang="en-US" dirty="0" err="1"/>
              <a:t>graphql</a:t>
            </a:r>
            <a:r>
              <a:rPr lang="en-US" dirty="0"/>
              <a:t>/ location. (the file types are equivalent)</a:t>
            </a:r>
            <a:br>
              <a:rPr lang="en-US" dirty="0"/>
            </a:br>
            <a:endParaRPr lang="en-US" dirty="0"/>
          </a:p>
        </p:txBody>
      </p:sp>
      <p:sp>
        <p:nvSpPr>
          <p:cNvPr id="5" name="TextBox 4">
            <a:extLst>
              <a:ext uri="{FF2B5EF4-FFF2-40B4-BE49-F238E27FC236}">
                <a16:creationId xmlns:a16="http://schemas.microsoft.com/office/drawing/2014/main" id="{C1FFCFF3-BD01-9C51-593B-A659D4578CFC}"/>
              </a:ext>
            </a:extLst>
          </p:cNvPr>
          <p:cNvSpPr txBox="1"/>
          <p:nvPr/>
        </p:nvSpPr>
        <p:spPr>
          <a:xfrm>
            <a:off x="5422006" y="2113336"/>
            <a:ext cx="6098146" cy="954107"/>
          </a:xfrm>
          <a:prstGeom prst="rect">
            <a:avLst/>
          </a:prstGeom>
          <a:noFill/>
        </p:spPr>
        <p:txBody>
          <a:bodyPr wrap="square">
            <a:spAutoFit/>
          </a:bodyPr>
          <a:lstStyle/>
          <a:p>
            <a:pPr indent="0" algn="l">
              <a:buNone/>
            </a:pPr>
            <a:r>
              <a:rPr lang="en-US" sz="1400" b="0" i="0" dirty="0">
                <a:solidFill>
                  <a:schemeClr val="tx1"/>
                </a:solidFill>
                <a:effectLst/>
                <a:latin typeface="+mn-lt"/>
              </a:rPr>
              <a:t> &lt;dependency&gt;</a:t>
            </a:r>
          </a:p>
          <a:p>
            <a:pPr indent="0" algn="l">
              <a:buNone/>
            </a:pPr>
            <a:r>
              <a:rPr lang="en-US" sz="1400" b="0" i="0" dirty="0">
                <a:solidFill>
                  <a:schemeClr val="tx1"/>
                </a:solidFill>
                <a:effectLst/>
                <a:latin typeface="+mn-lt"/>
              </a:rPr>
              <a:t>        &lt;</a:t>
            </a:r>
            <a:r>
              <a:rPr lang="en-US" sz="1400" b="0" i="0" dirty="0" err="1">
                <a:solidFill>
                  <a:schemeClr val="tx1"/>
                </a:solidFill>
                <a:effectLst/>
                <a:latin typeface="+mn-lt"/>
              </a:rPr>
              <a:t>groupId</a:t>
            </a:r>
            <a:r>
              <a:rPr lang="en-US" sz="1400" b="0" i="0" dirty="0">
                <a:solidFill>
                  <a:schemeClr val="tx1"/>
                </a:solidFill>
                <a:effectLst/>
                <a:latin typeface="+mn-lt"/>
              </a:rPr>
              <a:t>&gt;</a:t>
            </a:r>
            <a:r>
              <a:rPr lang="en-US" sz="1400" b="0" i="0" dirty="0" err="1">
                <a:solidFill>
                  <a:schemeClr val="tx1"/>
                </a:solidFill>
                <a:effectLst/>
                <a:latin typeface="+mn-lt"/>
              </a:rPr>
              <a:t>org.springframework.boot</a:t>
            </a:r>
            <a:r>
              <a:rPr lang="en-US" sz="1400" b="0" i="0" dirty="0">
                <a:solidFill>
                  <a:schemeClr val="tx1"/>
                </a:solidFill>
                <a:effectLst/>
                <a:latin typeface="+mn-lt"/>
              </a:rPr>
              <a:t>&lt;/</a:t>
            </a:r>
            <a:r>
              <a:rPr lang="en-US" sz="1400" b="0" i="0" dirty="0" err="1">
                <a:solidFill>
                  <a:schemeClr val="tx1"/>
                </a:solidFill>
                <a:effectLst/>
                <a:latin typeface="+mn-lt"/>
              </a:rPr>
              <a:t>groupId</a:t>
            </a:r>
            <a:r>
              <a:rPr lang="en-US" sz="1400" b="0" i="0" dirty="0">
                <a:solidFill>
                  <a:schemeClr val="tx1"/>
                </a:solidFill>
                <a:effectLst/>
                <a:latin typeface="+mn-lt"/>
              </a:rPr>
              <a:t>&gt;</a:t>
            </a:r>
          </a:p>
          <a:p>
            <a:pPr indent="0" algn="l">
              <a:buNone/>
            </a:pPr>
            <a:r>
              <a:rPr lang="en-US" sz="1400" b="0" i="0" dirty="0">
                <a:solidFill>
                  <a:schemeClr val="tx1"/>
                </a:solidFill>
                <a:effectLst/>
                <a:latin typeface="+mn-lt"/>
              </a:rPr>
              <a:t>        &lt;</a:t>
            </a:r>
            <a:r>
              <a:rPr lang="en-US" sz="1400" b="0" i="0" dirty="0" err="1">
                <a:solidFill>
                  <a:schemeClr val="tx1"/>
                </a:solidFill>
                <a:effectLst/>
                <a:latin typeface="+mn-lt"/>
              </a:rPr>
              <a:t>artifactId</a:t>
            </a:r>
            <a:r>
              <a:rPr lang="en-US" sz="1400" b="0" i="0" dirty="0">
                <a:solidFill>
                  <a:schemeClr val="tx1"/>
                </a:solidFill>
                <a:effectLst/>
                <a:latin typeface="+mn-lt"/>
              </a:rPr>
              <a:t>&gt;spring-boot-starter-</a:t>
            </a:r>
            <a:r>
              <a:rPr lang="en-US" sz="1400" b="0" i="0" dirty="0" err="1">
                <a:solidFill>
                  <a:schemeClr val="tx1"/>
                </a:solidFill>
                <a:effectLst/>
                <a:latin typeface="+mn-lt"/>
              </a:rPr>
              <a:t>graphql</a:t>
            </a:r>
            <a:r>
              <a:rPr lang="en-US" sz="1400" b="0" i="0" dirty="0">
                <a:solidFill>
                  <a:schemeClr val="tx1"/>
                </a:solidFill>
                <a:effectLst/>
                <a:latin typeface="+mn-lt"/>
              </a:rPr>
              <a:t>&lt;/</a:t>
            </a:r>
            <a:r>
              <a:rPr lang="en-US" sz="1400" b="0" i="0" dirty="0" err="1">
                <a:solidFill>
                  <a:schemeClr val="tx1"/>
                </a:solidFill>
                <a:effectLst/>
                <a:latin typeface="+mn-lt"/>
              </a:rPr>
              <a:t>artifactId</a:t>
            </a:r>
            <a:r>
              <a:rPr lang="en-US" sz="1400" b="0" i="0" dirty="0">
                <a:solidFill>
                  <a:schemeClr val="tx1"/>
                </a:solidFill>
                <a:effectLst/>
                <a:latin typeface="+mn-lt"/>
              </a:rPr>
              <a:t>&gt;</a:t>
            </a:r>
          </a:p>
          <a:p>
            <a:pPr indent="0" algn="l">
              <a:buNone/>
            </a:pPr>
            <a:r>
              <a:rPr lang="en-US" sz="1400" b="0" i="0" dirty="0">
                <a:solidFill>
                  <a:schemeClr val="tx1"/>
                </a:solidFill>
                <a:effectLst/>
                <a:latin typeface="+mn-lt"/>
              </a:rPr>
              <a:t>    &lt;/dependency&gt;</a:t>
            </a:r>
            <a:endParaRPr lang="en-US" sz="1050" b="0" i="0" dirty="0">
              <a:solidFill>
                <a:srgbClr val="FFFFFF"/>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B5336B0F-A100-7EB6-B367-58D3DC294A1C}"/>
              </a:ext>
            </a:extLst>
          </p:cNvPr>
          <p:cNvSpPr txBox="1"/>
          <p:nvPr/>
        </p:nvSpPr>
        <p:spPr>
          <a:xfrm>
            <a:off x="6359272" y="3587773"/>
            <a:ext cx="4647630" cy="3108543"/>
          </a:xfrm>
          <a:prstGeom prst="rect">
            <a:avLst/>
          </a:prstGeom>
          <a:noFill/>
        </p:spPr>
        <p:txBody>
          <a:bodyPr wrap="square">
            <a:spAutoFit/>
          </a:bodyPr>
          <a:lstStyle/>
          <a:p>
            <a:pPr indent="0" algn="l">
              <a:buNone/>
            </a:pPr>
            <a:r>
              <a:rPr lang="en-US" sz="1400" b="0" i="0" dirty="0">
                <a:solidFill>
                  <a:schemeClr val="tx1"/>
                </a:solidFill>
                <a:effectLst/>
                <a:latin typeface="+mn-lt"/>
              </a:rPr>
              <a:t>type Customer {</a:t>
            </a:r>
          </a:p>
          <a:p>
            <a:pPr indent="0" algn="l">
              <a:buNone/>
            </a:pPr>
            <a:r>
              <a:rPr lang="en-US" sz="1400" b="0" i="0" dirty="0">
                <a:solidFill>
                  <a:schemeClr val="tx1"/>
                </a:solidFill>
                <a:effectLst/>
                <a:latin typeface="+mn-lt"/>
              </a:rPr>
              <a:t>    id: ID!</a:t>
            </a:r>
          </a:p>
          <a:p>
            <a:pPr indent="0" algn="l">
              <a:buNone/>
            </a:pPr>
            <a:r>
              <a:rPr lang="en-US" sz="1400" b="0" i="0" dirty="0">
                <a:solidFill>
                  <a:schemeClr val="tx1"/>
                </a:solidFill>
                <a:effectLst/>
                <a:latin typeface="+mn-lt"/>
              </a:rPr>
              <a:t>    name: String!</a:t>
            </a:r>
          </a:p>
          <a:p>
            <a:pPr indent="0" algn="l">
              <a:buNone/>
            </a:pPr>
            <a:r>
              <a:rPr lang="en-US" sz="1400" b="0" i="0" dirty="0">
                <a:solidFill>
                  <a:schemeClr val="tx1"/>
                </a:solidFill>
                <a:effectLst/>
                <a:latin typeface="+mn-lt"/>
              </a:rPr>
              <a:t>    email: String!</a:t>
            </a:r>
          </a:p>
          <a:p>
            <a:pPr indent="0" algn="l">
              <a:buNone/>
            </a:pPr>
            <a:r>
              <a:rPr lang="en-US" sz="1400" b="0" i="0" dirty="0">
                <a:solidFill>
                  <a:schemeClr val="tx1"/>
                </a:solidFill>
                <a:effectLst/>
                <a:latin typeface="+mn-lt"/>
              </a:rPr>
              <a:t>}</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type Query {</a:t>
            </a:r>
          </a:p>
          <a:p>
            <a:pPr indent="0" algn="l">
              <a:buNone/>
            </a:pPr>
            <a:r>
              <a:rPr lang="en-US" sz="1400" b="0" i="0" dirty="0">
                <a:solidFill>
                  <a:schemeClr val="tx1"/>
                </a:solidFill>
                <a:effectLst/>
                <a:latin typeface="+mn-lt"/>
              </a:rPr>
              <a:t>    customers: [Customer!]!</a:t>
            </a:r>
          </a:p>
          <a:p>
            <a:pPr indent="0" algn="l">
              <a:buNone/>
            </a:pPr>
            <a:r>
              <a:rPr lang="en-US" sz="1400" b="0" i="0" dirty="0">
                <a:solidFill>
                  <a:schemeClr val="tx1"/>
                </a:solidFill>
                <a:effectLst/>
                <a:latin typeface="+mn-lt"/>
              </a:rPr>
              <a:t>    </a:t>
            </a:r>
            <a:r>
              <a:rPr lang="en-US" sz="1400" b="0" i="0" dirty="0" err="1">
                <a:solidFill>
                  <a:schemeClr val="tx1"/>
                </a:solidFill>
                <a:effectLst/>
                <a:latin typeface="+mn-lt"/>
              </a:rPr>
              <a:t>customerById</a:t>
            </a:r>
            <a:r>
              <a:rPr lang="en-US" sz="1400" b="0" i="0" dirty="0">
                <a:solidFill>
                  <a:schemeClr val="tx1"/>
                </a:solidFill>
                <a:effectLst/>
                <a:latin typeface="+mn-lt"/>
              </a:rPr>
              <a:t>(id: ID!): Customer</a:t>
            </a:r>
          </a:p>
          <a:p>
            <a:pPr indent="0" algn="l">
              <a:buNone/>
            </a:pPr>
            <a:r>
              <a:rPr lang="en-US" sz="1400" b="0" i="0" dirty="0">
                <a:solidFill>
                  <a:schemeClr val="tx1"/>
                </a:solidFill>
                <a:effectLst/>
                <a:latin typeface="+mn-lt"/>
              </a:rPr>
              <a:t>}</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type Mutation {</a:t>
            </a:r>
          </a:p>
          <a:p>
            <a:pPr indent="0" algn="l">
              <a:buNone/>
            </a:pPr>
            <a:r>
              <a:rPr lang="en-US" sz="1400" b="0" i="0" dirty="0">
                <a:solidFill>
                  <a:schemeClr val="tx1"/>
                </a:solidFill>
                <a:effectLst/>
                <a:latin typeface="+mn-lt"/>
              </a:rPr>
              <a:t>    </a:t>
            </a:r>
            <a:r>
              <a:rPr lang="en-US" sz="1400" b="0" i="0" dirty="0" err="1">
                <a:solidFill>
                  <a:schemeClr val="tx1"/>
                </a:solidFill>
                <a:effectLst/>
                <a:latin typeface="+mn-lt"/>
              </a:rPr>
              <a:t>createCustomer</a:t>
            </a:r>
            <a:r>
              <a:rPr lang="en-US" sz="1400" b="0" i="0" dirty="0">
                <a:solidFill>
                  <a:schemeClr val="tx1"/>
                </a:solidFill>
                <a:effectLst/>
                <a:latin typeface="+mn-lt"/>
              </a:rPr>
              <a:t>(name: String!, email: String!): Customer!</a:t>
            </a:r>
          </a:p>
          <a:p>
            <a:pPr indent="0" algn="l">
              <a:buNone/>
            </a:pPr>
            <a:r>
              <a:rPr lang="en-US" sz="1400" b="0" i="0" dirty="0">
                <a:solidFill>
                  <a:schemeClr val="tx1"/>
                </a:solidFill>
                <a:effectLst/>
                <a:latin typeface="+mn-lt"/>
              </a:rPr>
              <a:t>}</a:t>
            </a:r>
            <a:endParaRPr lang="en-US" sz="1050" b="0" i="0" dirty="0">
              <a:solidFill>
                <a:srgbClr val="FFFFFF"/>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5163939F-33F8-D5CD-C72B-B77007EFAC40}"/>
              </a:ext>
            </a:extLst>
          </p:cNvPr>
          <p:cNvSpPr txBox="1"/>
          <p:nvPr/>
        </p:nvSpPr>
        <p:spPr>
          <a:xfrm>
            <a:off x="6359272" y="3189253"/>
            <a:ext cx="1787669" cy="369332"/>
          </a:xfrm>
          <a:prstGeom prst="rect">
            <a:avLst/>
          </a:prstGeom>
          <a:noFill/>
        </p:spPr>
        <p:txBody>
          <a:bodyPr wrap="none" rtlCol="0">
            <a:spAutoFit/>
          </a:bodyPr>
          <a:lstStyle/>
          <a:p>
            <a:r>
              <a:rPr lang="en-US" dirty="0"/>
              <a:t>Schema example:</a:t>
            </a:r>
          </a:p>
        </p:txBody>
      </p:sp>
      <p:graphicFrame>
        <p:nvGraphicFramePr>
          <p:cNvPr id="9" name="Table 8">
            <a:extLst>
              <a:ext uri="{FF2B5EF4-FFF2-40B4-BE49-F238E27FC236}">
                <a16:creationId xmlns:a16="http://schemas.microsoft.com/office/drawing/2014/main" id="{6EB3BCA3-F141-274A-01EE-00D23A0B05F4}"/>
              </a:ext>
            </a:extLst>
          </p:cNvPr>
          <p:cNvGraphicFramePr>
            <a:graphicFrameLocks noGrp="1"/>
          </p:cNvGraphicFramePr>
          <p:nvPr>
            <p:extLst>
              <p:ext uri="{D42A27DB-BD31-4B8C-83A1-F6EECF244321}">
                <p14:modId xmlns:p14="http://schemas.microsoft.com/office/powerpoint/2010/main" val="1705532183"/>
              </p:ext>
            </p:extLst>
          </p:nvPr>
        </p:nvGraphicFramePr>
        <p:xfrm>
          <a:off x="941632" y="3723925"/>
          <a:ext cx="4480374" cy="2836237"/>
        </p:xfrm>
        <a:graphic>
          <a:graphicData uri="http://schemas.openxmlformats.org/drawingml/2006/table">
            <a:tbl>
              <a:tblPr>
                <a:tableStyleId>{5C22544A-7EE6-4342-B048-85BDC9FD1C3A}</a:tableStyleId>
              </a:tblPr>
              <a:tblGrid>
                <a:gridCol w="2240187">
                  <a:extLst>
                    <a:ext uri="{9D8B030D-6E8A-4147-A177-3AD203B41FA5}">
                      <a16:colId xmlns:a16="http://schemas.microsoft.com/office/drawing/2014/main" val="1032056092"/>
                    </a:ext>
                  </a:extLst>
                </a:gridCol>
                <a:gridCol w="2240187">
                  <a:extLst>
                    <a:ext uri="{9D8B030D-6E8A-4147-A177-3AD203B41FA5}">
                      <a16:colId xmlns:a16="http://schemas.microsoft.com/office/drawing/2014/main" val="4040580674"/>
                    </a:ext>
                  </a:extLst>
                </a:gridCol>
              </a:tblGrid>
              <a:tr h="338411">
                <a:tc>
                  <a:txBody>
                    <a:bodyPr/>
                    <a:lstStyle/>
                    <a:p>
                      <a:pPr marL="0" marR="0" algn="l" fontAlgn="t">
                        <a:buNone/>
                      </a:pPr>
                      <a:r>
                        <a:rPr lang="en-US" sz="1200" b="1" spc="0">
                          <a:effectLst/>
                        </a:rPr>
                        <a:t>Syntax</a:t>
                      </a:r>
                      <a:endParaRPr lang="en-US" sz="1200" b="1" i="0" spc="0">
                        <a:solidFill>
                          <a:srgbClr val="FFFFFF"/>
                        </a:solidFill>
                        <a:effectLst/>
                        <a:latin typeface="-apple-system-body"/>
                      </a:endParaRPr>
                    </a:p>
                  </a:txBody>
                  <a:tcPr marT="50800" marB="50800"/>
                </a:tc>
                <a:tc>
                  <a:txBody>
                    <a:bodyPr/>
                    <a:lstStyle/>
                    <a:p>
                      <a:pPr marL="0" marR="0" algn="l" fontAlgn="t">
                        <a:buNone/>
                      </a:pPr>
                      <a:r>
                        <a:rPr lang="en-US" sz="1200" b="1" spc="0" dirty="0">
                          <a:effectLst/>
                        </a:rPr>
                        <a:t>Meaning</a:t>
                      </a:r>
                      <a:endParaRPr lang="en-US" sz="1200" b="1" i="0" spc="0" dirty="0">
                        <a:solidFill>
                          <a:srgbClr val="FFFFFF"/>
                        </a:solidFill>
                        <a:effectLst/>
                        <a:latin typeface="-apple-system-body"/>
                      </a:endParaRPr>
                    </a:p>
                  </a:txBody>
                  <a:tcPr marT="50800" marB="50800"/>
                </a:tc>
                <a:extLst>
                  <a:ext uri="{0D108BD9-81ED-4DB2-BD59-A6C34878D82A}">
                    <a16:rowId xmlns:a16="http://schemas.microsoft.com/office/drawing/2014/main" val="1260539649"/>
                  </a:ext>
                </a:extLst>
              </a:tr>
              <a:tr h="338411">
                <a:tc>
                  <a:txBody>
                    <a:bodyPr/>
                    <a:lstStyle/>
                    <a:p>
                      <a:pPr marL="0" marR="0" algn="l" fontAlgn="t">
                        <a:buNone/>
                      </a:pPr>
                      <a:r>
                        <a:rPr lang="en-US" sz="1200" spc="0" dirty="0">
                          <a:effectLst/>
                        </a:rPr>
                        <a:t>type Customer</a:t>
                      </a:r>
                      <a:endParaRPr lang="en-US" sz="1200" b="0" i="0" spc="0" dirty="0">
                        <a:solidFill>
                          <a:srgbClr val="FFFFFF"/>
                        </a:solidFill>
                        <a:effectLst/>
                        <a:latin typeface="-apple-system-body"/>
                      </a:endParaRPr>
                    </a:p>
                  </a:txBody>
                  <a:tcPr marT="50800" marB="50800"/>
                </a:tc>
                <a:tc>
                  <a:txBody>
                    <a:bodyPr/>
                    <a:lstStyle/>
                    <a:p>
                      <a:pPr marL="0" marR="0" algn="l" fontAlgn="t">
                        <a:buNone/>
                      </a:pPr>
                      <a:r>
                        <a:rPr lang="en-US" sz="1200" spc="0">
                          <a:effectLst/>
                        </a:rPr>
                        <a:t>Defines an object type</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2542915901"/>
                  </a:ext>
                </a:extLst>
              </a:tr>
              <a:tr h="338411">
                <a:tc>
                  <a:txBody>
                    <a:bodyPr/>
                    <a:lstStyle/>
                    <a:p>
                      <a:pPr marL="0" marR="0" algn="l" fontAlgn="t">
                        <a:buNone/>
                      </a:pPr>
                      <a:r>
                        <a:rPr lang="en-US" sz="1200" spc="0" dirty="0">
                          <a:effectLst/>
                        </a:rPr>
                        <a:t>type Query</a:t>
                      </a:r>
                      <a:endParaRPr lang="en-US" sz="1200" b="0" i="0" spc="0" dirty="0">
                        <a:solidFill>
                          <a:srgbClr val="FFFFFF"/>
                        </a:solidFill>
                        <a:effectLst/>
                        <a:latin typeface="-apple-system-body"/>
                      </a:endParaRPr>
                    </a:p>
                  </a:txBody>
                  <a:tcPr marT="50800" marB="50800"/>
                </a:tc>
                <a:tc>
                  <a:txBody>
                    <a:bodyPr/>
                    <a:lstStyle/>
                    <a:p>
                      <a:pPr marL="0" marR="0" algn="l" fontAlgn="t">
                        <a:buNone/>
                      </a:pPr>
                      <a:r>
                        <a:rPr lang="en-US" sz="1200" spc="0">
                          <a:effectLst/>
                        </a:rPr>
                        <a:t>Defines read operations</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1824469812"/>
                  </a:ext>
                </a:extLst>
              </a:tr>
              <a:tr h="338411">
                <a:tc>
                  <a:txBody>
                    <a:bodyPr/>
                    <a:lstStyle/>
                    <a:p>
                      <a:pPr marL="0" marR="0" algn="l" fontAlgn="t">
                        <a:buNone/>
                      </a:pPr>
                      <a:r>
                        <a:rPr lang="en-US" sz="1200" spc="0">
                          <a:effectLst/>
                        </a:rPr>
                        <a:t>type Mutation</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Defines write operations</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4008926734"/>
                  </a:ext>
                </a:extLst>
              </a:tr>
              <a:tr h="338411">
                <a:tc>
                  <a:txBody>
                    <a:bodyPr/>
                    <a:lstStyle/>
                    <a:p>
                      <a:pPr marL="0" marR="0" algn="l" fontAlgn="t">
                        <a:buNone/>
                      </a:pPr>
                      <a:r>
                        <a:rPr lang="en-US" sz="1200" spc="0">
                          <a:effectLst/>
                        </a:rPr>
                        <a:t>ID</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Represents an identifier</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1128085909"/>
                  </a:ext>
                </a:extLst>
              </a:tr>
              <a:tr h="338411">
                <a:tc>
                  <a:txBody>
                    <a:bodyPr/>
                    <a:lstStyle/>
                    <a:p>
                      <a:pPr marL="0" marR="0" algn="l" fontAlgn="t">
                        <a:buNone/>
                      </a:pPr>
                      <a:r>
                        <a:rPr lang="en-US" sz="1200" spc="0">
                          <a:effectLst/>
                        </a:rPr>
                        <a:t>String</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Represents text</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299527410"/>
                  </a:ext>
                </a:extLst>
              </a:tr>
              <a:tr h="338411">
                <a:tc>
                  <a:txBody>
                    <a:bodyPr/>
                    <a:lstStyle/>
                    <a:p>
                      <a:pPr marL="0" marR="0" algn="l" fontAlgn="t">
                        <a:buNone/>
                      </a:pPr>
                      <a:r>
                        <a:rPr lang="en-US" sz="1200" spc="0">
                          <a:effectLst/>
                        </a:rPr>
                        <a:t>!</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The value cannot be null</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2690487753"/>
                  </a:ext>
                </a:extLst>
              </a:tr>
              <a:tr h="338411">
                <a:tc>
                  <a:txBody>
                    <a:bodyPr/>
                    <a:lstStyle/>
                    <a:p>
                      <a:pPr marL="0" marR="0" algn="l" fontAlgn="t">
                        <a:buNone/>
                      </a:pPr>
                      <a:r>
                        <a:rPr lang="en-US" sz="1200" spc="0">
                          <a:effectLst/>
                        </a:rPr>
                        <a:t>[Customer!]!</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dirty="0">
                          <a:effectLst/>
                        </a:rPr>
                        <a:t>A non-null list containing non-null customers</a:t>
                      </a:r>
                      <a:endParaRPr lang="en-US" sz="1200" b="0" i="0" spc="0" dirty="0">
                        <a:solidFill>
                          <a:srgbClr val="FFFFFF"/>
                        </a:solidFill>
                        <a:effectLst/>
                        <a:latin typeface="-apple-system-body"/>
                      </a:endParaRPr>
                    </a:p>
                  </a:txBody>
                  <a:tcPr marT="50800" marB="50800"/>
                </a:tc>
                <a:extLst>
                  <a:ext uri="{0D108BD9-81ED-4DB2-BD59-A6C34878D82A}">
                    <a16:rowId xmlns:a16="http://schemas.microsoft.com/office/drawing/2014/main" val="673218905"/>
                  </a:ext>
                </a:extLst>
              </a:tr>
            </a:tbl>
          </a:graphicData>
        </a:graphic>
      </p:graphicFrame>
    </p:spTree>
    <p:extLst>
      <p:ext uri="{BB962C8B-B14F-4D97-AF65-F5344CB8AC3E}">
        <p14:creationId xmlns:p14="http://schemas.microsoft.com/office/powerpoint/2010/main" val="2582658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E231B-B99B-EB82-550F-1489F7399BD8}"/>
              </a:ext>
            </a:extLst>
          </p:cNvPr>
          <p:cNvSpPr>
            <a:spLocks noGrp="1"/>
          </p:cNvSpPr>
          <p:nvPr>
            <p:ph type="title"/>
          </p:nvPr>
        </p:nvSpPr>
        <p:spPr/>
        <p:txBody>
          <a:bodyPr/>
          <a:lstStyle/>
          <a:p>
            <a:r>
              <a:rPr lang="en-US" dirty="0" err="1"/>
              <a:t>Graphql</a:t>
            </a:r>
            <a:r>
              <a:rPr lang="en-US" dirty="0"/>
              <a:t> setup for spring boot</a:t>
            </a:r>
          </a:p>
        </p:txBody>
      </p:sp>
      <p:sp>
        <p:nvSpPr>
          <p:cNvPr id="3" name="Content Placeholder 2">
            <a:extLst>
              <a:ext uri="{FF2B5EF4-FFF2-40B4-BE49-F238E27FC236}">
                <a16:creationId xmlns:a16="http://schemas.microsoft.com/office/drawing/2014/main" id="{807EA513-D019-FC8C-208E-AB56B6895969}"/>
              </a:ext>
            </a:extLst>
          </p:cNvPr>
          <p:cNvSpPr>
            <a:spLocks noGrp="1"/>
          </p:cNvSpPr>
          <p:nvPr>
            <p:ph idx="1"/>
          </p:nvPr>
        </p:nvSpPr>
        <p:spPr>
          <a:xfrm>
            <a:off x="581192" y="2180496"/>
            <a:ext cx="5514807" cy="3678303"/>
          </a:xfrm>
        </p:spPr>
        <p:txBody>
          <a:bodyPr>
            <a:normAutofit/>
          </a:bodyPr>
          <a:lstStyle/>
          <a:p>
            <a:r>
              <a:rPr lang="en-US" dirty="0"/>
              <a:t>Step 3: Create Models/DTOs (we've done this before)</a:t>
            </a:r>
          </a:p>
          <a:p>
            <a:r>
              <a:rPr lang="en-US" dirty="0"/>
              <a:t>Step 4: Implement a </a:t>
            </a:r>
            <a:r>
              <a:rPr lang="en-US" dirty="0" err="1"/>
              <a:t>GraphQL</a:t>
            </a:r>
            <a:r>
              <a:rPr lang="en-US" dirty="0"/>
              <a:t> controller</a:t>
            </a:r>
          </a:p>
          <a:p>
            <a:pPr lvl="1"/>
            <a:r>
              <a:rPr lang="en-US" dirty="0"/>
              <a:t>@Controller — registers the Spring controller.</a:t>
            </a:r>
          </a:p>
          <a:p>
            <a:pPr lvl="1"/>
            <a:r>
              <a:rPr lang="en-US" dirty="0"/>
              <a:t>@QueryMapping — maps a Java method to a field under the schema's Query type.</a:t>
            </a:r>
          </a:p>
          <a:p>
            <a:pPr lvl="1"/>
            <a:r>
              <a:rPr lang="en-US" dirty="0"/>
              <a:t>@MutationMapping — maps a Java method to a field under the schema's Mutation type.</a:t>
            </a:r>
          </a:p>
          <a:p>
            <a:pPr lvl="1"/>
            <a:r>
              <a:rPr lang="en-US" dirty="0"/>
              <a:t>@Argument — binds a </a:t>
            </a:r>
            <a:r>
              <a:rPr lang="en-US" dirty="0" err="1"/>
              <a:t>GraphQL</a:t>
            </a:r>
            <a:r>
              <a:rPr lang="en-US" dirty="0"/>
              <a:t> argument to a Java method parameter.</a:t>
            </a:r>
          </a:p>
        </p:txBody>
      </p:sp>
      <p:sp>
        <p:nvSpPr>
          <p:cNvPr id="5" name="TextBox 4">
            <a:extLst>
              <a:ext uri="{FF2B5EF4-FFF2-40B4-BE49-F238E27FC236}">
                <a16:creationId xmlns:a16="http://schemas.microsoft.com/office/drawing/2014/main" id="{CEF48F00-64C2-0073-B869-E05629F8D239}"/>
              </a:ext>
            </a:extLst>
          </p:cNvPr>
          <p:cNvSpPr txBox="1"/>
          <p:nvPr/>
        </p:nvSpPr>
        <p:spPr>
          <a:xfrm>
            <a:off x="6478576" y="1977500"/>
            <a:ext cx="4493084" cy="4524315"/>
          </a:xfrm>
          <a:prstGeom prst="rect">
            <a:avLst/>
          </a:prstGeom>
          <a:noFill/>
        </p:spPr>
        <p:txBody>
          <a:bodyPr wrap="square">
            <a:spAutoFit/>
          </a:bodyPr>
          <a:lstStyle/>
          <a:p>
            <a:pPr indent="0" algn="l">
              <a:buNone/>
            </a:pPr>
            <a:r>
              <a:rPr lang="en-US" sz="1200" b="0" i="0" dirty="0">
                <a:solidFill>
                  <a:schemeClr val="tx1"/>
                </a:solidFill>
                <a:effectLst/>
                <a:latin typeface="+mn-lt"/>
              </a:rPr>
              <a:t>@Controller</a:t>
            </a:r>
          </a:p>
          <a:p>
            <a:pPr indent="0" algn="l">
              <a:buNone/>
            </a:pPr>
            <a:r>
              <a:rPr lang="en-US" sz="1200" b="0" i="0" dirty="0">
                <a:solidFill>
                  <a:schemeClr val="tx1"/>
                </a:solidFill>
                <a:effectLst/>
                <a:latin typeface="+mn-lt"/>
              </a:rPr>
              <a:t>public class </a:t>
            </a:r>
            <a:r>
              <a:rPr lang="en-US" sz="1200" b="0" i="0" dirty="0" err="1">
                <a:solidFill>
                  <a:schemeClr val="tx1"/>
                </a:solidFill>
                <a:effectLst/>
                <a:latin typeface="+mn-lt"/>
              </a:rPr>
              <a:t>CustomerGraphQLController</a:t>
            </a:r>
            <a:r>
              <a:rPr lang="en-US" sz="1200" b="0" i="0" dirty="0">
                <a:solidFill>
                  <a:schemeClr val="tx1"/>
                </a:solidFill>
                <a:effectLst/>
                <a:latin typeface="+mn-lt"/>
              </a:rPr>
              <a:t> {</a:t>
            </a:r>
          </a:p>
          <a:p>
            <a:pPr indent="0" algn="l">
              <a:buNone/>
            </a:pPr>
            <a:endParaRPr lang="en-US" sz="1200" b="0" i="0" dirty="0">
              <a:solidFill>
                <a:schemeClr val="tx1"/>
              </a:solidFill>
              <a:effectLst/>
              <a:latin typeface="+mn-lt"/>
            </a:endParaRPr>
          </a:p>
          <a:p>
            <a:pPr indent="0" algn="l">
              <a:buNone/>
            </a:pPr>
            <a:r>
              <a:rPr lang="en-US" sz="1200" b="0" i="0" dirty="0">
                <a:solidFill>
                  <a:schemeClr val="tx1"/>
                </a:solidFill>
                <a:effectLst/>
                <a:latin typeface="+mn-lt"/>
              </a:rPr>
              <a:t>    @QueryMapping</a:t>
            </a:r>
          </a:p>
          <a:p>
            <a:pPr indent="0" algn="l">
              <a:buNone/>
            </a:pPr>
            <a:r>
              <a:rPr lang="en-US" sz="1200" b="0" i="0" dirty="0">
                <a:solidFill>
                  <a:schemeClr val="tx1"/>
                </a:solidFill>
                <a:effectLst/>
                <a:latin typeface="+mn-lt"/>
              </a:rPr>
              <a:t>    public List&lt;Customer&gt; customers() {</a:t>
            </a:r>
          </a:p>
          <a:p>
            <a:pPr indent="0" algn="l">
              <a:buNone/>
            </a:pPr>
            <a:r>
              <a:rPr lang="en-US" sz="1200" b="0" i="0" dirty="0">
                <a:solidFill>
                  <a:schemeClr val="tx1"/>
                </a:solidFill>
                <a:effectLst/>
                <a:latin typeface="+mn-lt"/>
              </a:rPr>
              <a:t>        return </a:t>
            </a:r>
            <a:r>
              <a:rPr lang="en-US" sz="1200" b="0" i="0" dirty="0" err="1">
                <a:solidFill>
                  <a:schemeClr val="tx1"/>
                </a:solidFill>
                <a:effectLst/>
                <a:latin typeface="+mn-lt"/>
              </a:rPr>
              <a:t>List.of</a:t>
            </a:r>
            <a:r>
              <a:rPr lang="en-US" sz="1200" b="0" i="0" dirty="0">
                <a:solidFill>
                  <a:schemeClr val="tx1"/>
                </a:solidFill>
                <a:effectLst/>
                <a:latin typeface="+mn-lt"/>
              </a:rPr>
              <a:t>(</a:t>
            </a:r>
          </a:p>
          <a:p>
            <a:pPr indent="0" algn="l">
              <a:buNone/>
            </a:pPr>
            <a:r>
              <a:rPr lang="en-US" sz="1200" b="0" i="0" dirty="0">
                <a:solidFill>
                  <a:schemeClr val="tx1"/>
                </a:solidFill>
                <a:effectLst/>
                <a:latin typeface="+mn-lt"/>
              </a:rPr>
              <a:t>            new Customer(1L, "Alice", "alice@example.com"),</a:t>
            </a:r>
          </a:p>
          <a:p>
            <a:pPr indent="0" algn="l">
              <a:buNone/>
            </a:pPr>
            <a:r>
              <a:rPr lang="en-US" sz="1200" b="0" i="0" dirty="0">
                <a:solidFill>
                  <a:schemeClr val="tx1"/>
                </a:solidFill>
                <a:effectLst/>
                <a:latin typeface="+mn-lt"/>
              </a:rPr>
              <a:t>            new Customer(2L, "Bob", "bob@example.com")</a:t>
            </a:r>
          </a:p>
          <a:p>
            <a:pPr indent="0" algn="l">
              <a:buNone/>
            </a:pPr>
            <a:r>
              <a:rPr lang="en-US" sz="1200" b="0" i="0" dirty="0">
                <a:solidFill>
                  <a:schemeClr val="tx1"/>
                </a:solidFill>
                <a:effectLst/>
                <a:latin typeface="+mn-lt"/>
              </a:rPr>
              <a:t>        );</a:t>
            </a:r>
          </a:p>
          <a:p>
            <a:pPr indent="0" algn="l">
              <a:buNone/>
            </a:pPr>
            <a:r>
              <a:rPr lang="en-US" sz="1200" b="0" i="0" dirty="0">
                <a:solidFill>
                  <a:schemeClr val="tx1"/>
                </a:solidFill>
                <a:effectLst/>
                <a:latin typeface="+mn-lt"/>
              </a:rPr>
              <a:t>    }</a:t>
            </a:r>
          </a:p>
          <a:p>
            <a:pPr indent="0" algn="l">
              <a:buNone/>
            </a:pPr>
            <a:endParaRPr lang="en-US" sz="1200" b="0" i="0" dirty="0">
              <a:solidFill>
                <a:schemeClr val="tx1"/>
              </a:solidFill>
              <a:effectLst/>
              <a:latin typeface="+mn-lt"/>
            </a:endParaRPr>
          </a:p>
          <a:p>
            <a:pPr indent="0" algn="l">
              <a:buNone/>
            </a:pPr>
            <a:r>
              <a:rPr lang="en-US" sz="1200" b="0" i="0" dirty="0">
                <a:solidFill>
                  <a:schemeClr val="tx1"/>
                </a:solidFill>
                <a:effectLst/>
                <a:latin typeface="+mn-lt"/>
              </a:rPr>
              <a:t>    @QueryMapping</a:t>
            </a:r>
          </a:p>
          <a:p>
            <a:pPr indent="0" algn="l">
              <a:buNone/>
            </a:pPr>
            <a:r>
              <a:rPr lang="en-US" sz="1200" b="0" i="0" dirty="0">
                <a:solidFill>
                  <a:schemeClr val="tx1"/>
                </a:solidFill>
                <a:effectLst/>
                <a:latin typeface="+mn-lt"/>
              </a:rPr>
              <a:t>    public Customer </a:t>
            </a:r>
            <a:r>
              <a:rPr lang="en-US" sz="1200" b="0" i="0" dirty="0" err="1">
                <a:solidFill>
                  <a:schemeClr val="tx1"/>
                </a:solidFill>
                <a:effectLst/>
                <a:latin typeface="+mn-lt"/>
              </a:rPr>
              <a:t>customerById</a:t>
            </a:r>
            <a:r>
              <a:rPr lang="en-US" sz="1200" b="0" i="0" dirty="0">
                <a:solidFill>
                  <a:schemeClr val="tx1"/>
                </a:solidFill>
                <a:effectLst/>
                <a:latin typeface="+mn-lt"/>
              </a:rPr>
              <a:t>(@Argument Long id) {</a:t>
            </a:r>
          </a:p>
          <a:p>
            <a:pPr indent="0" algn="l">
              <a:buNone/>
            </a:pPr>
            <a:r>
              <a:rPr lang="en-US" sz="1200" b="0" i="0" dirty="0">
                <a:solidFill>
                  <a:schemeClr val="tx1"/>
                </a:solidFill>
                <a:effectLst/>
                <a:latin typeface="+mn-lt"/>
              </a:rPr>
              <a:t>        return new Customer(id, "Alice", "alice@example.com");</a:t>
            </a:r>
          </a:p>
          <a:p>
            <a:pPr indent="0" algn="l">
              <a:buNone/>
            </a:pPr>
            <a:r>
              <a:rPr lang="en-US" sz="1200" b="0" i="0" dirty="0">
                <a:solidFill>
                  <a:schemeClr val="tx1"/>
                </a:solidFill>
                <a:effectLst/>
                <a:latin typeface="+mn-lt"/>
              </a:rPr>
              <a:t>    }</a:t>
            </a:r>
          </a:p>
          <a:p>
            <a:pPr indent="0" algn="l">
              <a:buNone/>
            </a:pPr>
            <a:endParaRPr lang="en-US" sz="1200" b="0" i="0" dirty="0">
              <a:solidFill>
                <a:schemeClr val="tx1"/>
              </a:solidFill>
              <a:effectLst/>
              <a:latin typeface="+mn-lt"/>
            </a:endParaRPr>
          </a:p>
          <a:p>
            <a:pPr indent="0" algn="l">
              <a:buNone/>
            </a:pPr>
            <a:r>
              <a:rPr lang="en-US" sz="1200" b="0" i="0" dirty="0">
                <a:solidFill>
                  <a:schemeClr val="tx1"/>
                </a:solidFill>
                <a:effectLst/>
                <a:latin typeface="+mn-lt"/>
              </a:rPr>
              <a:t>    @MutationMapping</a:t>
            </a:r>
          </a:p>
          <a:p>
            <a:pPr indent="0" algn="l">
              <a:buNone/>
            </a:pPr>
            <a:r>
              <a:rPr lang="en-US" sz="1200" b="0" i="0" dirty="0">
                <a:solidFill>
                  <a:schemeClr val="tx1"/>
                </a:solidFill>
                <a:effectLst/>
                <a:latin typeface="+mn-lt"/>
              </a:rPr>
              <a:t>    public Customer </a:t>
            </a:r>
            <a:r>
              <a:rPr lang="en-US" sz="1200" b="0" i="0" dirty="0" err="1">
                <a:solidFill>
                  <a:schemeClr val="tx1"/>
                </a:solidFill>
                <a:effectLst/>
                <a:latin typeface="+mn-lt"/>
              </a:rPr>
              <a:t>createCustomer</a:t>
            </a:r>
            <a:r>
              <a:rPr lang="en-US" sz="1200" b="0" i="0" dirty="0">
                <a:solidFill>
                  <a:schemeClr val="tx1"/>
                </a:solidFill>
                <a:effectLst/>
                <a:latin typeface="+mn-lt"/>
              </a:rPr>
              <a:t>(</a:t>
            </a:r>
          </a:p>
          <a:p>
            <a:pPr indent="0" algn="l">
              <a:buNone/>
            </a:pPr>
            <a:r>
              <a:rPr lang="en-US" sz="1200" b="0" i="0" dirty="0">
                <a:solidFill>
                  <a:schemeClr val="tx1"/>
                </a:solidFill>
                <a:effectLst/>
                <a:latin typeface="+mn-lt"/>
              </a:rPr>
              <a:t>            @Argument String name,</a:t>
            </a:r>
          </a:p>
          <a:p>
            <a:pPr indent="0" algn="l">
              <a:buNone/>
            </a:pPr>
            <a:r>
              <a:rPr lang="en-US" sz="1200" b="0" i="0" dirty="0">
                <a:solidFill>
                  <a:schemeClr val="tx1"/>
                </a:solidFill>
                <a:effectLst/>
                <a:latin typeface="+mn-lt"/>
              </a:rPr>
              <a:t>            @Argument String email) {</a:t>
            </a:r>
          </a:p>
          <a:p>
            <a:pPr indent="0" algn="l">
              <a:buNone/>
            </a:pPr>
            <a:endParaRPr lang="en-US" sz="1200" b="0" i="0" dirty="0">
              <a:solidFill>
                <a:schemeClr val="tx1"/>
              </a:solidFill>
              <a:effectLst/>
              <a:latin typeface="+mn-lt"/>
            </a:endParaRPr>
          </a:p>
          <a:p>
            <a:pPr indent="0" algn="l">
              <a:buNone/>
            </a:pPr>
            <a:r>
              <a:rPr lang="en-US" sz="1200" dirty="0"/>
              <a:t>       </a:t>
            </a:r>
            <a:r>
              <a:rPr lang="en-US" sz="1200" b="0" i="0" dirty="0">
                <a:solidFill>
                  <a:schemeClr val="tx1"/>
                </a:solidFill>
                <a:effectLst/>
                <a:latin typeface="+mn-lt"/>
              </a:rPr>
              <a:t>return new Customer(3L, name, email);</a:t>
            </a:r>
          </a:p>
          <a:p>
            <a:pPr indent="0" algn="l">
              <a:buNone/>
            </a:pPr>
            <a:r>
              <a:rPr lang="en-US" sz="1200" b="0" i="0" dirty="0">
                <a:solidFill>
                  <a:schemeClr val="tx1"/>
                </a:solidFill>
                <a:effectLst/>
                <a:latin typeface="+mn-lt"/>
              </a:rPr>
              <a:t>    }</a:t>
            </a:r>
          </a:p>
          <a:p>
            <a:pPr indent="0" algn="l">
              <a:buNone/>
            </a:pPr>
            <a:r>
              <a:rPr lang="en-US" sz="1200" b="0" i="0" dirty="0">
                <a:solidFill>
                  <a:schemeClr val="tx1"/>
                </a:solidFill>
                <a:effectLst/>
                <a:latin typeface="+mn-lt"/>
              </a:rPr>
              <a:t>}</a:t>
            </a:r>
            <a:endParaRPr lang="en-US" sz="1000" b="0" i="0" dirty="0">
              <a:solidFill>
                <a:srgbClr val="FFFFFF"/>
              </a:solidFill>
              <a:effectLst/>
              <a:latin typeface="Courier New" panose="02070309020205020404" pitchFamily="49" charset="0"/>
            </a:endParaRPr>
          </a:p>
        </p:txBody>
      </p:sp>
      <p:sp>
        <p:nvSpPr>
          <p:cNvPr id="6" name="TextBox 5">
            <a:extLst>
              <a:ext uri="{FF2B5EF4-FFF2-40B4-BE49-F238E27FC236}">
                <a16:creationId xmlns:a16="http://schemas.microsoft.com/office/drawing/2014/main" id="{69A98CD9-5B81-F88E-B13E-F9D9E8FF7D9C}"/>
              </a:ext>
            </a:extLst>
          </p:cNvPr>
          <p:cNvSpPr txBox="1"/>
          <p:nvPr/>
        </p:nvSpPr>
        <p:spPr>
          <a:xfrm>
            <a:off x="1971637" y="6394027"/>
            <a:ext cx="9013878" cy="369332"/>
          </a:xfrm>
          <a:prstGeom prst="rect">
            <a:avLst/>
          </a:prstGeom>
          <a:noFill/>
        </p:spPr>
        <p:txBody>
          <a:bodyPr wrap="none" rtlCol="0">
            <a:spAutoFit/>
          </a:bodyPr>
          <a:lstStyle/>
          <a:p>
            <a:r>
              <a:rPr lang="en-US" dirty="0"/>
              <a:t>Note: our controller is small for demo purposes. You should have a service/repo layer, however.</a:t>
            </a:r>
          </a:p>
        </p:txBody>
      </p:sp>
    </p:spTree>
    <p:extLst>
      <p:ext uri="{BB962C8B-B14F-4D97-AF65-F5344CB8AC3E}">
        <p14:creationId xmlns:p14="http://schemas.microsoft.com/office/powerpoint/2010/main" val="150712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9D7-EF05-49FC-00A7-D493BFD6EBCB}"/>
              </a:ext>
            </a:extLst>
          </p:cNvPr>
          <p:cNvSpPr>
            <a:spLocks noGrp="1"/>
          </p:cNvSpPr>
          <p:nvPr>
            <p:ph type="title"/>
          </p:nvPr>
        </p:nvSpPr>
        <p:spPr/>
        <p:txBody>
          <a:bodyPr/>
          <a:lstStyle/>
          <a:p>
            <a:r>
              <a:rPr lang="en-US" dirty="0" err="1"/>
              <a:t>Graphql</a:t>
            </a:r>
            <a:r>
              <a:rPr lang="en-US" dirty="0"/>
              <a:t> setup for spring boot</a:t>
            </a:r>
          </a:p>
        </p:txBody>
      </p:sp>
      <p:sp>
        <p:nvSpPr>
          <p:cNvPr id="3" name="Content Placeholder 2">
            <a:extLst>
              <a:ext uri="{FF2B5EF4-FFF2-40B4-BE49-F238E27FC236}">
                <a16:creationId xmlns:a16="http://schemas.microsoft.com/office/drawing/2014/main" id="{C93742EA-E081-AD11-6913-7EB49EEF840C}"/>
              </a:ext>
            </a:extLst>
          </p:cNvPr>
          <p:cNvSpPr>
            <a:spLocks noGrp="1"/>
          </p:cNvSpPr>
          <p:nvPr>
            <p:ph idx="1"/>
          </p:nvPr>
        </p:nvSpPr>
        <p:spPr>
          <a:xfrm>
            <a:off x="581193" y="2180497"/>
            <a:ext cx="8897658" cy="1528618"/>
          </a:xfrm>
        </p:spPr>
        <p:txBody>
          <a:bodyPr>
            <a:normAutofit fontScale="85000" lnSpcReduction="20000"/>
          </a:bodyPr>
          <a:lstStyle/>
          <a:p>
            <a:r>
              <a:rPr lang="en-US" dirty="0"/>
              <a:t>Step 4: Call the API</a:t>
            </a:r>
          </a:p>
          <a:p>
            <a:r>
              <a:rPr lang="en-US" dirty="0"/>
              <a:t>We typically use POST for endpoints</a:t>
            </a:r>
          </a:p>
          <a:p>
            <a:r>
              <a:rPr lang="en-US" dirty="0"/>
              <a:t>This example fetches all customers</a:t>
            </a:r>
          </a:p>
          <a:p>
            <a:r>
              <a:rPr lang="en-US" dirty="0"/>
              <a:t>POST </a:t>
            </a:r>
            <a:r>
              <a:rPr lang="en-US" dirty="0">
                <a:hlinkClick r:id="rId2"/>
              </a:rPr>
              <a:t>http://localhost:8080/graphql</a:t>
            </a:r>
            <a:endParaRPr lang="en-US" dirty="0"/>
          </a:p>
          <a:p>
            <a:r>
              <a:rPr lang="en-US" dirty="0"/>
              <a:t>JSON Body of request:</a:t>
            </a:r>
          </a:p>
        </p:txBody>
      </p:sp>
      <p:sp>
        <p:nvSpPr>
          <p:cNvPr id="5" name="TextBox 4">
            <a:extLst>
              <a:ext uri="{FF2B5EF4-FFF2-40B4-BE49-F238E27FC236}">
                <a16:creationId xmlns:a16="http://schemas.microsoft.com/office/drawing/2014/main" id="{94056C61-28B1-00F4-550D-8CA7D39E1242}"/>
              </a:ext>
            </a:extLst>
          </p:cNvPr>
          <p:cNvSpPr txBox="1"/>
          <p:nvPr/>
        </p:nvSpPr>
        <p:spPr>
          <a:xfrm>
            <a:off x="845714" y="4173656"/>
            <a:ext cx="4536584" cy="923330"/>
          </a:xfrm>
          <a:prstGeom prst="rect">
            <a:avLst/>
          </a:prstGeom>
          <a:noFill/>
        </p:spPr>
        <p:txBody>
          <a:bodyPr wrap="square">
            <a:spAutoFit/>
          </a:bodyPr>
          <a:lstStyle/>
          <a:p>
            <a:r>
              <a:rPr lang="en-US" dirty="0"/>
              <a:t>{</a:t>
            </a:r>
          </a:p>
          <a:p>
            <a:r>
              <a:rPr lang="en-US" dirty="0"/>
              <a:t>  "query": "query { customers { id name } }"</a:t>
            </a:r>
          </a:p>
          <a:p>
            <a:r>
              <a:rPr lang="en-US" dirty="0"/>
              <a:t>}</a:t>
            </a:r>
          </a:p>
        </p:txBody>
      </p:sp>
      <p:sp>
        <p:nvSpPr>
          <p:cNvPr id="7" name="TextBox 6">
            <a:extLst>
              <a:ext uri="{FF2B5EF4-FFF2-40B4-BE49-F238E27FC236}">
                <a16:creationId xmlns:a16="http://schemas.microsoft.com/office/drawing/2014/main" id="{C252A778-1138-49AA-6F61-3E2B345927BA}"/>
              </a:ext>
            </a:extLst>
          </p:cNvPr>
          <p:cNvSpPr txBox="1"/>
          <p:nvPr/>
        </p:nvSpPr>
        <p:spPr>
          <a:xfrm>
            <a:off x="6809703" y="2188497"/>
            <a:ext cx="2823693" cy="4247317"/>
          </a:xfrm>
          <a:prstGeom prst="rect">
            <a:avLst/>
          </a:prstGeom>
          <a:noFill/>
        </p:spPr>
        <p:txBody>
          <a:bodyPr wrap="square">
            <a:spAutoFit/>
          </a:bodyPr>
          <a:lstStyle/>
          <a:p>
            <a:pPr indent="0" algn="l">
              <a:buNone/>
            </a:pPr>
            <a:r>
              <a:rPr lang="en-US" sz="1800" b="0" i="0" dirty="0">
                <a:solidFill>
                  <a:schemeClr val="tx1"/>
                </a:solidFill>
                <a:effectLst/>
                <a:latin typeface="+mn-lt"/>
              </a:rPr>
              <a:t>Response</a:t>
            </a:r>
          </a:p>
          <a:p>
            <a:pPr indent="0" algn="l">
              <a:buNone/>
            </a:pPr>
            <a:r>
              <a:rPr lang="en-US" sz="1800" b="0" i="0" dirty="0">
                <a:solidFill>
                  <a:schemeClr val="tx1"/>
                </a:solidFill>
                <a:effectLst/>
                <a:latin typeface="+mn-lt"/>
              </a:rPr>
              <a:t>{</a:t>
            </a:r>
          </a:p>
          <a:p>
            <a:pPr indent="0" algn="l">
              <a:buNone/>
            </a:pPr>
            <a:r>
              <a:rPr lang="en-US" sz="1800" b="0" i="0" dirty="0">
                <a:solidFill>
                  <a:schemeClr val="tx1"/>
                </a:solidFill>
                <a:effectLst/>
                <a:latin typeface="+mn-lt"/>
              </a:rPr>
              <a:t>  "data": {</a:t>
            </a:r>
          </a:p>
          <a:p>
            <a:pPr indent="0" algn="l">
              <a:buNone/>
            </a:pPr>
            <a:r>
              <a:rPr lang="en-US" sz="1800" b="0" i="0" dirty="0">
                <a:solidFill>
                  <a:schemeClr val="tx1"/>
                </a:solidFill>
                <a:effectLst/>
                <a:latin typeface="+mn-lt"/>
              </a:rPr>
              <a:t>    "customers":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"id": "1",</a:t>
            </a:r>
          </a:p>
          <a:p>
            <a:pPr indent="0" algn="l">
              <a:buNone/>
            </a:pPr>
            <a:r>
              <a:rPr lang="en-US" sz="1800" b="0" i="0" dirty="0">
                <a:solidFill>
                  <a:schemeClr val="tx1"/>
                </a:solidFill>
                <a:effectLst/>
                <a:latin typeface="+mn-lt"/>
              </a:rPr>
              <a:t>        "name": "Alice"</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"id": "2",</a:t>
            </a:r>
          </a:p>
          <a:p>
            <a:pPr indent="0" algn="l">
              <a:buNone/>
            </a:pPr>
            <a:r>
              <a:rPr lang="en-US" sz="1800" b="0" i="0" dirty="0">
                <a:solidFill>
                  <a:schemeClr val="tx1"/>
                </a:solidFill>
                <a:effectLst/>
                <a:latin typeface="+mn-lt"/>
              </a:rPr>
              <a:t>        "name": "Bob"</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F3AD648E-ADAF-7DC2-FEE2-EDF2D5BD1519}"/>
              </a:ext>
            </a:extLst>
          </p:cNvPr>
          <p:cNvSpPr txBox="1"/>
          <p:nvPr/>
        </p:nvSpPr>
        <p:spPr>
          <a:xfrm>
            <a:off x="1017432" y="5561527"/>
            <a:ext cx="4653566" cy="646331"/>
          </a:xfrm>
          <a:prstGeom prst="rect">
            <a:avLst/>
          </a:prstGeom>
          <a:noFill/>
        </p:spPr>
        <p:txBody>
          <a:bodyPr wrap="square" rtlCol="0">
            <a:spAutoFit/>
          </a:bodyPr>
          <a:lstStyle/>
          <a:p>
            <a:r>
              <a:rPr lang="en-US" dirty="0"/>
              <a:t>Note that </a:t>
            </a:r>
            <a:r>
              <a:rPr lang="en-US" dirty="0" err="1"/>
              <a:t>GraphQL</a:t>
            </a:r>
            <a:r>
              <a:rPr lang="en-US" dirty="0"/>
              <a:t> queries do not require commas between field names</a:t>
            </a:r>
          </a:p>
        </p:txBody>
      </p:sp>
      <p:cxnSp>
        <p:nvCxnSpPr>
          <p:cNvPr id="10" name="Straight Arrow Connector 9">
            <a:extLst>
              <a:ext uri="{FF2B5EF4-FFF2-40B4-BE49-F238E27FC236}">
                <a16:creationId xmlns:a16="http://schemas.microsoft.com/office/drawing/2014/main" id="{125A2C19-ACA6-1CD2-F52D-74B64692D683}"/>
              </a:ext>
            </a:extLst>
          </p:cNvPr>
          <p:cNvCxnSpPr/>
          <p:nvPr/>
        </p:nvCxnSpPr>
        <p:spPr>
          <a:xfrm flipV="1">
            <a:off x="4172755" y="4803820"/>
            <a:ext cx="0" cy="579549"/>
          </a:xfrm>
          <a:prstGeom prst="straightConnector1">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0300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DF05-18F6-2382-34F5-21553CC84AAA}"/>
              </a:ext>
            </a:extLst>
          </p:cNvPr>
          <p:cNvSpPr>
            <a:spLocks noGrp="1"/>
          </p:cNvSpPr>
          <p:nvPr>
            <p:ph type="title"/>
          </p:nvPr>
        </p:nvSpPr>
        <p:spPr/>
        <p:txBody>
          <a:bodyPr/>
          <a:lstStyle/>
          <a:p>
            <a:r>
              <a:rPr lang="en-US" dirty="0" err="1"/>
              <a:t>Graphql</a:t>
            </a:r>
            <a:r>
              <a:rPr lang="en-US" dirty="0"/>
              <a:t> more example queries</a:t>
            </a:r>
          </a:p>
        </p:txBody>
      </p:sp>
      <p:sp>
        <p:nvSpPr>
          <p:cNvPr id="3" name="Content Placeholder 2">
            <a:extLst>
              <a:ext uri="{FF2B5EF4-FFF2-40B4-BE49-F238E27FC236}">
                <a16:creationId xmlns:a16="http://schemas.microsoft.com/office/drawing/2014/main" id="{A2E097F5-336A-F7FA-9256-477044E3D80C}"/>
              </a:ext>
            </a:extLst>
          </p:cNvPr>
          <p:cNvSpPr>
            <a:spLocks noGrp="1"/>
          </p:cNvSpPr>
          <p:nvPr>
            <p:ph idx="1"/>
          </p:nvPr>
        </p:nvSpPr>
        <p:spPr>
          <a:xfrm>
            <a:off x="581192" y="2180496"/>
            <a:ext cx="11029615" cy="1013801"/>
          </a:xfrm>
        </p:spPr>
        <p:txBody>
          <a:bodyPr/>
          <a:lstStyle/>
          <a:p>
            <a:r>
              <a:rPr lang="en-US" dirty="0"/>
              <a:t>Fetch a single customer:</a:t>
            </a:r>
          </a:p>
        </p:txBody>
      </p:sp>
      <p:sp>
        <p:nvSpPr>
          <p:cNvPr id="5" name="TextBox 4">
            <a:extLst>
              <a:ext uri="{FF2B5EF4-FFF2-40B4-BE49-F238E27FC236}">
                <a16:creationId xmlns:a16="http://schemas.microsoft.com/office/drawing/2014/main" id="{EF84E377-DEC5-06D0-A1F7-23B9C9C52C32}"/>
              </a:ext>
            </a:extLst>
          </p:cNvPr>
          <p:cNvSpPr txBox="1"/>
          <p:nvPr/>
        </p:nvSpPr>
        <p:spPr>
          <a:xfrm>
            <a:off x="476519" y="3194297"/>
            <a:ext cx="6143222" cy="2308324"/>
          </a:xfrm>
          <a:prstGeom prst="rect">
            <a:avLst/>
          </a:prstGeom>
          <a:noFill/>
        </p:spPr>
        <p:txBody>
          <a:bodyPr wrap="square">
            <a:spAutoFit/>
          </a:bodyPr>
          <a:lstStyle/>
          <a:p>
            <a:pPr>
              <a:buClr>
                <a:schemeClr val="accent2"/>
              </a:buClr>
              <a:buSzPct val="92000"/>
            </a:pPr>
            <a:r>
              <a:rPr lang="en-US" dirty="0"/>
              <a:t>POST </a:t>
            </a:r>
            <a:r>
              <a:rPr lang="en-US" dirty="0">
                <a:hlinkClick r:id="rId2"/>
              </a:rPr>
              <a:t>http://localhost:8080/graphql</a:t>
            </a:r>
            <a:endParaRPr lang="en-US" dirty="0"/>
          </a:p>
          <a:p>
            <a:pPr indent="0" algn="l">
              <a:buNone/>
            </a:pPr>
            <a:endParaRPr lang="en-US" sz="1800" b="0" i="0" dirty="0">
              <a:solidFill>
                <a:schemeClr val="tx1"/>
              </a:solidFill>
              <a:effectLst/>
              <a:latin typeface="+mn-lt"/>
            </a:endParaRPr>
          </a:p>
          <a:p>
            <a:pPr indent="0" algn="l">
              <a:buNone/>
            </a:pPr>
            <a:r>
              <a:rPr lang="en-US" dirty="0"/>
              <a:t>JSON body:</a:t>
            </a:r>
            <a:endParaRPr lang="en-US" sz="1800" b="0" i="0" dirty="0">
              <a:solidFill>
                <a:schemeClr val="tx1"/>
              </a:solidFill>
              <a:effectLst/>
              <a:latin typeface="+mn-lt"/>
            </a:endParaRPr>
          </a:p>
          <a:p>
            <a:r>
              <a:rPr lang="en-US" dirty="0"/>
              <a:t>{</a:t>
            </a:r>
          </a:p>
          <a:p>
            <a:r>
              <a:rPr lang="en-US" dirty="0"/>
              <a:t>  "query": "query { </a:t>
            </a:r>
            <a:r>
              <a:rPr lang="en-US" dirty="0" err="1"/>
              <a:t>customerById</a:t>
            </a:r>
            <a:r>
              <a:rPr lang="en-US" dirty="0"/>
              <a:t>(id: \"1\") { id name email } }"</a:t>
            </a:r>
          </a:p>
          <a:p>
            <a:r>
              <a:rPr lang="en-US" dirty="0"/>
              <a:t>}</a:t>
            </a:r>
          </a:p>
          <a:p>
            <a:pPr>
              <a:buNone/>
            </a:pPr>
            <a:br>
              <a:rPr lang="en-US" dirty="0"/>
            </a:br>
            <a:endParaRPr lang="en-US" dirty="0"/>
          </a:p>
        </p:txBody>
      </p:sp>
      <p:sp>
        <p:nvSpPr>
          <p:cNvPr id="7" name="TextBox 6">
            <a:extLst>
              <a:ext uri="{FF2B5EF4-FFF2-40B4-BE49-F238E27FC236}">
                <a16:creationId xmlns:a16="http://schemas.microsoft.com/office/drawing/2014/main" id="{0BD7A3D3-2E19-89A1-10B0-51BAB5F34CCC}"/>
              </a:ext>
            </a:extLst>
          </p:cNvPr>
          <p:cNvSpPr txBox="1"/>
          <p:nvPr/>
        </p:nvSpPr>
        <p:spPr>
          <a:xfrm>
            <a:off x="6724414" y="2807930"/>
            <a:ext cx="4529070" cy="2862322"/>
          </a:xfrm>
          <a:prstGeom prst="rect">
            <a:avLst/>
          </a:prstGeom>
          <a:noFill/>
        </p:spPr>
        <p:txBody>
          <a:bodyPr wrap="square">
            <a:spAutoFit/>
          </a:bodyPr>
          <a:lstStyle/>
          <a:p>
            <a:pPr indent="0" algn="l">
              <a:buNone/>
            </a:pPr>
            <a:r>
              <a:rPr lang="en-US" sz="1800" b="0" i="0" dirty="0">
                <a:solidFill>
                  <a:schemeClr val="tx1"/>
                </a:solidFill>
                <a:effectLst/>
                <a:latin typeface="+mn-lt"/>
              </a:rPr>
              <a:t>Response:</a:t>
            </a:r>
          </a:p>
          <a:p>
            <a:pPr indent="0" algn="l">
              <a:buNone/>
            </a:pPr>
            <a:r>
              <a:rPr lang="en-US" sz="1800" b="0" i="0" dirty="0">
                <a:solidFill>
                  <a:schemeClr val="tx1"/>
                </a:solidFill>
                <a:effectLst/>
                <a:latin typeface="+mn-lt"/>
              </a:rPr>
              <a:t>{</a:t>
            </a:r>
          </a:p>
          <a:p>
            <a:pPr indent="0" algn="l">
              <a:buNone/>
            </a:pPr>
            <a:r>
              <a:rPr lang="en-US" sz="1800" b="0" i="0" dirty="0">
                <a:solidFill>
                  <a:schemeClr val="tx1"/>
                </a:solidFill>
                <a:effectLst/>
                <a:latin typeface="+mn-lt"/>
              </a:rPr>
              <a:t>  "data":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customerById</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      "id": "1",</a:t>
            </a:r>
          </a:p>
          <a:p>
            <a:pPr indent="0" algn="l">
              <a:buNone/>
            </a:pPr>
            <a:r>
              <a:rPr lang="en-US" sz="1800" b="0" i="0" dirty="0">
                <a:solidFill>
                  <a:schemeClr val="tx1"/>
                </a:solidFill>
                <a:effectLst/>
                <a:latin typeface="+mn-lt"/>
              </a:rPr>
              <a:t>      "name": "Alice",</a:t>
            </a:r>
          </a:p>
          <a:p>
            <a:pPr indent="0" algn="l">
              <a:buNone/>
            </a:pPr>
            <a:r>
              <a:rPr lang="en-US" sz="1800" b="0" i="0" dirty="0">
                <a:solidFill>
                  <a:schemeClr val="tx1"/>
                </a:solidFill>
                <a:effectLst/>
                <a:latin typeface="+mn-lt"/>
              </a:rPr>
              <a:t>      "email": "alice@example.com"</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174563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8D45-3EC3-BCD6-F674-E27EEE1F2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49558-6862-C3F4-E92B-C7699AAD483D}"/>
              </a:ext>
            </a:extLst>
          </p:cNvPr>
          <p:cNvSpPr>
            <a:spLocks noGrp="1"/>
          </p:cNvSpPr>
          <p:nvPr>
            <p:ph type="title"/>
          </p:nvPr>
        </p:nvSpPr>
        <p:spPr/>
        <p:txBody>
          <a:bodyPr/>
          <a:lstStyle/>
          <a:p>
            <a:r>
              <a:rPr lang="en-US" dirty="0" err="1"/>
              <a:t>Graphql</a:t>
            </a:r>
            <a:r>
              <a:rPr lang="en-US" dirty="0"/>
              <a:t> more example queries</a:t>
            </a:r>
          </a:p>
        </p:txBody>
      </p:sp>
      <p:sp>
        <p:nvSpPr>
          <p:cNvPr id="3" name="Content Placeholder 2">
            <a:extLst>
              <a:ext uri="{FF2B5EF4-FFF2-40B4-BE49-F238E27FC236}">
                <a16:creationId xmlns:a16="http://schemas.microsoft.com/office/drawing/2014/main" id="{0CE5A0CF-D336-09E1-16A2-578603DE7C31}"/>
              </a:ext>
            </a:extLst>
          </p:cNvPr>
          <p:cNvSpPr>
            <a:spLocks noGrp="1"/>
          </p:cNvSpPr>
          <p:nvPr>
            <p:ph idx="1"/>
          </p:nvPr>
        </p:nvSpPr>
        <p:spPr>
          <a:xfrm>
            <a:off x="581192" y="2011010"/>
            <a:ext cx="11029615" cy="1013801"/>
          </a:xfrm>
        </p:spPr>
        <p:txBody>
          <a:bodyPr/>
          <a:lstStyle/>
          <a:p>
            <a:r>
              <a:rPr lang="en-US" dirty="0"/>
              <a:t>Create a customer:</a:t>
            </a:r>
          </a:p>
        </p:txBody>
      </p:sp>
      <p:sp>
        <p:nvSpPr>
          <p:cNvPr id="5" name="TextBox 4">
            <a:extLst>
              <a:ext uri="{FF2B5EF4-FFF2-40B4-BE49-F238E27FC236}">
                <a16:creationId xmlns:a16="http://schemas.microsoft.com/office/drawing/2014/main" id="{2D6A7698-F0F8-6B32-0984-6EAEF3538E40}"/>
              </a:ext>
            </a:extLst>
          </p:cNvPr>
          <p:cNvSpPr txBox="1"/>
          <p:nvPr/>
        </p:nvSpPr>
        <p:spPr>
          <a:xfrm>
            <a:off x="785610" y="2785393"/>
            <a:ext cx="10380371" cy="2308324"/>
          </a:xfrm>
          <a:prstGeom prst="rect">
            <a:avLst/>
          </a:prstGeom>
          <a:noFill/>
        </p:spPr>
        <p:txBody>
          <a:bodyPr wrap="square">
            <a:spAutoFit/>
          </a:bodyPr>
          <a:lstStyle/>
          <a:p>
            <a:pPr>
              <a:buClr>
                <a:schemeClr val="accent2"/>
              </a:buClr>
              <a:buSzPct val="92000"/>
            </a:pPr>
            <a:r>
              <a:rPr lang="en-US" dirty="0"/>
              <a:t>POST </a:t>
            </a:r>
            <a:r>
              <a:rPr lang="en-US" dirty="0">
                <a:hlinkClick r:id="rId2"/>
              </a:rPr>
              <a:t>http://localhost:8080/graphql</a:t>
            </a:r>
            <a:endParaRPr lang="en-US" dirty="0"/>
          </a:p>
          <a:p>
            <a:pPr indent="0" algn="l">
              <a:buNone/>
            </a:pPr>
            <a:endParaRPr lang="en-US" sz="1800" b="0" i="0" dirty="0">
              <a:solidFill>
                <a:schemeClr val="tx1"/>
              </a:solidFill>
              <a:effectLst/>
              <a:latin typeface="+mn-lt"/>
            </a:endParaRPr>
          </a:p>
          <a:p>
            <a:pPr indent="0" algn="l">
              <a:buNone/>
            </a:pPr>
            <a:r>
              <a:rPr lang="en-US" dirty="0"/>
              <a:t>JSON body:</a:t>
            </a:r>
            <a:endParaRPr lang="en-US" sz="1800" b="0" i="0" dirty="0">
              <a:solidFill>
                <a:schemeClr val="tx1"/>
              </a:solidFill>
              <a:effectLst/>
              <a:latin typeface="+mn-lt"/>
            </a:endParaRPr>
          </a:p>
          <a:p>
            <a:r>
              <a:rPr lang="en-US" dirty="0"/>
              <a:t>{</a:t>
            </a:r>
          </a:p>
          <a:p>
            <a:r>
              <a:rPr lang="en-US" dirty="0"/>
              <a:t>  "query": "mutation { </a:t>
            </a:r>
            <a:r>
              <a:rPr lang="en-US" dirty="0" err="1"/>
              <a:t>createCustomer</a:t>
            </a:r>
            <a:r>
              <a:rPr lang="en-US" dirty="0"/>
              <a:t>(name: \"Charlie\", email: \"charlie@example.com\") { id name email } }"</a:t>
            </a:r>
          </a:p>
          <a:p>
            <a:r>
              <a:rPr lang="en-US" dirty="0"/>
              <a:t>}</a:t>
            </a:r>
          </a:p>
          <a:p>
            <a:pPr>
              <a:buNone/>
            </a:pPr>
            <a:br>
              <a:rPr lang="en-US" dirty="0"/>
            </a:br>
            <a:endParaRPr lang="en-US" dirty="0"/>
          </a:p>
        </p:txBody>
      </p:sp>
      <p:sp>
        <p:nvSpPr>
          <p:cNvPr id="7" name="TextBox 6">
            <a:extLst>
              <a:ext uri="{FF2B5EF4-FFF2-40B4-BE49-F238E27FC236}">
                <a16:creationId xmlns:a16="http://schemas.microsoft.com/office/drawing/2014/main" id="{75774594-2A86-B2A2-C264-6A0DFC1C0988}"/>
              </a:ext>
            </a:extLst>
          </p:cNvPr>
          <p:cNvSpPr txBox="1"/>
          <p:nvPr/>
        </p:nvSpPr>
        <p:spPr>
          <a:xfrm>
            <a:off x="9284020" y="4944770"/>
            <a:ext cx="2086379" cy="923330"/>
          </a:xfrm>
          <a:prstGeom prst="rect">
            <a:avLst/>
          </a:prstGeom>
          <a:noFill/>
        </p:spPr>
        <p:txBody>
          <a:bodyPr wrap="square">
            <a:spAutoFit/>
          </a:bodyPr>
          <a:lstStyle/>
          <a:p>
            <a:pPr indent="0" algn="l">
              <a:buNone/>
            </a:pPr>
            <a:r>
              <a:rPr lang="en-US" sz="1800" b="0" i="0" dirty="0">
                <a:solidFill>
                  <a:schemeClr val="tx1"/>
                </a:solidFill>
                <a:effectLst/>
                <a:latin typeface="+mn-lt"/>
              </a:rPr>
              <a:t>Response:</a:t>
            </a:r>
          </a:p>
          <a:p>
            <a:pPr indent="0" algn="l">
              <a:buNone/>
            </a:pPr>
            <a:endParaRPr lang="en-US" dirty="0"/>
          </a:p>
          <a:p>
            <a:pPr indent="0" algn="l">
              <a:buNone/>
            </a:pPr>
            <a:r>
              <a:rPr lang="en-US" sz="1800" b="0" i="0" dirty="0">
                <a:solidFill>
                  <a:schemeClr val="tx1"/>
                </a:solidFill>
                <a:effectLst/>
                <a:latin typeface="+mn-lt"/>
              </a:rPr>
              <a:t>Id, name, </a:t>
            </a:r>
            <a:r>
              <a:rPr lang="en-US" dirty="0"/>
              <a:t>email</a:t>
            </a:r>
            <a:endParaRPr lang="en-US" sz="1800" b="0" i="0" dirty="0">
              <a:solidFill>
                <a:schemeClr val="tx1"/>
              </a:solidFill>
              <a:effectLst/>
              <a:latin typeface="+mn-lt"/>
            </a:endParaRPr>
          </a:p>
        </p:txBody>
      </p:sp>
      <p:cxnSp>
        <p:nvCxnSpPr>
          <p:cNvPr id="6" name="Straight Arrow Connector 5">
            <a:extLst>
              <a:ext uri="{FF2B5EF4-FFF2-40B4-BE49-F238E27FC236}">
                <a16:creationId xmlns:a16="http://schemas.microsoft.com/office/drawing/2014/main" id="{F004CE23-3114-3127-035C-1E2EF9F806BB}"/>
              </a:ext>
            </a:extLst>
          </p:cNvPr>
          <p:cNvCxnSpPr/>
          <p:nvPr/>
        </p:nvCxnSpPr>
        <p:spPr>
          <a:xfrm flipV="1">
            <a:off x="9852338" y="4237149"/>
            <a:ext cx="0" cy="592428"/>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32262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6E03E-28D9-991F-6B40-08FCAD1125D9}"/>
              </a:ext>
            </a:extLst>
          </p:cNvPr>
          <p:cNvSpPr>
            <a:spLocks noGrp="1"/>
          </p:cNvSpPr>
          <p:nvPr>
            <p:ph type="title"/>
          </p:nvPr>
        </p:nvSpPr>
        <p:spPr/>
        <p:txBody>
          <a:bodyPr/>
          <a:lstStyle/>
          <a:p>
            <a:r>
              <a:rPr lang="en-US" dirty="0" err="1"/>
              <a:t>GraphQL</a:t>
            </a:r>
            <a:r>
              <a:rPr lang="en-US" dirty="0"/>
              <a:t> config</a:t>
            </a:r>
          </a:p>
        </p:txBody>
      </p:sp>
      <p:sp>
        <p:nvSpPr>
          <p:cNvPr id="3" name="Content Placeholder 2">
            <a:extLst>
              <a:ext uri="{FF2B5EF4-FFF2-40B4-BE49-F238E27FC236}">
                <a16:creationId xmlns:a16="http://schemas.microsoft.com/office/drawing/2014/main" id="{4BC44EB4-9CDE-C11B-C216-25F6EBE89826}"/>
              </a:ext>
            </a:extLst>
          </p:cNvPr>
          <p:cNvSpPr>
            <a:spLocks noGrp="1"/>
          </p:cNvSpPr>
          <p:nvPr>
            <p:ph idx="1"/>
          </p:nvPr>
        </p:nvSpPr>
        <p:spPr>
          <a:xfrm>
            <a:off x="581192" y="2180497"/>
            <a:ext cx="11029615" cy="1013800"/>
          </a:xfrm>
        </p:spPr>
        <p:txBody>
          <a:bodyPr>
            <a:normAutofit fontScale="92500" lnSpcReduction="20000"/>
          </a:bodyPr>
          <a:lstStyle/>
          <a:p>
            <a:r>
              <a:rPr lang="en-US" dirty="0"/>
              <a:t>We can change settings in either of these files:</a:t>
            </a:r>
          </a:p>
          <a:p>
            <a:r>
              <a:rPr lang="en-US" dirty="0" err="1"/>
              <a:t>src</a:t>
            </a:r>
            <a:r>
              <a:rPr lang="en-US" dirty="0"/>
              <a:t>/main/resources/</a:t>
            </a:r>
            <a:r>
              <a:rPr lang="en-US" dirty="0" err="1"/>
              <a:t>application.yml</a:t>
            </a:r>
            <a:endParaRPr lang="en-US" dirty="0"/>
          </a:p>
          <a:p>
            <a:r>
              <a:rPr lang="en-US" dirty="0" err="1"/>
              <a:t>src</a:t>
            </a:r>
            <a:r>
              <a:rPr lang="en-US" dirty="0"/>
              <a:t>/main/resources/</a:t>
            </a:r>
            <a:r>
              <a:rPr lang="en-US" dirty="0" err="1"/>
              <a:t>application.properties</a:t>
            </a:r>
            <a:endParaRPr lang="en-US" dirty="0"/>
          </a:p>
        </p:txBody>
      </p:sp>
      <p:sp>
        <p:nvSpPr>
          <p:cNvPr id="5" name="TextBox 4">
            <a:extLst>
              <a:ext uri="{FF2B5EF4-FFF2-40B4-BE49-F238E27FC236}">
                <a16:creationId xmlns:a16="http://schemas.microsoft.com/office/drawing/2014/main" id="{2EB22D85-6F79-67C3-057A-79521B0B6E3B}"/>
              </a:ext>
            </a:extLst>
          </p:cNvPr>
          <p:cNvSpPr txBox="1"/>
          <p:nvPr/>
        </p:nvSpPr>
        <p:spPr>
          <a:xfrm>
            <a:off x="705118" y="3523481"/>
            <a:ext cx="6098146" cy="2462213"/>
          </a:xfrm>
          <a:prstGeom prst="rect">
            <a:avLst/>
          </a:prstGeom>
          <a:noFill/>
        </p:spPr>
        <p:txBody>
          <a:bodyPr wrap="square">
            <a:spAutoFit/>
          </a:bodyPr>
          <a:lstStyle/>
          <a:p>
            <a:pPr marL="0" marR="0" indent="0" algn="l">
              <a:spcBef>
                <a:spcPts val="1200"/>
              </a:spcBef>
              <a:buNone/>
            </a:pPr>
            <a:r>
              <a:rPr lang="en-US" sz="1800" b="0" i="0" dirty="0">
                <a:solidFill>
                  <a:schemeClr val="tx1"/>
                </a:solidFill>
                <a:effectLst/>
                <a:latin typeface="+mn-lt"/>
              </a:rPr>
              <a:t>For example, in </a:t>
            </a:r>
            <a:r>
              <a:rPr lang="en-US" sz="1800" b="0" i="0" dirty="0" err="1">
                <a:solidFill>
                  <a:schemeClr val="tx1"/>
                </a:solidFill>
                <a:effectLst/>
                <a:latin typeface="+mn-lt"/>
              </a:rPr>
              <a:t>src</a:t>
            </a:r>
            <a:r>
              <a:rPr lang="en-US" sz="1800" b="0" i="0" dirty="0">
                <a:solidFill>
                  <a:schemeClr val="tx1"/>
                </a:solidFill>
                <a:effectLst/>
                <a:latin typeface="+mn-lt"/>
              </a:rPr>
              <a:t>/main/resources/</a:t>
            </a:r>
            <a:r>
              <a:rPr lang="en-US" sz="1800" b="0" i="0" dirty="0" err="1">
                <a:solidFill>
                  <a:schemeClr val="tx1"/>
                </a:solidFill>
                <a:effectLst/>
                <a:latin typeface="+mn-lt"/>
              </a:rPr>
              <a:t>application.yml</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spring:</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graphql</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path: /</a:t>
            </a:r>
            <a:r>
              <a:rPr lang="en-US" sz="1800" b="0" i="0" dirty="0" err="1">
                <a:solidFill>
                  <a:schemeClr val="tx1"/>
                </a:solidFill>
                <a:effectLst/>
                <a:latin typeface="+mn-lt"/>
              </a:rPr>
              <a:t>api</a:t>
            </a:r>
            <a:r>
              <a:rPr lang="en-US" sz="1800" b="0" i="0" dirty="0">
                <a:solidFill>
                  <a:schemeClr val="tx1"/>
                </a:solidFill>
                <a:effectLst/>
                <a:latin typeface="+mn-lt"/>
              </a:rPr>
              <a:t>/</a:t>
            </a:r>
            <a:r>
              <a:rPr lang="en-US" sz="1800" b="0" i="0" dirty="0" err="1">
                <a:solidFill>
                  <a:schemeClr val="tx1"/>
                </a:solidFill>
                <a:effectLst/>
                <a:latin typeface="+mn-lt"/>
              </a:rPr>
              <a:t>graphql</a:t>
            </a:r>
            <a:endParaRPr lang="en-US" sz="1800" b="0" i="0" dirty="0">
              <a:solidFill>
                <a:schemeClr val="tx1"/>
              </a:solidFill>
              <a:effectLst/>
              <a:latin typeface="+mn-lt"/>
            </a:endParaRPr>
          </a:p>
          <a:p>
            <a:pPr marL="0" marR="0" indent="0" algn="l">
              <a:spcBef>
                <a:spcPts val="1200"/>
              </a:spcBef>
              <a:buNone/>
            </a:pPr>
            <a:r>
              <a:rPr lang="en-US" sz="1800" b="0" i="0" dirty="0">
                <a:solidFill>
                  <a:schemeClr val="tx1"/>
                </a:solidFill>
                <a:effectLst/>
                <a:latin typeface="+mn-lt"/>
              </a:rPr>
              <a:t>Your endpoint is now:</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http://localhost:8080/api/graphql</a:t>
            </a:r>
            <a:endParaRPr lang="en-US" sz="1200" b="0" i="0" dirty="0">
              <a:solidFill>
                <a:srgbClr val="FFFFFF"/>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1C61EC31-5D85-54B3-7955-1586F1001BCC}"/>
              </a:ext>
            </a:extLst>
          </p:cNvPr>
          <p:cNvSpPr txBox="1"/>
          <p:nvPr/>
        </p:nvSpPr>
        <p:spPr>
          <a:xfrm>
            <a:off x="6095999" y="3429000"/>
            <a:ext cx="6098146" cy="923330"/>
          </a:xfrm>
          <a:prstGeom prst="rect">
            <a:avLst/>
          </a:prstGeom>
          <a:noFill/>
        </p:spPr>
        <p:txBody>
          <a:bodyPr wrap="square">
            <a:spAutoFit/>
          </a:bodyPr>
          <a:lstStyle/>
          <a:p>
            <a:pPr marL="0" marR="0" indent="0" algn="l">
              <a:spcBef>
                <a:spcPts val="1200"/>
              </a:spcBef>
              <a:buNone/>
            </a:pPr>
            <a:r>
              <a:rPr lang="en-US" sz="1800" b="0" i="0" dirty="0">
                <a:solidFill>
                  <a:schemeClr val="tx1"/>
                </a:solidFill>
                <a:effectLst/>
                <a:latin typeface="+mn-lt"/>
              </a:rPr>
              <a:t>The equivalent </a:t>
            </a:r>
            <a:r>
              <a:rPr lang="en-US" sz="1800" b="0" i="0" dirty="0" err="1">
                <a:solidFill>
                  <a:schemeClr val="tx1"/>
                </a:solidFill>
                <a:effectLst/>
                <a:latin typeface="+mn-lt"/>
              </a:rPr>
              <a:t>application.properties</a:t>
            </a:r>
            <a:r>
              <a:rPr lang="en-US" sz="1800" b="0" i="0" dirty="0">
                <a:solidFill>
                  <a:schemeClr val="tx1"/>
                </a:solidFill>
                <a:effectLst/>
                <a:latin typeface="+mn-lt"/>
              </a:rPr>
              <a:t> configuration is:</a:t>
            </a:r>
          </a:p>
          <a:p>
            <a:pPr indent="0" algn="l">
              <a:buNone/>
            </a:pPr>
            <a:endParaRPr lang="en-US" sz="1800" b="0" i="0" dirty="0">
              <a:solidFill>
                <a:schemeClr val="tx1"/>
              </a:solidFill>
              <a:effectLst/>
              <a:latin typeface="+mn-lt"/>
            </a:endParaRPr>
          </a:p>
          <a:p>
            <a:pPr indent="0" algn="l">
              <a:buNone/>
            </a:pPr>
            <a:r>
              <a:rPr lang="en-US" sz="1800" b="0" i="0" dirty="0" err="1">
                <a:solidFill>
                  <a:schemeClr val="tx1"/>
                </a:solidFill>
                <a:effectLst/>
                <a:latin typeface="+mn-lt"/>
              </a:rPr>
              <a:t>spring.graphql.path</a:t>
            </a:r>
            <a:r>
              <a:rPr lang="en-US" sz="1800" b="0" i="0" dirty="0">
                <a:solidFill>
                  <a:schemeClr val="tx1"/>
                </a:solidFill>
                <a:effectLst/>
                <a:latin typeface="+mn-lt"/>
              </a:rPr>
              <a:t>=/</a:t>
            </a:r>
            <a:r>
              <a:rPr lang="en-US" sz="1800" b="0" i="0" dirty="0" err="1">
                <a:solidFill>
                  <a:schemeClr val="tx1"/>
                </a:solidFill>
                <a:effectLst/>
                <a:latin typeface="+mn-lt"/>
              </a:rPr>
              <a:t>api</a:t>
            </a:r>
            <a:r>
              <a:rPr lang="en-US" sz="1800" b="0" i="0" dirty="0">
                <a:solidFill>
                  <a:schemeClr val="tx1"/>
                </a:solidFill>
                <a:effectLst/>
                <a:latin typeface="+mn-lt"/>
              </a:rPr>
              <a:t>/</a:t>
            </a:r>
            <a:r>
              <a:rPr lang="en-US" sz="1800" b="0" i="0" dirty="0" err="1">
                <a:solidFill>
                  <a:schemeClr val="tx1"/>
                </a:solidFill>
                <a:effectLst/>
                <a:latin typeface="+mn-lt"/>
              </a:rPr>
              <a:t>graphql</a:t>
            </a:r>
            <a:endParaRPr lang="en-US" sz="1200" b="0" i="0" dirty="0">
              <a:solidFill>
                <a:srgbClr val="FFFFFF"/>
              </a:solidFill>
              <a:effectLst/>
              <a:latin typeface="Courier New" panose="02070309020205020404" pitchFamily="49" charset="0"/>
            </a:endParaRPr>
          </a:p>
        </p:txBody>
      </p:sp>
      <p:sp>
        <p:nvSpPr>
          <p:cNvPr id="9" name="TextBox 8">
            <a:extLst>
              <a:ext uri="{FF2B5EF4-FFF2-40B4-BE49-F238E27FC236}">
                <a16:creationId xmlns:a16="http://schemas.microsoft.com/office/drawing/2014/main" id="{B779B0F8-834C-314B-DDC9-FFC6897EDF28}"/>
              </a:ext>
            </a:extLst>
          </p:cNvPr>
          <p:cNvSpPr txBox="1"/>
          <p:nvPr/>
        </p:nvSpPr>
        <p:spPr>
          <a:xfrm>
            <a:off x="5954331" y="4907341"/>
            <a:ext cx="6098146" cy="1754326"/>
          </a:xfrm>
          <a:prstGeom prst="rect">
            <a:avLst/>
          </a:prstGeom>
          <a:noFill/>
        </p:spPr>
        <p:txBody>
          <a:bodyPr wrap="square">
            <a:spAutoFit/>
          </a:bodyPr>
          <a:lstStyle/>
          <a:p>
            <a:pPr indent="0" algn="l">
              <a:buNone/>
            </a:pPr>
            <a:r>
              <a:rPr lang="en-US" sz="1800" b="0" i="0" dirty="0">
                <a:solidFill>
                  <a:schemeClr val="tx1"/>
                </a:solidFill>
                <a:effectLst/>
                <a:latin typeface="+mn-lt"/>
              </a:rPr>
              <a:t>BONUS (enabling CORS):</a:t>
            </a:r>
          </a:p>
          <a:p>
            <a:pPr indent="0" algn="l">
              <a:buNone/>
            </a:pPr>
            <a:r>
              <a:rPr lang="en-US" sz="1800" b="0" i="0" dirty="0">
                <a:solidFill>
                  <a:schemeClr val="tx1"/>
                </a:solidFill>
                <a:effectLst/>
                <a:latin typeface="+mn-lt"/>
              </a:rPr>
              <a:t>spring:</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graphql</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cors</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allowed-origins: "http://localhost:3000"</a:t>
            </a:r>
          </a:p>
          <a:p>
            <a:pPr indent="0" algn="l">
              <a:buNone/>
            </a:pPr>
            <a:r>
              <a:rPr lang="en-US" sz="1800" b="0" i="0" dirty="0">
                <a:solidFill>
                  <a:schemeClr val="tx1"/>
                </a:solidFill>
                <a:effectLst/>
                <a:latin typeface="+mn-lt"/>
              </a:rPr>
              <a:t>      allowed-methods: GET, POST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307453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44565"/>
            <a:ext cx="5317584" cy="1681246"/>
          </a:xfrm>
        </p:spPr>
        <p:txBody>
          <a:bodyPr/>
          <a:lstStyle/>
          <a:p>
            <a:r>
              <a:rPr lang="en-US" dirty="0"/>
              <a:t>Implement Swagger &amp; </a:t>
            </a:r>
            <a:r>
              <a:rPr lang="en-US" dirty="0" err="1"/>
              <a:t>GraphQL</a:t>
            </a:r>
            <a:endParaRPr lang="en-US" dirty="0"/>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642641" y="2940828"/>
            <a:ext cx="4661642" cy="236996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Setup Swagger for a single REST endpoint, include proper annotations so Swagger can include them in documentation </a:t>
            </a:r>
          </a:p>
          <a:p>
            <a:r>
              <a:rPr lang="en-US" dirty="0"/>
              <a:t>Setup </a:t>
            </a:r>
            <a:r>
              <a:rPr lang="en-US" dirty="0" err="1"/>
              <a:t>GraphQL</a:t>
            </a:r>
            <a:r>
              <a:rPr lang="en-US" dirty="0"/>
              <a:t> and create a single query + mutation</a:t>
            </a:r>
          </a:p>
          <a:p>
            <a:r>
              <a:rPr lang="en-US" dirty="0"/>
              <a:t>Recommended to do this on a copy of our starter projects</a:t>
            </a:r>
          </a:p>
        </p:txBody>
      </p:sp>
    </p:spTree>
    <p:extLst>
      <p:ext uri="{BB962C8B-B14F-4D97-AF65-F5344CB8AC3E}">
        <p14:creationId xmlns:p14="http://schemas.microsoft.com/office/powerpoint/2010/main" val="3587871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DFA-7B3A-29D4-63D7-E10B1A433C3C}"/>
              </a:ext>
            </a:extLst>
          </p:cNvPr>
          <p:cNvSpPr>
            <a:spLocks noGrp="1"/>
          </p:cNvSpPr>
          <p:nvPr>
            <p:ph type="title"/>
          </p:nvPr>
        </p:nvSpPr>
        <p:spPr/>
        <p:txBody>
          <a:bodyPr/>
          <a:lstStyle/>
          <a:p>
            <a:r>
              <a:rPr lang="en-US" dirty="0"/>
              <a:t>Spring security </a:t>
            </a:r>
          </a:p>
        </p:txBody>
      </p:sp>
      <p:sp>
        <p:nvSpPr>
          <p:cNvPr id="3" name="Content Placeholder 2">
            <a:extLst>
              <a:ext uri="{FF2B5EF4-FFF2-40B4-BE49-F238E27FC236}">
                <a16:creationId xmlns:a16="http://schemas.microsoft.com/office/drawing/2014/main" id="{71796057-E4AC-DAB3-273A-CF5C7AFB73F2}"/>
              </a:ext>
            </a:extLst>
          </p:cNvPr>
          <p:cNvSpPr>
            <a:spLocks noGrp="1"/>
          </p:cNvSpPr>
          <p:nvPr>
            <p:ph idx="1"/>
          </p:nvPr>
        </p:nvSpPr>
        <p:spPr>
          <a:xfrm>
            <a:off x="581193" y="2180496"/>
            <a:ext cx="5033224" cy="3678303"/>
          </a:xfrm>
        </p:spPr>
        <p:txBody>
          <a:bodyPr/>
          <a:lstStyle/>
          <a:p>
            <a:r>
              <a:rPr lang="en-US" dirty="0"/>
              <a:t>Implemented using servlet filters in the background</a:t>
            </a:r>
          </a:p>
          <a:p>
            <a:pPr lvl="1"/>
            <a:r>
              <a:rPr lang="en-US" dirty="0"/>
              <a:t>They are used to pre-process / post-process web request</a:t>
            </a:r>
          </a:p>
          <a:p>
            <a:pPr lvl="1"/>
            <a:r>
              <a:rPr lang="en-US" dirty="0"/>
              <a:t>They can route web requests based on security logic</a:t>
            </a:r>
          </a:p>
          <a:p>
            <a:pPr lvl="1"/>
            <a:r>
              <a:rPr lang="en-US" dirty="0"/>
              <a:t>Spring provides a bulk of security functionality with servlet filters</a:t>
            </a:r>
          </a:p>
          <a:p>
            <a:r>
              <a:rPr lang="en-US" dirty="0"/>
              <a:t>Two ways to secure an app: declarative &amp; programmatic</a:t>
            </a:r>
          </a:p>
        </p:txBody>
      </p:sp>
      <p:pic>
        <p:nvPicPr>
          <p:cNvPr id="5" name="Picture 4">
            <a:extLst>
              <a:ext uri="{FF2B5EF4-FFF2-40B4-BE49-F238E27FC236}">
                <a16:creationId xmlns:a16="http://schemas.microsoft.com/office/drawing/2014/main" id="{BE514E12-BB74-B105-DC32-C827FB91F16D}"/>
              </a:ext>
            </a:extLst>
          </p:cNvPr>
          <p:cNvPicPr>
            <a:picLocks noChangeAspect="1"/>
          </p:cNvPicPr>
          <p:nvPr/>
        </p:nvPicPr>
        <p:blipFill>
          <a:blip r:embed="rId2"/>
          <a:stretch>
            <a:fillRect/>
          </a:stretch>
        </p:blipFill>
        <p:spPr>
          <a:xfrm>
            <a:off x="5850127" y="2903688"/>
            <a:ext cx="5604593" cy="2231917"/>
          </a:xfrm>
          <a:prstGeom prst="rect">
            <a:avLst/>
          </a:prstGeom>
        </p:spPr>
      </p:pic>
    </p:spTree>
    <p:extLst>
      <p:ext uri="{BB962C8B-B14F-4D97-AF65-F5344CB8AC3E}">
        <p14:creationId xmlns:p14="http://schemas.microsoft.com/office/powerpoint/2010/main" val="200011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94998-D7E6-F563-7D97-F3E170AD4006}"/>
              </a:ext>
            </a:extLst>
          </p:cNvPr>
          <p:cNvSpPr>
            <a:spLocks noGrp="1"/>
          </p:cNvSpPr>
          <p:nvPr>
            <p:ph type="title"/>
          </p:nvPr>
        </p:nvSpPr>
        <p:spPr/>
        <p:txBody>
          <a:bodyPr/>
          <a:lstStyle/>
          <a:p>
            <a:r>
              <a:rPr lang="en-US" dirty="0"/>
              <a:t>Authentication vs authorization</a:t>
            </a:r>
          </a:p>
        </p:txBody>
      </p:sp>
      <p:pic>
        <p:nvPicPr>
          <p:cNvPr id="5" name="Picture 4">
            <a:extLst>
              <a:ext uri="{FF2B5EF4-FFF2-40B4-BE49-F238E27FC236}">
                <a16:creationId xmlns:a16="http://schemas.microsoft.com/office/drawing/2014/main" id="{D0C5AB7E-9ADC-ECA6-16B4-8EC8FB6AC6C9}"/>
              </a:ext>
            </a:extLst>
          </p:cNvPr>
          <p:cNvPicPr>
            <a:picLocks noChangeAspect="1"/>
          </p:cNvPicPr>
          <p:nvPr/>
        </p:nvPicPr>
        <p:blipFill>
          <a:blip r:embed="rId2"/>
          <a:stretch>
            <a:fillRect/>
          </a:stretch>
        </p:blipFill>
        <p:spPr>
          <a:xfrm>
            <a:off x="4042087" y="2439543"/>
            <a:ext cx="7568721" cy="3634187"/>
          </a:xfrm>
          <a:prstGeom prst="rect">
            <a:avLst/>
          </a:prstGeom>
        </p:spPr>
      </p:pic>
      <p:sp>
        <p:nvSpPr>
          <p:cNvPr id="6" name="TextBox 5">
            <a:extLst>
              <a:ext uri="{FF2B5EF4-FFF2-40B4-BE49-F238E27FC236}">
                <a16:creationId xmlns:a16="http://schemas.microsoft.com/office/drawing/2014/main" id="{51C9D55B-BB79-4FB6-FE4F-66E92B361C17}"/>
              </a:ext>
            </a:extLst>
          </p:cNvPr>
          <p:cNvSpPr txBox="1"/>
          <p:nvPr/>
        </p:nvSpPr>
        <p:spPr>
          <a:xfrm>
            <a:off x="233917" y="3301409"/>
            <a:ext cx="3664658" cy="1477328"/>
          </a:xfrm>
          <a:prstGeom prst="rect">
            <a:avLst/>
          </a:prstGeom>
          <a:noFill/>
        </p:spPr>
        <p:txBody>
          <a:bodyPr wrap="none" rtlCol="0">
            <a:spAutoFit/>
          </a:bodyPr>
          <a:lstStyle/>
          <a:p>
            <a:r>
              <a:rPr lang="en-US" dirty="0"/>
              <a:t>Authentication: Who are you?</a:t>
            </a:r>
          </a:p>
          <a:p>
            <a:endParaRPr lang="en-US" dirty="0"/>
          </a:p>
          <a:p>
            <a:r>
              <a:rPr lang="en-US" dirty="0"/>
              <a:t>Authorization: What can you do? </a:t>
            </a:r>
          </a:p>
          <a:p>
            <a:pPr marL="285750" indent="-285750">
              <a:buFontTx/>
              <a:buChar char="-"/>
            </a:pPr>
            <a:r>
              <a:rPr lang="en-US" dirty="0"/>
              <a:t>Usually defined by roles</a:t>
            </a:r>
          </a:p>
          <a:p>
            <a:pPr marL="285750" indent="-285750">
              <a:buFontTx/>
              <a:buChar char="-"/>
            </a:pPr>
            <a:r>
              <a:rPr lang="en-US" dirty="0"/>
              <a:t>RBAC – role-based access control</a:t>
            </a:r>
          </a:p>
        </p:txBody>
      </p:sp>
    </p:spTree>
    <p:extLst>
      <p:ext uri="{BB962C8B-B14F-4D97-AF65-F5344CB8AC3E}">
        <p14:creationId xmlns:p14="http://schemas.microsoft.com/office/powerpoint/2010/main" val="93062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6E67-3805-D7D1-44FF-9438779903D9}"/>
              </a:ext>
            </a:extLst>
          </p:cNvPr>
          <p:cNvSpPr>
            <a:spLocks noGrp="1"/>
          </p:cNvSpPr>
          <p:nvPr>
            <p:ph type="title"/>
          </p:nvPr>
        </p:nvSpPr>
        <p:spPr/>
        <p:txBody>
          <a:bodyPr/>
          <a:lstStyle/>
          <a:p>
            <a:r>
              <a:rPr lang="en-US" dirty="0"/>
              <a:t>Declarative vs programmatic spring security</a:t>
            </a:r>
          </a:p>
        </p:txBody>
      </p:sp>
      <p:sp>
        <p:nvSpPr>
          <p:cNvPr id="3" name="Content Placeholder 2">
            <a:extLst>
              <a:ext uri="{FF2B5EF4-FFF2-40B4-BE49-F238E27FC236}">
                <a16:creationId xmlns:a16="http://schemas.microsoft.com/office/drawing/2014/main" id="{1B3DE7F2-335D-C813-509D-6246C5A1F5E1}"/>
              </a:ext>
            </a:extLst>
          </p:cNvPr>
          <p:cNvSpPr>
            <a:spLocks noGrp="1"/>
          </p:cNvSpPr>
          <p:nvPr>
            <p:ph idx="1"/>
          </p:nvPr>
        </p:nvSpPr>
        <p:spPr/>
        <p:txBody>
          <a:bodyPr/>
          <a:lstStyle/>
          <a:p>
            <a:r>
              <a:rPr lang="en-US" dirty="0"/>
              <a:t>Declarative </a:t>
            </a:r>
          </a:p>
          <a:p>
            <a:pPr lvl="1"/>
            <a:r>
              <a:rPr lang="en-US" dirty="0"/>
              <a:t>Built-in interfaces &amp; concretions for </a:t>
            </a:r>
            <a:r>
              <a:rPr lang="en-US" dirty="0" err="1"/>
              <a:t>UserDetailsManager</a:t>
            </a:r>
            <a:r>
              <a:rPr lang="en-US" dirty="0"/>
              <a:t>, </a:t>
            </a:r>
            <a:r>
              <a:rPr lang="en-US" dirty="0" err="1"/>
              <a:t>UserDetailsService</a:t>
            </a:r>
            <a:r>
              <a:rPr lang="en-US" dirty="0"/>
              <a:t>, </a:t>
            </a:r>
            <a:r>
              <a:rPr lang="en-US" dirty="0" err="1"/>
              <a:t>DaoAuthenticationProvider</a:t>
            </a:r>
            <a:r>
              <a:rPr lang="en-US" dirty="0"/>
              <a:t>, etc.</a:t>
            </a:r>
          </a:p>
          <a:p>
            <a:pPr lvl="1"/>
            <a:r>
              <a:rPr lang="en-US" dirty="0"/>
              <a:t>Less customizable, but there are built-in user tables, roles, etc. </a:t>
            </a:r>
          </a:p>
          <a:p>
            <a:r>
              <a:rPr lang="en-US" dirty="0"/>
              <a:t>Programmatic</a:t>
            </a:r>
          </a:p>
          <a:p>
            <a:pPr lvl="1"/>
            <a:r>
              <a:rPr lang="en-US" dirty="0"/>
              <a:t>Spring Security provides an API for custom app code</a:t>
            </a:r>
          </a:p>
          <a:p>
            <a:pPr lvl="1"/>
            <a:r>
              <a:rPr lang="en-US" dirty="0"/>
              <a:t>Provides great customization for specific app requirements</a:t>
            </a:r>
          </a:p>
          <a:p>
            <a:pPr lvl="1"/>
            <a:r>
              <a:rPr lang="en-US" dirty="0"/>
              <a:t>We just need to implement some of the interfaces listed above </a:t>
            </a:r>
          </a:p>
          <a:p>
            <a:pPr lvl="1"/>
            <a:r>
              <a:rPr lang="en-US" dirty="0"/>
              <a:t>This way we can make custom tables for users &amp; roles, as well as more customizations available  </a:t>
            </a:r>
          </a:p>
        </p:txBody>
      </p:sp>
    </p:spTree>
    <p:extLst>
      <p:ext uri="{BB962C8B-B14F-4D97-AF65-F5344CB8AC3E}">
        <p14:creationId xmlns:p14="http://schemas.microsoft.com/office/powerpoint/2010/main" val="86058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B1751-88DF-CA3F-E8C1-80708349136A}"/>
              </a:ext>
            </a:extLst>
          </p:cNvPr>
          <p:cNvSpPr>
            <a:spLocks noGrp="1"/>
          </p:cNvSpPr>
          <p:nvPr>
            <p:ph type="title"/>
          </p:nvPr>
        </p:nvSpPr>
        <p:spPr/>
        <p:txBody>
          <a:bodyPr/>
          <a:lstStyle/>
          <a:p>
            <a:r>
              <a:rPr lang="en-US" dirty="0"/>
              <a:t>Enabling Spring Security </a:t>
            </a:r>
          </a:p>
        </p:txBody>
      </p:sp>
      <p:sp>
        <p:nvSpPr>
          <p:cNvPr id="3" name="Content Placeholder 2">
            <a:extLst>
              <a:ext uri="{FF2B5EF4-FFF2-40B4-BE49-F238E27FC236}">
                <a16:creationId xmlns:a16="http://schemas.microsoft.com/office/drawing/2014/main" id="{B9D7ECFF-2727-5D73-9997-40F4D3DA31F7}"/>
              </a:ext>
            </a:extLst>
          </p:cNvPr>
          <p:cNvSpPr>
            <a:spLocks noGrp="1"/>
          </p:cNvSpPr>
          <p:nvPr>
            <p:ph idx="1"/>
          </p:nvPr>
        </p:nvSpPr>
        <p:spPr>
          <a:xfrm>
            <a:off x="581192" y="2180496"/>
            <a:ext cx="4612599" cy="4413559"/>
          </a:xfrm>
        </p:spPr>
        <p:txBody>
          <a:bodyPr/>
          <a:lstStyle/>
          <a:p>
            <a:r>
              <a:rPr lang="en-US" dirty="0"/>
              <a:t>Edit the pom.xml and add ‘spring-boot-starter-security’ </a:t>
            </a:r>
          </a:p>
          <a:p>
            <a:r>
              <a:rPr lang="en-US" dirty="0"/>
              <a:t>This will automatically secure all endpoints </a:t>
            </a:r>
          </a:p>
          <a:p>
            <a:r>
              <a:rPr lang="en-US" dirty="0"/>
              <a:t>Out-of-the-box, Spring Security will redirect and prompt for a username and password (that is generated in the logs)</a:t>
            </a:r>
          </a:p>
          <a:p>
            <a:r>
              <a:rPr lang="en-US" dirty="0"/>
              <a:t>We can override the default username/password in our </a:t>
            </a:r>
            <a:r>
              <a:rPr lang="en-US" dirty="0" err="1"/>
              <a:t>application.properties</a:t>
            </a:r>
            <a:r>
              <a:rPr lang="en-US" dirty="0"/>
              <a:t> file</a:t>
            </a:r>
          </a:p>
        </p:txBody>
      </p:sp>
      <p:pic>
        <p:nvPicPr>
          <p:cNvPr id="5" name="Picture 4">
            <a:extLst>
              <a:ext uri="{FF2B5EF4-FFF2-40B4-BE49-F238E27FC236}">
                <a16:creationId xmlns:a16="http://schemas.microsoft.com/office/drawing/2014/main" id="{B3A088C5-6DFA-2AF5-A150-ADBDD94064F6}"/>
              </a:ext>
            </a:extLst>
          </p:cNvPr>
          <p:cNvPicPr>
            <a:picLocks noChangeAspect="1"/>
          </p:cNvPicPr>
          <p:nvPr/>
        </p:nvPicPr>
        <p:blipFill>
          <a:blip r:embed="rId2"/>
          <a:stretch>
            <a:fillRect/>
          </a:stretch>
        </p:blipFill>
        <p:spPr>
          <a:xfrm>
            <a:off x="5442264" y="3631971"/>
            <a:ext cx="5820223" cy="1739988"/>
          </a:xfrm>
          <a:prstGeom prst="rect">
            <a:avLst/>
          </a:prstGeom>
        </p:spPr>
      </p:pic>
      <p:pic>
        <p:nvPicPr>
          <p:cNvPr id="7" name="Picture 6">
            <a:extLst>
              <a:ext uri="{FF2B5EF4-FFF2-40B4-BE49-F238E27FC236}">
                <a16:creationId xmlns:a16="http://schemas.microsoft.com/office/drawing/2014/main" id="{115017FA-A867-34E7-516F-67A987DEB85B}"/>
              </a:ext>
            </a:extLst>
          </p:cNvPr>
          <p:cNvPicPr>
            <a:picLocks noChangeAspect="1"/>
          </p:cNvPicPr>
          <p:nvPr/>
        </p:nvPicPr>
        <p:blipFill>
          <a:blip r:embed="rId3"/>
          <a:stretch>
            <a:fillRect/>
          </a:stretch>
        </p:blipFill>
        <p:spPr>
          <a:xfrm>
            <a:off x="6232766" y="5717633"/>
            <a:ext cx="4239217" cy="876422"/>
          </a:xfrm>
          <a:prstGeom prst="rect">
            <a:avLst/>
          </a:prstGeom>
        </p:spPr>
      </p:pic>
    </p:spTree>
    <p:extLst>
      <p:ext uri="{BB962C8B-B14F-4D97-AF65-F5344CB8AC3E}">
        <p14:creationId xmlns:p14="http://schemas.microsoft.com/office/powerpoint/2010/main" val="4271603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85877-FE3B-8167-76BF-8B9E17F8DFCC}"/>
              </a:ext>
            </a:extLst>
          </p:cNvPr>
          <p:cNvSpPr>
            <a:spLocks noGrp="1"/>
          </p:cNvSpPr>
          <p:nvPr>
            <p:ph type="title"/>
          </p:nvPr>
        </p:nvSpPr>
        <p:spPr/>
        <p:txBody>
          <a:bodyPr/>
          <a:lstStyle/>
          <a:p>
            <a:r>
              <a:rPr lang="en-US" dirty="0"/>
              <a:t>Major Interfaces to be aware of</a:t>
            </a:r>
          </a:p>
        </p:txBody>
      </p:sp>
      <p:sp>
        <p:nvSpPr>
          <p:cNvPr id="3" name="Content Placeholder 2">
            <a:extLst>
              <a:ext uri="{FF2B5EF4-FFF2-40B4-BE49-F238E27FC236}">
                <a16:creationId xmlns:a16="http://schemas.microsoft.com/office/drawing/2014/main" id="{1B157A7E-AD00-A1E4-EBB3-BCBF6CA78C0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18808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FB6E-B0F8-809F-2EEA-8CE86F8F6D88}"/>
              </a:ext>
            </a:extLst>
          </p:cNvPr>
          <p:cNvSpPr>
            <a:spLocks noGrp="1"/>
          </p:cNvSpPr>
          <p:nvPr>
            <p:ph type="title"/>
          </p:nvPr>
        </p:nvSpPr>
        <p:spPr/>
        <p:txBody>
          <a:bodyPr/>
          <a:lstStyle/>
          <a:p>
            <a:r>
              <a:rPr lang="en-US" dirty="0"/>
              <a:t>CORS (Cross-Origin Resource Sharing)</a:t>
            </a:r>
          </a:p>
        </p:txBody>
      </p:sp>
      <p:sp>
        <p:nvSpPr>
          <p:cNvPr id="3" name="Content Placeholder 2">
            <a:extLst>
              <a:ext uri="{FF2B5EF4-FFF2-40B4-BE49-F238E27FC236}">
                <a16:creationId xmlns:a16="http://schemas.microsoft.com/office/drawing/2014/main" id="{3538D92D-4C68-3C2F-E113-561403414E1B}"/>
              </a:ext>
            </a:extLst>
          </p:cNvPr>
          <p:cNvSpPr>
            <a:spLocks noGrp="1"/>
          </p:cNvSpPr>
          <p:nvPr>
            <p:ph idx="1"/>
          </p:nvPr>
        </p:nvSpPr>
        <p:spPr>
          <a:xfrm>
            <a:off x="220161" y="2031639"/>
            <a:ext cx="5124664" cy="4132622"/>
          </a:xfrm>
        </p:spPr>
        <p:txBody>
          <a:bodyPr>
            <a:normAutofit/>
          </a:bodyPr>
          <a:lstStyle/>
          <a:p>
            <a:r>
              <a:rPr lang="en-US" sz="1400" b="1" dirty="0"/>
              <a:t>CORS is a browser security mechanism that controls whether a web page is allowed to access resources from a different origin.</a:t>
            </a:r>
            <a:r>
              <a:rPr lang="en-US" sz="1400" dirty="0"/>
              <a:t> It's one of the most common concepts you'll encounter when building frontend applications that communicate with APIs.</a:t>
            </a:r>
          </a:p>
          <a:p>
            <a:r>
              <a:rPr lang="en-US" sz="1400" dirty="0"/>
              <a:t>An </a:t>
            </a:r>
            <a:r>
              <a:rPr lang="en-US" sz="1400" b="1" dirty="0"/>
              <a:t>origin</a:t>
            </a:r>
            <a:r>
              <a:rPr lang="en-US" sz="1400" dirty="0"/>
              <a:t> is the combination of three things:</a:t>
            </a:r>
          </a:p>
          <a:p>
            <a:pPr lvl="1"/>
            <a:r>
              <a:rPr lang="en-US" sz="1200" b="1" dirty="0"/>
              <a:t>Protocol:</a:t>
            </a:r>
            <a:r>
              <a:rPr lang="en-US" sz="1200" dirty="0"/>
              <a:t> http or https</a:t>
            </a:r>
          </a:p>
          <a:p>
            <a:pPr lvl="1"/>
            <a:r>
              <a:rPr lang="en-US" sz="1200" b="1" dirty="0"/>
              <a:t>Hostname:</a:t>
            </a:r>
            <a:r>
              <a:rPr lang="en-US" sz="1200" dirty="0"/>
              <a:t> example.com, api.example.com, etc.</a:t>
            </a:r>
          </a:p>
          <a:p>
            <a:pPr lvl="1"/>
            <a:r>
              <a:rPr lang="en-US" sz="1200" b="1" dirty="0"/>
              <a:t>Port:</a:t>
            </a:r>
            <a:r>
              <a:rPr lang="en-US" sz="1200" dirty="0"/>
              <a:t> 3000, 8080, etc.</a:t>
            </a:r>
          </a:p>
          <a:p>
            <a:pPr lvl="1"/>
            <a:r>
              <a:rPr lang="en-US" sz="1200" dirty="0"/>
              <a:t>Two URLs have the same origin only if all three match.</a:t>
            </a:r>
          </a:p>
          <a:p>
            <a:endParaRPr lang="en-US" sz="1400" dirty="0"/>
          </a:p>
        </p:txBody>
      </p:sp>
      <p:sp>
        <p:nvSpPr>
          <p:cNvPr id="5" name="TextBox 4">
            <a:extLst>
              <a:ext uri="{FF2B5EF4-FFF2-40B4-BE49-F238E27FC236}">
                <a16:creationId xmlns:a16="http://schemas.microsoft.com/office/drawing/2014/main" id="{2938A352-FE31-2D74-E2DB-B3827BC1D43C}"/>
              </a:ext>
            </a:extLst>
          </p:cNvPr>
          <p:cNvSpPr txBox="1"/>
          <p:nvPr/>
        </p:nvSpPr>
        <p:spPr>
          <a:xfrm>
            <a:off x="5578779" y="1971253"/>
            <a:ext cx="6097044" cy="4616648"/>
          </a:xfrm>
          <a:prstGeom prst="rect">
            <a:avLst/>
          </a:prstGeom>
          <a:noFill/>
        </p:spPr>
        <p:txBody>
          <a:bodyPr wrap="square">
            <a:spAutoFit/>
          </a:bodyPr>
          <a:lstStyle/>
          <a:p>
            <a:pPr marL="0" marR="0" indent="0" algn="l">
              <a:spcBef>
                <a:spcPts val="600"/>
              </a:spcBef>
              <a:buNone/>
            </a:pPr>
            <a:r>
              <a:rPr lang="en-US" sz="1400" b="0" i="0" dirty="0">
                <a:solidFill>
                  <a:schemeClr val="tx1"/>
                </a:solidFill>
                <a:effectLst/>
                <a:latin typeface="+mn-lt"/>
              </a:rPr>
              <a:t>Browsers enforce the </a:t>
            </a:r>
            <a:r>
              <a:rPr lang="en-US" sz="1400" b="1" i="0" dirty="0">
                <a:solidFill>
                  <a:schemeClr val="tx1"/>
                </a:solidFill>
                <a:effectLst/>
                <a:latin typeface="+mn-lt"/>
              </a:rPr>
              <a:t>Same-Origin Policy (SOP)</a:t>
            </a:r>
            <a:r>
              <a:rPr lang="en-US" sz="1400" b="0" i="0" dirty="0">
                <a:solidFill>
                  <a:schemeClr val="tx1"/>
                </a:solidFill>
                <a:effectLst/>
                <a:latin typeface="+mn-lt"/>
              </a:rPr>
              <a:t>, which restricts how scripts running on one origin can interact with resources from another origin.</a:t>
            </a:r>
          </a:p>
          <a:p>
            <a:pPr marL="0" marR="0" indent="0" algn="l">
              <a:spcBef>
                <a:spcPts val="1200"/>
              </a:spcBef>
              <a:buNone/>
            </a:pPr>
            <a:r>
              <a:rPr lang="en-US" sz="1400" b="0" i="0" dirty="0">
                <a:solidFill>
                  <a:schemeClr val="tx1"/>
                </a:solidFill>
                <a:effectLst/>
                <a:latin typeface="+mn-lt"/>
              </a:rPr>
              <a:t>For example, imagine your frontend runs on:</a:t>
            </a:r>
          </a:p>
          <a:p>
            <a:pPr marL="0" marR="0" indent="0" algn="l">
              <a:spcBef>
                <a:spcPts val="1200"/>
              </a:spcBef>
              <a:buNone/>
            </a:pPr>
            <a:r>
              <a:rPr lang="en-US" sz="1400" b="0" i="0" dirty="0">
                <a:solidFill>
                  <a:schemeClr val="tx1"/>
                </a:solidFill>
                <a:effectLst/>
                <a:latin typeface="+mn-lt"/>
              </a:rPr>
              <a:t>http://localhost:3000</a:t>
            </a:r>
          </a:p>
          <a:p>
            <a:pPr marL="0" marR="0" indent="0" algn="l">
              <a:spcBef>
                <a:spcPts val="1200"/>
              </a:spcBef>
              <a:buNone/>
            </a:pPr>
            <a:r>
              <a:rPr lang="en-US" sz="1400" b="0" i="0" dirty="0">
                <a:solidFill>
                  <a:schemeClr val="tx1"/>
                </a:solidFill>
                <a:effectLst/>
                <a:latin typeface="+mn-lt"/>
              </a:rPr>
              <a:t>Your backend API runs on:</a:t>
            </a:r>
          </a:p>
          <a:p>
            <a:pPr marL="0" marR="0" indent="0" algn="l">
              <a:spcBef>
                <a:spcPts val="1200"/>
              </a:spcBef>
              <a:buNone/>
            </a:pPr>
            <a:r>
              <a:rPr lang="en-US" sz="1400" b="0" i="0" dirty="0">
                <a:solidFill>
                  <a:schemeClr val="tx1"/>
                </a:solidFill>
                <a:effectLst/>
                <a:latin typeface="+mn-lt"/>
              </a:rPr>
              <a:t>http://localhost:8080</a:t>
            </a:r>
          </a:p>
          <a:p>
            <a:pPr marL="0" marR="0" indent="0" algn="l">
              <a:spcBef>
                <a:spcPts val="1200"/>
              </a:spcBef>
              <a:buNone/>
            </a:pPr>
            <a:r>
              <a:rPr lang="en-US" sz="1400" b="0" i="0" dirty="0">
                <a:solidFill>
                  <a:schemeClr val="tx1"/>
                </a:solidFill>
                <a:effectLst/>
                <a:latin typeface="+mn-lt"/>
              </a:rPr>
              <a:t>Your frontend makes a request:</a:t>
            </a:r>
          </a:p>
          <a:p>
            <a:pPr indent="0" algn="l">
              <a:buNone/>
            </a:pPr>
            <a:endParaRPr lang="en-US" sz="1400" b="0" i="0" dirty="0">
              <a:solidFill>
                <a:schemeClr val="tx1"/>
              </a:solidFill>
              <a:effectLst/>
              <a:latin typeface="+mn-lt"/>
            </a:endParaRPr>
          </a:p>
          <a:p>
            <a:pPr indent="0" algn="l">
              <a:buNone/>
            </a:pPr>
            <a:r>
              <a:rPr lang="en-US" sz="1400" b="0" i="0" dirty="0">
                <a:solidFill>
                  <a:schemeClr val="tx1"/>
                </a:solidFill>
                <a:effectLst/>
                <a:latin typeface="+mn-lt"/>
              </a:rPr>
              <a:t>fetch("http://localhost:8080/</a:t>
            </a:r>
            <a:r>
              <a:rPr lang="en-US" sz="1400" b="0" i="0" dirty="0" err="1">
                <a:solidFill>
                  <a:schemeClr val="tx1"/>
                </a:solidFill>
                <a:effectLst/>
                <a:latin typeface="+mn-lt"/>
              </a:rPr>
              <a:t>api</a:t>
            </a:r>
            <a:r>
              <a:rPr lang="en-US" sz="1400" b="0" i="0" dirty="0">
                <a:solidFill>
                  <a:schemeClr val="tx1"/>
                </a:solidFill>
                <a:effectLst/>
                <a:latin typeface="+mn-lt"/>
              </a:rPr>
              <a:t>/users")</a:t>
            </a:r>
          </a:p>
          <a:p>
            <a:pPr indent="0" algn="l">
              <a:buNone/>
            </a:pPr>
            <a:r>
              <a:rPr lang="en-US" sz="1400" b="0" i="0" dirty="0">
                <a:solidFill>
                  <a:schemeClr val="tx1"/>
                </a:solidFill>
                <a:effectLst/>
                <a:latin typeface="+mn-lt"/>
              </a:rPr>
              <a:t>  .then(response =&gt; </a:t>
            </a:r>
            <a:r>
              <a:rPr lang="en-US" sz="1400" b="0" i="0" dirty="0" err="1">
                <a:solidFill>
                  <a:schemeClr val="tx1"/>
                </a:solidFill>
                <a:effectLst/>
                <a:latin typeface="+mn-lt"/>
              </a:rPr>
              <a:t>response.json</a:t>
            </a:r>
            <a:r>
              <a:rPr lang="en-US" sz="1400" b="0" i="0" dirty="0">
                <a:solidFill>
                  <a:schemeClr val="tx1"/>
                </a:solidFill>
                <a:effectLst/>
                <a:latin typeface="+mn-lt"/>
              </a:rPr>
              <a:t>())</a:t>
            </a:r>
          </a:p>
          <a:p>
            <a:pPr indent="0" algn="l">
              <a:buNone/>
            </a:pPr>
            <a:r>
              <a:rPr lang="en-US" sz="1400" b="0" i="0" dirty="0">
                <a:solidFill>
                  <a:schemeClr val="tx1"/>
                </a:solidFill>
                <a:effectLst/>
                <a:latin typeface="+mn-lt"/>
              </a:rPr>
              <a:t>  .then(data =&gt; console.log(data));</a:t>
            </a:r>
          </a:p>
          <a:p>
            <a:pPr marL="0" marR="0" indent="0" algn="l">
              <a:spcBef>
                <a:spcPts val="1200"/>
              </a:spcBef>
              <a:buNone/>
            </a:pPr>
            <a:r>
              <a:rPr lang="en-US" sz="1400" b="0" i="0" dirty="0">
                <a:solidFill>
                  <a:schemeClr val="tx1"/>
                </a:solidFill>
                <a:effectLst/>
                <a:latin typeface="+mn-lt"/>
              </a:rPr>
              <a:t>Even though both applications run on your machine, their ports differ, so they are different origins.</a:t>
            </a:r>
          </a:p>
          <a:p>
            <a:pPr marL="0" marR="0" indent="0" algn="l">
              <a:spcBef>
                <a:spcPts val="1200"/>
              </a:spcBef>
              <a:buNone/>
            </a:pPr>
            <a:r>
              <a:rPr lang="en-US" sz="1400" b="0" i="0" dirty="0">
                <a:solidFill>
                  <a:schemeClr val="tx1"/>
                </a:solidFill>
                <a:effectLst/>
                <a:latin typeface="+mn-lt"/>
              </a:rPr>
              <a:t>The browser checks whether the API server permits the frontend's origin. If the server doesn't provide the appropriate CORS headers, the browser blocks JavaScript from accessing the response.</a:t>
            </a:r>
            <a:endParaRPr lang="en-US" sz="1050" b="0" i="0" dirty="0">
              <a:solidFill>
                <a:srgbClr val="FFFFFF"/>
              </a:solidFill>
              <a:effectLst/>
              <a:latin typeface="-apple-system-body"/>
            </a:endParaRPr>
          </a:p>
        </p:txBody>
      </p:sp>
    </p:spTree>
    <p:extLst>
      <p:ext uri="{BB962C8B-B14F-4D97-AF65-F5344CB8AC3E}">
        <p14:creationId xmlns:p14="http://schemas.microsoft.com/office/powerpoint/2010/main" val="2759352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0F7A7-F192-3A64-7FAD-B72768D68F80}"/>
              </a:ext>
            </a:extLst>
          </p:cNvPr>
          <p:cNvSpPr>
            <a:spLocks noGrp="1"/>
          </p:cNvSpPr>
          <p:nvPr>
            <p:ph type="title"/>
          </p:nvPr>
        </p:nvSpPr>
        <p:spPr/>
        <p:txBody>
          <a:bodyPr/>
          <a:lstStyle/>
          <a:p>
            <a:r>
              <a:rPr lang="en-US" dirty="0"/>
              <a:t>Cross-Site Scripting (XSS) Attacks</a:t>
            </a:r>
          </a:p>
        </p:txBody>
      </p:sp>
      <p:sp>
        <p:nvSpPr>
          <p:cNvPr id="3" name="Content Placeholder 2">
            <a:extLst>
              <a:ext uri="{FF2B5EF4-FFF2-40B4-BE49-F238E27FC236}">
                <a16:creationId xmlns:a16="http://schemas.microsoft.com/office/drawing/2014/main" id="{AF945A9B-F650-88A9-A66F-672A83615E35}"/>
              </a:ext>
            </a:extLst>
          </p:cNvPr>
          <p:cNvSpPr>
            <a:spLocks noGrp="1"/>
          </p:cNvSpPr>
          <p:nvPr>
            <p:ph idx="1"/>
          </p:nvPr>
        </p:nvSpPr>
        <p:spPr/>
        <p:txBody>
          <a:bodyPr>
            <a:normAutofit fontScale="85000" lnSpcReduction="10000"/>
          </a:bodyPr>
          <a:lstStyle/>
          <a:p>
            <a:r>
              <a:rPr lang="en-US" b="1" dirty="0"/>
              <a:t>Cross-Site Scripting (XSS)</a:t>
            </a:r>
            <a:r>
              <a:rPr lang="en-US" dirty="0"/>
              <a:t> is a web security vulnerability that allows an attacker to inject malicious client-side code—usually JavaScript—into a web page that other users visit. When the browser executes that code in the context of the vulnerable website, the attacker may be able to manipulate the page, access sensitive information, or perform actions as the victim.</a:t>
            </a:r>
          </a:p>
          <a:p>
            <a:r>
              <a:rPr lang="en-US" dirty="0"/>
              <a:t>XSS is a major web application security concern because it exploits the trust a user's browser places in a website.</a:t>
            </a:r>
          </a:p>
          <a:p>
            <a:pPr lvl="0"/>
            <a:r>
              <a:rPr lang="en-US" b="1" dirty="0"/>
              <a:t>XSS attacks can:</a:t>
            </a:r>
          </a:p>
          <a:p>
            <a:pPr lvl="1"/>
            <a:r>
              <a:rPr lang="en-US" b="1" dirty="0"/>
              <a:t>Steal accessible information:</a:t>
            </a:r>
            <a:r>
              <a:rPr lang="en-US" dirty="0"/>
              <a:t> Read sensitive data exposed to JavaScript, such as account details or page content.</a:t>
            </a:r>
          </a:p>
          <a:p>
            <a:pPr lvl="1"/>
            <a:r>
              <a:rPr lang="en-US" b="1" dirty="0"/>
              <a:t>Hijack sessions in some circumstances:</a:t>
            </a:r>
            <a:r>
              <a:rPr lang="en-US" dirty="0"/>
              <a:t> Abuse session credentials or other authentication material that JavaScript can access. </a:t>
            </a:r>
            <a:r>
              <a:rPr lang="en-US" dirty="0" err="1"/>
              <a:t>HttpOnly</a:t>
            </a:r>
            <a:r>
              <a:rPr lang="en-US" dirty="0"/>
              <a:t> cookies cannot be read directly by JavaScript, which helps limit this risk.</a:t>
            </a:r>
          </a:p>
          <a:p>
            <a:pPr lvl="1"/>
            <a:r>
              <a:rPr lang="en-US" b="1" dirty="0"/>
              <a:t>Perform actions as the victim:</a:t>
            </a:r>
            <a:r>
              <a:rPr lang="en-US" dirty="0"/>
              <a:t> Trigger requests or change account settings using the victim's existing authenticated session, subject to application controls.</a:t>
            </a:r>
          </a:p>
          <a:p>
            <a:pPr lvl="1"/>
            <a:r>
              <a:rPr lang="en-US" b="1" dirty="0"/>
              <a:t>Create convincing phishing pages:</a:t>
            </a:r>
            <a:r>
              <a:rPr lang="en-US" dirty="0"/>
              <a:t> Replace legitimate page content with fake login prompts.</a:t>
            </a:r>
          </a:p>
          <a:p>
            <a:pPr lvl="1"/>
            <a:r>
              <a:rPr lang="en-US" b="1" dirty="0"/>
              <a:t>Modify transactions or user data:</a:t>
            </a:r>
            <a:r>
              <a:rPr lang="en-US" dirty="0"/>
              <a:t> Alter information displayed or submitted through the compromised page.</a:t>
            </a:r>
          </a:p>
          <a:p>
            <a:pPr lvl="1"/>
            <a:r>
              <a:rPr lang="en-US" b="1" dirty="0"/>
              <a:t>Spread malicious content:</a:t>
            </a:r>
            <a:r>
              <a:rPr lang="en-US" dirty="0"/>
              <a:t> In applications that allow persistent user-generated content, affect other users who view it.</a:t>
            </a:r>
          </a:p>
        </p:txBody>
      </p:sp>
    </p:spTree>
    <p:extLst>
      <p:ext uri="{BB962C8B-B14F-4D97-AF65-F5344CB8AC3E}">
        <p14:creationId xmlns:p14="http://schemas.microsoft.com/office/powerpoint/2010/main" val="219166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81D2-87E1-AA2D-21D1-3B178E46310E}"/>
              </a:ext>
            </a:extLst>
          </p:cNvPr>
          <p:cNvSpPr>
            <a:spLocks noGrp="1"/>
          </p:cNvSpPr>
          <p:nvPr>
            <p:ph type="title"/>
          </p:nvPr>
        </p:nvSpPr>
        <p:spPr/>
        <p:txBody>
          <a:bodyPr/>
          <a:lstStyle/>
          <a:p>
            <a:r>
              <a:rPr lang="en-US" dirty="0"/>
              <a:t>Avoiding XSS attacks</a:t>
            </a:r>
          </a:p>
        </p:txBody>
      </p:sp>
      <p:sp>
        <p:nvSpPr>
          <p:cNvPr id="3" name="Content Placeholder 2">
            <a:extLst>
              <a:ext uri="{FF2B5EF4-FFF2-40B4-BE49-F238E27FC236}">
                <a16:creationId xmlns:a16="http://schemas.microsoft.com/office/drawing/2014/main" id="{5B04C013-2C00-8157-EB4E-0DAA3BDC54C1}"/>
              </a:ext>
            </a:extLst>
          </p:cNvPr>
          <p:cNvSpPr>
            <a:spLocks noGrp="1"/>
          </p:cNvSpPr>
          <p:nvPr>
            <p:ph idx="1"/>
          </p:nvPr>
        </p:nvSpPr>
        <p:spPr>
          <a:xfrm>
            <a:off x="581193" y="2180496"/>
            <a:ext cx="4498111" cy="3678303"/>
          </a:xfrm>
        </p:spPr>
        <p:txBody>
          <a:bodyPr/>
          <a:lstStyle/>
          <a:p>
            <a:r>
              <a:rPr lang="en-US" dirty="0"/>
              <a:t>For browser-based applications, the easiest way is to enable </a:t>
            </a:r>
            <a:r>
              <a:rPr lang="en-US" dirty="0" err="1"/>
              <a:t>HttpOnly</a:t>
            </a:r>
            <a:r>
              <a:rPr lang="en-US" dirty="0"/>
              <a:t> cookies</a:t>
            </a:r>
          </a:p>
          <a:p>
            <a:r>
              <a:rPr lang="en-US" dirty="0"/>
              <a:t>These cookies can’t be accessed or edited by client-side JavaScript</a:t>
            </a:r>
          </a:p>
          <a:p>
            <a:r>
              <a:rPr lang="en-US" dirty="0"/>
              <a:t>Spring can do this for us automatically with the </a:t>
            </a:r>
            <a:r>
              <a:rPr lang="en-US" dirty="0" err="1"/>
              <a:t>AuthenticationManager</a:t>
            </a:r>
            <a:r>
              <a:rPr lang="en-US" dirty="0"/>
              <a:t> interface, which we will include as a Bean in our </a:t>
            </a:r>
            <a:r>
              <a:rPr lang="en-US" dirty="0" err="1"/>
              <a:t>SecurityConfig</a:t>
            </a:r>
            <a:r>
              <a:rPr lang="en-US" dirty="0"/>
              <a:t> class, and will be used in our </a:t>
            </a:r>
            <a:r>
              <a:rPr lang="en-US" dirty="0" err="1"/>
              <a:t>AuthService</a:t>
            </a:r>
            <a:r>
              <a:rPr lang="en-US" dirty="0"/>
              <a:t> class for login</a:t>
            </a:r>
          </a:p>
          <a:p>
            <a:endParaRPr lang="en-US" dirty="0"/>
          </a:p>
        </p:txBody>
      </p:sp>
      <p:pic>
        <p:nvPicPr>
          <p:cNvPr id="5" name="Picture 4">
            <a:extLst>
              <a:ext uri="{FF2B5EF4-FFF2-40B4-BE49-F238E27FC236}">
                <a16:creationId xmlns:a16="http://schemas.microsoft.com/office/drawing/2014/main" id="{055F903D-28CD-1573-D97B-13673F640A15}"/>
              </a:ext>
            </a:extLst>
          </p:cNvPr>
          <p:cNvPicPr>
            <a:picLocks noChangeAspect="1"/>
          </p:cNvPicPr>
          <p:nvPr/>
        </p:nvPicPr>
        <p:blipFill>
          <a:blip r:embed="rId2"/>
          <a:stretch>
            <a:fillRect/>
          </a:stretch>
        </p:blipFill>
        <p:spPr>
          <a:xfrm>
            <a:off x="6205834" y="2304788"/>
            <a:ext cx="4374665" cy="2377251"/>
          </a:xfrm>
          <a:prstGeom prst="rect">
            <a:avLst/>
          </a:prstGeom>
        </p:spPr>
      </p:pic>
      <p:pic>
        <p:nvPicPr>
          <p:cNvPr id="7" name="Picture 6">
            <a:extLst>
              <a:ext uri="{FF2B5EF4-FFF2-40B4-BE49-F238E27FC236}">
                <a16:creationId xmlns:a16="http://schemas.microsoft.com/office/drawing/2014/main" id="{4FB25627-0716-769B-248F-504B52BABF23}"/>
              </a:ext>
            </a:extLst>
          </p:cNvPr>
          <p:cNvPicPr>
            <a:picLocks noChangeAspect="1"/>
          </p:cNvPicPr>
          <p:nvPr/>
        </p:nvPicPr>
        <p:blipFill>
          <a:blip r:embed="rId3"/>
          <a:stretch>
            <a:fillRect/>
          </a:stretch>
        </p:blipFill>
        <p:spPr>
          <a:xfrm>
            <a:off x="5616892" y="5088471"/>
            <a:ext cx="5430008" cy="1390844"/>
          </a:xfrm>
          <a:prstGeom prst="rect">
            <a:avLst/>
          </a:prstGeom>
        </p:spPr>
      </p:pic>
    </p:spTree>
    <p:extLst>
      <p:ext uri="{BB962C8B-B14F-4D97-AF65-F5344CB8AC3E}">
        <p14:creationId xmlns:p14="http://schemas.microsoft.com/office/powerpoint/2010/main" val="820320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58B11-6A66-6D5D-15C8-467BD8C856BD}"/>
              </a:ext>
            </a:extLst>
          </p:cNvPr>
          <p:cNvSpPr>
            <a:spLocks noGrp="1"/>
          </p:cNvSpPr>
          <p:nvPr>
            <p:ph type="title"/>
          </p:nvPr>
        </p:nvSpPr>
        <p:spPr/>
        <p:txBody>
          <a:bodyPr/>
          <a:lstStyle/>
          <a:p>
            <a:r>
              <a:rPr lang="en-US" dirty="0"/>
              <a:t>CSRF (Cross-Site Request Forgery)</a:t>
            </a:r>
          </a:p>
        </p:txBody>
      </p:sp>
      <p:sp>
        <p:nvSpPr>
          <p:cNvPr id="3" name="Content Placeholder 2">
            <a:extLst>
              <a:ext uri="{FF2B5EF4-FFF2-40B4-BE49-F238E27FC236}">
                <a16:creationId xmlns:a16="http://schemas.microsoft.com/office/drawing/2014/main" id="{AE214A9F-B6E8-14A0-ED1B-360628927EAE}"/>
              </a:ext>
            </a:extLst>
          </p:cNvPr>
          <p:cNvSpPr>
            <a:spLocks noGrp="1"/>
          </p:cNvSpPr>
          <p:nvPr>
            <p:ph idx="1"/>
          </p:nvPr>
        </p:nvSpPr>
        <p:spPr>
          <a:xfrm>
            <a:off x="537351" y="2004164"/>
            <a:ext cx="10955279" cy="4609577"/>
          </a:xfrm>
        </p:spPr>
        <p:txBody>
          <a:bodyPr>
            <a:normAutofit fontScale="62500" lnSpcReduction="20000"/>
          </a:bodyPr>
          <a:lstStyle/>
          <a:p>
            <a:r>
              <a:rPr lang="en-US" b="1" dirty="0"/>
              <a:t>CSRF (Cross-Site Request Forgery)</a:t>
            </a:r>
            <a:r>
              <a:rPr lang="en-US" dirty="0"/>
              <a:t> is a web security vulnerability in which an attacker tricks a user’s browser into sending an unwanted request to a website where the user is already authenticated.</a:t>
            </a:r>
          </a:p>
          <a:p>
            <a:r>
              <a:rPr lang="en-US" dirty="0"/>
              <a:t>The key idea is that </a:t>
            </a:r>
            <a:r>
              <a:rPr lang="en-US" b="1" dirty="0"/>
              <a:t>the browser may automatically include a user's authentication cookies with a request, even when the user didn't intend to perform that action.</a:t>
            </a:r>
            <a:endParaRPr lang="en-US" dirty="0"/>
          </a:p>
          <a:p>
            <a:r>
              <a:rPr lang="en-US" dirty="0"/>
              <a:t>CSRF is also known as </a:t>
            </a:r>
            <a:r>
              <a:rPr lang="en-US" i="1" dirty="0"/>
              <a:t>session riding</a:t>
            </a:r>
            <a:r>
              <a:rPr lang="en-US" dirty="0"/>
              <a:t>.</a:t>
            </a:r>
          </a:p>
          <a:p>
            <a:endParaRPr lang="en-US" dirty="0"/>
          </a:p>
          <a:p>
            <a:r>
              <a:rPr lang="en-US" dirty="0"/>
              <a:t>Suppose a banking application uses this endpoint to transfer money:</a:t>
            </a:r>
          </a:p>
          <a:p>
            <a:r>
              <a:rPr lang="en-US" dirty="0"/>
              <a:t>POST /transfer HTTP/1.1</a:t>
            </a:r>
          </a:p>
          <a:p>
            <a:r>
              <a:rPr lang="en-US" dirty="0"/>
              <a:t>Host: </a:t>
            </a:r>
            <a:r>
              <a:rPr lang="en-US" dirty="0" err="1"/>
              <a:t>bank.example</a:t>
            </a:r>
            <a:endParaRPr lang="en-US" dirty="0"/>
          </a:p>
          <a:p>
            <a:r>
              <a:rPr lang="en-US" dirty="0"/>
              <a:t>Cookie: session=abc123</a:t>
            </a:r>
          </a:p>
          <a:p>
            <a:r>
              <a:rPr lang="en-US" dirty="0"/>
              <a:t>Content-Type: application/x-www-form-</a:t>
            </a:r>
            <a:r>
              <a:rPr lang="en-US" dirty="0" err="1"/>
              <a:t>urlencoded</a:t>
            </a:r>
            <a:endParaRPr lang="en-US" dirty="0"/>
          </a:p>
          <a:p>
            <a:r>
              <a:rPr lang="en-US" dirty="0"/>
              <a:t>recipient=</a:t>
            </a:r>
            <a:r>
              <a:rPr lang="en-US" dirty="0" err="1"/>
              <a:t>attacker&amp;amount</a:t>
            </a:r>
            <a:r>
              <a:rPr lang="en-US" dirty="0"/>
              <a:t>=500</a:t>
            </a:r>
          </a:p>
          <a:p>
            <a:endParaRPr lang="en-US" dirty="0"/>
          </a:p>
          <a:p>
            <a:r>
              <a:rPr lang="en-US" dirty="0"/>
              <a:t>The application checks whether the session is authenticated but doesn't verify that the request originated from a legitimate form or action.</a:t>
            </a:r>
          </a:p>
          <a:p>
            <a:pPr lvl="0"/>
            <a:r>
              <a:rPr lang="en-US" b="1" dirty="0"/>
              <a:t>CSRF attacks could:</a:t>
            </a:r>
          </a:p>
          <a:p>
            <a:pPr lvl="1"/>
            <a:r>
              <a:rPr lang="en-US" b="1" dirty="0"/>
              <a:t>Financial fraud:</a:t>
            </a:r>
            <a:r>
              <a:rPr lang="en-US" dirty="0"/>
              <a:t> Initiate transfers or purchases.</a:t>
            </a:r>
          </a:p>
          <a:p>
            <a:pPr lvl="1"/>
            <a:r>
              <a:rPr lang="en-US" b="1" dirty="0"/>
              <a:t>Account changes:</a:t>
            </a:r>
            <a:r>
              <a:rPr lang="en-US" dirty="0"/>
              <a:t> Change an email address, shipping address, or other account settings.</a:t>
            </a:r>
          </a:p>
          <a:p>
            <a:pPr lvl="1"/>
            <a:r>
              <a:rPr lang="en-US" b="1" dirty="0"/>
              <a:t>Security changes:</a:t>
            </a:r>
            <a:r>
              <a:rPr lang="en-US" dirty="0"/>
              <a:t> Modify account recovery settings or potentially weaken account security.</a:t>
            </a:r>
          </a:p>
          <a:p>
            <a:pPr lvl="1"/>
            <a:r>
              <a:rPr lang="en-US" b="1" dirty="0"/>
              <a:t>Administrative actions:</a:t>
            </a:r>
            <a:r>
              <a:rPr lang="en-US" dirty="0"/>
              <a:t> Change permissions or create accounts if the victim has administrative privileges.</a:t>
            </a:r>
          </a:p>
          <a:p>
            <a:pPr lvl="1"/>
            <a:r>
              <a:rPr lang="en-US" b="1" dirty="0"/>
              <a:t>Unauthorized actions:</a:t>
            </a:r>
            <a:r>
              <a:rPr lang="en-US" dirty="0"/>
              <a:t> Publish content, modify records, or delete resources.</a:t>
            </a:r>
          </a:p>
        </p:txBody>
      </p:sp>
    </p:spTree>
    <p:extLst>
      <p:ext uri="{BB962C8B-B14F-4D97-AF65-F5344CB8AC3E}">
        <p14:creationId xmlns:p14="http://schemas.microsoft.com/office/powerpoint/2010/main" val="3210149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EEFC-A43E-3A0A-E467-65E133419DFD}"/>
              </a:ext>
            </a:extLst>
          </p:cNvPr>
          <p:cNvSpPr>
            <a:spLocks noGrp="1"/>
          </p:cNvSpPr>
          <p:nvPr>
            <p:ph type="title"/>
          </p:nvPr>
        </p:nvSpPr>
        <p:spPr/>
        <p:txBody>
          <a:bodyPr/>
          <a:lstStyle/>
          <a:p>
            <a:r>
              <a:rPr lang="en-US" dirty="0"/>
              <a:t>Avoiding CSRF attacks</a:t>
            </a:r>
          </a:p>
        </p:txBody>
      </p:sp>
      <p:sp>
        <p:nvSpPr>
          <p:cNvPr id="3" name="Content Placeholder 2">
            <a:extLst>
              <a:ext uri="{FF2B5EF4-FFF2-40B4-BE49-F238E27FC236}">
                <a16:creationId xmlns:a16="http://schemas.microsoft.com/office/drawing/2014/main" id="{2C171FB9-2364-540C-FC03-80C6C078876F}"/>
              </a:ext>
            </a:extLst>
          </p:cNvPr>
          <p:cNvSpPr>
            <a:spLocks noGrp="1"/>
          </p:cNvSpPr>
          <p:nvPr>
            <p:ph idx="1"/>
          </p:nvPr>
        </p:nvSpPr>
        <p:spPr>
          <a:xfrm>
            <a:off x="581193" y="2180496"/>
            <a:ext cx="4115165" cy="4278826"/>
          </a:xfrm>
        </p:spPr>
        <p:txBody>
          <a:bodyPr>
            <a:normAutofit fontScale="85000" lnSpcReduction="10000"/>
          </a:bodyPr>
          <a:lstStyle/>
          <a:p>
            <a:r>
              <a:rPr lang="en-US" dirty="0"/>
              <a:t>Generate an unpredictable token and validate it on the server for every protected state-changing request. An attacker on another site generally cannot read the legitimate token because of browser same-origin restrictions.</a:t>
            </a:r>
          </a:p>
          <a:p>
            <a:r>
              <a:rPr lang="en-US" dirty="0"/>
              <a:t>Set session cookies to </a:t>
            </a:r>
            <a:r>
              <a:rPr lang="en-US" dirty="0" err="1"/>
              <a:t>SameSite</a:t>
            </a:r>
            <a:r>
              <a:rPr lang="en-US" dirty="0"/>
              <a:t>=Lax or, where compatible, </a:t>
            </a:r>
            <a:r>
              <a:rPr lang="en-US" dirty="0" err="1"/>
              <a:t>SameSite</a:t>
            </a:r>
            <a:r>
              <a:rPr lang="en-US" dirty="0"/>
              <a:t>=Strict. This limits when browsers send cookies with cross-site requests.</a:t>
            </a:r>
          </a:p>
          <a:p>
            <a:r>
              <a:rPr lang="en-US" dirty="0"/>
              <a:t>With a </a:t>
            </a:r>
            <a:r>
              <a:rPr lang="en-US" dirty="0" err="1"/>
              <a:t>csrfTokenRepository</a:t>
            </a:r>
            <a:r>
              <a:rPr lang="en-US" dirty="0"/>
              <a:t> (built-in with Spring Security) – we can automatically send randomly generated </a:t>
            </a:r>
            <a:r>
              <a:rPr lang="en-US" dirty="0" err="1"/>
              <a:t>csrf</a:t>
            </a:r>
            <a:r>
              <a:rPr lang="en-US" dirty="0"/>
              <a:t> tokens to clients via an exposed endpoint</a:t>
            </a:r>
          </a:p>
          <a:p>
            <a:pPr lvl="1"/>
            <a:r>
              <a:rPr lang="en-US" dirty="0"/>
              <a:t>Clients will include this token in future request headers whenever they want to login or make state changes like PUT, DELETE, etc.</a:t>
            </a:r>
          </a:p>
        </p:txBody>
      </p:sp>
      <p:pic>
        <p:nvPicPr>
          <p:cNvPr id="5" name="Picture 4">
            <a:extLst>
              <a:ext uri="{FF2B5EF4-FFF2-40B4-BE49-F238E27FC236}">
                <a16:creationId xmlns:a16="http://schemas.microsoft.com/office/drawing/2014/main" id="{20CDCBF0-E263-5FF7-1098-93D729B2CC38}"/>
              </a:ext>
            </a:extLst>
          </p:cNvPr>
          <p:cNvPicPr>
            <a:picLocks noChangeAspect="1"/>
          </p:cNvPicPr>
          <p:nvPr/>
        </p:nvPicPr>
        <p:blipFill>
          <a:blip r:embed="rId2"/>
          <a:stretch>
            <a:fillRect/>
          </a:stretch>
        </p:blipFill>
        <p:spPr>
          <a:xfrm>
            <a:off x="4877075" y="3348041"/>
            <a:ext cx="6973273" cy="1343212"/>
          </a:xfrm>
          <a:prstGeom prst="rect">
            <a:avLst/>
          </a:prstGeom>
        </p:spPr>
      </p:pic>
    </p:spTree>
    <p:extLst>
      <p:ext uri="{BB962C8B-B14F-4D97-AF65-F5344CB8AC3E}">
        <p14:creationId xmlns:p14="http://schemas.microsoft.com/office/powerpoint/2010/main" val="3092787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C666B-A3C7-C216-C137-81A1CA377400}"/>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BA1EAF58-D900-5045-A1A3-ACC01DB3BFFF}"/>
              </a:ext>
            </a:extLst>
          </p:cNvPr>
          <p:cNvSpPr>
            <a:spLocks noGrp="1"/>
          </p:cNvSpPr>
          <p:nvPr>
            <p:ph idx="1"/>
          </p:nvPr>
        </p:nvSpPr>
        <p:spPr/>
        <p:txBody>
          <a:bodyPr/>
          <a:lstStyle/>
          <a:p>
            <a:r>
              <a:rPr lang="en-US" dirty="0"/>
              <a:t>Please see ‘</a:t>
            </a:r>
            <a:r>
              <a:rPr lang="en-US" dirty="0" err="1"/>
              <a:t>java_student_backend_RBAC</a:t>
            </a:r>
            <a:r>
              <a:rPr lang="en-US" dirty="0"/>
              <a:t>’ in your course materials for the full example</a:t>
            </a:r>
          </a:p>
          <a:p>
            <a:r>
              <a:rPr lang="en-US" dirty="0"/>
              <a:t>First, hit the ‘</a:t>
            </a:r>
            <a:r>
              <a:rPr lang="en-US" dirty="0" err="1"/>
              <a:t>api</a:t>
            </a:r>
            <a:r>
              <a:rPr lang="en-US" dirty="0"/>
              <a:t>/auth/</a:t>
            </a:r>
            <a:r>
              <a:rPr lang="en-US" dirty="0" err="1"/>
              <a:t>csrf</a:t>
            </a:r>
            <a:r>
              <a:rPr lang="en-US" dirty="0"/>
              <a:t>’ endpoint to get a </a:t>
            </a:r>
            <a:r>
              <a:rPr lang="en-US" dirty="0" err="1"/>
              <a:t>csrf</a:t>
            </a:r>
            <a:r>
              <a:rPr lang="en-US" dirty="0"/>
              <a:t> token and include the token in your header for future requests </a:t>
            </a:r>
          </a:p>
          <a:p>
            <a:r>
              <a:rPr lang="en-US" dirty="0"/>
              <a:t>You can then create a user with the ‘</a:t>
            </a:r>
            <a:r>
              <a:rPr lang="en-US" dirty="0" err="1"/>
              <a:t>api</a:t>
            </a:r>
            <a:r>
              <a:rPr lang="en-US" dirty="0"/>
              <a:t>/auth/register’ endpoint: provide a </a:t>
            </a:r>
            <a:r>
              <a:rPr lang="en-US" dirty="0" err="1"/>
              <a:t>userName</a:t>
            </a:r>
            <a:r>
              <a:rPr lang="en-US" dirty="0"/>
              <a:t> + password</a:t>
            </a:r>
          </a:p>
          <a:p>
            <a:r>
              <a:rPr lang="en-US" dirty="0"/>
              <a:t>You can add roles to users with the ‘</a:t>
            </a:r>
            <a:r>
              <a:rPr lang="en-US" dirty="0" err="1"/>
              <a:t>api</a:t>
            </a:r>
            <a:r>
              <a:rPr lang="en-US" dirty="0"/>
              <a:t>/auth/assign-role’ endpoint. </a:t>
            </a:r>
          </a:p>
          <a:p>
            <a:pPr lvl="1"/>
            <a:r>
              <a:rPr lang="en-US" dirty="0"/>
              <a:t>Valid roles are ADMIN, MANAGER, or USER </a:t>
            </a:r>
          </a:p>
          <a:p>
            <a:pPr lvl="1"/>
            <a:r>
              <a:rPr lang="en-US" dirty="0"/>
              <a:t>Note this endpoint is NOT protected by default. (Just so you can elevate a user to admin to test other protected routes)</a:t>
            </a:r>
          </a:p>
          <a:p>
            <a:r>
              <a:rPr lang="en-US" dirty="0"/>
              <a:t>Hit the ‘</a:t>
            </a:r>
            <a:r>
              <a:rPr lang="en-US" dirty="0" err="1"/>
              <a:t>api</a:t>
            </a:r>
            <a:r>
              <a:rPr lang="en-US" dirty="0"/>
              <a:t>/auth/login’ endpoint to get an </a:t>
            </a:r>
            <a:r>
              <a:rPr lang="en-US" dirty="0" err="1"/>
              <a:t>HttpOnly</a:t>
            </a:r>
            <a:r>
              <a:rPr lang="en-US" dirty="0"/>
              <a:t> cookie that allows you to make subsequent requests to protected routes</a:t>
            </a:r>
          </a:p>
        </p:txBody>
      </p:sp>
    </p:spTree>
    <p:extLst>
      <p:ext uri="{BB962C8B-B14F-4D97-AF65-F5344CB8AC3E}">
        <p14:creationId xmlns:p14="http://schemas.microsoft.com/office/powerpoint/2010/main" val="84655178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3997</TotalTime>
  <Words>2646</Words>
  <Application>Microsoft Office PowerPoint</Application>
  <PresentationFormat>Widescreen</PresentationFormat>
  <Paragraphs>346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-apple-system-body</vt:lpstr>
      <vt:lpstr>Courier New</vt:lpstr>
      <vt:lpstr>Gill Sans MT</vt:lpstr>
      <vt:lpstr>Wingdings 2</vt:lpstr>
      <vt:lpstr>Dividend</vt:lpstr>
      <vt:lpstr>Spring Boot – modules</vt:lpstr>
      <vt:lpstr>Overview</vt:lpstr>
      <vt:lpstr>MVC</vt:lpstr>
      <vt:lpstr>MVC implementations </vt:lpstr>
      <vt:lpstr>Swagger</vt:lpstr>
      <vt:lpstr>Swagger Annotations</vt:lpstr>
      <vt:lpstr>Swagger annotation example</vt:lpstr>
      <vt:lpstr>Spring for Graphql</vt:lpstr>
      <vt:lpstr>Graphql setup for spring boot</vt:lpstr>
      <vt:lpstr>Graphql setup for spring boot</vt:lpstr>
      <vt:lpstr>Graphql setup for spring boot</vt:lpstr>
      <vt:lpstr>Graphql more example queries</vt:lpstr>
      <vt:lpstr>Graphql more example queries</vt:lpstr>
      <vt:lpstr>GraphQL config</vt:lpstr>
      <vt:lpstr>Challenge</vt:lpstr>
      <vt:lpstr>Spring security </vt:lpstr>
      <vt:lpstr>Authentication vs authorization</vt:lpstr>
      <vt:lpstr>Declarative vs programmatic spring security</vt:lpstr>
      <vt:lpstr>Enabling Spring Security </vt:lpstr>
      <vt:lpstr>Major Interfaces to be aware of</vt:lpstr>
      <vt:lpstr>CORS (Cross-Origin Resource Sharing)</vt:lpstr>
      <vt:lpstr>Cross-Site Scripting (XSS) Attacks</vt:lpstr>
      <vt:lpstr>Avoiding XSS attacks</vt:lpstr>
      <vt:lpstr>CSRF (Cross-Site Request Forgery)</vt:lpstr>
      <vt:lpstr>Avoiding CSRF attacks</vt:lpstr>
      <vt:lpstr>Stop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597</cp:revision>
  <dcterms:created xsi:type="dcterms:W3CDTF">2025-02-12T19:53:45Z</dcterms:created>
  <dcterms:modified xsi:type="dcterms:W3CDTF">2026-10-15T03:48:33Z</dcterms:modified>
</cp:coreProperties>
</file>