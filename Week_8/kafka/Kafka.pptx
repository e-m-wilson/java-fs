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3" r:id="rId3"/>
    <p:sldId id="264" r:id="rId4"/>
    <p:sldId id="265"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02" r:id="rId42"/>
    <p:sldId id="303" r:id="rId43"/>
    <p:sldId id="304" r:id="rId44"/>
    <p:sldId id="305" r:id="rId45"/>
    <p:sldId id="306" r:id="rId46"/>
    <p:sldId id="307" r:id="rId47"/>
    <p:sldId id="262"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8EF453-3095-AE8A-2F6D-B0378CA79EC1}" v="28" dt="2025-06-02T16:07:27.587"/>
    <p1510:client id="{DEF17522-F9FC-8578-697D-16CF15692E13}" v="5" dt="2025-06-03T14:51:56.4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60" d="100"/>
          <a:sy n="60" d="100"/>
        </p:scale>
        <p:origin x="6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7/29/2026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88113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1587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7/29/2026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47375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26509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92248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59988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98299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dirty="0"/>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7/29/2026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37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dirty="0"/>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79716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09061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7/29/2026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855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7/29/2026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766156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www.conduktor.io/kafka/kafka-sdk-list"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Kafka</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41B0E-0ED1-389D-BBD4-99635AD0BADD}"/>
              </a:ext>
            </a:extLst>
          </p:cNvPr>
          <p:cNvSpPr>
            <a:spLocks noGrp="1"/>
          </p:cNvSpPr>
          <p:nvPr>
            <p:ph type="title"/>
          </p:nvPr>
        </p:nvSpPr>
        <p:spPr/>
        <p:txBody>
          <a:bodyPr/>
          <a:lstStyle/>
          <a:p>
            <a:r>
              <a:rPr lang="en-US" dirty="0"/>
              <a:t>The problem</a:t>
            </a:r>
          </a:p>
        </p:txBody>
      </p:sp>
      <p:sp>
        <p:nvSpPr>
          <p:cNvPr id="3" name="Content Placeholder 2">
            <a:extLst>
              <a:ext uri="{FF2B5EF4-FFF2-40B4-BE49-F238E27FC236}">
                <a16:creationId xmlns:a16="http://schemas.microsoft.com/office/drawing/2014/main" id="{E51DFC20-C431-E4F3-D43F-E8E8AE576120}"/>
              </a:ext>
            </a:extLst>
          </p:cNvPr>
          <p:cNvSpPr>
            <a:spLocks noGrp="1"/>
          </p:cNvSpPr>
          <p:nvPr>
            <p:ph idx="1"/>
          </p:nvPr>
        </p:nvSpPr>
        <p:spPr>
          <a:xfrm>
            <a:off x="581192" y="2180496"/>
            <a:ext cx="11029615" cy="743457"/>
          </a:xfrm>
        </p:spPr>
        <p:txBody>
          <a:bodyPr>
            <a:normAutofit fontScale="92500"/>
          </a:bodyPr>
          <a:lstStyle/>
          <a:p>
            <a:r>
              <a:rPr lang="en-US" dirty="0"/>
              <a:t>4 source systems * 6 target systems = 24 integrations</a:t>
            </a:r>
          </a:p>
          <a:p>
            <a:r>
              <a:rPr lang="en-US" dirty="0"/>
              <a:t>Each integration could be wildly different: Protocols (TCP, HTTP, REST, ftp, JDBC), data formats (csv, </a:t>
            </a:r>
            <a:r>
              <a:rPr lang="en-US" dirty="0" err="1"/>
              <a:t>json</a:t>
            </a:r>
            <a:r>
              <a:rPr lang="en-US" dirty="0"/>
              <a:t>, </a:t>
            </a:r>
            <a:r>
              <a:rPr lang="en-US" dirty="0" err="1"/>
              <a:t>etc</a:t>
            </a:r>
            <a:r>
              <a:rPr lang="en-US" dirty="0"/>
              <a:t>), schemas</a:t>
            </a:r>
          </a:p>
        </p:txBody>
      </p:sp>
      <p:pic>
        <p:nvPicPr>
          <p:cNvPr id="5" name="Picture 4">
            <a:extLst>
              <a:ext uri="{FF2B5EF4-FFF2-40B4-BE49-F238E27FC236}">
                <a16:creationId xmlns:a16="http://schemas.microsoft.com/office/drawing/2014/main" id="{BD64503A-6712-4917-4DBC-0402607F3E1B}"/>
              </a:ext>
            </a:extLst>
          </p:cNvPr>
          <p:cNvPicPr>
            <a:picLocks noChangeAspect="1"/>
          </p:cNvPicPr>
          <p:nvPr/>
        </p:nvPicPr>
        <p:blipFill>
          <a:blip r:embed="rId2"/>
          <a:stretch>
            <a:fillRect/>
          </a:stretch>
        </p:blipFill>
        <p:spPr>
          <a:xfrm>
            <a:off x="2328721" y="3066745"/>
            <a:ext cx="7534556" cy="3456219"/>
          </a:xfrm>
          <a:prstGeom prst="rect">
            <a:avLst/>
          </a:prstGeom>
        </p:spPr>
      </p:pic>
    </p:spTree>
    <p:extLst>
      <p:ext uri="{BB962C8B-B14F-4D97-AF65-F5344CB8AC3E}">
        <p14:creationId xmlns:p14="http://schemas.microsoft.com/office/powerpoint/2010/main" val="813105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C8E6A-071F-FC09-46F1-27F0541699D3}"/>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1C7551C9-E765-C27B-36FC-CEA203AD6877}"/>
              </a:ext>
            </a:extLst>
          </p:cNvPr>
          <p:cNvSpPr>
            <a:spLocks noGrp="1"/>
          </p:cNvSpPr>
          <p:nvPr>
            <p:ph idx="1"/>
          </p:nvPr>
        </p:nvSpPr>
        <p:spPr>
          <a:xfrm>
            <a:off x="581193" y="2180496"/>
            <a:ext cx="4952708" cy="4072743"/>
          </a:xfrm>
        </p:spPr>
        <p:txBody>
          <a:bodyPr/>
          <a:lstStyle/>
          <a:p>
            <a:r>
              <a:rPr lang="en-US" dirty="0"/>
              <a:t>Kafka decouples our data streams and systems</a:t>
            </a:r>
          </a:p>
          <a:p>
            <a:r>
              <a:rPr lang="en-US" dirty="0"/>
              <a:t>Producers = Sends (publishes) messages to Kafka topics</a:t>
            </a:r>
          </a:p>
          <a:p>
            <a:r>
              <a:rPr lang="en-US" dirty="0"/>
              <a:t>Consumers = Reads (subscribes) messages from Kafka topics</a:t>
            </a:r>
          </a:p>
          <a:p>
            <a:r>
              <a:rPr lang="en-US" dirty="0"/>
              <a:t>Distributed, resilient architecture, fault tolerant</a:t>
            </a:r>
          </a:p>
          <a:p>
            <a:r>
              <a:rPr lang="en-US" dirty="0"/>
              <a:t>Horizontal scalability:</a:t>
            </a:r>
          </a:p>
          <a:p>
            <a:pPr lvl="1"/>
            <a:r>
              <a:rPr lang="en-US" dirty="0"/>
              <a:t>Can scale to 100s of brokers</a:t>
            </a:r>
          </a:p>
          <a:p>
            <a:pPr lvl="1"/>
            <a:r>
              <a:rPr lang="en-US" dirty="0"/>
              <a:t>Can scale to millions of messages per second</a:t>
            </a:r>
          </a:p>
          <a:p>
            <a:r>
              <a:rPr lang="en-US" dirty="0"/>
              <a:t>High performance: latency of less than 10ms </a:t>
            </a:r>
          </a:p>
        </p:txBody>
      </p:sp>
      <p:pic>
        <p:nvPicPr>
          <p:cNvPr id="5" name="Picture 4">
            <a:extLst>
              <a:ext uri="{FF2B5EF4-FFF2-40B4-BE49-F238E27FC236}">
                <a16:creationId xmlns:a16="http://schemas.microsoft.com/office/drawing/2014/main" id="{E1B574D6-611C-7B6E-9992-FE8CD2C2D874}"/>
              </a:ext>
            </a:extLst>
          </p:cNvPr>
          <p:cNvPicPr>
            <a:picLocks noChangeAspect="1"/>
          </p:cNvPicPr>
          <p:nvPr/>
        </p:nvPicPr>
        <p:blipFill>
          <a:blip r:embed="rId2"/>
          <a:stretch>
            <a:fillRect/>
          </a:stretch>
        </p:blipFill>
        <p:spPr>
          <a:xfrm>
            <a:off x="5783282" y="2180496"/>
            <a:ext cx="6150076" cy="4072743"/>
          </a:xfrm>
          <a:prstGeom prst="rect">
            <a:avLst/>
          </a:prstGeom>
        </p:spPr>
      </p:pic>
    </p:spTree>
    <p:extLst>
      <p:ext uri="{BB962C8B-B14F-4D97-AF65-F5344CB8AC3E}">
        <p14:creationId xmlns:p14="http://schemas.microsoft.com/office/powerpoint/2010/main" val="4189610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7D05F-B38D-9837-1229-359ABDCD9B39}"/>
              </a:ext>
            </a:extLst>
          </p:cNvPr>
          <p:cNvSpPr>
            <a:spLocks noGrp="1"/>
          </p:cNvSpPr>
          <p:nvPr>
            <p:ph type="title"/>
          </p:nvPr>
        </p:nvSpPr>
        <p:spPr/>
        <p:txBody>
          <a:bodyPr/>
          <a:lstStyle/>
          <a:p>
            <a:r>
              <a:rPr lang="en-US" dirty="0"/>
              <a:t>Kafka use cases</a:t>
            </a:r>
          </a:p>
        </p:txBody>
      </p:sp>
      <p:sp>
        <p:nvSpPr>
          <p:cNvPr id="3" name="Content Placeholder 2">
            <a:extLst>
              <a:ext uri="{FF2B5EF4-FFF2-40B4-BE49-F238E27FC236}">
                <a16:creationId xmlns:a16="http://schemas.microsoft.com/office/drawing/2014/main" id="{14958774-FE50-972D-22D0-9099F13F4DDE}"/>
              </a:ext>
            </a:extLst>
          </p:cNvPr>
          <p:cNvSpPr>
            <a:spLocks noGrp="1"/>
          </p:cNvSpPr>
          <p:nvPr>
            <p:ph idx="1"/>
          </p:nvPr>
        </p:nvSpPr>
        <p:spPr>
          <a:xfrm>
            <a:off x="581192" y="2180496"/>
            <a:ext cx="11029615" cy="3975348"/>
          </a:xfrm>
        </p:spPr>
        <p:txBody>
          <a:bodyPr/>
          <a:lstStyle/>
          <a:p>
            <a:r>
              <a:rPr lang="en-US" dirty="0"/>
              <a:t>Messaging System</a:t>
            </a:r>
          </a:p>
          <a:p>
            <a:r>
              <a:rPr lang="en-US" dirty="0"/>
              <a:t>Activity Tracking</a:t>
            </a:r>
          </a:p>
          <a:p>
            <a:r>
              <a:rPr lang="en-US" dirty="0"/>
              <a:t>Gather metrics from many locations</a:t>
            </a:r>
          </a:p>
          <a:p>
            <a:r>
              <a:rPr lang="en-US" dirty="0"/>
              <a:t>Application logs gathering</a:t>
            </a:r>
          </a:p>
          <a:p>
            <a:r>
              <a:rPr lang="en-US" dirty="0"/>
              <a:t>Stream processing (with Kafka Streams API)</a:t>
            </a:r>
          </a:p>
          <a:p>
            <a:r>
              <a:rPr lang="en-US" dirty="0"/>
              <a:t>De-coupling of system dependencies</a:t>
            </a:r>
          </a:p>
          <a:p>
            <a:r>
              <a:rPr lang="en-US" dirty="0"/>
              <a:t>Integrations with Spark, Flink, Storm, Hadoop, and many other Big Data Technologies</a:t>
            </a:r>
          </a:p>
          <a:p>
            <a:r>
              <a:rPr lang="en-US" dirty="0"/>
              <a:t>Micro-services pub/sub</a:t>
            </a:r>
          </a:p>
        </p:txBody>
      </p:sp>
    </p:spTree>
    <p:extLst>
      <p:ext uri="{BB962C8B-B14F-4D97-AF65-F5344CB8AC3E}">
        <p14:creationId xmlns:p14="http://schemas.microsoft.com/office/powerpoint/2010/main" val="3599455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D1C42-6BA3-3488-08C9-E4A3301ED011}"/>
              </a:ext>
            </a:extLst>
          </p:cNvPr>
          <p:cNvSpPr>
            <a:spLocks noGrp="1"/>
          </p:cNvSpPr>
          <p:nvPr>
            <p:ph type="title"/>
          </p:nvPr>
        </p:nvSpPr>
        <p:spPr/>
        <p:txBody>
          <a:bodyPr/>
          <a:lstStyle/>
          <a:p>
            <a:r>
              <a:rPr lang="en-US" dirty="0"/>
              <a:t>Real life examples</a:t>
            </a:r>
          </a:p>
        </p:txBody>
      </p:sp>
      <p:sp>
        <p:nvSpPr>
          <p:cNvPr id="3" name="Content Placeholder 2">
            <a:extLst>
              <a:ext uri="{FF2B5EF4-FFF2-40B4-BE49-F238E27FC236}">
                <a16:creationId xmlns:a16="http://schemas.microsoft.com/office/drawing/2014/main" id="{4A71F091-D4BA-4D53-0538-E8ABB91F6322}"/>
              </a:ext>
            </a:extLst>
          </p:cNvPr>
          <p:cNvSpPr>
            <a:spLocks noGrp="1"/>
          </p:cNvSpPr>
          <p:nvPr>
            <p:ph idx="1"/>
          </p:nvPr>
        </p:nvSpPr>
        <p:spPr/>
        <p:txBody>
          <a:bodyPr/>
          <a:lstStyle/>
          <a:p>
            <a:r>
              <a:rPr lang="en-US" dirty="0"/>
              <a:t>Netflix uses Kafka to apply recommendations in real-time while you’re watching</a:t>
            </a:r>
          </a:p>
          <a:p>
            <a:r>
              <a:rPr lang="en-US" dirty="0"/>
              <a:t>Uber uses Kafka to gather user, taxi, and trip data in real-time to compute and forecast demand, and compute surge pricing </a:t>
            </a:r>
          </a:p>
          <a:p>
            <a:r>
              <a:rPr lang="en-US" dirty="0"/>
              <a:t>LinkedIn uses Kafka to prevent spam and collect user interactions to make better connection recommendations in real time</a:t>
            </a:r>
          </a:p>
          <a:p>
            <a:endParaRPr lang="en-US" dirty="0"/>
          </a:p>
          <a:p>
            <a:r>
              <a:rPr lang="en-US" dirty="0"/>
              <a:t>** Kafka owned by LinkedIn</a:t>
            </a:r>
          </a:p>
        </p:txBody>
      </p:sp>
    </p:spTree>
    <p:extLst>
      <p:ext uri="{BB962C8B-B14F-4D97-AF65-F5344CB8AC3E}">
        <p14:creationId xmlns:p14="http://schemas.microsoft.com/office/powerpoint/2010/main" val="521065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DEBD6-A63B-BD12-7DC4-FBEABF29E4CC}"/>
              </a:ext>
            </a:extLst>
          </p:cNvPr>
          <p:cNvSpPr>
            <a:spLocks noGrp="1"/>
          </p:cNvSpPr>
          <p:nvPr>
            <p:ph type="title"/>
          </p:nvPr>
        </p:nvSpPr>
        <p:spPr/>
        <p:txBody>
          <a:bodyPr/>
          <a:lstStyle/>
          <a:p>
            <a:r>
              <a:rPr lang="en-US" dirty="0"/>
              <a:t>Kafka Topics</a:t>
            </a:r>
          </a:p>
        </p:txBody>
      </p:sp>
      <p:sp>
        <p:nvSpPr>
          <p:cNvPr id="3" name="Content Placeholder 2">
            <a:extLst>
              <a:ext uri="{FF2B5EF4-FFF2-40B4-BE49-F238E27FC236}">
                <a16:creationId xmlns:a16="http://schemas.microsoft.com/office/drawing/2014/main" id="{EF8D607B-14DA-6D17-9C26-4418275265B1}"/>
              </a:ext>
            </a:extLst>
          </p:cNvPr>
          <p:cNvSpPr>
            <a:spLocks noGrp="1"/>
          </p:cNvSpPr>
          <p:nvPr>
            <p:ph idx="1"/>
          </p:nvPr>
        </p:nvSpPr>
        <p:spPr>
          <a:xfrm>
            <a:off x="1471842" y="2477541"/>
            <a:ext cx="5772107" cy="3678303"/>
          </a:xfrm>
        </p:spPr>
        <p:txBody>
          <a:bodyPr/>
          <a:lstStyle/>
          <a:p>
            <a:r>
              <a:rPr lang="en-US" dirty="0"/>
              <a:t>Kafka topics are streams of data</a:t>
            </a:r>
          </a:p>
          <a:p>
            <a:r>
              <a:rPr lang="en-US" dirty="0"/>
              <a:t>Like a table in a database (without any constraints)</a:t>
            </a:r>
          </a:p>
          <a:p>
            <a:r>
              <a:rPr lang="en-US" dirty="0"/>
              <a:t>You can have as many topics as you want</a:t>
            </a:r>
          </a:p>
          <a:p>
            <a:r>
              <a:rPr lang="en-US" dirty="0"/>
              <a:t>A topic is identified by its name</a:t>
            </a:r>
          </a:p>
          <a:p>
            <a:r>
              <a:rPr lang="en-US" dirty="0"/>
              <a:t>Any kind of message format: JSON, Avro, CSV, text, Binary data (images, PDF, MP4, etc.)</a:t>
            </a:r>
          </a:p>
          <a:p>
            <a:r>
              <a:rPr lang="en-US" dirty="0"/>
              <a:t>The sequences of messages in a topic are called a data stream</a:t>
            </a:r>
          </a:p>
          <a:p>
            <a:r>
              <a:rPr lang="en-US" dirty="0"/>
              <a:t>You don’t query topics, instead, producers/consumers handle it</a:t>
            </a:r>
          </a:p>
        </p:txBody>
      </p:sp>
      <p:pic>
        <p:nvPicPr>
          <p:cNvPr id="5" name="Picture 4">
            <a:extLst>
              <a:ext uri="{FF2B5EF4-FFF2-40B4-BE49-F238E27FC236}">
                <a16:creationId xmlns:a16="http://schemas.microsoft.com/office/drawing/2014/main" id="{92D6DFD3-0635-6E3A-7EBF-41BC303AC92C}"/>
              </a:ext>
            </a:extLst>
          </p:cNvPr>
          <p:cNvPicPr>
            <a:picLocks noChangeAspect="1"/>
          </p:cNvPicPr>
          <p:nvPr/>
        </p:nvPicPr>
        <p:blipFill>
          <a:blip r:embed="rId2"/>
          <a:stretch>
            <a:fillRect/>
          </a:stretch>
        </p:blipFill>
        <p:spPr>
          <a:xfrm>
            <a:off x="8012380" y="2057411"/>
            <a:ext cx="2837951" cy="4518561"/>
          </a:xfrm>
          <a:prstGeom prst="rect">
            <a:avLst/>
          </a:prstGeom>
        </p:spPr>
      </p:pic>
    </p:spTree>
    <p:extLst>
      <p:ext uri="{BB962C8B-B14F-4D97-AF65-F5344CB8AC3E}">
        <p14:creationId xmlns:p14="http://schemas.microsoft.com/office/powerpoint/2010/main" val="2769665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70DDA-B0FE-FE69-18C4-CB0362CA6F36}"/>
              </a:ext>
            </a:extLst>
          </p:cNvPr>
          <p:cNvSpPr>
            <a:spLocks noGrp="1"/>
          </p:cNvSpPr>
          <p:nvPr>
            <p:ph type="title"/>
          </p:nvPr>
        </p:nvSpPr>
        <p:spPr/>
        <p:txBody>
          <a:bodyPr/>
          <a:lstStyle/>
          <a:p>
            <a:r>
              <a:rPr lang="en-US" dirty="0"/>
              <a:t>Partitions &amp; offsets</a:t>
            </a:r>
          </a:p>
        </p:txBody>
      </p:sp>
      <p:sp>
        <p:nvSpPr>
          <p:cNvPr id="3" name="Content Placeholder 2">
            <a:extLst>
              <a:ext uri="{FF2B5EF4-FFF2-40B4-BE49-F238E27FC236}">
                <a16:creationId xmlns:a16="http://schemas.microsoft.com/office/drawing/2014/main" id="{A16DDBFB-B669-EAB3-20EA-0A0D2E933266}"/>
              </a:ext>
            </a:extLst>
          </p:cNvPr>
          <p:cNvSpPr>
            <a:spLocks noGrp="1"/>
          </p:cNvSpPr>
          <p:nvPr>
            <p:ph idx="1"/>
          </p:nvPr>
        </p:nvSpPr>
        <p:spPr>
          <a:xfrm>
            <a:off x="581192" y="2180496"/>
            <a:ext cx="11029615" cy="1488979"/>
          </a:xfrm>
        </p:spPr>
        <p:txBody>
          <a:bodyPr>
            <a:normAutofit lnSpcReduction="10000"/>
          </a:bodyPr>
          <a:lstStyle/>
          <a:p>
            <a:r>
              <a:rPr lang="en-US" dirty="0"/>
              <a:t>Topics are split into partitions </a:t>
            </a:r>
          </a:p>
          <a:p>
            <a:pPr lvl="1"/>
            <a:r>
              <a:rPr lang="en-US" dirty="0"/>
              <a:t>Messages within each partition are ordered</a:t>
            </a:r>
          </a:p>
          <a:p>
            <a:pPr lvl="1"/>
            <a:r>
              <a:rPr lang="en-US" dirty="0"/>
              <a:t>Each message gets an incremental ID, called its offset </a:t>
            </a:r>
          </a:p>
          <a:p>
            <a:r>
              <a:rPr lang="en-US" dirty="0"/>
              <a:t>Kafka Topics are immutable: once data is written to them, it cannot be changed</a:t>
            </a:r>
          </a:p>
        </p:txBody>
      </p:sp>
      <p:pic>
        <p:nvPicPr>
          <p:cNvPr id="5" name="Picture 4">
            <a:extLst>
              <a:ext uri="{FF2B5EF4-FFF2-40B4-BE49-F238E27FC236}">
                <a16:creationId xmlns:a16="http://schemas.microsoft.com/office/drawing/2014/main" id="{095330FA-84B5-BDE3-E218-D1F0613C9868}"/>
              </a:ext>
            </a:extLst>
          </p:cNvPr>
          <p:cNvPicPr>
            <a:picLocks noChangeAspect="1"/>
          </p:cNvPicPr>
          <p:nvPr/>
        </p:nvPicPr>
        <p:blipFill>
          <a:blip r:embed="rId2"/>
          <a:stretch>
            <a:fillRect/>
          </a:stretch>
        </p:blipFill>
        <p:spPr>
          <a:xfrm>
            <a:off x="2055520" y="3966360"/>
            <a:ext cx="8080960" cy="2393362"/>
          </a:xfrm>
          <a:prstGeom prst="rect">
            <a:avLst/>
          </a:prstGeom>
        </p:spPr>
      </p:pic>
    </p:spTree>
    <p:extLst>
      <p:ext uri="{BB962C8B-B14F-4D97-AF65-F5344CB8AC3E}">
        <p14:creationId xmlns:p14="http://schemas.microsoft.com/office/powerpoint/2010/main" val="1447893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23B48-3E5B-556F-1BD7-D1B0D9A9F4F0}"/>
              </a:ext>
            </a:extLst>
          </p:cNvPr>
          <p:cNvSpPr>
            <a:spLocks noGrp="1"/>
          </p:cNvSpPr>
          <p:nvPr>
            <p:ph type="title"/>
          </p:nvPr>
        </p:nvSpPr>
        <p:spPr/>
        <p:txBody>
          <a:bodyPr/>
          <a:lstStyle/>
          <a:p>
            <a:r>
              <a:rPr lang="en-US" dirty="0"/>
              <a:t>Topic example: </a:t>
            </a:r>
            <a:r>
              <a:rPr lang="en-US" dirty="0" err="1"/>
              <a:t>truck_gps</a:t>
            </a:r>
            <a:endParaRPr lang="en-US" dirty="0"/>
          </a:p>
        </p:txBody>
      </p:sp>
      <p:sp>
        <p:nvSpPr>
          <p:cNvPr id="3" name="Content Placeholder 2">
            <a:extLst>
              <a:ext uri="{FF2B5EF4-FFF2-40B4-BE49-F238E27FC236}">
                <a16:creationId xmlns:a16="http://schemas.microsoft.com/office/drawing/2014/main" id="{11C6477D-B264-F6A0-BCB3-061958820D34}"/>
              </a:ext>
            </a:extLst>
          </p:cNvPr>
          <p:cNvSpPr>
            <a:spLocks noGrp="1"/>
          </p:cNvSpPr>
          <p:nvPr>
            <p:ph idx="1"/>
          </p:nvPr>
        </p:nvSpPr>
        <p:spPr>
          <a:xfrm>
            <a:off x="2243738" y="4025735"/>
            <a:ext cx="7921539" cy="2509958"/>
          </a:xfrm>
        </p:spPr>
        <p:txBody>
          <a:bodyPr/>
          <a:lstStyle/>
          <a:p>
            <a:r>
              <a:rPr lang="en-US" dirty="0"/>
              <a:t>A fleet of trucks reports its position every 20 seconds via a producer</a:t>
            </a:r>
          </a:p>
          <a:p>
            <a:r>
              <a:rPr lang="en-US" dirty="0"/>
              <a:t>Each truck sends its id, latitude, and longitude into the </a:t>
            </a:r>
            <a:r>
              <a:rPr lang="en-US" dirty="0" err="1"/>
              <a:t>kafka</a:t>
            </a:r>
            <a:r>
              <a:rPr lang="en-US" dirty="0"/>
              <a:t> topic</a:t>
            </a:r>
          </a:p>
          <a:p>
            <a:r>
              <a:rPr lang="en-US" dirty="0" err="1"/>
              <a:t>trucks_gps</a:t>
            </a:r>
            <a:r>
              <a:rPr lang="en-US" dirty="0"/>
              <a:t> </a:t>
            </a:r>
            <a:r>
              <a:rPr lang="en-US" dirty="0" err="1"/>
              <a:t>kafka</a:t>
            </a:r>
            <a:r>
              <a:rPr lang="en-US" dirty="0"/>
              <a:t> topic now has the position of ALL trucks</a:t>
            </a:r>
          </a:p>
          <a:p>
            <a:r>
              <a:rPr lang="en-US" dirty="0"/>
              <a:t>We can choose to create the topic with x amount of partitions</a:t>
            </a:r>
          </a:p>
        </p:txBody>
      </p:sp>
      <p:pic>
        <p:nvPicPr>
          <p:cNvPr id="5" name="Picture 4">
            <a:extLst>
              <a:ext uri="{FF2B5EF4-FFF2-40B4-BE49-F238E27FC236}">
                <a16:creationId xmlns:a16="http://schemas.microsoft.com/office/drawing/2014/main" id="{D5C915AD-81E3-7FE2-642E-9F9B68703C50}"/>
              </a:ext>
            </a:extLst>
          </p:cNvPr>
          <p:cNvPicPr>
            <a:picLocks noChangeAspect="1"/>
          </p:cNvPicPr>
          <p:nvPr/>
        </p:nvPicPr>
        <p:blipFill>
          <a:blip r:embed="rId2"/>
          <a:stretch>
            <a:fillRect/>
          </a:stretch>
        </p:blipFill>
        <p:spPr>
          <a:xfrm>
            <a:off x="1573480" y="1866479"/>
            <a:ext cx="9045039" cy="2008733"/>
          </a:xfrm>
          <a:prstGeom prst="rect">
            <a:avLst/>
          </a:prstGeom>
        </p:spPr>
      </p:pic>
    </p:spTree>
    <p:extLst>
      <p:ext uri="{BB962C8B-B14F-4D97-AF65-F5344CB8AC3E}">
        <p14:creationId xmlns:p14="http://schemas.microsoft.com/office/powerpoint/2010/main" val="1635922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27DD9-E7C8-4232-1F18-0487E3DF42F0}"/>
              </a:ext>
            </a:extLst>
          </p:cNvPr>
          <p:cNvSpPr>
            <a:spLocks noGrp="1"/>
          </p:cNvSpPr>
          <p:nvPr>
            <p:ph type="title"/>
          </p:nvPr>
        </p:nvSpPr>
        <p:spPr/>
        <p:txBody>
          <a:bodyPr/>
          <a:lstStyle/>
          <a:p>
            <a:r>
              <a:rPr lang="en-US" dirty="0"/>
              <a:t>Topics, partitions, &amp; offsets – a bit more</a:t>
            </a:r>
          </a:p>
        </p:txBody>
      </p:sp>
      <p:sp>
        <p:nvSpPr>
          <p:cNvPr id="3" name="Content Placeholder 2">
            <a:extLst>
              <a:ext uri="{FF2B5EF4-FFF2-40B4-BE49-F238E27FC236}">
                <a16:creationId xmlns:a16="http://schemas.microsoft.com/office/drawing/2014/main" id="{FA7F560E-57FA-7451-A2D9-C1D4D9C85E0E}"/>
              </a:ext>
            </a:extLst>
          </p:cNvPr>
          <p:cNvSpPr>
            <a:spLocks noGrp="1"/>
          </p:cNvSpPr>
          <p:nvPr>
            <p:ph idx="1"/>
          </p:nvPr>
        </p:nvSpPr>
        <p:spPr>
          <a:xfrm>
            <a:off x="581192" y="1876302"/>
            <a:ext cx="11029615" cy="4572000"/>
          </a:xfrm>
        </p:spPr>
        <p:txBody>
          <a:bodyPr/>
          <a:lstStyle/>
          <a:p>
            <a:r>
              <a:rPr lang="en-US" dirty="0"/>
              <a:t>IMMUTABILITY</a:t>
            </a:r>
          </a:p>
          <a:p>
            <a:r>
              <a:rPr lang="en-US" dirty="0"/>
              <a:t>Data is kept only for a limited time (default is one week – configurable)</a:t>
            </a:r>
          </a:p>
          <a:p>
            <a:r>
              <a:rPr lang="en-US" dirty="0"/>
              <a:t>Offsets only have meaning for a specific partition:</a:t>
            </a:r>
          </a:p>
          <a:p>
            <a:pPr lvl="1"/>
            <a:r>
              <a:rPr lang="en-US" dirty="0"/>
              <a:t>Offset 3 in partition 0 doesn’t represent the same data as Offset 3 in partition 1</a:t>
            </a:r>
          </a:p>
          <a:p>
            <a:pPr lvl="1"/>
            <a:r>
              <a:rPr lang="en-US" dirty="0"/>
              <a:t>Offsets are not re-used even if previous messages have been deleted</a:t>
            </a:r>
          </a:p>
          <a:p>
            <a:r>
              <a:rPr lang="en-US" dirty="0"/>
              <a:t>Order is guaranteed only within a partition (not across partitions)</a:t>
            </a:r>
          </a:p>
          <a:p>
            <a:r>
              <a:rPr lang="en-US" dirty="0"/>
              <a:t>Data is assigned randomly to a partition unless a key is provided </a:t>
            </a:r>
          </a:p>
          <a:p>
            <a:r>
              <a:rPr lang="en-US" dirty="0"/>
              <a:t>You can have as many partitions per topic as you want</a:t>
            </a:r>
          </a:p>
        </p:txBody>
      </p:sp>
    </p:spTree>
    <p:extLst>
      <p:ext uri="{BB962C8B-B14F-4D97-AF65-F5344CB8AC3E}">
        <p14:creationId xmlns:p14="http://schemas.microsoft.com/office/powerpoint/2010/main" val="3285165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C387E-CA5D-C751-5A6B-AD26E7AE2F67}"/>
              </a:ext>
            </a:extLst>
          </p:cNvPr>
          <p:cNvSpPr>
            <a:spLocks noGrp="1"/>
          </p:cNvSpPr>
          <p:nvPr>
            <p:ph type="title"/>
          </p:nvPr>
        </p:nvSpPr>
        <p:spPr/>
        <p:txBody>
          <a:bodyPr/>
          <a:lstStyle/>
          <a:p>
            <a:r>
              <a:rPr lang="en-US" dirty="0"/>
              <a:t>Producers</a:t>
            </a:r>
          </a:p>
        </p:txBody>
      </p:sp>
      <p:sp>
        <p:nvSpPr>
          <p:cNvPr id="3" name="Content Placeholder 2">
            <a:extLst>
              <a:ext uri="{FF2B5EF4-FFF2-40B4-BE49-F238E27FC236}">
                <a16:creationId xmlns:a16="http://schemas.microsoft.com/office/drawing/2014/main" id="{277C3A29-0361-8833-E9EE-8BDD6AC9CDD7}"/>
              </a:ext>
            </a:extLst>
          </p:cNvPr>
          <p:cNvSpPr>
            <a:spLocks noGrp="1"/>
          </p:cNvSpPr>
          <p:nvPr>
            <p:ph idx="1"/>
          </p:nvPr>
        </p:nvSpPr>
        <p:spPr>
          <a:xfrm>
            <a:off x="581193" y="2078182"/>
            <a:ext cx="11029615" cy="1603169"/>
          </a:xfrm>
        </p:spPr>
        <p:txBody>
          <a:bodyPr>
            <a:normAutofit/>
          </a:bodyPr>
          <a:lstStyle/>
          <a:p>
            <a:r>
              <a:rPr lang="en-US" dirty="0"/>
              <a:t>Producers write data to topics (which are made of partitions)</a:t>
            </a:r>
          </a:p>
          <a:p>
            <a:r>
              <a:rPr lang="en-US" dirty="0"/>
              <a:t>Producers know which partition to write to (and which Kafka broker has it; more on those later)</a:t>
            </a:r>
          </a:p>
          <a:p>
            <a:r>
              <a:rPr lang="en-US" dirty="0"/>
              <a:t>In case of Kafka broker failures, Producers will automatically recover</a:t>
            </a:r>
          </a:p>
        </p:txBody>
      </p:sp>
      <p:pic>
        <p:nvPicPr>
          <p:cNvPr id="5" name="Picture 4">
            <a:extLst>
              <a:ext uri="{FF2B5EF4-FFF2-40B4-BE49-F238E27FC236}">
                <a16:creationId xmlns:a16="http://schemas.microsoft.com/office/drawing/2014/main" id="{860CD027-3B17-59DE-F0AF-D04D18D0176F}"/>
              </a:ext>
            </a:extLst>
          </p:cNvPr>
          <p:cNvPicPr>
            <a:picLocks noChangeAspect="1"/>
          </p:cNvPicPr>
          <p:nvPr/>
        </p:nvPicPr>
        <p:blipFill>
          <a:blip r:embed="rId2"/>
          <a:stretch>
            <a:fillRect/>
          </a:stretch>
        </p:blipFill>
        <p:spPr>
          <a:xfrm>
            <a:off x="1437624" y="3913143"/>
            <a:ext cx="9316750" cy="2753109"/>
          </a:xfrm>
          <a:prstGeom prst="rect">
            <a:avLst/>
          </a:prstGeom>
        </p:spPr>
      </p:pic>
    </p:spTree>
    <p:extLst>
      <p:ext uri="{BB962C8B-B14F-4D97-AF65-F5344CB8AC3E}">
        <p14:creationId xmlns:p14="http://schemas.microsoft.com/office/powerpoint/2010/main" val="2279628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2550A-DC41-A793-997F-0C96B62C0971}"/>
              </a:ext>
            </a:extLst>
          </p:cNvPr>
          <p:cNvSpPr>
            <a:spLocks noGrp="1"/>
          </p:cNvSpPr>
          <p:nvPr>
            <p:ph type="title"/>
          </p:nvPr>
        </p:nvSpPr>
        <p:spPr/>
        <p:txBody>
          <a:bodyPr/>
          <a:lstStyle/>
          <a:p>
            <a:r>
              <a:rPr lang="en-US" dirty="0"/>
              <a:t>Producers: Message Keys</a:t>
            </a:r>
          </a:p>
        </p:txBody>
      </p:sp>
      <p:sp>
        <p:nvSpPr>
          <p:cNvPr id="3" name="Content Placeholder 2">
            <a:extLst>
              <a:ext uri="{FF2B5EF4-FFF2-40B4-BE49-F238E27FC236}">
                <a16:creationId xmlns:a16="http://schemas.microsoft.com/office/drawing/2014/main" id="{1DB05335-8B7C-D85B-5D89-9547C055DBF5}"/>
              </a:ext>
            </a:extLst>
          </p:cNvPr>
          <p:cNvSpPr>
            <a:spLocks noGrp="1"/>
          </p:cNvSpPr>
          <p:nvPr>
            <p:ph idx="1"/>
          </p:nvPr>
        </p:nvSpPr>
        <p:spPr>
          <a:xfrm>
            <a:off x="581192" y="2180497"/>
            <a:ext cx="11029615" cy="1868990"/>
          </a:xfrm>
        </p:spPr>
        <p:txBody>
          <a:bodyPr/>
          <a:lstStyle/>
          <a:p>
            <a:r>
              <a:rPr lang="en-US" dirty="0"/>
              <a:t>Producers can choose to send a message key (string, number, binary, </a:t>
            </a:r>
            <a:r>
              <a:rPr lang="en-US" dirty="0" err="1"/>
              <a:t>ect</a:t>
            </a:r>
            <a:r>
              <a:rPr lang="en-US" dirty="0"/>
              <a:t>.)</a:t>
            </a:r>
          </a:p>
          <a:p>
            <a:r>
              <a:rPr lang="en-US" dirty="0"/>
              <a:t>If key = null, data is sent round robin (partition 0, then partition 1, etc.)</a:t>
            </a:r>
          </a:p>
          <a:p>
            <a:r>
              <a:rPr lang="en-US" dirty="0"/>
              <a:t>If key != null, then all messages for that key will always go to the same partition (uses hashing strategy)</a:t>
            </a:r>
          </a:p>
          <a:p>
            <a:r>
              <a:rPr lang="en-US" dirty="0"/>
              <a:t>A key is typically sent if you need message ordering for a specific field (example: </a:t>
            </a:r>
            <a:r>
              <a:rPr lang="en-US" dirty="0" err="1"/>
              <a:t>truck_id</a:t>
            </a:r>
            <a:r>
              <a:rPr lang="en-US" dirty="0"/>
              <a:t>)</a:t>
            </a:r>
          </a:p>
        </p:txBody>
      </p:sp>
      <p:pic>
        <p:nvPicPr>
          <p:cNvPr id="5" name="Picture 4">
            <a:extLst>
              <a:ext uri="{FF2B5EF4-FFF2-40B4-BE49-F238E27FC236}">
                <a16:creationId xmlns:a16="http://schemas.microsoft.com/office/drawing/2014/main" id="{64556922-DF09-9A06-6945-A8EBD22CEE04}"/>
              </a:ext>
            </a:extLst>
          </p:cNvPr>
          <p:cNvPicPr>
            <a:picLocks noChangeAspect="1"/>
          </p:cNvPicPr>
          <p:nvPr/>
        </p:nvPicPr>
        <p:blipFill>
          <a:blip r:embed="rId2"/>
          <a:stretch>
            <a:fillRect/>
          </a:stretch>
        </p:blipFill>
        <p:spPr>
          <a:xfrm>
            <a:off x="2109230" y="4235937"/>
            <a:ext cx="7973538" cy="2162477"/>
          </a:xfrm>
          <a:prstGeom prst="rect">
            <a:avLst/>
          </a:prstGeom>
        </p:spPr>
      </p:pic>
    </p:spTree>
    <p:extLst>
      <p:ext uri="{BB962C8B-B14F-4D97-AF65-F5344CB8AC3E}">
        <p14:creationId xmlns:p14="http://schemas.microsoft.com/office/powerpoint/2010/main" val="1103316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BB7D6-9328-BFE4-A1F4-BD586CFA7EB0}"/>
              </a:ext>
            </a:extLst>
          </p:cNvPr>
          <p:cNvSpPr>
            <a:spLocks noGrp="1"/>
          </p:cNvSpPr>
          <p:nvPr>
            <p:ph type="title"/>
          </p:nvPr>
        </p:nvSpPr>
        <p:spPr/>
        <p:txBody>
          <a:bodyPr/>
          <a:lstStyle/>
          <a:p>
            <a:r>
              <a:rPr lang="en-US" dirty="0"/>
              <a:t>Kafka Message anatomy</a:t>
            </a:r>
          </a:p>
        </p:txBody>
      </p:sp>
      <p:pic>
        <p:nvPicPr>
          <p:cNvPr id="5" name="Content Placeholder 4">
            <a:extLst>
              <a:ext uri="{FF2B5EF4-FFF2-40B4-BE49-F238E27FC236}">
                <a16:creationId xmlns:a16="http://schemas.microsoft.com/office/drawing/2014/main" id="{83336ACA-A156-6852-7F8C-01590FFEF34D}"/>
              </a:ext>
            </a:extLst>
          </p:cNvPr>
          <p:cNvPicPr>
            <a:picLocks noGrp="1" noChangeAspect="1"/>
          </p:cNvPicPr>
          <p:nvPr>
            <p:ph idx="1"/>
          </p:nvPr>
        </p:nvPicPr>
        <p:blipFill>
          <a:blip r:embed="rId2"/>
          <a:stretch>
            <a:fillRect/>
          </a:stretch>
        </p:blipFill>
        <p:spPr>
          <a:xfrm>
            <a:off x="2988928" y="1874161"/>
            <a:ext cx="6214144" cy="4650320"/>
          </a:xfrm>
          <a:prstGeom prst="rect">
            <a:avLst/>
          </a:prstGeom>
        </p:spPr>
      </p:pic>
    </p:spTree>
    <p:extLst>
      <p:ext uri="{BB962C8B-B14F-4D97-AF65-F5344CB8AC3E}">
        <p14:creationId xmlns:p14="http://schemas.microsoft.com/office/powerpoint/2010/main" val="369976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5CBF7-A193-31D3-F8D0-B173FEA8738C}"/>
              </a:ext>
            </a:extLst>
          </p:cNvPr>
          <p:cNvSpPr>
            <a:spLocks noGrp="1"/>
          </p:cNvSpPr>
          <p:nvPr>
            <p:ph type="title"/>
          </p:nvPr>
        </p:nvSpPr>
        <p:spPr/>
        <p:txBody>
          <a:bodyPr/>
          <a:lstStyle/>
          <a:p>
            <a:r>
              <a:rPr lang="en-US" dirty="0"/>
              <a:t>Kafka message serializer</a:t>
            </a:r>
          </a:p>
        </p:txBody>
      </p:sp>
      <p:sp>
        <p:nvSpPr>
          <p:cNvPr id="3" name="Content Placeholder 2">
            <a:extLst>
              <a:ext uri="{FF2B5EF4-FFF2-40B4-BE49-F238E27FC236}">
                <a16:creationId xmlns:a16="http://schemas.microsoft.com/office/drawing/2014/main" id="{9CAE23BE-17AF-9AFA-BA52-0DF5E76479EC}"/>
              </a:ext>
            </a:extLst>
          </p:cNvPr>
          <p:cNvSpPr>
            <a:spLocks noGrp="1"/>
          </p:cNvSpPr>
          <p:nvPr>
            <p:ph idx="1"/>
          </p:nvPr>
        </p:nvSpPr>
        <p:spPr>
          <a:xfrm>
            <a:off x="542308" y="2180496"/>
            <a:ext cx="5656612" cy="3678303"/>
          </a:xfrm>
        </p:spPr>
        <p:txBody>
          <a:bodyPr/>
          <a:lstStyle/>
          <a:p>
            <a:r>
              <a:rPr lang="en-US" dirty="0"/>
              <a:t>Kafka only accepts bytes as an input from producers and sends bytes out as output to consumers</a:t>
            </a:r>
          </a:p>
          <a:p>
            <a:r>
              <a:rPr lang="en-US" dirty="0"/>
              <a:t>Message serialization means transforming objects / data into bytes</a:t>
            </a:r>
          </a:p>
          <a:p>
            <a:r>
              <a:rPr lang="en-US" dirty="0"/>
              <a:t>They are used on values and keys</a:t>
            </a:r>
          </a:p>
          <a:p>
            <a:r>
              <a:rPr lang="en-US" dirty="0"/>
              <a:t>Common serializers:</a:t>
            </a:r>
          </a:p>
          <a:p>
            <a:pPr lvl="1"/>
            <a:r>
              <a:rPr lang="en-US" dirty="0"/>
              <a:t>String (including JSON)</a:t>
            </a:r>
          </a:p>
          <a:p>
            <a:pPr lvl="1"/>
            <a:r>
              <a:rPr lang="en-US" dirty="0"/>
              <a:t>Int, Float</a:t>
            </a:r>
          </a:p>
          <a:p>
            <a:pPr lvl="1"/>
            <a:r>
              <a:rPr lang="en-US" dirty="0"/>
              <a:t>Avro</a:t>
            </a:r>
          </a:p>
          <a:p>
            <a:pPr lvl="1"/>
            <a:r>
              <a:rPr lang="en-US" dirty="0" err="1"/>
              <a:t>Protobuf</a:t>
            </a:r>
            <a:endParaRPr lang="en-US" dirty="0"/>
          </a:p>
        </p:txBody>
      </p:sp>
      <p:pic>
        <p:nvPicPr>
          <p:cNvPr id="5" name="Picture 4">
            <a:extLst>
              <a:ext uri="{FF2B5EF4-FFF2-40B4-BE49-F238E27FC236}">
                <a16:creationId xmlns:a16="http://schemas.microsoft.com/office/drawing/2014/main" id="{60184095-A401-FADC-32D9-444A2B0DFCA2}"/>
              </a:ext>
            </a:extLst>
          </p:cNvPr>
          <p:cNvPicPr>
            <a:picLocks noChangeAspect="1"/>
          </p:cNvPicPr>
          <p:nvPr/>
        </p:nvPicPr>
        <p:blipFill>
          <a:blip r:embed="rId2"/>
          <a:stretch>
            <a:fillRect/>
          </a:stretch>
        </p:blipFill>
        <p:spPr>
          <a:xfrm>
            <a:off x="6827122" y="2302416"/>
            <a:ext cx="3762900" cy="4058216"/>
          </a:xfrm>
          <a:prstGeom prst="rect">
            <a:avLst/>
          </a:prstGeom>
        </p:spPr>
      </p:pic>
    </p:spTree>
    <p:extLst>
      <p:ext uri="{BB962C8B-B14F-4D97-AF65-F5344CB8AC3E}">
        <p14:creationId xmlns:p14="http://schemas.microsoft.com/office/powerpoint/2010/main" val="3769209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98818-E10D-2339-4AA4-24DC438EE350}"/>
              </a:ext>
            </a:extLst>
          </p:cNvPr>
          <p:cNvSpPr>
            <a:spLocks noGrp="1"/>
          </p:cNvSpPr>
          <p:nvPr>
            <p:ph type="title"/>
          </p:nvPr>
        </p:nvSpPr>
        <p:spPr/>
        <p:txBody>
          <a:bodyPr/>
          <a:lstStyle/>
          <a:p>
            <a:r>
              <a:rPr lang="en-US" dirty="0"/>
              <a:t>For the curious: Kafka message hashing</a:t>
            </a:r>
          </a:p>
        </p:txBody>
      </p:sp>
      <p:sp>
        <p:nvSpPr>
          <p:cNvPr id="3" name="Content Placeholder 2">
            <a:extLst>
              <a:ext uri="{FF2B5EF4-FFF2-40B4-BE49-F238E27FC236}">
                <a16:creationId xmlns:a16="http://schemas.microsoft.com/office/drawing/2014/main" id="{9059999E-0774-22CE-02D4-73B9453EF338}"/>
              </a:ext>
            </a:extLst>
          </p:cNvPr>
          <p:cNvSpPr>
            <a:spLocks noGrp="1"/>
          </p:cNvSpPr>
          <p:nvPr>
            <p:ph idx="1"/>
          </p:nvPr>
        </p:nvSpPr>
        <p:spPr/>
        <p:txBody>
          <a:bodyPr/>
          <a:lstStyle/>
          <a:p>
            <a:r>
              <a:rPr lang="en-US" dirty="0"/>
              <a:t>This is under-the-hood behavior – more than you probably need to know</a:t>
            </a:r>
          </a:p>
          <a:p>
            <a:r>
              <a:rPr lang="en-US" dirty="0"/>
              <a:t>Key takeaway: the producer determines which partition to send data </a:t>
            </a:r>
          </a:p>
          <a:p>
            <a:r>
              <a:rPr lang="en-US" dirty="0"/>
              <a:t>A Kafka partitioner is responsible for taking a record and determining which partition to send it into </a:t>
            </a:r>
          </a:p>
          <a:p>
            <a:endParaRPr lang="en-US" dirty="0"/>
          </a:p>
          <a:p>
            <a:endParaRPr lang="en-US" dirty="0"/>
          </a:p>
          <a:p>
            <a:pPr marL="0" indent="0">
              <a:buNone/>
            </a:pPr>
            <a:endParaRPr lang="en-US" dirty="0"/>
          </a:p>
          <a:p>
            <a:r>
              <a:rPr lang="en-US" dirty="0"/>
              <a:t>Key Hashing – the process of determining the mapping of a key to a partition </a:t>
            </a:r>
          </a:p>
          <a:p>
            <a:r>
              <a:rPr lang="en-US" dirty="0"/>
              <a:t>In the default Kafka partitioner, the keys are hashed using the murmur2 algorithm, with the formula below for those curious: </a:t>
            </a:r>
          </a:p>
        </p:txBody>
      </p:sp>
      <p:pic>
        <p:nvPicPr>
          <p:cNvPr id="5" name="Picture 4">
            <a:extLst>
              <a:ext uri="{FF2B5EF4-FFF2-40B4-BE49-F238E27FC236}">
                <a16:creationId xmlns:a16="http://schemas.microsoft.com/office/drawing/2014/main" id="{3A1004E7-63A9-33AF-7A5E-AC001AFB652C}"/>
              </a:ext>
            </a:extLst>
          </p:cNvPr>
          <p:cNvPicPr>
            <a:picLocks noChangeAspect="1"/>
          </p:cNvPicPr>
          <p:nvPr/>
        </p:nvPicPr>
        <p:blipFill>
          <a:blip r:embed="rId2"/>
          <a:stretch>
            <a:fillRect/>
          </a:stretch>
        </p:blipFill>
        <p:spPr>
          <a:xfrm>
            <a:off x="2052072" y="3490935"/>
            <a:ext cx="8087854" cy="1057423"/>
          </a:xfrm>
          <a:prstGeom prst="rect">
            <a:avLst/>
          </a:prstGeom>
        </p:spPr>
      </p:pic>
      <p:pic>
        <p:nvPicPr>
          <p:cNvPr id="7" name="Picture 6">
            <a:extLst>
              <a:ext uri="{FF2B5EF4-FFF2-40B4-BE49-F238E27FC236}">
                <a16:creationId xmlns:a16="http://schemas.microsoft.com/office/drawing/2014/main" id="{78ABA565-A5FA-799D-BBCE-AB1E6579964B}"/>
              </a:ext>
            </a:extLst>
          </p:cNvPr>
          <p:cNvPicPr>
            <a:picLocks noChangeAspect="1"/>
          </p:cNvPicPr>
          <p:nvPr/>
        </p:nvPicPr>
        <p:blipFill>
          <a:blip r:embed="rId3"/>
          <a:stretch>
            <a:fillRect/>
          </a:stretch>
        </p:blipFill>
        <p:spPr>
          <a:xfrm>
            <a:off x="1551940" y="5813051"/>
            <a:ext cx="9088118" cy="562053"/>
          </a:xfrm>
          <a:prstGeom prst="rect">
            <a:avLst/>
          </a:prstGeom>
        </p:spPr>
      </p:pic>
    </p:spTree>
    <p:extLst>
      <p:ext uri="{BB962C8B-B14F-4D97-AF65-F5344CB8AC3E}">
        <p14:creationId xmlns:p14="http://schemas.microsoft.com/office/powerpoint/2010/main" val="949919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6FF35-2BD0-B913-BF2B-FD288B747B27}"/>
              </a:ext>
            </a:extLst>
          </p:cNvPr>
          <p:cNvSpPr>
            <a:spLocks noGrp="1"/>
          </p:cNvSpPr>
          <p:nvPr>
            <p:ph type="title"/>
          </p:nvPr>
        </p:nvSpPr>
        <p:spPr/>
        <p:txBody>
          <a:bodyPr/>
          <a:lstStyle/>
          <a:p>
            <a:r>
              <a:rPr lang="en-US" dirty="0"/>
              <a:t>Consumers &amp; Deserialization</a:t>
            </a:r>
          </a:p>
        </p:txBody>
      </p:sp>
      <p:sp>
        <p:nvSpPr>
          <p:cNvPr id="3" name="Content Placeholder 2">
            <a:extLst>
              <a:ext uri="{FF2B5EF4-FFF2-40B4-BE49-F238E27FC236}">
                <a16:creationId xmlns:a16="http://schemas.microsoft.com/office/drawing/2014/main" id="{E87D1D05-F7A1-26FF-1392-3CFDB3C0A8DF}"/>
              </a:ext>
            </a:extLst>
          </p:cNvPr>
          <p:cNvSpPr>
            <a:spLocks noGrp="1"/>
          </p:cNvSpPr>
          <p:nvPr>
            <p:ph idx="1"/>
          </p:nvPr>
        </p:nvSpPr>
        <p:spPr>
          <a:xfrm>
            <a:off x="581192" y="2180496"/>
            <a:ext cx="11029615" cy="1631483"/>
          </a:xfrm>
        </p:spPr>
        <p:txBody>
          <a:bodyPr/>
          <a:lstStyle/>
          <a:p>
            <a:r>
              <a:rPr lang="en-US" dirty="0"/>
              <a:t>Consumers read data from a topic (identified by name) – pull model </a:t>
            </a:r>
          </a:p>
          <a:p>
            <a:r>
              <a:rPr lang="en-US" dirty="0"/>
              <a:t>Consumers automatically know which broker to read from</a:t>
            </a:r>
          </a:p>
          <a:p>
            <a:r>
              <a:rPr lang="en-US" dirty="0"/>
              <a:t>In case of broker failures, consumers know how to recover</a:t>
            </a:r>
          </a:p>
          <a:p>
            <a:r>
              <a:rPr lang="en-US" dirty="0"/>
              <a:t>Data is read in order from low to high offset within each partition </a:t>
            </a:r>
          </a:p>
        </p:txBody>
      </p:sp>
      <p:pic>
        <p:nvPicPr>
          <p:cNvPr id="5" name="Picture 4">
            <a:extLst>
              <a:ext uri="{FF2B5EF4-FFF2-40B4-BE49-F238E27FC236}">
                <a16:creationId xmlns:a16="http://schemas.microsoft.com/office/drawing/2014/main" id="{56ADE9C7-3D54-5D0B-6057-FE994C653817}"/>
              </a:ext>
            </a:extLst>
          </p:cNvPr>
          <p:cNvPicPr>
            <a:picLocks noChangeAspect="1"/>
          </p:cNvPicPr>
          <p:nvPr/>
        </p:nvPicPr>
        <p:blipFill>
          <a:blip r:embed="rId2"/>
          <a:stretch>
            <a:fillRect/>
          </a:stretch>
        </p:blipFill>
        <p:spPr>
          <a:xfrm>
            <a:off x="1661492" y="4040844"/>
            <a:ext cx="8869013" cy="2410161"/>
          </a:xfrm>
          <a:prstGeom prst="rect">
            <a:avLst/>
          </a:prstGeom>
        </p:spPr>
      </p:pic>
    </p:spTree>
    <p:extLst>
      <p:ext uri="{BB962C8B-B14F-4D97-AF65-F5344CB8AC3E}">
        <p14:creationId xmlns:p14="http://schemas.microsoft.com/office/powerpoint/2010/main" val="2828695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4D448-A8A4-71EA-A144-19A56F41E80F}"/>
              </a:ext>
            </a:extLst>
          </p:cNvPr>
          <p:cNvSpPr>
            <a:spLocks noGrp="1"/>
          </p:cNvSpPr>
          <p:nvPr>
            <p:ph type="title"/>
          </p:nvPr>
        </p:nvSpPr>
        <p:spPr/>
        <p:txBody>
          <a:bodyPr/>
          <a:lstStyle/>
          <a:p>
            <a:r>
              <a:rPr lang="en-US" dirty="0"/>
              <a:t>Consumer </a:t>
            </a:r>
            <a:r>
              <a:rPr lang="en-US" dirty="0" err="1"/>
              <a:t>Deserializer</a:t>
            </a:r>
            <a:endParaRPr lang="en-US" dirty="0"/>
          </a:p>
        </p:txBody>
      </p:sp>
      <p:sp>
        <p:nvSpPr>
          <p:cNvPr id="3" name="Content Placeholder 2">
            <a:extLst>
              <a:ext uri="{FF2B5EF4-FFF2-40B4-BE49-F238E27FC236}">
                <a16:creationId xmlns:a16="http://schemas.microsoft.com/office/drawing/2014/main" id="{FA3F9EDF-588B-42B3-59B7-E71E7C22865E}"/>
              </a:ext>
            </a:extLst>
          </p:cNvPr>
          <p:cNvSpPr>
            <a:spLocks noGrp="1"/>
          </p:cNvSpPr>
          <p:nvPr>
            <p:ph idx="1"/>
          </p:nvPr>
        </p:nvSpPr>
        <p:spPr>
          <a:xfrm>
            <a:off x="581193" y="2180496"/>
            <a:ext cx="6104616" cy="3678303"/>
          </a:xfrm>
        </p:spPr>
        <p:txBody>
          <a:bodyPr/>
          <a:lstStyle/>
          <a:p>
            <a:r>
              <a:rPr lang="en-US" dirty="0"/>
              <a:t>Deserialize indicates how to transform bytes into objects / data</a:t>
            </a:r>
          </a:p>
          <a:p>
            <a:r>
              <a:rPr lang="en-US" dirty="0"/>
              <a:t>They are used on the value and the key of the message</a:t>
            </a:r>
          </a:p>
          <a:p>
            <a:r>
              <a:rPr lang="en-US" dirty="0"/>
              <a:t>Common </a:t>
            </a:r>
            <a:r>
              <a:rPr lang="en-US" dirty="0" err="1"/>
              <a:t>deserializers</a:t>
            </a:r>
            <a:r>
              <a:rPr lang="en-US" dirty="0"/>
              <a:t>:</a:t>
            </a:r>
          </a:p>
          <a:p>
            <a:pPr lvl="1"/>
            <a:r>
              <a:rPr lang="en-US" dirty="0"/>
              <a:t>String (including JSON)</a:t>
            </a:r>
          </a:p>
          <a:p>
            <a:pPr lvl="1"/>
            <a:r>
              <a:rPr lang="en-US" dirty="0"/>
              <a:t>Int, Float</a:t>
            </a:r>
          </a:p>
          <a:p>
            <a:pPr lvl="1"/>
            <a:r>
              <a:rPr lang="en-US" dirty="0"/>
              <a:t>Avro</a:t>
            </a:r>
          </a:p>
          <a:p>
            <a:pPr lvl="1"/>
            <a:r>
              <a:rPr lang="en-US" dirty="0" err="1"/>
              <a:t>Protobuf</a:t>
            </a:r>
            <a:endParaRPr lang="en-US" dirty="0"/>
          </a:p>
          <a:p>
            <a:r>
              <a:rPr lang="en-US" dirty="0"/>
              <a:t>The serialization/deserialization type must not change during a topic lifecycle (create a new topic instead)</a:t>
            </a:r>
          </a:p>
        </p:txBody>
      </p:sp>
      <p:pic>
        <p:nvPicPr>
          <p:cNvPr id="5" name="Picture 4">
            <a:extLst>
              <a:ext uri="{FF2B5EF4-FFF2-40B4-BE49-F238E27FC236}">
                <a16:creationId xmlns:a16="http://schemas.microsoft.com/office/drawing/2014/main" id="{9BB729F8-293C-E14D-FDC6-259A1939755C}"/>
              </a:ext>
            </a:extLst>
          </p:cNvPr>
          <p:cNvPicPr>
            <a:picLocks noChangeAspect="1"/>
          </p:cNvPicPr>
          <p:nvPr/>
        </p:nvPicPr>
        <p:blipFill>
          <a:blip r:embed="rId2"/>
          <a:stretch>
            <a:fillRect/>
          </a:stretch>
        </p:blipFill>
        <p:spPr>
          <a:xfrm>
            <a:off x="7104886" y="2180496"/>
            <a:ext cx="3848637" cy="4315427"/>
          </a:xfrm>
          <a:prstGeom prst="rect">
            <a:avLst/>
          </a:prstGeom>
        </p:spPr>
      </p:pic>
    </p:spTree>
    <p:extLst>
      <p:ext uri="{BB962C8B-B14F-4D97-AF65-F5344CB8AC3E}">
        <p14:creationId xmlns:p14="http://schemas.microsoft.com/office/powerpoint/2010/main" val="627293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7C4CF-ABC3-612F-008B-A4C59E325BD5}"/>
              </a:ext>
            </a:extLst>
          </p:cNvPr>
          <p:cNvSpPr>
            <a:spLocks noGrp="1"/>
          </p:cNvSpPr>
          <p:nvPr>
            <p:ph type="title"/>
          </p:nvPr>
        </p:nvSpPr>
        <p:spPr/>
        <p:txBody>
          <a:bodyPr/>
          <a:lstStyle/>
          <a:p>
            <a:r>
              <a:rPr lang="en-US" dirty="0"/>
              <a:t>Consumer Groups</a:t>
            </a:r>
          </a:p>
        </p:txBody>
      </p:sp>
      <p:sp>
        <p:nvSpPr>
          <p:cNvPr id="3" name="Content Placeholder 2">
            <a:extLst>
              <a:ext uri="{FF2B5EF4-FFF2-40B4-BE49-F238E27FC236}">
                <a16:creationId xmlns:a16="http://schemas.microsoft.com/office/drawing/2014/main" id="{41BCF60A-E6A3-06FF-4BE5-BDF26817EF69}"/>
              </a:ext>
            </a:extLst>
          </p:cNvPr>
          <p:cNvSpPr>
            <a:spLocks noGrp="1"/>
          </p:cNvSpPr>
          <p:nvPr>
            <p:ph idx="1"/>
          </p:nvPr>
        </p:nvSpPr>
        <p:spPr>
          <a:xfrm>
            <a:off x="581192" y="2180496"/>
            <a:ext cx="11029615" cy="1013801"/>
          </a:xfrm>
        </p:spPr>
        <p:txBody>
          <a:bodyPr/>
          <a:lstStyle/>
          <a:p>
            <a:r>
              <a:rPr lang="en-US" dirty="0"/>
              <a:t>All the consumers in an application read data as a consumer group</a:t>
            </a:r>
          </a:p>
          <a:p>
            <a:r>
              <a:rPr lang="en-US" dirty="0"/>
              <a:t>Each consumer within a group reads from exclusive partitions</a:t>
            </a:r>
          </a:p>
        </p:txBody>
      </p:sp>
      <p:pic>
        <p:nvPicPr>
          <p:cNvPr id="5" name="Picture 4">
            <a:extLst>
              <a:ext uri="{FF2B5EF4-FFF2-40B4-BE49-F238E27FC236}">
                <a16:creationId xmlns:a16="http://schemas.microsoft.com/office/drawing/2014/main" id="{958D9124-76C8-81B7-E1F1-561EB719114A}"/>
              </a:ext>
            </a:extLst>
          </p:cNvPr>
          <p:cNvPicPr>
            <a:picLocks noChangeAspect="1"/>
          </p:cNvPicPr>
          <p:nvPr/>
        </p:nvPicPr>
        <p:blipFill>
          <a:blip r:embed="rId2"/>
          <a:stretch>
            <a:fillRect/>
          </a:stretch>
        </p:blipFill>
        <p:spPr>
          <a:xfrm>
            <a:off x="2337862" y="3550563"/>
            <a:ext cx="7516274" cy="3153215"/>
          </a:xfrm>
          <a:prstGeom prst="rect">
            <a:avLst/>
          </a:prstGeom>
        </p:spPr>
      </p:pic>
    </p:spTree>
    <p:extLst>
      <p:ext uri="{BB962C8B-B14F-4D97-AF65-F5344CB8AC3E}">
        <p14:creationId xmlns:p14="http://schemas.microsoft.com/office/powerpoint/2010/main" val="2006488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BBA35-FB9C-3C5C-98EC-434B225FDD2F}"/>
              </a:ext>
            </a:extLst>
          </p:cNvPr>
          <p:cNvSpPr>
            <a:spLocks noGrp="1"/>
          </p:cNvSpPr>
          <p:nvPr>
            <p:ph type="title"/>
          </p:nvPr>
        </p:nvSpPr>
        <p:spPr/>
        <p:txBody>
          <a:bodyPr/>
          <a:lstStyle/>
          <a:p>
            <a:r>
              <a:rPr lang="en-US" dirty="0"/>
              <a:t>Consumer group – what if too many consumers?</a:t>
            </a:r>
          </a:p>
        </p:txBody>
      </p:sp>
      <p:sp>
        <p:nvSpPr>
          <p:cNvPr id="3" name="Content Placeholder 2">
            <a:extLst>
              <a:ext uri="{FF2B5EF4-FFF2-40B4-BE49-F238E27FC236}">
                <a16:creationId xmlns:a16="http://schemas.microsoft.com/office/drawing/2014/main" id="{9889E6E8-F9DD-E4B2-5D32-3FF002E38EE3}"/>
              </a:ext>
            </a:extLst>
          </p:cNvPr>
          <p:cNvSpPr>
            <a:spLocks noGrp="1"/>
          </p:cNvSpPr>
          <p:nvPr>
            <p:ph idx="1"/>
          </p:nvPr>
        </p:nvSpPr>
        <p:spPr>
          <a:xfrm>
            <a:off x="581192" y="2180497"/>
            <a:ext cx="11029615" cy="1013800"/>
          </a:xfrm>
        </p:spPr>
        <p:txBody>
          <a:bodyPr/>
          <a:lstStyle/>
          <a:p>
            <a:r>
              <a:rPr lang="en-US" dirty="0"/>
              <a:t>If you have more consumers than partitions, some consumers may be inactive</a:t>
            </a:r>
          </a:p>
        </p:txBody>
      </p:sp>
      <p:pic>
        <p:nvPicPr>
          <p:cNvPr id="5" name="Picture 4">
            <a:extLst>
              <a:ext uri="{FF2B5EF4-FFF2-40B4-BE49-F238E27FC236}">
                <a16:creationId xmlns:a16="http://schemas.microsoft.com/office/drawing/2014/main" id="{BA76D9C1-A883-306F-DCEB-6495716BAD6E}"/>
              </a:ext>
            </a:extLst>
          </p:cNvPr>
          <p:cNvPicPr>
            <a:picLocks noChangeAspect="1"/>
          </p:cNvPicPr>
          <p:nvPr/>
        </p:nvPicPr>
        <p:blipFill>
          <a:blip r:embed="rId2"/>
          <a:stretch>
            <a:fillRect/>
          </a:stretch>
        </p:blipFill>
        <p:spPr>
          <a:xfrm>
            <a:off x="2480757" y="3658838"/>
            <a:ext cx="7230484" cy="3057952"/>
          </a:xfrm>
          <a:prstGeom prst="rect">
            <a:avLst/>
          </a:prstGeom>
        </p:spPr>
      </p:pic>
    </p:spTree>
    <p:extLst>
      <p:ext uri="{BB962C8B-B14F-4D97-AF65-F5344CB8AC3E}">
        <p14:creationId xmlns:p14="http://schemas.microsoft.com/office/powerpoint/2010/main" val="2467295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09CED-4CBA-0DC0-6173-A97A9FD73746}"/>
              </a:ext>
            </a:extLst>
          </p:cNvPr>
          <p:cNvSpPr>
            <a:spLocks noGrp="1"/>
          </p:cNvSpPr>
          <p:nvPr>
            <p:ph type="title"/>
          </p:nvPr>
        </p:nvSpPr>
        <p:spPr/>
        <p:txBody>
          <a:bodyPr/>
          <a:lstStyle/>
          <a:p>
            <a:r>
              <a:rPr lang="en-US" dirty="0"/>
              <a:t>Multiple consumers on one topic</a:t>
            </a:r>
          </a:p>
        </p:txBody>
      </p:sp>
      <p:sp>
        <p:nvSpPr>
          <p:cNvPr id="3" name="Content Placeholder 2">
            <a:extLst>
              <a:ext uri="{FF2B5EF4-FFF2-40B4-BE49-F238E27FC236}">
                <a16:creationId xmlns:a16="http://schemas.microsoft.com/office/drawing/2014/main" id="{EDAE63F6-FD2A-6D74-4615-4E2FB0482312}"/>
              </a:ext>
            </a:extLst>
          </p:cNvPr>
          <p:cNvSpPr>
            <a:spLocks noGrp="1"/>
          </p:cNvSpPr>
          <p:nvPr>
            <p:ph idx="1"/>
          </p:nvPr>
        </p:nvSpPr>
        <p:spPr>
          <a:xfrm>
            <a:off x="581192" y="2180497"/>
            <a:ext cx="11029615" cy="1248503"/>
          </a:xfrm>
        </p:spPr>
        <p:txBody>
          <a:bodyPr>
            <a:normAutofit/>
          </a:bodyPr>
          <a:lstStyle/>
          <a:p>
            <a:r>
              <a:rPr lang="en-US" dirty="0"/>
              <a:t>In Apache Kafka, it is acceptable to have multiple consumer groups on the same topic </a:t>
            </a:r>
          </a:p>
          <a:p>
            <a:r>
              <a:rPr lang="en-US" dirty="0"/>
              <a:t>Often makes sense to have a group per service. I.e. truck location service &amp; truck notification service </a:t>
            </a:r>
          </a:p>
          <a:p>
            <a:r>
              <a:rPr lang="en-US" dirty="0"/>
              <a:t>To create distinct consumer groups, use the consumer property </a:t>
            </a:r>
            <a:r>
              <a:rPr lang="en-US" b="1" dirty="0"/>
              <a:t>group.id</a:t>
            </a:r>
          </a:p>
        </p:txBody>
      </p:sp>
      <p:pic>
        <p:nvPicPr>
          <p:cNvPr id="5" name="Picture 4">
            <a:extLst>
              <a:ext uri="{FF2B5EF4-FFF2-40B4-BE49-F238E27FC236}">
                <a16:creationId xmlns:a16="http://schemas.microsoft.com/office/drawing/2014/main" id="{B9CCA6E4-378A-A8F7-37C7-2968931D70D7}"/>
              </a:ext>
            </a:extLst>
          </p:cNvPr>
          <p:cNvPicPr>
            <a:picLocks noChangeAspect="1"/>
          </p:cNvPicPr>
          <p:nvPr/>
        </p:nvPicPr>
        <p:blipFill>
          <a:blip r:embed="rId2"/>
          <a:stretch>
            <a:fillRect/>
          </a:stretch>
        </p:blipFill>
        <p:spPr>
          <a:xfrm>
            <a:off x="1547176" y="3729085"/>
            <a:ext cx="9097645" cy="2867425"/>
          </a:xfrm>
          <a:prstGeom prst="rect">
            <a:avLst/>
          </a:prstGeom>
        </p:spPr>
      </p:pic>
    </p:spTree>
    <p:extLst>
      <p:ext uri="{BB962C8B-B14F-4D97-AF65-F5344CB8AC3E}">
        <p14:creationId xmlns:p14="http://schemas.microsoft.com/office/powerpoint/2010/main" val="14101988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22A36-1B95-DCF3-1944-AD2D7913F949}"/>
              </a:ext>
            </a:extLst>
          </p:cNvPr>
          <p:cNvSpPr>
            <a:spLocks noGrp="1"/>
          </p:cNvSpPr>
          <p:nvPr>
            <p:ph type="title"/>
          </p:nvPr>
        </p:nvSpPr>
        <p:spPr/>
        <p:txBody>
          <a:bodyPr/>
          <a:lstStyle/>
          <a:p>
            <a:r>
              <a:rPr lang="en-US" dirty="0"/>
              <a:t>Consumer offsets</a:t>
            </a:r>
          </a:p>
        </p:txBody>
      </p:sp>
      <p:sp>
        <p:nvSpPr>
          <p:cNvPr id="3" name="Content Placeholder 2">
            <a:extLst>
              <a:ext uri="{FF2B5EF4-FFF2-40B4-BE49-F238E27FC236}">
                <a16:creationId xmlns:a16="http://schemas.microsoft.com/office/drawing/2014/main" id="{5ABBB161-758C-5880-D83B-A7E17A2EA30A}"/>
              </a:ext>
            </a:extLst>
          </p:cNvPr>
          <p:cNvSpPr>
            <a:spLocks noGrp="1"/>
          </p:cNvSpPr>
          <p:nvPr>
            <p:ph idx="1"/>
          </p:nvPr>
        </p:nvSpPr>
        <p:spPr>
          <a:xfrm>
            <a:off x="581192" y="2180497"/>
            <a:ext cx="11029615" cy="1773986"/>
          </a:xfrm>
        </p:spPr>
        <p:txBody>
          <a:bodyPr>
            <a:normAutofit fontScale="92500" lnSpcReduction="10000"/>
          </a:bodyPr>
          <a:lstStyle/>
          <a:p>
            <a:r>
              <a:rPr lang="en-US" dirty="0"/>
              <a:t>Kafka stores the offsets at which a consumer group has been reading</a:t>
            </a:r>
          </a:p>
          <a:p>
            <a:r>
              <a:rPr lang="en-US" dirty="0"/>
              <a:t>The offsets committed are in a Kafka topic named __</a:t>
            </a:r>
            <a:r>
              <a:rPr lang="en-US" dirty="0" err="1"/>
              <a:t>consumer_offsets</a:t>
            </a:r>
            <a:endParaRPr lang="en-US" dirty="0"/>
          </a:p>
          <a:p>
            <a:r>
              <a:rPr lang="en-US" dirty="0"/>
              <a:t>When a consumer in a group has processed data received from Kafka, it should periodically commit the offsets (the </a:t>
            </a:r>
            <a:r>
              <a:rPr lang="en-US" dirty="0" err="1"/>
              <a:t>kafka</a:t>
            </a:r>
            <a:r>
              <a:rPr lang="en-US" dirty="0"/>
              <a:t> broker will write to __</a:t>
            </a:r>
            <a:r>
              <a:rPr lang="en-US" dirty="0" err="1"/>
              <a:t>consumer_offsets</a:t>
            </a:r>
            <a:r>
              <a:rPr lang="en-US" dirty="0"/>
              <a:t>) </a:t>
            </a:r>
          </a:p>
          <a:p>
            <a:r>
              <a:rPr lang="en-US" dirty="0"/>
              <a:t>If a consumer dies, it will be able to read back from where it left off thanks to the committed consumer offsets!</a:t>
            </a:r>
          </a:p>
          <a:p>
            <a:endParaRPr lang="en-US" dirty="0"/>
          </a:p>
        </p:txBody>
      </p:sp>
      <p:pic>
        <p:nvPicPr>
          <p:cNvPr id="5" name="Picture 4">
            <a:extLst>
              <a:ext uri="{FF2B5EF4-FFF2-40B4-BE49-F238E27FC236}">
                <a16:creationId xmlns:a16="http://schemas.microsoft.com/office/drawing/2014/main" id="{713343FB-2509-C580-4223-18A50272DFD4}"/>
              </a:ext>
            </a:extLst>
          </p:cNvPr>
          <p:cNvPicPr>
            <a:picLocks noChangeAspect="1"/>
          </p:cNvPicPr>
          <p:nvPr/>
        </p:nvPicPr>
        <p:blipFill>
          <a:blip r:embed="rId2"/>
          <a:stretch>
            <a:fillRect/>
          </a:stretch>
        </p:blipFill>
        <p:spPr>
          <a:xfrm>
            <a:off x="2556967" y="4200377"/>
            <a:ext cx="7078063" cy="2114845"/>
          </a:xfrm>
          <a:prstGeom prst="rect">
            <a:avLst/>
          </a:prstGeom>
        </p:spPr>
      </p:pic>
    </p:spTree>
    <p:extLst>
      <p:ext uri="{BB962C8B-B14F-4D97-AF65-F5344CB8AC3E}">
        <p14:creationId xmlns:p14="http://schemas.microsoft.com/office/powerpoint/2010/main" val="3543828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780A9-7EA6-F5A8-1386-03840444AB7C}"/>
              </a:ext>
            </a:extLst>
          </p:cNvPr>
          <p:cNvSpPr>
            <a:spLocks noGrp="1"/>
          </p:cNvSpPr>
          <p:nvPr>
            <p:ph type="title"/>
          </p:nvPr>
        </p:nvSpPr>
        <p:spPr/>
        <p:txBody>
          <a:bodyPr/>
          <a:lstStyle/>
          <a:p>
            <a:r>
              <a:rPr lang="en-US" dirty="0"/>
              <a:t>Delivery semantics for consumers</a:t>
            </a:r>
          </a:p>
        </p:txBody>
      </p:sp>
      <p:sp>
        <p:nvSpPr>
          <p:cNvPr id="3" name="Content Placeholder 2">
            <a:extLst>
              <a:ext uri="{FF2B5EF4-FFF2-40B4-BE49-F238E27FC236}">
                <a16:creationId xmlns:a16="http://schemas.microsoft.com/office/drawing/2014/main" id="{EB8B0805-72E9-BD7B-B4D8-92A5C2FD1F16}"/>
              </a:ext>
            </a:extLst>
          </p:cNvPr>
          <p:cNvSpPr>
            <a:spLocks noGrp="1"/>
          </p:cNvSpPr>
          <p:nvPr>
            <p:ph idx="1"/>
          </p:nvPr>
        </p:nvSpPr>
        <p:spPr>
          <a:xfrm>
            <a:off x="581193" y="1919239"/>
            <a:ext cx="11029615" cy="4517187"/>
          </a:xfrm>
        </p:spPr>
        <p:txBody>
          <a:bodyPr>
            <a:normAutofit/>
          </a:bodyPr>
          <a:lstStyle/>
          <a:p>
            <a:r>
              <a:rPr lang="en-US" dirty="0"/>
              <a:t>By default, Java consumers will automatically commit offsets (at least once)</a:t>
            </a:r>
          </a:p>
          <a:p>
            <a:r>
              <a:rPr lang="en-US" dirty="0"/>
              <a:t>There are 3 different semantics if you choose to commit manually:</a:t>
            </a:r>
          </a:p>
          <a:p>
            <a:pPr lvl="1"/>
            <a:r>
              <a:rPr lang="en-US" dirty="0"/>
              <a:t>At least once (usually preferred)</a:t>
            </a:r>
          </a:p>
          <a:p>
            <a:pPr lvl="2"/>
            <a:r>
              <a:rPr lang="en-US" dirty="0"/>
              <a:t>Offsets are committed after the message is processed</a:t>
            </a:r>
          </a:p>
          <a:p>
            <a:pPr lvl="2"/>
            <a:r>
              <a:rPr lang="en-US" dirty="0"/>
              <a:t>If the processing goes wrong, the message will be read again</a:t>
            </a:r>
          </a:p>
          <a:p>
            <a:pPr lvl="2"/>
            <a:r>
              <a:rPr lang="en-US" dirty="0"/>
              <a:t>This can result in duplicate processing of messages. Make sure your processing is idempotent </a:t>
            </a:r>
          </a:p>
          <a:p>
            <a:pPr lvl="1"/>
            <a:r>
              <a:rPr lang="en-US" dirty="0"/>
              <a:t>At most once</a:t>
            </a:r>
          </a:p>
          <a:p>
            <a:pPr lvl="2"/>
            <a:r>
              <a:rPr lang="en-US" dirty="0"/>
              <a:t>Offsets are committed as soon as messages are received </a:t>
            </a:r>
          </a:p>
          <a:p>
            <a:pPr lvl="2"/>
            <a:r>
              <a:rPr lang="en-US" dirty="0"/>
              <a:t>If the processing goes wrong, some messages may be lost </a:t>
            </a:r>
          </a:p>
          <a:p>
            <a:pPr lvl="1"/>
            <a:r>
              <a:rPr lang="en-US" dirty="0"/>
              <a:t>Exactly once </a:t>
            </a:r>
          </a:p>
          <a:p>
            <a:pPr lvl="2"/>
            <a:r>
              <a:rPr lang="en-US" dirty="0"/>
              <a:t>For Kafka </a:t>
            </a:r>
            <a:r>
              <a:rPr lang="en-US" dirty="0">
                <a:sym typeface="Wingdings" panose="05000000000000000000" pitchFamily="2" charset="2"/>
              </a:rPr>
              <a:t> Kafka workflows: use the Transactional API (easy with Kafka streams API)</a:t>
            </a:r>
          </a:p>
          <a:p>
            <a:pPr lvl="2"/>
            <a:r>
              <a:rPr lang="en-US" dirty="0"/>
              <a:t>For Kafka </a:t>
            </a:r>
            <a:r>
              <a:rPr lang="en-US" dirty="0">
                <a:sym typeface="Wingdings" panose="05000000000000000000" pitchFamily="2" charset="2"/>
              </a:rPr>
              <a:t> External System workflows: use an idempotent consumer</a:t>
            </a:r>
            <a:endParaRPr lang="en-US" dirty="0"/>
          </a:p>
        </p:txBody>
      </p:sp>
    </p:spTree>
    <p:extLst>
      <p:ext uri="{BB962C8B-B14F-4D97-AF65-F5344CB8AC3E}">
        <p14:creationId xmlns:p14="http://schemas.microsoft.com/office/powerpoint/2010/main" val="1655234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4C2EE-8F49-DE92-0CFA-E7B4CE281B81}"/>
              </a:ext>
            </a:extLst>
          </p:cNvPr>
          <p:cNvSpPr>
            <a:spLocks noGrp="1"/>
          </p:cNvSpPr>
          <p:nvPr>
            <p:ph type="title"/>
          </p:nvPr>
        </p:nvSpPr>
        <p:spPr/>
        <p:txBody>
          <a:bodyPr/>
          <a:lstStyle/>
          <a:p>
            <a:r>
              <a:rPr lang="en-US" dirty="0"/>
              <a:t>Kafka Brokers</a:t>
            </a:r>
          </a:p>
        </p:txBody>
      </p:sp>
      <p:sp>
        <p:nvSpPr>
          <p:cNvPr id="3" name="Content Placeholder 2">
            <a:extLst>
              <a:ext uri="{FF2B5EF4-FFF2-40B4-BE49-F238E27FC236}">
                <a16:creationId xmlns:a16="http://schemas.microsoft.com/office/drawing/2014/main" id="{C3B2E6CC-A2C6-FB55-F505-5C63FFE8F700}"/>
              </a:ext>
            </a:extLst>
          </p:cNvPr>
          <p:cNvSpPr>
            <a:spLocks noGrp="1"/>
          </p:cNvSpPr>
          <p:nvPr>
            <p:ph idx="1"/>
          </p:nvPr>
        </p:nvSpPr>
        <p:spPr>
          <a:xfrm>
            <a:off x="581192" y="2180497"/>
            <a:ext cx="11029615" cy="2249000"/>
          </a:xfrm>
        </p:spPr>
        <p:txBody>
          <a:bodyPr/>
          <a:lstStyle/>
          <a:p>
            <a:r>
              <a:rPr lang="en-US" dirty="0"/>
              <a:t>A Kafka cluster is composed of multiple brokers (servers)</a:t>
            </a:r>
          </a:p>
          <a:p>
            <a:r>
              <a:rPr lang="en-US" dirty="0"/>
              <a:t>Each broker is identified with its ID (integer)</a:t>
            </a:r>
          </a:p>
          <a:p>
            <a:r>
              <a:rPr lang="en-US" dirty="0"/>
              <a:t>Each broker contains certain topic partitions </a:t>
            </a:r>
          </a:p>
          <a:p>
            <a:r>
              <a:rPr lang="en-US" dirty="0"/>
              <a:t>After connecting to any broker (called a bootstrap broker), you will be connected to the entire cluster</a:t>
            </a:r>
          </a:p>
          <a:p>
            <a:r>
              <a:rPr lang="en-US" dirty="0"/>
              <a:t>A good number to get started is 3 brokers, but some big clusters have over 100 brokers </a:t>
            </a:r>
          </a:p>
        </p:txBody>
      </p:sp>
      <p:pic>
        <p:nvPicPr>
          <p:cNvPr id="5" name="Picture 4">
            <a:extLst>
              <a:ext uri="{FF2B5EF4-FFF2-40B4-BE49-F238E27FC236}">
                <a16:creationId xmlns:a16="http://schemas.microsoft.com/office/drawing/2014/main" id="{A8BBEE9A-2482-2532-4106-DD37ABD648B6}"/>
              </a:ext>
            </a:extLst>
          </p:cNvPr>
          <p:cNvPicPr>
            <a:picLocks noChangeAspect="1"/>
          </p:cNvPicPr>
          <p:nvPr/>
        </p:nvPicPr>
        <p:blipFill>
          <a:blip r:embed="rId2"/>
          <a:stretch>
            <a:fillRect/>
          </a:stretch>
        </p:blipFill>
        <p:spPr>
          <a:xfrm>
            <a:off x="3123784" y="5088895"/>
            <a:ext cx="5944430" cy="1066949"/>
          </a:xfrm>
          <a:prstGeom prst="rect">
            <a:avLst/>
          </a:prstGeom>
        </p:spPr>
      </p:pic>
    </p:spTree>
    <p:extLst>
      <p:ext uri="{BB962C8B-B14F-4D97-AF65-F5344CB8AC3E}">
        <p14:creationId xmlns:p14="http://schemas.microsoft.com/office/powerpoint/2010/main" val="28344732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B7D31-89B1-6453-D828-36D1504119E6}"/>
              </a:ext>
            </a:extLst>
          </p:cNvPr>
          <p:cNvSpPr>
            <a:spLocks noGrp="1"/>
          </p:cNvSpPr>
          <p:nvPr>
            <p:ph type="title"/>
          </p:nvPr>
        </p:nvSpPr>
        <p:spPr/>
        <p:txBody>
          <a:bodyPr/>
          <a:lstStyle/>
          <a:p>
            <a:r>
              <a:rPr lang="en-US" dirty="0"/>
              <a:t>Brokers &amp; topics</a:t>
            </a:r>
          </a:p>
        </p:txBody>
      </p:sp>
      <p:sp>
        <p:nvSpPr>
          <p:cNvPr id="3" name="Content Placeholder 2">
            <a:extLst>
              <a:ext uri="{FF2B5EF4-FFF2-40B4-BE49-F238E27FC236}">
                <a16:creationId xmlns:a16="http://schemas.microsoft.com/office/drawing/2014/main" id="{60606EDD-D10C-2515-4A22-9947AE1C8CA8}"/>
              </a:ext>
            </a:extLst>
          </p:cNvPr>
          <p:cNvSpPr>
            <a:spLocks noGrp="1"/>
          </p:cNvSpPr>
          <p:nvPr>
            <p:ph idx="1"/>
          </p:nvPr>
        </p:nvSpPr>
        <p:spPr>
          <a:xfrm>
            <a:off x="581192" y="2180497"/>
            <a:ext cx="11029615" cy="1248504"/>
          </a:xfrm>
        </p:spPr>
        <p:txBody>
          <a:bodyPr/>
          <a:lstStyle/>
          <a:p>
            <a:r>
              <a:rPr lang="en-US" dirty="0"/>
              <a:t>Example of topic A with 3 partitions and topic B with 2 partitions</a:t>
            </a:r>
          </a:p>
          <a:p>
            <a:r>
              <a:rPr lang="en-US" dirty="0"/>
              <a:t>Data is distributed, and broker 103 doesn’t have any topic B data</a:t>
            </a:r>
          </a:p>
          <a:p>
            <a:r>
              <a:rPr lang="en-US" dirty="0"/>
              <a:t>This provides horizontal scaling </a:t>
            </a:r>
          </a:p>
        </p:txBody>
      </p:sp>
      <p:pic>
        <p:nvPicPr>
          <p:cNvPr id="5" name="Picture 4">
            <a:extLst>
              <a:ext uri="{FF2B5EF4-FFF2-40B4-BE49-F238E27FC236}">
                <a16:creationId xmlns:a16="http://schemas.microsoft.com/office/drawing/2014/main" id="{39E56840-8E99-1D2F-6902-56EB190F305D}"/>
              </a:ext>
            </a:extLst>
          </p:cNvPr>
          <p:cNvPicPr>
            <a:picLocks noChangeAspect="1"/>
          </p:cNvPicPr>
          <p:nvPr/>
        </p:nvPicPr>
        <p:blipFill>
          <a:blip r:embed="rId2"/>
          <a:stretch>
            <a:fillRect/>
          </a:stretch>
        </p:blipFill>
        <p:spPr>
          <a:xfrm>
            <a:off x="1832966" y="3693785"/>
            <a:ext cx="8526065" cy="2629267"/>
          </a:xfrm>
          <a:prstGeom prst="rect">
            <a:avLst/>
          </a:prstGeom>
        </p:spPr>
      </p:pic>
    </p:spTree>
    <p:extLst>
      <p:ext uri="{BB962C8B-B14F-4D97-AF65-F5344CB8AC3E}">
        <p14:creationId xmlns:p14="http://schemas.microsoft.com/office/powerpoint/2010/main" val="2986352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4FD9B-E001-667C-5E73-8D54021B3664}"/>
              </a:ext>
            </a:extLst>
          </p:cNvPr>
          <p:cNvSpPr>
            <a:spLocks noGrp="1"/>
          </p:cNvSpPr>
          <p:nvPr>
            <p:ph type="title"/>
          </p:nvPr>
        </p:nvSpPr>
        <p:spPr/>
        <p:txBody>
          <a:bodyPr/>
          <a:lstStyle/>
          <a:p>
            <a:r>
              <a:rPr lang="en-US" dirty="0"/>
              <a:t>Kafka broker discovery</a:t>
            </a:r>
          </a:p>
        </p:txBody>
      </p:sp>
      <p:sp>
        <p:nvSpPr>
          <p:cNvPr id="3" name="Content Placeholder 2">
            <a:extLst>
              <a:ext uri="{FF2B5EF4-FFF2-40B4-BE49-F238E27FC236}">
                <a16:creationId xmlns:a16="http://schemas.microsoft.com/office/drawing/2014/main" id="{69447E72-0383-0695-7CE6-6EAB80C4F0E1}"/>
              </a:ext>
            </a:extLst>
          </p:cNvPr>
          <p:cNvSpPr>
            <a:spLocks noGrp="1"/>
          </p:cNvSpPr>
          <p:nvPr>
            <p:ph idx="1"/>
          </p:nvPr>
        </p:nvSpPr>
        <p:spPr>
          <a:xfrm>
            <a:off x="581192" y="2180496"/>
            <a:ext cx="11029615" cy="1334600"/>
          </a:xfrm>
        </p:spPr>
        <p:txBody>
          <a:bodyPr>
            <a:normAutofit/>
          </a:bodyPr>
          <a:lstStyle/>
          <a:p>
            <a:r>
              <a:rPr lang="en-US" dirty="0"/>
              <a:t>Every Kafka broker is also called a ‘bootstrap server’</a:t>
            </a:r>
          </a:p>
          <a:p>
            <a:r>
              <a:rPr lang="en-US" dirty="0"/>
              <a:t>You only need to connect to one (any) broker, and that broker will send back to the client the metadata of all other brokers, topics, and partitions </a:t>
            </a:r>
          </a:p>
        </p:txBody>
      </p:sp>
      <p:pic>
        <p:nvPicPr>
          <p:cNvPr id="5" name="Picture 4">
            <a:extLst>
              <a:ext uri="{FF2B5EF4-FFF2-40B4-BE49-F238E27FC236}">
                <a16:creationId xmlns:a16="http://schemas.microsoft.com/office/drawing/2014/main" id="{28A1B138-FF19-DCD2-EEA7-ACDDE699DE7A}"/>
              </a:ext>
            </a:extLst>
          </p:cNvPr>
          <p:cNvPicPr>
            <a:picLocks noChangeAspect="1"/>
          </p:cNvPicPr>
          <p:nvPr/>
        </p:nvPicPr>
        <p:blipFill>
          <a:blip r:embed="rId2"/>
          <a:stretch>
            <a:fillRect/>
          </a:stretch>
        </p:blipFill>
        <p:spPr>
          <a:xfrm>
            <a:off x="2276529" y="3580035"/>
            <a:ext cx="7638941" cy="2800582"/>
          </a:xfrm>
          <a:prstGeom prst="rect">
            <a:avLst/>
          </a:prstGeom>
        </p:spPr>
      </p:pic>
    </p:spTree>
    <p:extLst>
      <p:ext uri="{BB962C8B-B14F-4D97-AF65-F5344CB8AC3E}">
        <p14:creationId xmlns:p14="http://schemas.microsoft.com/office/powerpoint/2010/main" val="41819703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1039E-F82C-F645-05F5-99F6F84388BB}"/>
              </a:ext>
            </a:extLst>
          </p:cNvPr>
          <p:cNvSpPr>
            <a:spLocks noGrp="1"/>
          </p:cNvSpPr>
          <p:nvPr>
            <p:ph type="title"/>
          </p:nvPr>
        </p:nvSpPr>
        <p:spPr/>
        <p:txBody>
          <a:bodyPr/>
          <a:lstStyle/>
          <a:p>
            <a:r>
              <a:rPr lang="en-US" dirty="0"/>
              <a:t>Topic replication Factor</a:t>
            </a:r>
          </a:p>
        </p:txBody>
      </p:sp>
      <p:sp>
        <p:nvSpPr>
          <p:cNvPr id="3" name="Content Placeholder 2">
            <a:extLst>
              <a:ext uri="{FF2B5EF4-FFF2-40B4-BE49-F238E27FC236}">
                <a16:creationId xmlns:a16="http://schemas.microsoft.com/office/drawing/2014/main" id="{89FC478B-065F-002E-0840-3BEA86D37B31}"/>
              </a:ext>
            </a:extLst>
          </p:cNvPr>
          <p:cNvSpPr>
            <a:spLocks noGrp="1"/>
          </p:cNvSpPr>
          <p:nvPr>
            <p:ph idx="1"/>
          </p:nvPr>
        </p:nvSpPr>
        <p:spPr>
          <a:xfrm>
            <a:off x="581192" y="2180497"/>
            <a:ext cx="11029615" cy="1477104"/>
          </a:xfrm>
        </p:spPr>
        <p:txBody>
          <a:bodyPr/>
          <a:lstStyle/>
          <a:p>
            <a:r>
              <a:rPr lang="en-US" dirty="0"/>
              <a:t>Topics should have a replication factor &gt; 1 (usually between 2-3 in prod) </a:t>
            </a:r>
          </a:p>
          <a:p>
            <a:r>
              <a:rPr lang="en-US" dirty="0"/>
              <a:t>This way if a broker is down, another broker can serve the data</a:t>
            </a:r>
          </a:p>
          <a:p>
            <a:r>
              <a:rPr lang="en-US" dirty="0"/>
              <a:t>Example: Topic-A with 2 partitions and replication factor of 2</a:t>
            </a:r>
          </a:p>
        </p:txBody>
      </p:sp>
      <p:pic>
        <p:nvPicPr>
          <p:cNvPr id="5" name="Picture 4">
            <a:extLst>
              <a:ext uri="{FF2B5EF4-FFF2-40B4-BE49-F238E27FC236}">
                <a16:creationId xmlns:a16="http://schemas.microsoft.com/office/drawing/2014/main" id="{5E6AAB98-9246-B1D8-5750-3482BECB2FE4}"/>
              </a:ext>
            </a:extLst>
          </p:cNvPr>
          <p:cNvPicPr>
            <a:picLocks noChangeAspect="1"/>
          </p:cNvPicPr>
          <p:nvPr/>
        </p:nvPicPr>
        <p:blipFill>
          <a:blip r:embed="rId2"/>
          <a:stretch>
            <a:fillRect/>
          </a:stretch>
        </p:blipFill>
        <p:spPr>
          <a:xfrm>
            <a:off x="1647203" y="3657601"/>
            <a:ext cx="8897592" cy="2705478"/>
          </a:xfrm>
          <a:prstGeom prst="rect">
            <a:avLst/>
          </a:prstGeom>
        </p:spPr>
      </p:pic>
    </p:spTree>
    <p:extLst>
      <p:ext uri="{BB962C8B-B14F-4D97-AF65-F5344CB8AC3E}">
        <p14:creationId xmlns:p14="http://schemas.microsoft.com/office/powerpoint/2010/main" val="10072820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F16A-BB4C-00A2-3F63-87E5EFBFDCB9}"/>
              </a:ext>
            </a:extLst>
          </p:cNvPr>
          <p:cNvSpPr>
            <a:spLocks noGrp="1"/>
          </p:cNvSpPr>
          <p:nvPr>
            <p:ph type="title"/>
          </p:nvPr>
        </p:nvSpPr>
        <p:spPr/>
        <p:txBody>
          <a:bodyPr/>
          <a:lstStyle/>
          <a:p>
            <a:r>
              <a:rPr lang="en-US" dirty="0"/>
              <a:t>Topic Replication Factor </a:t>
            </a:r>
          </a:p>
        </p:txBody>
      </p:sp>
      <p:sp>
        <p:nvSpPr>
          <p:cNvPr id="3" name="Content Placeholder 2">
            <a:extLst>
              <a:ext uri="{FF2B5EF4-FFF2-40B4-BE49-F238E27FC236}">
                <a16:creationId xmlns:a16="http://schemas.microsoft.com/office/drawing/2014/main" id="{5DB016E8-CFEC-020E-0431-2D8098A21C09}"/>
              </a:ext>
            </a:extLst>
          </p:cNvPr>
          <p:cNvSpPr>
            <a:spLocks noGrp="1"/>
          </p:cNvSpPr>
          <p:nvPr>
            <p:ph idx="1"/>
          </p:nvPr>
        </p:nvSpPr>
        <p:spPr>
          <a:xfrm>
            <a:off x="581192" y="2180496"/>
            <a:ext cx="11029615" cy="1144595"/>
          </a:xfrm>
        </p:spPr>
        <p:txBody>
          <a:bodyPr/>
          <a:lstStyle/>
          <a:p>
            <a:r>
              <a:rPr lang="en-US" dirty="0"/>
              <a:t>Example: we lost broker 102</a:t>
            </a:r>
          </a:p>
          <a:p>
            <a:r>
              <a:rPr lang="en-US" dirty="0"/>
              <a:t>Result: Broker 101 &amp; 103 can still serve the data</a:t>
            </a:r>
          </a:p>
        </p:txBody>
      </p:sp>
      <p:pic>
        <p:nvPicPr>
          <p:cNvPr id="5" name="Picture 4">
            <a:extLst>
              <a:ext uri="{FF2B5EF4-FFF2-40B4-BE49-F238E27FC236}">
                <a16:creationId xmlns:a16="http://schemas.microsoft.com/office/drawing/2014/main" id="{3651C4E6-ADF9-401C-6D83-451CE27DF209}"/>
              </a:ext>
            </a:extLst>
          </p:cNvPr>
          <p:cNvPicPr>
            <a:picLocks noChangeAspect="1"/>
          </p:cNvPicPr>
          <p:nvPr/>
        </p:nvPicPr>
        <p:blipFill>
          <a:blip r:embed="rId2"/>
          <a:stretch>
            <a:fillRect/>
          </a:stretch>
        </p:blipFill>
        <p:spPr>
          <a:xfrm>
            <a:off x="1685308" y="3488472"/>
            <a:ext cx="8821381" cy="2667372"/>
          </a:xfrm>
          <a:prstGeom prst="rect">
            <a:avLst/>
          </a:prstGeom>
        </p:spPr>
      </p:pic>
    </p:spTree>
    <p:extLst>
      <p:ext uri="{BB962C8B-B14F-4D97-AF65-F5344CB8AC3E}">
        <p14:creationId xmlns:p14="http://schemas.microsoft.com/office/powerpoint/2010/main" val="13468534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810D8-C0F2-E74C-47E9-7BD21A961795}"/>
              </a:ext>
            </a:extLst>
          </p:cNvPr>
          <p:cNvSpPr>
            <a:spLocks noGrp="1"/>
          </p:cNvSpPr>
          <p:nvPr>
            <p:ph type="title"/>
          </p:nvPr>
        </p:nvSpPr>
        <p:spPr/>
        <p:txBody>
          <a:bodyPr/>
          <a:lstStyle/>
          <a:p>
            <a:r>
              <a:rPr lang="en-US" dirty="0"/>
              <a:t>Concept of leader for a partition</a:t>
            </a:r>
          </a:p>
        </p:txBody>
      </p:sp>
      <p:sp>
        <p:nvSpPr>
          <p:cNvPr id="3" name="Content Placeholder 2">
            <a:extLst>
              <a:ext uri="{FF2B5EF4-FFF2-40B4-BE49-F238E27FC236}">
                <a16:creationId xmlns:a16="http://schemas.microsoft.com/office/drawing/2014/main" id="{3E7E5C60-BE0B-FE61-7228-8FB928ACBD7E}"/>
              </a:ext>
            </a:extLst>
          </p:cNvPr>
          <p:cNvSpPr>
            <a:spLocks noGrp="1"/>
          </p:cNvSpPr>
          <p:nvPr>
            <p:ph idx="1"/>
          </p:nvPr>
        </p:nvSpPr>
        <p:spPr>
          <a:xfrm>
            <a:off x="581192" y="2180497"/>
            <a:ext cx="11029615" cy="1773986"/>
          </a:xfrm>
        </p:spPr>
        <p:txBody>
          <a:bodyPr/>
          <a:lstStyle/>
          <a:p>
            <a:r>
              <a:rPr lang="en-US" dirty="0"/>
              <a:t>At any time only ONE broker can be a leader for a given partition</a:t>
            </a:r>
          </a:p>
          <a:p>
            <a:r>
              <a:rPr lang="en-US" dirty="0"/>
              <a:t>Producers can only send data to the broker that is leader of a partition</a:t>
            </a:r>
          </a:p>
          <a:p>
            <a:r>
              <a:rPr lang="en-US" dirty="0"/>
              <a:t>The other brokers will replicate the data</a:t>
            </a:r>
          </a:p>
          <a:p>
            <a:r>
              <a:rPr lang="en-US" dirty="0"/>
              <a:t>Therefore, each partition has one leader and multiple ISR (in-sync-replica)</a:t>
            </a:r>
          </a:p>
        </p:txBody>
      </p:sp>
      <p:pic>
        <p:nvPicPr>
          <p:cNvPr id="5" name="Picture 4">
            <a:extLst>
              <a:ext uri="{FF2B5EF4-FFF2-40B4-BE49-F238E27FC236}">
                <a16:creationId xmlns:a16="http://schemas.microsoft.com/office/drawing/2014/main" id="{E6EE9FF7-B156-D83A-4D64-97B0ADCDAE40}"/>
              </a:ext>
            </a:extLst>
          </p:cNvPr>
          <p:cNvPicPr>
            <a:picLocks noChangeAspect="1"/>
          </p:cNvPicPr>
          <p:nvPr/>
        </p:nvPicPr>
        <p:blipFill>
          <a:blip r:embed="rId2"/>
          <a:stretch>
            <a:fillRect/>
          </a:stretch>
        </p:blipFill>
        <p:spPr>
          <a:xfrm>
            <a:off x="1680545" y="3954483"/>
            <a:ext cx="8830907" cy="2572109"/>
          </a:xfrm>
          <a:prstGeom prst="rect">
            <a:avLst/>
          </a:prstGeom>
        </p:spPr>
      </p:pic>
    </p:spTree>
    <p:extLst>
      <p:ext uri="{BB962C8B-B14F-4D97-AF65-F5344CB8AC3E}">
        <p14:creationId xmlns:p14="http://schemas.microsoft.com/office/powerpoint/2010/main" val="803131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C3136-24F3-D4C9-07EC-89F43070E8CF}"/>
              </a:ext>
            </a:extLst>
          </p:cNvPr>
          <p:cNvSpPr>
            <a:spLocks noGrp="1"/>
          </p:cNvSpPr>
          <p:nvPr>
            <p:ph type="title"/>
          </p:nvPr>
        </p:nvSpPr>
        <p:spPr/>
        <p:txBody>
          <a:bodyPr/>
          <a:lstStyle/>
          <a:p>
            <a:r>
              <a:rPr lang="en-US" dirty="0"/>
              <a:t>Default producer &amp; consumer behavior with leaders</a:t>
            </a:r>
          </a:p>
        </p:txBody>
      </p:sp>
      <p:sp>
        <p:nvSpPr>
          <p:cNvPr id="3" name="Content Placeholder 2">
            <a:extLst>
              <a:ext uri="{FF2B5EF4-FFF2-40B4-BE49-F238E27FC236}">
                <a16:creationId xmlns:a16="http://schemas.microsoft.com/office/drawing/2014/main" id="{0153D196-E73B-0512-C8A3-CF2EB2C1928E}"/>
              </a:ext>
            </a:extLst>
          </p:cNvPr>
          <p:cNvSpPr>
            <a:spLocks noGrp="1"/>
          </p:cNvSpPr>
          <p:nvPr>
            <p:ph idx="1"/>
          </p:nvPr>
        </p:nvSpPr>
        <p:spPr>
          <a:xfrm>
            <a:off x="581192" y="2180497"/>
            <a:ext cx="11029615" cy="1132720"/>
          </a:xfrm>
        </p:spPr>
        <p:txBody>
          <a:bodyPr/>
          <a:lstStyle/>
          <a:p>
            <a:r>
              <a:rPr lang="en-US" dirty="0"/>
              <a:t>Kafka Producers can only write to the leader broker for a partition</a:t>
            </a:r>
          </a:p>
          <a:p>
            <a:r>
              <a:rPr lang="en-US" dirty="0"/>
              <a:t>Kafka Consumers by default will read from the leader broker for a partition</a:t>
            </a:r>
          </a:p>
        </p:txBody>
      </p:sp>
      <p:pic>
        <p:nvPicPr>
          <p:cNvPr id="5" name="Picture 4">
            <a:extLst>
              <a:ext uri="{FF2B5EF4-FFF2-40B4-BE49-F238E27FC236}">
                <a16:creationId xmlns:a16="http://schemas.microsoft.com/office/drawing/2014/main" id="{2885CCA2-DA1A-1E64-8439-B96F602008E8}"/>
              </a:ext>
            </a:extLst>
          </p:cNvPr>
          <p:cNvPicPr>
            <a:picLocks noChangeAspect="1"/>
          </p:cNvPicPr>
          <p:nvPr/>
        </p:nvPicPr>
        <p:blipFill>
          <a:blip r:embed="rId2"/>
          <a:stretch>
            <a:fillRect/>
          </a:stretch>
        </p:blipFill>
        <p:spPr>
          <a:xfrm>
            <a:off x="2466467" y="3751039"/>
            <a:ext cx="7259063" cy="2734057"/>
          </a:xfrm>
          <a:prstGeom prst="rect">
            <a:avLst/>
          </a:prstGeom>
        </p:spPr>
      </p:pic>
    </p:spTree>
    <p:extLst>
      <p:ext uri="{BB962C8B-B14F-4D97-AF65-F5344CB8AC3E}">
        <p14:creationId xmlns:p14="http://schemas.microsoft.com/office/powerpoint/2010/main" val="22425886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D485B-0937-245F-ADA0-25054FA53C21}"/>
              </a:ext>
            </a:extLst>
          </p:cNvPr>
          <p:cNvSpPr>
            <a:spLocks noGrp="1"/>
          </p:cNvSpPr>
          <p:nvPr>
            <p:ph type="title"/>
          </p:nvPr>
        </p:nvSpPr>
        <p:spPr/>
        <p:txBody>
          <a:bodyPr/>
          <a:lstStyle/>
          <a:p>
            <a:r>
              <a:rPr lang="en-US" dirty="0"/>
              <a:t>Kafka consumers replica fetching (</a:t>
            </a:r>
            <a:r>
              <a:rPr lang="en-US" dirty="0" err="1"/>
              <a:t>kafka</a:t>
            </a:r>
            <a:r>
              <a:rPr lang="en-US" dirty="0"/>
              <a:t> v2.4+)</a:t>
            </a:r>
          </a:p>
        </p:txBody>
      </p:sp>
      <p:sp>
        <p:nvSpPr>
          <p:cNvPr id="3" name="Content Placeholder 2">
            <a:extLst>
              <a:ext uri="{FF2B5EF4-FFF2-40B4-BE49-F238E27FC236}">
                <a16:creationId xmlns:a16="http://schemas.microsoft.com/office/drawing/2014/main" id="{83158452-7AD3-799C-2F1A-319A3E9AAFE5}"/>
              </a:ext>
            </a:extLst>
          </p:cNvPr>
          <p:cNvSpPr>
            <a:spLocks noGrp="1"/>
          </p:cNvSpPr>
          <p:nvPr>
            <p:ph idx="1"/>
          </p:nvPr>
        </p:nvSpPr>
        <p:spPr>
          <a:xfrm>
            <a:off x="581192" y="2180497"/>
            <a:ext cx="11029615" cy="1156470"/>
          </a:xfrm>
        </p:spPr>
        <p:txBody>
          <a:bodyPr/>
          <a:lstStyle/>
          <a:p>
            <a:r>
              <a:rPr lang="en-US" dirty="0"/>
              <a:t>Since Kafka 2.4, it is possible to configure consumers to read from the closest replica</a:t>
            </a:r>
          </a:p>
          <a:p>
            <a:r>
              <a:rPr lang="en-US" dirty="0"/>
              <a:t>This may help improve latency, and decrease network costs if using the cloud </a:t>
            </a:r>
          </a:p>
        </p:txBody>
      </p:sp>
      <p:pic>
        <p:nvPicPr>
          <p:cNvPr id="5" name="Picture 4">
            <a:extLst>
              <a:ext uri="{FF2B5EF4-FFF2-40B4-BE49-F238E27FC236}">
                <a16:creationId xmlns:a16="http://schemas.microsoft.com/office/drawing/2014/main" id="{9D461873-0E5F-54A6-5F4D-DA137B517C16}"/>
              </a:ext>
            </a:extLst>
          </p:cNvPr>
          <p:cNvPicPr>
            <a:picLocks noChangeAspect="1"/>
          </p:cNvPicPr>
          <p:nvPr/>
        </p:nvPicPr>
        <p:blipFill>
          <a:blip r:embed="rId2"/>
          <a:stretch>
            <a:fillRect/>
          </a:stretch>
        </p:blipFill>
        <p:spPr>
          <a:xfrm>
            <a:off x="956544" y="3677015"/>
            <a:ext cx="10278909" cy="2734057"/>
          </a:xfrm>
          <a:prstGeom prst="rect">
            <a:avLst/>
          </a:prstGeom>
        </p:spPr>
      </p:pic>
    </p:spTree>
    <p:extLst>
      <p:ext uri="{BB962C8B-B14F-4D97-AF65-F5344CB8AC3E}">
        <p14:creationId xmlns:p14="http://schemas.microsoft.com/office/powerpoint/2010/main" val="16404056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F4AD9-57C4-BE6F-E684-AD6BD41F7BC7}"/>
              </a:ext>
            </a:extLst>
          </p:cNvPr>
          <p:cNvSpPr>
            <a:spLocks noGrp="1"/>
          </p:cNvSpPr>
          <p:nvPr>
            <p:ph type="title"/>
          </p:nvPr>
        </p:nvSpPr>
        <p:spPr/>
        <p:txBody>
          <a:bodyPr/>
          <a:lstStyle/>
          <a:p>
            <a:r>
              <a:rPr lang="en-US" dirty="0"/>
              <a:t>Producer acknowledgements (acks)</a:t>
            </a:r>
          </a:p>
        </p:txBody>
      </p:sp>
      <p:sp>
        <p:nvSpPr>
          <p:cNvPr id="3" name="Content Placeholder 2">
            <a:extLst>
              <a:ext uri="{FF2B5EF4-FFF2-40B4-BE49-F238E27FC236}">
                <a16:creationId xmlns:a16="http://schemas.microsoft.com/office/drawing/2014/main" id="{D0DE74C4-984E-DA0A-0E15-F4D3EEABA496}"/>
              </a:ext>
            </a:extLst>
          </p:cNvPr>
          <p:cNvSpPr>
            <a:spLocks noGrp="1"/>
          </p:cNvSpPr>
          <p:nvPr>
            <p:ph idx="1"/>
          </p:nvPr>
        </p:nvSpPr>
        <p:spPr>
          <a:xfrm>
            <a:off x="581193" y="4488873"/>
            <a:ext cx="11029615" cy="1939942"/>
          </a:xfrm>
        </p:spPr>
        <p:txBody>
          <a:bodyPr/>
          <a:lstStyle/>
          <a:p>
            <a:r>
              <a:rPr lang="en-US" dirty="0"/>
              <a:t>Producers can choose to receive acknowledgement of data writes:</a:t>
            </a:r>
          </a:p>
          <a:p>
            <a:pPr lvl="1"/>
            <a:r>
              <a:rPr lang="en-US" dirty="0"/>
              <a:t>Acks=0: Producer won’t wait for acknowledgement (possible data loss)</a:t>
            </a:r>
          </a:p>
          <a:p>
            <a:pPr lvl="1"/>
            <a:r>
              <a:rPr lang="en-US" dirty="0"/>
              <a:t>Acks=1: Producer will wait for leader acknowledgement (limited data loss)</a:t>
            </a:r>
          </a:p>
          <a:p>
            <a:pPr lvl="1"/>
            <a:r>
              <a:rPr lang="en-US" dirty="0"/>
              <a:t>acks=all: Leader + replicas acknowledgement (no data loss)</a:t>
            </a:r>
          </a:p>
        </p:txBody>
      </p:sp>
      <p:pic>
        <p:nvPicPr>
          <p:cNvPr id="5" name="Picture 4">
            <a:extLst>
              <a:ext uri="{FF2B5EF4-FFF2-40B4-BE49-F238E27FC236}">
                <a16:creationId xmlns:a16="http://schemas.microsoft.com/office/drawing/2014/main" id="{374D3143-CFAA-CE9B-0860-1CE0B3281F0B}"/>
              </a:ext>
            </a:extLst>
          </p:cNvPr>
          <p:cNvPicPr>
            <a:picLocks noChangeAspect="1"/>
          </p:cNvPicPr>
          <p:nvPr/>
        </p:nvPicPr>
        <p:blipFill>
          <a:blip r:embed="rId2"/>
          <a:stretch>
            <a:fillRect/>
          </a:stretch>
        </p:blipFill>
        <p:spPr>
          <a:xfrm>
            <a:off x="1737578" y="1853752"/>
            <a:ext cx="8716843" cy="2635121"/>
          </a:xfrm>
          <a:prstGeom prst="rect">
            <a:avLst/>
          </a:prstGeom>
        </p:spPr>
      </p:pic>
    </p:spTree>
    <p:extLst>
      <p:ext uri="{BB962C8B-B14F-4D97-AF65-F5344CB8AC3E}">
        <p14:creationId xmlns:p14="http://schemas.microsoft.com/office/powerpoint/2010/main" val="22229392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0F48-D132-1962-1155-0BE107D8937A}"/>
              </a:ext>
            </a:extLst>
          </p:cNvPr>
          <p:cNvSpPr>
            <a:spLocks noGrp="1"/>
          </p:cNvSpPr>
          <p:nvPr>
            <p:ph type="title"/>
          </p:nvPr>
        </p:nvSpPr>
        <p:spPr/>
        <p:txBody>
          <a:bodyPr/>
          <a:lstStyle/>
          <a:p>
            <a:r>
              <a:rPr lang="en-US" dirty="0"/>
              <a:t>Kafka topic durability</a:t>
            </a:r>
          </a:p>
        </p:txBody>
      </p:sp>
      <p:sp>
        <p:nvSpPr>
          <p:cNvPr id="3" name="Content Placeholder 2">
            <a:extLst>
              <a:ext uri="{FF2B5EF4-FFF2-40B4-BE49-F238E27FC236}">
                <a16:creationId xmlns:a16="http://schemas.microsoft.com/office/drawing/2014/main" id="{03D7F651-D521-62E8-D156-A2490D203050}"/>
              </a:ext>
            </a:extLst>
          </p:cNvPr>
          <p:cNvSpPr>
            <a:spLocks noGrp="1"/>
          </p:cNvSpPr>
          <p:nvPr>
            <p:ph idx="1"/>
          </p:nvPr>
        </p:nvSpPr>
        <p:spPr>
          <a:xfrm>
            <a:off x="581192" y="2180497"/>
            <a:ext cx="11029615" cy="1334600"/>
          </a:xfrm>
        </p:spPr>
        <p:txBody>
          <a:bodyPr/>
          <a:lstStyle/>
          <a:p>
            <a:r>
              <a:rPr lang="en-US" dirty="0"/>
              <a:t>For a topic replication factor of 3, topic data durability can withstand 2 brokers lost </a:t>
            </a:r>
          </a:p>
          <a:p>
            <a:r>
              <a:rPr lang="en-US" dirty="0"/>
              <a:t>As a rule, for a replication factor of N, you can permanently lose up to N-1 brokers and still recover your data</a:t>
            </a:r>
          </a:p>
        </p:txBody>
      </p:sp>
      <p:pic>
        <p:nvPicPr>
          <p:cNvPr id="5" name="Picture 4">
            <a:extLst>
              <a:ext uri="{FF2B5EF4-FFF2-40B4-BE49-F238E27FC236}">
                <a16:creationId xmlns:a16="http://schemas.microsoft.com/office/drawing/2014/main" id="{DEAB02C4-5220-BE9C-D559-C0F98DFEE070}"/>
              </a:ext>
            </a:extLst>
          </p:cNvPr>
          <p:cNvPicPr>
            <a:picLocks noChangeAspect="1"/>
          </p:cNvPicPr>
          <p:nvPr/>
        </p:nvPicPr>
        <p:blipFill>
          <a:blip r:embed="rId2"/>
          <a:stretch>
            <a:fillRect/>
          </a:stretch>
        </p:blipFill>
        <p:spPr>
          <a:xfrm>
            <a:off x="1647203" y="3745919"/>
            <a:ext cx="8897592" cy="2715004"/>
          </a:xfrm>
          <a:prstGeom prst="rect">
            <a:avLst/>
          </a:prstGeom>
        </p:spPr>
      </p:pic>
    </p:spTree>
    <p:extLst>
      <p:ext uri="{BB962C8B-B14F-4D97-AF65-F5344CB8AC3E}">
        <p14:creationId xmlns:p14="http://schemas.microsoft.com/office/powerpoint/2010/main" val="976930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D7D30-207E-223E-CC86-6703830FA25E}"/>
              </a:ext>
            </a:extLst>
          </p:cNvPr>
          <p:cNvSpPr>
            <a:spLocks noGrp="1"/>
          </p:cNvSpPr>
          <p:nvPr>
            <p:ph type="title"/>
          </p:nvPr>
        </p:nvSpPr>
        <p:spPr/>
        <p:txBody>
          <a:bodyPr/>
          <a:lstStyle/>
          <a:p>
            <a:r>
              <a:rPr lang="en-US" dirty="0"/>
              <a:t>Zookeeper</a:t>
            </a:r>
          </a:p>
        </p:txBody>
      </p:sp>
      <p:sp>
        <p:nvSpPr>
          <p:cNvPr id="3" name="Content Placeholder 2">
            <a:extLst>
              <a:ext uri="{FF2B5EF4-FFF2-40B4-BE49-F238E27FC236}">
                <a16:creationId xmlns:a16="http://schemas.microsoft.com/office/drawing/2014/main" id="{91B399F5-DD11-9AEB-AD84-BA94A1AA7204}"/>
              </a:ext>
            </a:extLst>
          </p:cNvPr>
          <p:cNvSpPr>
            <a:spLocks noGrp="1"/>
          </p:cNvSpPr>
          <p:nvPr>
            <p:ph idx="1"/>
          </p:nvPr>
        </p:nvSpPr>
        <p:spPr/>
        <p:txBody>
          <a:bodyPr/>
          <a:lstStyle/>
          <a:p>
            <a:r>
              <a:rPr lang="en-US" dirty="0"/>
              <a:t>Zookeeper manages brokers (keeps a list of them)</a:t>
            </a:r>
          </a:p>
          <a:p>
            <a:r>
              <a:rPr lang="en-US" dirty="0"/>
              <a:t>Zookeeper helps in electing leaders for partitions</a:t>
            </a:r>
          </a:p>
          <a:p>
            <a:r>
              <a:rPr lang="en-US" dirty="0"/>
              <a:t>Zookeeper sends notifications to Kafka in case of changes (e.g. new topic, broker dies, broker comes up, delete topics, etc.) </a:t>
            </a:r>
          </a:p>
          <a:p>
            <a:r>
              <a:rPr lang="en-US" dirty="0"/>
              <a:t>Kafka 2.x can’t work without Zookeeper</a:t>
            </a:r>
          </a:p>
          <a:p>
            <a:r>
              <a:rPr lang="en-US" dirty="0"/>
              <a:t>Kafka 3.x can work without Zookeeper (KIP-500) – using Kafka Raft (kraft) instead</a:t>
            </a:r>
          </a:p>
          <a:p>
            <a:r>
              <a:rPr lang="en-US" dirty="0"/>
              <a:t>Kafka 4.x will not have Zookeeper</a:t>
            </a:r>
          </a:p>
          <a:p>
            <a:r>
              <a:rPr lang="en-US" dirty="0"/>
              <a:t>Zookeeper by design operates with an odd number of servers (1, 3, 5, 7)</a:t>
            </a:r>
          </a:p>
          <a:p>
            <a:r>
              <a:rPr lang="en-US" dirty="0"/>
              <a:t>(Zookeeper does NOT store consumer offsets with Kafka &gt; v0.10)</a:t>
            </a:r>
          </a:p>
        </p:txBody>
      </p:sp>
    </p:spTree>
    <p:extLst>
      <p:ext uri="{BB962C8B-B14F-4D97-AF65-F5344CB8AC3E}">
        <p14:creationId xmlns:p14="http://schemas.microsoft.com/office/powerpoint/2010/main" val="36612193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0706E-7C47-A73B-7E74-2EF71977BCC2}"/>
              </a:ext>
            </a:extLst>
          </p:cNvPr>
          <p:cNvSpPr>
            <a:spLocks noGrp="1"/>
          </p:cNvSpPr>
          <p:nvPr>
            <p:ph type="title"/>
          </p:nvPr>
        </p:nvSpPr>
        <p:spPr/>
        <p:txBody>
          <a:bodyPr/>
          <a:lstStyle/>
          <a:p>
            <a:r>
              <a:rPr lang="en-US" dirty="0"/>
              <a:t>Zookeeper cluster (ensemble)</a:t>
            </a:r>
          </a:p>
        </p:txBody>
      </p:sp>
      <p:pic>
        <p:nvPicPr>
          <p:cNvPr id="5" name="Content Placeholder 4">
            <a:extLst>
              <a:ext uri="{FF2B5EF4-FFF2-40B4-BE49-F238E27FC236}">
                <a16:creationId xmlns:a16="http://schemas.microsoft.com/office/drawing/2014/main" id="{C757DC8E-FD8C-4C53-76E4-B34C9D06EE64}"/>
              </a:ext>
            </a:extLst>
          </p:cNvPr>
          <p:cNvPicPr>
            <a:picLocks noGrp="1" noChangeAspect="1"/>
          </p:cNvPicPr>
          <p:nvPr>
            <p:ph idx="1"/>
          </p:nvPr>
        </p:nvPicPr>
        <p:blipFill>
          <a:blip r:embed="rId2"/>
          <a:stretch>
            <a:fillRect/>
          </a:stretch>
        </p:blipFill>
        <p:spPr>
          <a:xfrm>
            <a:off x="1356651" y="2286487"/>
            <a:ext cx="9478698" cy="3515216"/>
          </a:xfrm>
          <a:prstGeom prst="rect">
            <a:avLst/>
          </a:prstGeom>
        </p:spPr>
      </p:pic>
    </p:spTree>
    <p:extLst>
      <p:ext uri="{BB962C8B-B14F-4D97-AF65-F5344CB8AC3E}">
        <p14:creationId xmlns:p14="http://schemas.microsoft.com/office/powerpoint/2010/main" val="40958785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AC49B-A636-F6B0-24E6-2904BEA1A71E}"/>
              </a:ext>
            </a:extLst>
          </p:cNvPr>
          <p:cNvSpPr>
            <a:spLocks noGrp="1"/>
          </p:cNvSpPr>
          <p:nvPr>
            <p:ph type="title"/>
          </p:nvPr>
        </p:nvSpPr>
        <p:spPr/>
        <p:txBody>
          <a:bodyPr/>
          <a:lstStyle/>
          <a:p>
            <a:r>
              <a:rPr lang="en-US" dirty="0"/>
              <a:t>Should you use zookeeper?</a:t>
            </a:r>
          </a:p>
        </p:txBody>
      </p:sp>
      <p:sp>
        <p:nvSpPr>
          <p:cNvPr id="3" name="Content Placeholder 2">
            <a:extLst>
              <a:ext uri="{FF2B5EF4-FFF2-40B4-BE49-F238E27FC236}">
                <a16:creationId xmlns:a16="http://schemas.microsoft.com/office/drawing/2014/main" id="{ECC8B36E-1CB1-56FF-2987-975D9FE9312E}"/>
              </a:ext>
            </a:extLst>
          </p:cNvPr>
          <p:cNvSpPr>
            <a:spLocks noGrp="1"/>
          </p:cNvSpPr>
          <p:nvPr>
            <p:ph idx="1"/>
          </p:nvPr>
        </p:nvSpPr>
        <p:spPr>
          <a:xfrm>
            <a:off x="581192" y="2002367"/>
            <a:ext cx="11029615" cy="4386559"/>
          </a:xfrm>
        </p:spPr>
        <p:txBody>
          <a:bodyPr>
            <a:normAutofit/>
          </a:bodyPr>
          <a:lstStyle/>
          <a:p>
            <a:r>
              <a:rPr lang="en-US" dirty="0"/>
              <a:t>With Kafka Brokers?</a:t>
            </a:r>
          </a:p>
          <a:p>
            <a:pPr lvl="1"/>
            <a:r>
              <a:rPr lang="en-US" dirty="0"/>
              <a:t>Yes, until Kafka 4.0 is out while waiting for Kafka without Zookeeper to be production ready </a:t>
            </a:r>
          </a:p>
          <a:p>
            <a:r>
              <a:rPr lang="en-US" dirty="0"/>
              <a:t>With Kafka Clients?</a:t>
            </a:r>
          </a:p>
          <a:p>
            <a:pPr lvl="1"/>
            <a:r>
              <a:rPr lang="en-US" dirty="0"/>
              <a:t>Over time, the Kafka clients and CLI have been migrated to leverage the brokers as a connection endpoint instead of Zookeeper</a:t>
            </a:r>
          </a:p>
          <a:p>
            <a:pPr lvl="1"/>
            <a:r>
              <a:rPr lang="en-US" dirty="0"/>
              <a:t>Since Kafka 0.10, consumers store offset in Kafka. We must not connect to Zookeeper directly as it is deprecated</a:t>
            </a:r>
          </a:p>
          <a:p>
            <a:pPr lvl="1"/>
            <a:r>
              <a:rPr lang="en-US" dirty="0"/>
              <a:t>All the APIs and commands that were previously leveraging Zookeeper are migrated to use Kafka instead, so that when clusters are migrated to be without Zookeeper, the change is invisible to clients</a:t>
            </a:r>
          </a:p>
          <a:p>
            <a:pPr lvl="1"/>
            <a:r>
              <a:rPr lang="en-US" dirty="0"/>
              <a:t>Zookeeper is also less secure than Kafka, and therefore Zookeeper ports should only be opened to allow traffic from Kafka brokers, and not Kafka clients</a:t>
            </a:r>
          </a:p>
          <a:p>
            <a:pPr lvl="1"/>
            <a:r>
              <a:rPr lang="en-US" b="1" dirty="0"/>
              <a:t>Therefore, to be a good Kafka developer, never ever use Zookeeper as a configuration in your Kafka clients, and other programs that connect to Kafka </a:t>
            </a:r>
          </a:p>
        </p:txBody>
      </p:sp>
    </p:spTree>
    <p:extLst>
      <p:ext uri="{BB962C8B-B14F-4D97-AF65-F5344CB8AC3E}">
        <p14:creationId xmlns:p14="http://schemas.microsoft.com/office/powerpoint/2010/main" val="17442863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F6C71-6114-B1A0-9A06-73240888DDDC}"/>
              </a:ext>
            </a:extLst>
          </p:cNvPr>
          <p:cNvSpPr>
            <a:spLocks noGrp="1"/>
          </p:cNvSpPr>
          <p:nvPr>
            <p:ph type="title"/>
          </p:nvPr>
        </p:nvSpPr>
        <p:spPr/>
        <p:txBody>
          <a:bodyPr/>
          <a:lstStyle/>
          <a:p>
            <a:r>
              <a:rPr lang="en-US" dirty="0"/>
              <a:t>About Kafka Kraft</a:t>
            </a:r>
          </a:p>
        </p:txBody>
      </p:sp>
      <p:sp>
        <p:nvSpPr>
          <p:cNvPr id="3" name="Content Placeholder 2">
            <a:extLst>
              <a:ext uri="{FF2B5EF4-FFF2-40B4-BE49-F238E27FC236}">
                <a16:creationId xmlns:a16="http://schemas.microsoft.com/office/drawing/2014/main" id="{6A180642-199D-1CA5-2B4B-5418843891FF}"/>
              </a:ext>
            </a:extLst>
          </p:cNvPr>
          <p:cNvSpPr>
            <a:spLocks noGrp="1"/>
          </p:cNvSpPr>
          <p:nvPr>
            <p:ph idx="1"/>
          </p:nvPr>
        </p:nvSpPr>
        <p:spPr>
          <a:xfrm>
            <a:off x="581192" y="2180496"/>
            <a:ext cx="11029615" cy="4220304"/>
          </a:xfrm>
        </p:spPr>
        <p:txBody>
          <a:bodyPr>
            <a:normAutofit/>
          </a:bodyPr>
          <a:lstStyle/>
          <a:p>
            <a:r>
              <a:rPr lang="en-US" dirty="0"/>
              <a:t>In 2020, the Apache Kafka project started work to remove the Zookeeper dependency from it (KIP-500)</a:t>
            </a:r>
          </a:p>
          <a:p>
            <a:r>
              <a:rPr lang="en-US" dirty="0"/>
              <a:t>Zookeeper shows scaling issues when Kafka clusters have &gt; 100,000 partitions </a:t>
            </a:r>
          </a:p>
          <a:p>
            <a:r>
              <a:rPr lang="en-US" dirty="0"/>
              <a:t>By removing Zookeeper, Apache Kafka can</a:t>
            </a:r>
          </a:p>
          <a:p>
            <a:pPr lvl="1"/>
            <a:r>
              <a:rPr lang="en-US" dirty="0"/>
              <a:t>Scale to millions of partitions, and becomes easier to maintain and set up</a:t>
            </a:r>
          </a:p>
          <a:p>
            <a:pPr lvl="1"/>
            <a:r>
              <a:rPr lang="en-US" dirty="0"/>
              <a:t>Improve stability, makes it easier to monitor, support, and administer</a:t>
            </a:r>
          </a:p>
          <a:p>
            <a:pPr lvl="1"/>
            <a:r>
              <a:rPr lang="en-US" dirty="0"/>
              <a:t>Single security model for the whole system</a:t>
            </a:r>
          </a:p>
          <a:p>
            <a:pPr lvl="1"/>
            <a:r>
              <a:rPr lang="en-US" dirty="0"/>
              <a:t>Single process to start with Kafka</a:t>
            </a:r>
          </a:p>
          <a:p>
            <a:pPr lvl="1"/>
            <a:r>
              <a:rPr lang="en-US" dirty="0"/>
              <a:t>Faster controller shutdown and recovery time </a:t>
            </a:r>
          </a:p>
          <a:p>
            <a:r>
              <a:rPr lang="en-US" dirty="0" err="1"/>
              <a:t>Kakfa</a:t>
            </a:r>
            <a:r>
              <a:rPr lang="en-US" dirty="0"/>
              <a:t> 3.x now implements the Raft protocol (</a:t>
            </a:r>
            <a:r>
              <a:rPr lang="en-US" dirty="0" err="1"/>
              <a:t>KRaft</a:t>
            </a:r>
            <a:r>
              <a:rPr lang="en-US" dirty="0"/>
              <a:t>) in order to replace Zookeeper</a:t>
            </a:r>
          </a:p>
          <a:p>
            <a:pPr lvl="1"/>
            <a:r>
              <a:rPr lang="en-US" dirty="0"/>
              <a:t>Production ready since Kafka 3.3.1 (KIP-833)</a:t>
            </a:r>
          </a:p>
          <a:p>
            <a:pPr lvl="1"/>
            <a:r>
              <a:rPr lang="en-US" dirty="0"/>
              <a:t>Kafka 4.0 will be released only with </a:t>
            </a:r>
            <a:r>
              <a:rPr lang="en-US" dirty="0" err="1"/>
              <a:t>KRaft</a:t>
            </a:r>
            <a:r>
              <a:rPr lang="en-US" dirty="0"/>
              <a:t> and no Zookeeper</a:t>
            </a:r>
          </a:p>
        </p:txBody>
      </p:sp>
    </p:spTree>
    <p:extLst>
      <p:ext uri="{BB962C8B-B14F-4D97-AF65-F5344CB8AC3E}">
        <p14:creationId xmlns:p14="http://schemas.microsoft.com/office/powerpoint/2010/main" val="34245819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114D6-9CE3-A22E-1660-654B4AD9743D}"/>
              </a:ext>
            </a:extLst>
          </p:cNvPr>
          <p:cNvSpPr>
            <a:spLocks noGrp="1"/>
          </p:cNvSpPr>
          <p:nvPr>
            <p:ph type="title"/>
          </p:nvPr>
        </p:nvSpPr>
        <p:spPr/>
        <p:txBody>
          <a:bodyPr/>
          <a:lstStyle/>
          <a:p>
            <a:r>
              <a:rPr lang="en-US" dirty="0"/>
              <a:t>Kafka kraft architecture</a:t>
            </a:r>
          </a:p>
        </p:txBody>
      </p:sp>
      <p:pic>
        <p:nvPicPr>
          <p:cNvPr id="5" name="Content Placeholder 4">
            <a:extLst>
              <a:ext uri="{FF2B5EF4-FFF2-40B4-BE49-F238E27FC236}">
                <a16:creationId xmlns:a16="http://schemas.microsoft.com/office/drawing/2014/main" id="{761D69CB-78ED-B425-7A02-C7F0A7B33603}"/>
              </a:ext>
            </a:extLst>
          </p:cNvPr>
          <p:cNvPicPr>
            <a:picLocks noGrp="1" noChangeAspect="1"/>
          </p:cNvPicPr>
          <p:nvPr>
            <p:ph idx="1"/>
          </p:nvPr>
        </p:nvPicPr>
        <p:blipFill>
          <a:blip r:embed="rId2"/>
          <a:stretch>
            <a:fillRect/>
          </a:stretch>
        </p:blipFill>
        <p:spPr>
          <a:xfrm>
            <a:off x="1735299" y="2132973"/>
            <a:ext cx="8721401" cy="4355882"/>
          </a:xfrm>
          <a:prstGeom prst="rect">
            <a:avLst/>
          </a:prstGeom>
        </p:spPr>
      </p:pic>
    </p:spTree>
    <p:extLst>
      <p:ext uri="{BB962C8B-B14F-4D97-AF65-F5344CB8AC3E}">
        <p14:creationId xmlns:p14="http://schemas.microsoft.com/office/powerpoint/2010/main" val="15947185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624E8-DE7B-499C-D45F-814B5E8E245D}"/>
              </a:ext>
            </a:extLst>
          </p:cNvPr>
          <p:cNvSpPr>
            <a:spLocks noGrp="1"/>
          </p:cNvSpPr>
          <p:nvPr>
            <p:ph type="title"/>
          </p:nvPr>
        </p:nvSpPr>
        <p:spPr/>
        <p:txBody>
          <a:bodyPr/>
          <a:lstStyle/>
          <a:p>
            <a:r>
              <a:rPr lang="en-US" dirty="0"/>
              <a:t>Kraft Performance Improvements</a:t>
            </a:r>
          </a:p>
        </p:txBody>
      </p:sp>
      <p:pic>
        <p:nvPicPr>
          <p:cNvPr id="5" name="Content Placeholder 4">
            <a:extLst>
              <a:ext uri="{FF2B5EF4-FFF2-40B4-BE49-F238E27FC236}">
                <a16:creationId xmlns:a16="http://schemas.microsoft.com/office/drawing/2014/main" id="{6DF6830F-E687-ACCD-48BE-06377A637407}"/>
              </a:ext>
            </a:extLst>
          </p:cNvPr>
          <p:cNvPicPr>
            <a:picLocks noGrp="1" noChangeAspect="1"/>
          </p:cNvPicPr>
          <p:nvPr>
            <p:ph idx="1"/>
          </p:nvPr>
        </p:nvPicPr>
        <p:blipFill>
          <a:blip r:embed="rId2"/>
          <a:stretch>
            <a:fillRect/>
          </a:stretch>
        </p:blipFill>
        <p:spPr>
          <a:xfrm>
            <a:off x="1879045" y="2123362"/>
            <a:ext cx="8433910" cy="4734638"/>
          </a:xfrm>
          <a:prstGeom prst="rect">
            <a:avLst/>
          </a:prstGeom>
        </p:spPr>
      </p:pic>
    </p:spTree>
    <p:extLst>
      <p:ext uri="{BB962C8B-B14F-4D97-AF65-F5344CB8AC3E}">
        <p14:creationId xmlns:p14="http://schemas.microsoft.com/office/powerpoint/2010/main" val="35827008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17B95-46A4-C549-28DD-05E332C2169F}"/>
              </a:ext>
            </a:extLst>
          </p:cNvPr>
          <p:cNvSpPr>
            <a:spLocks noGrp="1"/>
          </p:cNvSpPr>
          <p:nvPr>
            <p:ph type="title"/>
          </p:nvPr>
        </p:nvSpPr>
        <p:spPr/>
        <p:txBody>
          <a:bodyPr/>
          <a:lstStyle/>
          <a:p>
            <a:r>
              <a:rPr lang="en-US" dirty="0"/>
              <a:t>Kafka Install &amp; setup – </a:t>
            </a:r>
            <a:r>
              <a:rPr lang="en-US" dirty="0" err="1"/>
              <a:t>wsl</a:t>
            </a:r>
            <a:r>
              <a:rPr lang="en-US" dirty="0"/>
              <a:t>/windows</a:t>
            </a:r>
          </a:p>
        </p:txBody>
      </p:sp>
      <p:sp>
        <p:nvSpPr>
          <p:cNvPr id="3" name="Content Placeholder 2">
            <a:extLst>
              <a:ext uri="{FF2B5EF4-FFF2-40B4-BE49-F238E27FC236}">
                <a16:creationId xmlns:a16="http://schemas.microsoft.com/office/drawing/2014/main" id="{544D7FF3-52C0-DB62-2000-CF87188D6E4B}"/>
              </a:ext>
            </a:extLst>
          </p:cNvPr>
          <p:cNvSpPr>
            <a:spLocks noGrp="1"/>
          </p:cNvSpPr>
          <p:nvPr>
            <p:ph idx="1"/>
          </p:nvPr>
        </p:nvSpPr>
        <p:spPr>
          <a:xfrm>
            <a:off x="581192" y="2180496"/>
            <a:ext cx="11029615" cy="1738361"/>
          </a:xfrm>
        </p:spPr>
        <p:txBody>
          <a:bodyPr/>
          <a:lstStyle/>
          <a:p>
            <a:r>
              <a:rPr lang="en-US" dirty="0"/>
              <a:t>Install JDK (recommend </a:t>
            </a:r>
            <a:r>
              <a:rPr lang="en-US" dirty="0" err="1"/>
              <a:t>correto</a:t>
            </a:r>
            <a:r>
              <a:rPr lang="en-US" dirty="0"/>
              <a:t> 21) </a:t>
            </a:r>
          </a:p>
          <a:p>
            <a:r>
              <a:rPr lang="en-US" dirty="0"/>
              <a:t>Install </a:t>
            </a:r>
            <a:r>
              <a:rPr lang="en-US" dirty="0" err="1"/>
              <a:t>kafka</a:t>
            </a:r>
            <a:r>
              <a:rPr lang="en-US" dirty="0"/>
              <a:t> binaries and extract to you </a:t>
            </a:r>
            <a:r>
              <a:rPr lang="en-US" dirty="0" err="1"/>
              <a:t>wsl</a:t>
            </a:r>
            <a:r>
              <a:rPr lang="en-US" dirty="0"/>
              <a:t> home location</a:t>
            </a:r>
          </a:p>
          <a:p>
            <a:pPr lvl="1"/>
            <a:r>
              <a:rPr lang="en-US" dirty="0"/>
              <a:t>https://kafka.apache.org/quickstart/</a:t>
            </a:r>
          </a:p>
          <a:p>
            <a:r>
              <a:rPr lang="en-US" dirty="0"/>
              <a:t>nano .</a:t>
            </a:r>
            <a:r>
              <a:rPr lang="en-US" dirty="0" err="1"/>
              <a:t>bashrc</a:t>
            </a:r>
            <a:r>
              <a:rPr lang="en-US" dirty="0"/>
              <a:t> </a:t>
            </a:r>
            <a:r>
              <a:rPr lang="en-US" dirty="0">
                <a:sym typeface="Wingdings" panose="05000000000000000000" pitchFamily="2" charset="2"/>
              </a:rPr>
              <a:t> edit path env variable to add </a:t>
            </a:r>
            <a:r>
              <a:rPr lang="en-US" dirty="0" err="1">
                <a:sym typeface="Wingdings" panose="05000000000000000000" pitchFamily="2" charset="2"/>
              </a:rPr>
              <a:t>kafka</a:t>
            </a:r>
            <a:r>
              <a:rPr lang="en-US" dirty="0">
                <a:sym typeface="Wingdings" panose="05000000000000000000" pitchFamily="2" charset="2"/>
              </a:rPr>
              <a:t> to cli </a:t>
            </a:r>
            <a:endParaRPr lang="en-US" dirty="0"/>
          </a:p>
        </p:txBody>
      </p:sp>
      <p:pic>
        <p:nvPicPr>
          <p:cNvPr id="5" name="Picture 4">
            <a:extLst>
              <a:ext uri="{FF2B5EF4-FFF2-40B4-BE49-F238E27FC236}">
                <a16:creationId xmlns:a16="http://schemas.microsoft.com/office/drawing/2014/main" id="{CCAC7C01-E608-28A8-CE65-6CACA1DD50E1}"/>
              </a:ext>
            </a:extLst>
          </p:cNvPr>
          <p:cNvPicPr>
            <a:picLocks noChangeAspect="1"/>
          </p:cNvPicPr>
          <p:nvPr/>
        </p:nvPicPr>
        <p:blipFill>
          <a:blip r:embed="rId2"/>
          <a:stretch>
            <a:fillRect/>
          </a:stretch>
        </p:blipFill>
        <p:spPr>
          <a:xfrm>
            <a:off x="3994987" y="4383397"/>
            <a:ext cx="4534533" cy="362001"/>
          </a:xfrm>
          <a:prstGeom prst="rect">
            <a:avLst/>
          </a:prstGeom>
        </p:spPr>
      </p:pic>
    </p:spTree>
    <p:extLst>
      <p:ext uri="{BB962C8B-B14F-4D97-AF65-F5344CB8AC3E}">
        <p14:creationId xmlns:p14="http://schemas.microsoft.com/office/powerpoint/2010/main" val="17647026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37290-A0A1-A543-7EAD-7A271FD8B489}"/>
              </a:ext>
            </a:extLst>
          </p:cNvPr>
          <p:cNvSpPr>
            <a:spLocks noGrp="1"/>
          </p:cNvSpPr>
          <p:nvPr>
            <p:ph type="title"/>
          </p:nvPr>
        </p:nvSpPr>
        <p:spPr/>
        <p:txBody>
          <a:bodyPr/>
          <a:lstStyle/>
          <a:p>
            <a:r>
              <a:rPr lang="en-US" dirty="0"/>
              <a:t>CLI walkthrough</a:t>
            </a:r>
          </a:p>
        </p:txBody>
      </p:sp>
      <p:sp>
        <p:nvSpPr>
          <p:cNvPr id="3" name="Content Placeholder 2">
            <a:extLst>
              <a:ext uri="{FF2B5EF4-FFF2-40B4-BE49-F238E27FC236}">
                <a16:creationId xmlns:a16="http://schemas.microsoft.com/office/drawing/2014/main" id="{75520F18-EA64-BE32-4964-A7DF737D6765}"/>
              </a:ext>
            </a:extLst>
          </p:cNvPr>
          <p:cNvSpPr>
            <a:spLocks noGrp="1"/>
          </p:cNvSpPr>
          <p:nvPr>
            <p:ph idx="1"/>
          </p:nvPr>
        </p:nvSpPr>
        <p:spPr/>
        <p:txBody>
          <a:bodyPr/>
          <a:lstStyle/>
          <a:p>
            <a:r>
              <a:rPr lang="en-US" dirty="0"/>
              <a:t>See the ‘1-kafka-cli’ folder in your course materials</a:t>
            </a:r>
          </a:p>
          <a:p>
            <a:r>
              <a:rPr lang="en-US" dirty="0"/>
              <a:t>The </a:t>
            </a:r>
            <a:r>
              <a:rPr lang="en-US" dirty="0" err="1"/>
              <a:t>sh</a:t>
            </a:r>
            <a:r>
              <a:rPr lang="en-US" dirty="0"/>
              <a:t> files contain our walkthrough scripts</a:t>
            </a:r>
          </a:p>
        </p:txBody>
      </p:sp>
    </p:spTree>
    <p:extLst>
      <p:ext uri="{BB962C8B-B14F-4D97-AF65-F5344CB8AC3E}">
        <p14:creationId xmlns:p14="http://schemas.microsoft.com/office/powerpoint/2010/main" val="10761120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D3A39-4F4B-F7E1-266A-3AAFD58C4CD3}"/>
              </a:ext>
            </a:extLst>
          </p:cNvPr>
          <p:cNvSpPr>
            <a:spLocks noGrp="1"/>
          </p:cNvSpPr>
          <p:nvPr>
            <p:ph type="title"/>
          </p:nvPr>
        </p:nvSpPr>
        <p:spPr/>
        <p:txBody>
          <a:bodyPr/>
          <a:lstStyle/>
          <a:p>
            <a:r>
              <a:rPr lang="en-US" dirty="0"/>
              <a:t>Creating Kafka projects</a:t>
            </a:r>
          </a:p>
        </p:txBody>
      </p:sp>
      <p:sp>
        <p:nvSpPr>
          <p:cNvPr id="3" name="Content Placeholder 2">
            <a:extLst>
              <a:ext uri="{FF2B5EF4-FFF2-40B4-BE49-F238E27FC236}">
                <a16:creationId xmlns:a16="http://schemas.microsoft.com/office/drawing/2014/main" id="{505E89C4-34B3-0CA1-E52D-91064725094A}"/>
              </a:ext>
            </a:extLst>
          </p:cNvPr>
          <p:cNvSpPr>
            <a:spLocks noGrp="1"/>
          </p:cNvSpPr>
          <p:nvPr>
            <p:ph idx="1"/>
          </p:nvPr>
        </p:nvSpPr>
        <p:spPr/>
        <p:txBody>
          <a:bodyPr/>
          <a:lstStyle/>
          <a:p>
            <a:r>
              <a:rPr lang="en-US" dirty="0">
                <a:hlinkClick r:id="rId2"/>
              </a:rPr>
              <a:t>Kafka SDK list</a:t>
            </a:r>
            <a:r>
              <a:rPr lang="en-US" dirty="0"/>
              <a:t> – we will use Java</a:t>
            </a:r>
          </a:p>
          <a:p>
            <a:r>
              <a:rPr lang="en-US" dirty="0"/>
              <a:t>For this course we recommend Java 11 JDK (Amazon </a:t>
            </a:r>
            <a:r>
              <a:rPr lang="en-US" dirty="0" err="1"/>
              <a:t>Corretto</a:t>
            </a:r>
            <a:r>
              <a:rPr lang="en-US" dirty="0"/>
              <a:t> 11) </a:t>
            </a:r>
          </a:p>
          <a:p>
            <a:r>
              <a:rPr lang="en-US" dirty="0"/>
              <a:t>You could use IntelliJ Idea, </a:t>
            </a:r>
            <a:r>
              <a:rPr lang="en-US" dirty="0" err="1"/>
              <a:t>VSCode</a:t>
            </a:r>
            <a:r>
              <a:rPr lang="en-US" dirty="0"/>
              <a:t>, etc. – we will use </a:t>
            </a:r>
            <a:r>
              <a:rPr lang="en-US" dirty="0" err="1"/>
              <a:t>VSCode</a:t>
            </a:r>
            <a:r>
              <a:rPr lang="en-US" dirty="0"/>
              <a:t> in our examples</a:t>
            </a:r>
          </a:p>
          <a:p>
            <a:r>
              <a:rPr lang="en-US" dirty="0"/>
              <a:t>We could use Maven or Gradle as our build tool – we will go with Gradle in our course </a:t>
            </a:r>
          </a:p>
        </p:txBody>
      </p:sp>
    </p:spTree>
    <p:extLst>
      <p:ext uri="{BB962C8B-B14F-4D97-AF65-F5344CB8AC3E}">
        <p14:creationId xmlns:p14="http://schemas.microsoft.com/office/powerpoint/2010/main" val="21721677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C8C9D-9642-F992-CF00-238229A4D7D3}"/>
              </a:ext>
            </a:extLst>
          </p:cNvPr>
          <p:cNvSpPr>
            <a:spLocks noGrp="1"/>
          </p:cNvSpPr>
          <p:nvPr>
            <p:ph type="title"/>
          </p:nvPr>
        </p:nvSpPr>
        <p:spPr/>
        <p:txBody>
          <a:bodyPr/>
          <a:lstStyle/>
          <a:p>
            <a:r>
              <a:rPr lang="en-US" dirty="0" err="1"/>
              <a:t>VSCode</a:t>
            </a:r>
            <a:r>
              <a:rPr lang="en-US" dirty="0"/>
              <a:t> java setup</a:t>
            </a:r>
          </a:p>
        </p:txBody>
      </p:sp>
      <p:sp>
        <p:nvSpPr>
          <p:cNvPr id="3" name="Content Placeholder 2">
            <a:extLst>
              <a:ext uri="{FF2B5EF4-FFF2-40B4-BE49-F238E27FC236}">
                <a16:creationId xmlns:a16="http://schemas.microsoft.com/office/drawing/2014/main" id="{E5D28331-732A-0EF9-95FC-04ECF6F774A3}"/>
              </a:ext>
            </a:extLst>
          </p:cNvPr>
          <p:cNvSpPr>
            <a:spLocks noGrp="1"/>
          </p:cNvSpPr>
          <p:nvPr>
            <p:ph idx="1"/>
          </p:nvPr>
        </p:nvSpPr>
        <p:spPr>
          <a:xfrm>
            <a:off x="581192" y="1838103"/>
            <a:ext cx="5773271" cy="3678303"/>
          </a:xfrm>
        </p:spPr>
        <p:txBody>
          <a:bodyPr/>
          <a:lstStyle/>
          <a:p>
            <a:r>
              <a:rPr lang="en-US" dirty="0"/>
              <a:t>Grab the extensions</a:t>
            </a:r>
          </a:p>
          <a:p>
            <a:r>
              <a:rPr lang="en-US" dirty="0"/>
              <a:t>Run the command </a:t>
            </a:r>
            <a:r>
              <a:rPr lang="en-US" dirty="0" err="1"/>
              <a:t>pallete</a:t>
            </a:r>
            <a:r>
              <a:rPr lang="en-US" dirty="0"/>
              <a:t> to create a new </a:t>
            </a:r>
            <a:r>
              <a:rPr lang="en-US" dirty="0" err="1"/>
              <a:t>gradle</a:t>
            </a:r>
            <a:r>
              <a:rPr lang="en-US" dirty="0"/>
              <a:t> project (select groovy for the script DSL)</a:t>
            </a:r>
          </a:p>
          <a:p>
            <a:r>
              <a:rPr lang="en-US" dirty="0"/>
              <a:t>Google search ‘</a:t>
            </a:r>
            <a:r>
              <a:rPr lang="en-US" dirty="0" err="1"/>
              <a:t>kafka</a:t>
            </a:r>
            <a:r>
              <a:rPr lang="en-US" dirty="0"/>
              <a:t> maven’ to find the </a:t>
            </a:r>
            <a:r>
              <a:rPr lang="en-US" dirty="0" err="1"/>
              <a:t>org.apache.kafka</a:t>
            </a:r>
            <a:r>
              <a:rPr lang="en-US" dirty="0"/>
              <a:t> page</a:t>
            </a:r>
          </a:p>
          <a:p>
            <a:r>
              <a:rPr lang="en-US" dirty="0"/>
              <a:t>Get the </a:t>
            </a:r>
            <a:r>
              <a:rPr lang="en-US" dirty="0" err="1"/>
              <a:t>gradle</a:t>
            </a:r>
            <a:r>
              <a:rPr lang="en-US" dirty="0"/>
              <a:t>(short) imports for these three packages, and place them under your </a:t>
            </a:r>
            <a:r>
              <a:rPr lang="en-US" dirty="0" err="1"/>
              <a:t>build.gradle</a:t>
            </a:r>
            <a:r>
              <a:rPr lang="en-US" dirty="0"/>
              <a:t> file dependencies</a:t>
            </a:r>
          </a:p>
        </p:txBody>
      </p:sp>
      <p:pic>
        <p:nvPicPr>
          <p:cNvPr id="5" name="Picture 4">
            <a:extLst>
              <a:ext uri="{FF2B5EF4-FFF2-40B4-BE49-F238E27FC236}">
                <a16:creationId xmlns:a16="http://schemas.microsoft.com/office/drawing/2014/main" id="{9C9917F2-3550-F0F0-4491-BE06D19D2DE4}"/>
              </a:ext>
            </a:extLst>
          </p:cNvPr>
          <p:cNvPicPr>
            <a:picLocks noChangeAspect="1"/>
          </p:cNvPicPr>
          <p:nvPr/>
        </p:nvPicPr>
        <p:blipFill>
          <a:blip r:embed="rId2"/>
          <a:stretch>
            <a:fillRect/>
          </a:stretch>
        </p:blipFill>
        <p:spPr>
          <a:xfrm>
            <a:off x="7127246" y="1838103"/>
            <a:ext cx="3067478" cy="1590897"/>
          </a:xfrm>
          <a:prstGeom prst="rect">
            <a:avLst/>
          </a:prstGeom>
        </p:spPr>
      </p:pic>
      <p:pic>
        <p:nvPicPr>
          <p:cNvPr id="7" name="Picture 6">
            <a:extLst>
              <a:ext uri="{FF2B5EF4-FFF2-40B4-BE49-F238E27FC236}">
                <a16:creationId xmlns:a16="http://schemas.microsoft.com/office/drawing/2014/main" id="{379A1CA7-78AC-713D-1D4B-EDF36AD57EF5}"/>
              </a:ext>
            </a:extLst>
          </p:cNvPr>
          <p:cNvPicPr>
            <a:picLocks noChangeAspect="1"/>
          </p:cNvPicPr>
          <p:nvPr/>
        </p:nvPicPr>
        <p:blipFill>
          <a:blip r:embed="rId3"/>
          <a:stretch>
            <a:fillRect/>
          </a:stretch>
        </p:blipFill>
        <p:spPr>
          <a:xfrm>
            <a:off x="6619008" y="3551147"/>
            <a:ext cx="4083954" cy="1312699"/>
          </a:xfrm>
          <a:prstGeom prst="rect">
            <a:avLst/>
          </a:prstGeom>
        </p:spPr>
      </p:pic>
      <p:pic>
        <p:nvPicPr>
          <p:cNvPr id="9" name="Picture 8">
            <a:extLst>
              <a:ext uri="{FF2B5EF4-FFF2-40B4-BE49-F238E27FC236}">
                <a16:creationId xmlns:a16="http://schemas.microsoft.com/office/drawing/2014/main" id="{0E7AF046-F4FC-1566-29A7-2B92BB59795A}"/>
              </a:ext>
            </a:extLst>
          </p:cNvPr>
          <p:cNvPicPr>
            <a:picLocks noChangeAspect="1"/>
          </p:cNvPicPr>
          <p:nvPr/>
        </p:nvPicPr>
        <p:blipFill>
          <a:blip r:embed="rId4"/>
          <a:stretch>
            <a:fillRect/>
          </a:stretch>
        </p:blipFill>
        <p:spPr>
          <a:xfrm>
            <a:off x="194169" y="5242145"/>
            <a:ext cx="2340190" cy="1269165"/>
          </a:xfrm>
          <a:prstGeom prst="rect">
            <a:avLst/>
          </a:prstGeom>
        </p:spPr>
      </p:pic>
      <p:pic>
        <p:nvPicPr>
          <p:cNvPr id="13" name="Picture 12">
            <a:extLst>
              <a:ext uri="{FF2B5EF4-FFF2-40B4-BE49-F238E27FC236}">
                <a16:creationId xmlns:a16="http://schemas.microsoft.com/office/drawing/2014/main" id="{82816754-70A6-61F3-C6F1-648D13EFC3A4}"/>
              </a:ext>
            </a:extLst>
          </p:cNvPr>
          <p:cNvPicPr>
            <a:picLocks noChangeAspect="1"/>
          </p:cNvPicPr>
          <p:nvPr/>
        </p:nvPicPr>
        <p:blipFill>
          <a:blip r:embed="rId5"/>
          <a:stretch>
            <a:fillRect/>
          </a:stretch>
        </p:blipFill>
        <p:spPr>
          <a:xfrm>
            <a:off x="3302074" y="5321113"/>
            <a:ext cx="2340190" cy="1377923"/>
          </a:xfrm>
          <a:prstGeom prst="rect">
            <a:avLst/>
          </a:prstGeom>
        </p:spPr>
      </p:pic>
      <p:pic>
        <p:nvPicPr>
          <p:cNvPr id="15" name="Picture 14">
            <a:extLst>
              <a:ext uri="{FF2B5EF4-FFF2-40B4-BE49-F238E27FC236}">
                <a16:creationId xmlns:a16="http://schemas.microsoft.com/office/drawing/2014/main" id="{22E16220-47CD-B409-8EAC-3B4C19253AA5}"/>
              </a:ext>
            </a:extLst>
          </p:cNvPr>
          <p:cNvPicPr>
            <a:picLocks noChangeAspect="1"/>
          </p:cNvPicPr>
          <p:nvPr/>
        </p:nvPicPr>
        <p:blipFill>
          <a:blip r:embed="rId6"/>
          <a:stretch>
            <a:fillRect/>
          </a:stretch>
        </p:blipFill>
        <p:spPr>
          <a:xfrm>
            <a:off x="6165590" y="5206002"/>
            <a:ext cx="3188958" cy="1464246"/>
          </a:xfrm>
          <a:prstGeom prst="rect">
            <a:avLst/>
          </a:prstGeom>
        </p:spPr>
      </p:pic>
    </p:spTree>
    <p:extLst>
      <p:ext uri="{BB962C8B-B14F-4D97-AF65-F5344CB8AC3E}">
        <p14:creationId xmlns:p14="http://schemas.microsoft.com/office/powerpoint/2010/main" val="33039204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E3D7E-A6DD-987E-A203-EB19BEDDC2A4}"/>
              </a:ext>
            </a:extLst>
          </p:cNvPr>
          <p:cNvSpPr>
            <a:spLocks noGrp="1"/>
          </p:cNvSpPr>
          <p:nvPr>
            <p:ph type="title"/>
          </p:nvPr>
        </p:nvSpPr>
        <p:spPr/>
        <p:txBody>
          <a:bodyPr/>
          <a:lstStyle/>
          <a:p>
            <a:r>
              <a:rPr lang="en-US" dirty="0"/>
              <a:t>Example </a:t>
            </a:r>
            <a:r>
              <a:rPr lang="en-US" dirty="0" err="1"/>
              <a:t>build.gradle</a:t>
            </a:r>
            <a:endParaRPr lang="en-US" dirty="0"/>
          </a:p>
        </p:txBody>
      </p:sp>
      <p:pic>
        <p:nvPicPr>
          <p:cNvPr id="5" name="Content Placeholder 4">
            <a:extLst>
              <a:ext uri="{FF2B5EF4-FFF2-40B4-BE49-F238E27FC236}">
                <a16:creationId xmlns:a16="http://schemas.microsoft.com/office/drawing/2014/main" id="{D26C682B-7346-19AE-9CC6-617F249BE861}"/>
              </a:ext>
            </a:extLst>
          </p:cNvPr>
          <p:cNvPicPr>
            <a:picLocks noGrp="1" noChangeAspect="1"/>
          </p:cNvPicPr>
          <p:nvPr>
            <p:ph idx="1"/>
          </p:nvPr>
        </p:nvPicPr>
        <p:blipFill>
          <a:blip r:embed="rId2"/>
          <a:stretch>
            <a:fillRect/>
          </a:stretch>
        </p:blipFill>
        <p:spPr>
          <a:xfrm>
            <a:off x="321972" y="2223824"/>
            <a:ext cx="6120392" cy="3420690"/>
          </a:xfrm>
          <a:prstGeom prst="rect">
            <a:avLst/>
          </a:prstGeom>
        </p:spPr>
      </p:pic>
      <p:pic>
        <p:nvPicPr>
          <p:cNvPr id="7" name="Picture 6">
            <a:extLst>
              <a:ext uri="{FF2B5EF4-FFF2-40B4-BE49-F238E27FC236}">
                <a16:creationId xmlns:a16="http://schemas.microsoft.com/office/drawing/2014/main" id="{F93EC793-53F0-AAD2-9336-42E49811C6FB}"/>
              </a:ext>
            </a:extLst>
          </p:cNvPr>
          <p:cNvPicPr>
            <a:picLocks noChangeAspect="1"/>
          </p:cNvPicPr>
          <p:nvPr/>
        </p:nvPicPr>
        <p:blipFill>
          <a:blip r:embed="rId3"/>
          <a:stretch>
            <a:fillRect/>
          </a:stretch>
        </p:blipFill>
        <p:spPr>
          <a:xfrm>
            <a:off x="6673904" y="2941306"/>
            <a:ext cx="4906060" cy="1638529"/>
          </a:xfrm>
          <a:prstGeom prst="rect">
            <a:avLst/>
          </a:prstGeom>
        </p:spPr>
      </p:pic>
      <p:pic>
        <p:nvPicPr>
          <p:cNvPr id="9" name="Picture 8">
            <a:extLst>
              <a:ext uri="{FF2B5EF4-FFF2-40B4-BE49-F238E27FC236}">
                <a16:creationId xmlns:a16="http://schemas.microsoft.com/office/drawing/2014/main" id="{7EA793B5-5DC5-D25C-21E1-B95BB12FA0F4}"/>
              </a:ext>
            </a:extLst>
          </p:cNvPr>
          <p:cNvPicPr>
            <a:picLocks noChangeAspect="1"/>
          </p:cNvPicPr>
          <p:nvPr/>
        </p:nvPicPr>
        <p:blipFill>
          <a:blip r:embed="rId4"/>
          <a:stretch>
            <a:fillRect/>
          </a:stretch>
        </p:blipFill>
        <p:spPr>
          <a:xfrm>
            <a:off x="3733470" y="6407857"/>
            <a:ext cx="4725059" cy="295316"/>
          </a:xfrm>
          <a:prstGeom prst="rect">
            <a:avLst/>
          </a:prstGeom>
        </p:spPr>
      </p:pic>
      <p:sp>
        <p:nvSpPr>
          <p:cNvPr id="10" name="TextBox 9">
            <a:extLst>
              <a:ext uri="{FF2B5EF4-FFF2-40B4-BE49-F238E27FC236}">
                <a16:creationId xmlns:a16="http://schemas.microsoft.com/office/drawing/2014/main" id="{AD432CBF-EDD1-E8B5-1A61-D8334C7DF005}"/>
              </a:ext>
            </a:extLst>
          </p:cNvPr>
          <p:cNvSpPr txBox="1"/>
          <p:nvPr/>
        </p:nvSpPr>
        <p:spPr>
          <a:xfrm>
            <a:off x="1549101" y="5967716"/>
            <a:ext cx="9786525" cy="369332"/>
          </a:xfrm>
          <a:prstGeom prst="rect">
            <a:avLst/>
          </a:prstGeom>
          <a:noFill/>
        </p:spPr>
        <p:txBody>
          <a:bodyPr wrap="none" rtlCol="0">
            <a:spAutoFit/>
          </a:bodyPr>
          <a:lstStyle/>
          <a:p>
            <a:r>
              <a:rPr lang="en-US" dirty="0"/>
              <a:t>Running </a:t>
            </a:r>
            <a:r>
              <a:rPr lang="en-US" dirty="0" err="1"/>
              <a:t>gradle</a:t>
            </a:r>
            <a:r>
              <a:rPr lang="en-US" dirty="0"/>
              <a:t> via extension will format output and hide some logs. Run directly via CLI to see all logs:</a:t>
            </a:r>
          </a:p>
        </p:txBody>
      </p:sp>
    </p:spTree>
    <p:extLst>
      <p:ext uri="{BB962C8B-B14F-4D97-AF65-F5344CB8AC3E}">
        <p14:creationId xmlns:p14="http://schemas.microsoft.com/office/powerpoint/2010/main" val="11606844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C20D2-8D41-0001-2D8A-E46C481C37E9}"/>
              </a:ext>
            </a:extLst>
          </p:cNvPr>
          <p:cNvSpPr>
            <a:spLocks noGrp="1"/>
          </p:cNvSpPr>
          <p:nvPr>
            <p:ph type="title"/>
          </p:nvPr>
        </p:nvSpPr>
        <p:spPr/>
        <p:txBody>
          <a:bodyPr/>
          <a:lstStyle/>
          <a:p>
            <a:r>
              <a:rPr lang="en-US" dirty="0"/>
              <a:t>Producer Walkthrough</a:t>
            </a:r>
          </a:p>
        </p:txBody>
      </p:sp>
      <p:sp>
        <p:nvSpPr>
          <p:cNvPr id="3" name="Content Placeholder 2">
            <a:extLst>
              <a:ext uri="{FF2B5EF4-FFF2-40B4-BE49-F238E27FC236}">
                <a16:creationId xmlns:a16="http://schemas.microsoft.com/office/drawing/2014/main" id="{217924C8-123C-E6C7-3D42-4588B0206B16}"/>
              </a:ext>
            </a:extLst>
          </p:cNvPr>
          <p:cNvSpPr>
            <a:spLocks noGrp="1"/>
          </p:cNvSpPr>
          <p:nvPr>
            <p:ph idx="1"/>
          </p:nvPr>
        </p:nvSpPr>
        <p:spPr/>
        <p:txBody>
          <a:bodyPr/>
          <a:lstStyle/>
          <a:p>
            <a:r>
              <a:rPr lang="en-US" dirty="0"/>
              <a:t>Please see ‘ProducerDemo.java’ in your course materials </a:t>
            </a:r>
          </a:p>
          <a:p>
            <a:r>
              <a:rPr lang="en-US" dirty="0"/>
              <a:t>Run the script, then open a consumer in the CLI to retrieve our message</a:t>
            </a:r>
          </a:p>
        </p:txBody>
      </p:sp>
    </p:spTree>
    <p:extLst>
      <p:ext uri="{BB962C8B-B14F-4D97-AF65-F5344CB8AC3E}">
        <p14:creationId xmlns:p14="http://schemas.microsoft.com/office/powerpoint/2010/main" val="30127071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D47B6-E3C3-7483-05C5-B5554C88EB87}"/>
              </a:ext>
            </a:extLst>
          </p:cNvPr>
          <p:cNvSpPr>
            <a:spLocks noGrp="1"/>
          </p:cNvSpPr>
          <p:nvPr>
            <p:ph type="title"/>
          </p:nvPr>
        </p:nvSpPr>
        <p:spPr/>
        <p:txBody>
          <a:bodyPr/>
          <a:lstStyle/>
          <a:p>
            <a:r>
              <a:rPr lang="en-US" dirty="0"/>
              <a:t>Sticky partitioner</a:t>
            </a:r>
          </a:p>
        </p:txBody>
      </p:sp>
      <p:sp>
        <p:nvSpPr>
          <p:cNvPr id="3" name="Content Placeholder 2">
            <a:extLst>
              <a:ext uri="{FF2B5EF4-FFF2-40B4-BE49-F238E27FC236}">
                <a16:creationId xmlns:a16="http://schemas.microsoft.com/office/drawing/2014/main" id="{322F8C70-319A-745C-C220-5BE19B22DCAD}"/>
              </a:ext>
            </a:extLst>
          </p:cNvPr>
          <p:cNvSpPr>
            <a:spLocks noGrp="1"/>
          </p:cNvSpPr>
          <p:nvPr>
            <p:ph idx="1"/>
          </p:nvPr>
        </p:nvSpPr>
        <p:spPr>
          <a:xfrm>
            <a:off x="581193" y="2045414"/>
            <a:ext cx="11029615" cy="1013801"/>
          </a:xfrm>
        </p:spPr>
        <p:txBody>
          <a:bodyPr/>
          <a:lstStyle/>
          <a:p>
            <a:r>
              <a:rPr lang="en-US" dirty="0"/>
              <a:t>In our last example we send a single message each time we run it, these will populate into different partitions </a:t>
            </a:r>
          </a:p>
          <a:p>
            <a:r>
              <a:rPr lang="en-US" dirty="0"/>
              <a:t>In our upcoming example, we will see what happens when we flush() and close() a batched group of messages</a:t>
            </a:r>
          </a:p>
        </p:txBody>
      </p:sp>
      <p:pic>
        <p:nvPicPr>
          <p:cNvPr id="5" name="Picture 4">
            <a:extLst>
              <a:ext uri="{FF2B5EF4-FFF2-40B4-BE49-F238E27FC236}">
                <a16:creationId xmlns:a16="http://schemas.microsoft.com/office/drawing/2014/main" id="{63E35CB0-14DB-EB70-F329-55AA4A40AEEE}"/>
              </a:ext>
            </a:extLst>
          </p:cNvPr>
          <p:cNvPicPr>
            <a:picLocks noChangeAspect="1"/>
          </p:cNvPicPr>
          <p:nvPr/>
        </p:nvPicPr>
        <p:blipFill>
          <a:blip r:embed="rId2"/>
          <a:stretch>
            <a:fillRect/>
          </a:stretch>
        </p:blipFill>
        <p:spPr>
          <a:xfrm>
            <a:off x="1637677" y="3194297"/>
            <a:ext cx="8916644" cy="3372321"/>
          </a:xfrm>
          <a:prstGeom prst="rect">
            <a:avLst/>
          </a:prstGeom>
        </p:spPr>
      </p:pic>
    </p:spTree>
    <p:extLst>
      <p:ext uri="{BB962C8B-B14F-4D97-AF65-F5344CB8AC3E}">
        <p14:creationId xmlns:p14="http://schemas.microsoft.com/office/powerpoint/2010/main" val="714834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4209F-58CB-5B26-363F-2E894E954D7B}"/>
              </a:ext>
            </a:extLst>
          </p:cNvPr>
          <p:cNvSpPr>
            <a:spLocks noGrp="1"/>
          </p:cNvSpPr>
          <p:nvPr>
            <p:ph type="title"/>
          </p:nvPr>
        </p:nvSpPr>
        <p:spPr/>
        <p:txBody>
          <a:bodyPr/>
          <a:lstStyle/>
          <a:p>
            <a:r>
              <a:rPr lang="en-US" dirty="0"/>
              <a:t>Producer/Consumer walkthrough - java</a:t>
            </a:r>
          </a:p>
        </p:txBody>
      </p:sp>
      <p:sp>
        <p:nvSpPr>
          <p:cNvPr id="3" name="Content Placeholder 2">
            <a:extLst>
              <a:ext uri="{FF2B5EF4-FFF2-40B4-BE49-F238E27FC236}">
                <a16:creationId xmlns:a16="http://schemas.microsoft.com/office/drawing/2014/main" id="{AB72CF19-D821-5E51-67BF-0C1D4C1022BD}"/>
              </a:ext>
            </a:extLst>
          </p:cNvPr>
          <p:cNvSpPr>
            <a:spLocks noGrp="1"/>
          </p:cNvSpPr>
          <p:nvPr>
            <p:ph idx="1"/>
          </p:nvPr>
        </p:nvSpPr>
        <p:spPr/>
        <p:txBody>
          <a:bodyPr/>
          <a:lstStyle/>
          <a:p>
            <a:r>
              <a:rPr lang="en-US" dirty="0"/>
              <a:t>Please see ‘ProducerDemoWithCallback.java’ in your course materials</a:t>
            </a:r>
          </a:p>
          <a:p>
            <a:r>
              <a:rPr lang="en-US" dirty="0"/>
              <a:t>Please see ‘ProducerDemoWithKeys.java’ in your course materials</a:t>
            </a:r>
          </a:p>
          <a:p>
            <a:r>
              <a:rPr lang="en-US" dirty="0"/>
              <a:t>Please see ‘ConsumerDemo.java’ in your course materials</a:t>
            </a:r>
          </a:p>
        </p:txBody>
      </p:sp>
    </p:spTree>
    <p:extLst>
      <p:ext uri="{BB962C8B-B14F-4D97-AF65-F5344CB8AC3E}">
        <p14:creationId xmlns:p14="http://schemas.microsoft.com/office/powerpoint/2010/main" val="28610314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263A4-EA97-6B41-2683-417DA05CB6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22185DE-62EF-B7A6-2BD2-989F5F7FB03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7629283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3D92F2-BD3F-5502-960E-3CFF35778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D234C-D59D-E997-1AA0-D508BFFD3CB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23F8E57B-9E41-4816-C2F2-1105A90F87A9}"/>
              </a:ext>
            </a:extLst>
          </p:cNvPr>
          <p:cNvSpPr>
            <a:spLocks noGrp="1"/>
          </p:cNvSpPr>
          <p:nvPr>
            <p:ph idx="1"/>
          </p:nvPr>
        </p:nvSpPr>
        <p:spPr>
          <a:xfrm>
            <a:off x="581192" y="2475925"/>
            <a:ext cx="5317584" cy="1681246"/>
          </a:xfrm>
        </p:spPr>
        <p:txBody>
          <a:bodyPr/>
          <a:lstStyle/>
          <a:p>
            <a:r>
              <a:rPr lang="en-US" dirty="0"/>
              <a:t>Complete a hands-on challenge</a:t>
            </a:r>
          </a:p>
        </p:txBody>
      </p:sp>
      <p:sp>
        <p:nvSpPr>
          <p:cNvPr id="6" name="TextBox 5">
            <a:extLst>
              <a:ext uri="{FF2B5EF4-FFF2-40B4-BE49-F238E27FC236}">
                <a16:creationId xmlns:a16="http://schemas.microsoft.com/office/drawing/2014/main" id="{2DE50FF0-C783-F3C0-044D-2F094F317804}"/>
              </a:ext>
            </a:extLst>
          </p:cNvPr>
          <p:cNvSpPr txBox="1"/>
          <p:nvPr/>
        </p:nvSpPr>
        <p:spPr>
          <a:xfrm>
            <a:off x="1228165" y="2402747"/>
            <a:ext cx="756938" cy="369332"/>
          </a:xfrm>
          <a:prstGeom prst="rect">
            <a:avLst/>
          </a:prstGeom>
          <a:noFill/>
        </p:spPr>
        <p:txBody>
          <a:bodyPr wrap="none" rtlCol="0">
            <a:spAutoFit/>
          </a:bodyPr>
          <a:lstStyle/>
          <a:p>
            <a:r>
              <a:rPr lang="en-US" b="1" dirty="0"/>
              <a:t>Goal:</a:t>
            </a:r>
          </a:p>
        </p:txBody>
      </p:sp>
      <p:sp>
        <p:nvSpPr>
          <p:cNvPr id="7" name="TextBox 6">
            <a:extLst>
              <a:ext uri="{FF2B5EF4-FFF2-40B4-BE49-F238E27FC236}">
                <a16:creationId xmlns:a16="http://schemas.microsoft.com/office/drawing/2014/main" id="{405306AE-2095-D0AE-E069-321DBC55370F}"/>
              </a:ext>
            </a:extLst>
          </p:cNvPr>
          <p:cNvSpPr txBox="1"/>
          <p:nvPr/>
        </p:nvSpPr>
        <p:spPr>
          <a:xfrm>
            <a:off x="6949165" y="2402747"/>
            <a:ext cx="4661643" cy="369332"/>
          </a:xfrm>
          <a:prstGeom prst="rect">
            <a:avLst/>
          </a:prstGeom>
          <a:noFill/>
        </p:spPr>
        <p:txBody>
          <a:bodyPr wrap="square" rtlCol="0">
            <a:spAutoFit/>
          </a:bodyPr>
          <a:lstStyle/>
          <a:p>
            <a:r>
              <a:rPr lang="en-US" b="1" dirty="0"/>
              <a:t>Scenario:  			   5 min</a:t>
            </a:r>
          </a:p>
        </p:txBody>
      </p:sp>
      <p:sp>
        <p:nvSpPr>
          <p:cNvPr id="8" name="Content Placeholder 2">
            <a:extLst>
              <a:ext uri="{FF2B5EF4-FFF2-40B4-BE49-F238E27FC236}">
                <a16:creationId xmlns:a16="http://schemas.microsoft.com/office/drawing/2014/main" id="{61B443B1-E14C-64AB-9E9D-75FFCF923C2B}"/>
              </a:ext>
            </a:extLst>
          </p:cNvPr>
          <p:cNvSpPr txBox="1">
            <a:spLocks/>
          </p:cNvSpPr>
          <p:nvPr/>
        </p:nvSpPr>
        <p:spPr>
          <a:xfrm>
            <a:off x="6545749" y="2772079"/>
            <a:ext cx="4661642" cy="168124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Your organization needs to relay technical concepts to you. Clients often need to do the same. Take a few moments to get some pen and paper ready to take notes. </a:t>
            </a:r>
          </a:p>
        </p:txBody>
      </p:sp>
    </p:spTree>
    <p:extLst>
      <p:ext uri="{BB962C8B-B14F-4D97-AF65-F5344CB8AC3E}">
        <p14:creationId xmlns:p14="http://schemas.microsoft.com/office/powerpoint/2010/main" val="3587871389"/>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Metadata/LabelInfo.xml><?xml version="1.0" encoding="utf-8"?>
<clbl:labelList xmlns:clbl="http://schemas.microsoft.com/office/2020/mipLabelMetadata">
  <clbl:label id="{6b63e28a-a8f9-47b5-aa40-97e231215164}" enabled="0" method="" siteId="{6b63e28a-a8f9-47b5-aa40-97e231215164}" removed="1"/>
</clbl:labelList>
</file>

<file path=docProps/app.xml><?xml version="1.0" encoding="utf-8"?>
<Properties xmlns="http://schemas.openxmlformats.org/officeDocument/2006/extended-properties" xmlns:vt="http://schemas.openxmlformats.org/officeDocument/2006/docPropsVTypes">
  <Template>office theme</Template>
  <TotalTime>7100</TotalTime>
  <Words>2380</Words>
  <Application>Microsoft Office PowerPoint</Application>
  <PresentationFormat>Widescreen</PresentationFormat>
  <Paragraphs>230</Paragraphs>
  <Slides>47</Slides>
  <Notes>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Gill Sans MT</vt:lpstr>
      <vt:lpstr>Wingdings</vt:lpstr>
      <vt:lpstr>Wingdings 2</vt:lpstr>
      <vt:lpstr>Dividend</vt:lpstr>
      <vt:lpstr>Kafka</vt:lpstr>
      <vt:lpstr>The problem</vt:lpstr>
      <vt:lpstr>solution</vt:lpstr>
      <vt:lpstr>Kafka use cases</vt:lpstr>
      <vt:lpstr>Real life examples</vt:lpstr>
      <vt:lpstr>Kafka Topics</vt:lpstr>
      <vt:lpstr>Partitions &amp; offsets</vt:lpstr>
      <vt:lpstr>Topic example: truck_gps</vt:lpstr>
      <vt:lpstr>Topics, partitions, &amp; offsets – a bit more</vt:lpstr>
      <vt:lpstr>Producers</vt:lpstr>
      <vt:lpstr>Producers: Message Keys</vt:lpstr>
      <vt:lpstr>Kafka Message anatomy</vt:lpstr>
      <vt:lpstr>Kafka message serializer</vt:lpstr>
      <vt:lpstr>For the curious: Kafka message hashing</vt:lpstr>
      <vt:lpstr>Consumers &amp; Deserialization</vt:lpstr>
      <vt:lpstr>Consumer Deserializer</vt:lpstr>
      <vt:lpstr>Consumer Groups</vt:lpstr>
      <vt:lpstr>Consumer group – what if too many consumers?</vt:lpstr>
      <vt:lpstr>Multiple consumers on one topic</vt:lpstr>
      <vt:lpstr>Consumer offsets</vt:lpstr>
      <vt:lpstr>Delivery semantics for consumers</vt:lpstr>
      <vt:lpstr>Kafka Brokers</vt:lpstr>
      <vt:lpstr>Brokers &amp; topics</vt:lpstr>
      <vt:lpstr>Kafka broker discovery</vt:lpstr>
      <vt:lpstr>Topic replication Factor</vt:lpstr>
      <vt:lpstr>Topic Replication Factor </vt:lpstr>
      <vt:lpstr>Concept of leader for a partition</vt:lpstr>
      <vt:lpstr>Default producer &amp; consumer behavior with leaders</vt:lpstr>
      <vt:lpstr>Kafka consumers replica fetching (kafka v2.4+)</vt:lpstr>
      <vt:lpstr>Producer acknowledgements (acks)</vt:lpstr>
      <vt:lpstr>Kafka topic durability</vt:lpstr>
      <vt:lpstr>Zookeeper</vt:lpstr>
      <vt:lpstr>Zookeeper cluster (ensemble)</vt:lpstr>
      <vt:lpstr>Should you use zookeeper?</vt:lpstr>
      <vt:lpstr>About Kafka Kraft</vt:lpstr>
      <vt:lpstr>Kafka kraft architecture</vt:lpstr>
      <vt:lpstr>Kraft Performance Improvements</vt:lpstr>
      <vt:lpstr>Kafka Install &amp; setup – wsl/windows</vt:lpstr>
      <vt:lpstr>CLI walkthrough</vt:lpstr>
      <vt:lpstr>Creating Kafka projects</vt:lpstr>
      <vt:lpstr>VSCode java setup</vt:lpstr>
      <vt:lpstr>Example build.gradle</vt:lpstr>
      <vt:lpstr>Producer Walkthrough</vt:lpstr>
      <vt:lpstr>Sticky partitioner</vt:lpstr>
      <vt:lpstr>Producer/Consumer walkthrough - java</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Wilson</dc:creator>
  <cp:lastModifiedBy>Ethan Wilson</cp:lastModifiedBy>
  <cp:revision>605</cp:revision>
  <dcterms:created xsi:type="dcterms:W3CDTF">2025-02-12T19:53:45Z</dcterms:created>
  <dcterms:modified xsi:type="dcterms:W3CDTF">2026-07-30T01:46:24Z</dcterms:modified>
</cp:coreProperties>
</file>