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14" r:id="rId3"/>
    <p:sldId id="315" r:id="rId4"/>
    <p:sldId id="316" r:id="rId5"/>
    <p:sldId id="317" r:id="rId6"/>
    <p:sldId id="318" r:id="rId7"/>
    <p:sldId id="321" r:id="rId8"/>
    <p:sldId id="319" r:id="rId9"/>
    <p:sldId id="320" r:id="rId10"/>
    <p:sldId id="323" r:id="rId11"/>
    <p:sldId id="324" r:id="rId12"/>
    <p:sldId id="325" r:id="rId13"/>
    <p:sldId id="326" r:id="rId14"/>
    <p:sldId id="349" r:id="rId15"/>
    <p:sldId id="350" r:id="rId16"/>
    <p:sldId id="351" r:id="rId17"/>
    <p:sldId id="322" r:id="rId18"/>
    <p:sldId id="339" r:id="rId19"/>
    <p:sldId id="340" r:id="rId20"/>
    <p:sldId id="341" r:id="rId21"/>
    <p:sldId id="342" r:id="rId22"/>
    <p:sldId id="327" r:id="rId23"/>
    <p:sldId id="328" r:id="rId24"/>
    <p:sldId id="337" r:id="rId25"/>
    <p:sldId id="330" r:id="rId26"/>
    <p:sldId id="329" r:id="rId27"/>
    <p:sldId id="331" r:id="rId28"/>
    <p:sldId id="332" r:id="rId29"/>
    <p:sldId id="333" r:id="rId30"/>
    <p:sldId id="334" r:id="rId31"/>
    <p:sldId id="335" r:id="rId32"/>
    <p:sldId id="336" r:id="rId33"/>
    <p:sldId id="338" r:id="rId34"/>
    <p:sldId id="343" r:id="rId35"/>
    <p:sldId id="345" r:id="rId36"/>
    <p:sldId id="344" r:id="rId37"/>
    <p:sldId id="346" r:id="rId38"/>
    <p:sldId id="347" r:id="rId39"/>
    <p:sldId id="348" r:id="rId40"/>
    <p:sldId id="31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496" autoAdjust="0"/>
    <p:restoredTop sz="94660"/>
  </p:normalViewPr>
  <p:slideViewPr>
    <p:cSldViewPr snapToGrid="0">
      <p:cViewPr varScale="1">
        <p:scale>
          <a:sx n="60" d="100"/>
          <a:sy n="60" d="100"/>
        </p:scale>
        <p:origin x="20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10/11/2026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10/11/2026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10/11/2026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10/11/2026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10/11/2026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10/11/2026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Hibernate, JPA, &amp; REST</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12A36-4588-5F59-79E8-D52E4D63C35F}"/>
              </a:ext>
            </a:extLst>
          </p:cNvPr>
          <p:cNvSpPr>
            <a:spLocks noGrp="1"/>
          </p:cNvSpPr>
          <p:nvPr>
            <p:ph type="title"/>
          </p:nvPr>
        </p:nvSpPr>
        <p:spPr/>
        <p:txBody>
          <a:bodyPr/>
          <a:lstStyle/>
          <a:p>
            <a:r>
              <a:rPr lang="en-US" dirty="0"/>
              <a:t>What is hibernate?</a:t>
            </a:r>
          </a:p>
        </p:txBody>
      </p:sp>
      <p:sp>
        <p:nvSpPr>
          <p:cNvPr id="3" name="Content Placeholder 2">
            <a:extLst>
              <a:ext uri="{FF2B5EF4-FFF2-40B4-BE49-F238E27FC236}">
                <a16:creationId xmlns:a16="http://schemas.microsoft.com/office/drawing/2014/main" id="{27AFFFA9-069D-DDF5-94A0-23E98E258204}"/>
              </a:ext>
            </a:extLst>
          </p:cNvPr>
          <p:cNvSpPr>
            <a:spLocks noGrp="1"/>
          </p:cNvSpPr>
          <p:nvPr>
            <p:ph idx="1"/>
          </p:nvPr>
        </p:nvSpPr>
        <p:spPr>
          <a:xfrm>
            <a:off x="581192" y="2180496"/>
            <a:ext cx="11029615" cy="2859337"/>
          </a:xfrm>
        </p:spPr>
        <p:txBody>
          <a:bodyPr>
            <a:normAutofit fontScale="92500" lnSpcReduction="20000"/>
          </a:bodyPr>
          <a:lstStyle/>
          <a:p>
            <a:r>
              <a:rPr lang="en-US" dirty="0"/>
              <a:t>A framework for saving /persisting java objects in a database</a:t>
            </a:r>
          </a:p>
          <a:p>
            <a:r>
              <a:rPr lang="en-US" b="1" dirty="0"/>
              <a:t>Object-Relational Mapping (ORM):</a:t>
            </a:r>
            <a:r>
              <a:rPr lang="en-US" dirty="0"/>
              <a:t> Bridges the gap between the object-oriented world of Java and the relational world of SQL databases. It allows developers to store and retrieve Java objects directly as database tables and rows without writing complex, boilerplate SQL queries.</a:t>
            </a:r>
          </a:p>
          <a:p>
            <a:pPr lvl="1"/>
            <a:r>
              <a:rPr lang="en-US" b="1" dirty="0"/>
              <a:t>Productivity Boost:</a:t>
            </a:r>
            <a:r>
              <a:rPr lang="en-US" dirty="0"/>
              <a:t> Eliminates massive amounts of tedious JDBC code, connection management, and manual result-set mapping.</a:t>
            </a:r>
          </a:p>
          <a:p>
            <a:pPr lvl="1"/>
            <a:r>
              <a:rPr lang="en-US" b="1" dirty="0"/>
              <a:t>Database Independence:</a:t>
            </a:r>
            <a:r>
              <a:rPr lang="en-US" dirty="0"/>
              <a:t> By abstracting SQL dialects, Hibernate allows your application to switch underlying databases with minimal configuration changes.</a:t>
            </a:r>
          </a:p>
          <a:p>
            <a:pPr lvl="1"/>
            <a:r>
              <a:rPr lang="en-US" b="1" dirty="0"/>
              <a:t>Built-in Caching:</a:t>
            </a:r>
            <a:r>
              <a:rPr lang="en-US" dirty="0"/>
              <a:t> Features a first-level cache (associated with the Session) and an optional second-level cache (shared across sessions) to significantly reduce database round-trips and improve performance.</a:t>
            </a:r>
          </a:p>
          <a:p>
            <a:pPr lvl="1"/>
            <a:r>
              <a:rPr lang="en-US" b="1" dirty="0"/>
              <a:t>Automatic Transaction Management:</a:t>
            </a:r>
            <a:r>
              <a:rPr lang="en-US" dirty="0"/>
              <a:t> Handles database transactions and connection pooling efficiently, ensuring data integrity.</a:t>
            </a:r>
          </a:p>
          <a:p>
            <a:endParaRPr lang="en-US" dirty="0"/>
          </a:p>
        </p:txBody>
      </p:sp>
      <p:pic>
        <p:nvPicPr>
          <p:cNvPr id="7" name="Picture 6">
            <a:extLst>
              <a:ext uri="{FF2B5EF4-FFF2-40B4-BE49-F238E27FC236}">
                <a16:creationId xmlns:a16="http://schemas.microsoft.com/office/drawing/2014/main" id="{DA5C0503-D2A8-4E1B-DA9A-63E949012BEB}"/>
              </a:ext>
            </a:extLst>
          </p:cNvPr>
          <p:cNvPicPr>
            <a:picLocks noChangeAspect="1"/>
          </p:cNvPicPr>
          <p:nvPr/>
        </p:nvPicPr>
        <p:blipFill>
          <a:blip r:embed="rId2"/>
          <a:stretch>
            <a:fillRect/>
          </a:stretch>
        </p:blipFill>
        <p:spPr>
          <a:xfrm>
            <a:off x="2375967" y="4868462"/>
            <a:ext cx="7440063" cy="1609950"/>
          </a:xfrm>
          <a:prstGeom prst="rect">
            <a:avLst/>
          </a:prstGeom>
        </p:spPr>
      </p:pic>
    </p:spTree>
    <p:extLst>
      <p:ext uri="{BB962C8B-B14F-4D97-AF65-F5344CB8AC3E}">
        <p14:creationId xmlns:p14="http://schemas.microsoft.com/office/powerpoint/2010/main" val="1508837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7699-A587-AD13-366E-8CC5FF4CEEF7}"/>
              </a:ext>
            </a:extLst>
          </p:cNvPr>
          <p:cNvSpPr>
            <a:spLocks noGrp="1"/>
          </p:cNvSpPr>
          <p:nvPr>
            <p:ph type="title"/>
          </p:nvPr>
        </p:nvSpPr>
        <p:spPr/>
        <p:txBody>
          <a:bodyPr/>
          <a:lstStyle/>
          <a:p>
            <a:r>
              <a:rPr lang="en-US" dirty="0"/>
              <a:t>What is JPA?</a:t>
            </a:r>
          </a:p>
        </p:txBody>
      </p:sp>
      <p:sp>
        <p:nvSpPr>
          <p:cNvPr id="3" name="Content Placeholder 2">
            <a:extLst>
              <a:ext uri="{FF2B5EF4-FFF2-40B4-BE49-F238E27FC236}">
                <a16:creationId xmlns:a16="http://schemas.microsoft.com/office/drawing/2014/main" id="{D64CCE71-301C-D88A-5A4C-8AD9189506E6}"/>
              </a:ext>
            </a:extLst>
          </p:cNvPr>
          <p:cNvSpPr>
            <a:spLocks noGrp="1"/>
          </p:cNvSpPr>
          <p:nvPr>
            <p:ph idx="1"/>
          </p:nvPr>
        </p:nvSpPr>
        <p:spPr>
          <a:xfrm>
            <a:off x="581193" y="2180496"/>
            <a:ext cx="5096586" cy="4092713"/>
          </a:xfrm>
        </p:spPr>
        <p:txBody>
          <a:bodyPr/>
          <a:lstStyle/>
          <a:p>
            <a:r>
              <a:rPr lang="en-US" dirty="0"/>
              <a:t>Jakarta Persistence API (JPA) – previously known as Java Persistence API</a:t>
            </a:r>
          </a:p>
          <a:p>
            <a:pPr lvl="1"/>
            <a:r>
              <a:rPr lang="en-US" dirty="0"/>
              <a:t>Standard API for Object Relational Mapping</a:t>
            </a:r>
          </a:p>
          <a:p>
            <a:pPr lvl="1"/>
            <a:r>
              <a:rPr lang="en-US" dirty="0"/>
              <a:t>Is a specification</a:t>
            </a:r>
          </a:p>
          <a:p>
            <a:pPr lvl="1"/>
            <a:r>
              <a:rPr lang="en-US" dirty="0"/>
              <a:t>Includes interfaces</a:t>
            </a:r>
          </a:p>
          <a:p>
            <a:pPr lvl="1"/>
            <a:r>
              <a:rPr lang="en-US" dirty="0"/>
              <a:t>Requires implementations to use</a:t>
            </a:r>
          </a:p>
          <a:p>
            <a:pPr lvl="1"/>
            <a:r>
              <a:rPr lang="en-US" dirty="0"/>
              <a:t>Hibernate is one way we can implement JPA </a:t>
            </a:r>
          </a:p>
        </p:txBody>
      </p:sp>
      <p:pic>
        <p:nvPicPr>
          <p:cNvPr id="5" name="Picture 4">
            <a:extLst>
              <a:ext uri="{FF2B5EF4-FFF2-40B4-BE49-F238E27FC236}">
                <a16:creationId xmlns:a16="http://schemas.microsoft.com/office/drawing/2014/main" id="{88D308B2-5C8A-3D8B-DC61-D9EEB618683C}"/>
              </a:ext>
            </a:extLst>
          </p:cNvPr>
          <p:cNvPicPr>
            <a:picLocks noChangeAspect="1"/>
          </p:cNvPicPr>
          <p:nvPr/>
        </p:nvPicPr>
        <p:blipFill>
          <a:blip r:embed="rId2"/>
          <a:stretch>
            <a:fillRect/>
          </a:stretch>
        </p:blipFill>
        <p:spPr>
          <a:xfrm>
            <a:off x="6096000" y="3212298"/>
            <a:ext cx="5096586" cy="2029108"/>
          </a:xfrm>
          <a:prstGeom prst="rect">
            <a:avLst/>
          </a:prstGeom>
        </p:spPr>
      </p:pic>
    </p:spTree>
    <p:extLst>
      <p:ext uri="{BB962C8B-B14F-4D97-AF65-F5344CB8AC3E}">
        <p14:creationId xmlns:p14="http://schemas.microsoft.com/office/powerpoint/2010/main" val="989935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21588-B4AB-0930-D937-3C5629B35CEC}"/>
              </a:ext>
            </a:extLst>
          </p:cNvPr>
          <p:cNvSpPr>
            <a:spLocks noGrp="1"/>
          </p:cNvSpPr>
          <p:nvPr>
            <p:ph type="title"/>
          </p:nvPr>
        </p:nvSpPr>
        <p:spPr/>
        <p:txBody>
          <a:bodyPr/>
          <a:lstStyle/>
          <a:p>
            <a:r>
              <a:rPr lang="en-US" dirty="0"/>
              <a:t>Hibernate/JPA – concrete benefit</a:t>
            </a:r>
          </a:p>
        </p:txBody>
      </p:sp>
      <p:pic>
        <p:nvPicPr>
          <p:cNvPr id="5" name="Content Placeholder 4">
            <a:extLst>
              <a:ext uri="{FF2B5EF4-FFF2-40B4-BE49-F238E27FC236}">
                <a16:creationId xmlns:a16="http://schemas.microsoft.com/office/drawing/2014/main" id="{DE53D90B-C52E-02C9-58EA-C1F6BA2852EA}"/>
              </a:ext>
            </a:extLst>
          </p:cNvPr>
          <p:cNvPicPr>
            <a:picLocks noGrp="1" noChangeAspect="1"/>
          </p:cNvPicPr>
          <p:nvPr>
            <p:ph idx="1"/>
          </p:nvPr>
        </p:nvPicPr>
        <p:blipFill>
          <a:blip r:embed="rId2"/>
          <a:stretch>
            <a:fillRect/>
          </a:stretch>
        </p:blipFill>
        <p:spPr>
          <a:xfrm>
            <a:off x="2821342" y="2707531"/>
            <a:ext cx="6549314" cy="1766871"/>
          </a:xfrm>
          <a:prstGeom prst="rect">
            <a:avLst/>
          </a:prstGeom>
        </p:spPr>
      </p:pic>
      <p:sp>
        <p:nvSpPr>
          <p:cNvPr id="6" name="TextBox 5">
            <a:extLst>
              <a:ext uri="{FF2B5EF4-FFF2-40B4-BE49-F238E27FC236}">
                <a16:creationId xmlns:a16="http://schemas.microsoft.com/office/drawing/2014/main" id="{19B55E4D-06A2-388D-C33A-D7610C995E8B}"/>
              </a:ext>
            </a:extLst>
          </p:cNvPr>
          <p:cNvSpPr txBox="1"/>
          <p:nvPr/>
        </p:nvSpPr>
        <p:spPr>
          <a:xfrm>
            <a:off x="3790047" y="2137558"/>
            <a:ext cx="4611904" cy="369332"/>
          </a:xfrm>
          <a:prstGeom prst="rect">
            <a:avLst/>
          </a:prstGeom>
          <a:noFill/>
        </p:spPr>
        <p:txBody>
          <a:bodyPr wrap="none" rtlCol="0">
            <a:spAutoFit/>
          </a:bodyPr>
          <a:lstStyle/>
          <a:p>
            <a:r>
              <a:rPr lang="en-US" dirty="0"/>
              <a:t>No JDBC required! It happens under the hood!</a:t>
            </a:r>
          </a:p>
        </p:txBody>
      </p:sp>
      <p:pic>
        <p:nvPicPr>
          <p:cNvPr id="8" name="Picture 7">
            <a:extLst>
              <a:ext uri="{FF2B5EF4-FFF2-40B4-BE49-F238E27FC236}">
                <a16:creationId xmlns:a16="http://schemas.microsoft.com/office/drawing/2014/main" id="{BB5D8FF5-ABF8-B1D9-FAD9-05F24D003391}"/>
              </a:ext>
            </a:extLst>
          </p:cNvPr>
          <p:cNvPicPr>
            <a:picLocks noChangeAspect="1"/>
          </p:cNvPicPr>
          <p:nvPr/>
        </p:nvPicPr>
        <p:blipFill>
          <a:blip r:embed="rId3"/>
          <a:stretch>
            <a:fillRect/>
          </a:stretch>
        </p:blipFill>
        <p:spPr>
          <a:xfrm>
            <a:off x="2821342" y="4675043"/>
            <a:ext cx="6549314" cy="1845789"/>
          </a:xfrm>
          <a:prstGeom prst="rect">
            <a:avLst/>
          </a:prstGeom>
        </p:spPr>
      </p:pic>
    </p:spTree>
    <p:extLst>
      <p:ext uri="{BB962C8B-B14F-4D97-AF65-F5344CB8AC3E}">
        <p14:creationId xmlns:p14="http://schemas.microsoft.com/office/powerpoint/2010/main" val="1905037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5A21-1B4E-0EC7-55B0-DC8F5336AE71}"/>
              </a:ext>
            </a:extLst>
          </p:cNvPr>
          <p:cNvSpPr>
            <a:spLocks noGrp="1"/>
          </p:cNvSpPr>
          <p:nvPr>
            <p:ph type="title"/>
          </p:nvPr>
        </p:nvSpPr>
        <p:spPr/>
        <p:txBody>
          <a:bodyPr/>
          <a:lstStyle/>
          <a:p>
            <a:r>
              <a:rPr lang="en-US" dirty="0"/>
              <a:t>Setup Overview</a:t>
            </a:r>
          </a:p>
        </p:txBody>
      </p:sp>
      <p:sp>
        <p:nvSpPr>
          <p:cNvPr id="3" name="Content Placeholder 2">
            <a:extLst>
              <a:ext uri="{FF2B5EF4-FFF2-40B4-BE49-F238E27FC236}">
                <a16:creationId xmlns:a16="http://schemas.microsoft.com/office/drawing/2014/main" id="{A04DAB88-973E-8175-D4A1-B7DD117195E3}"/>
              </a:ext>
            </a:extLst>
          </p:cNvPr>
          <p:cNvSpPr>
            <a:spLocks noGrp="1"/>
          </p:cNvSpPr>
          <p:nvPr>
            <p:ph idx="1"/>
          </p:nvPr>
        </p:nvSpPr>
        <p:spPr>
          <a:xfrm>
            <a:off x="581193" y="1948226"/>
            <a:ext cx="11029615" cy="2429214"/>
          </a:xfrm>
        </p:spPr>
        <p:txBody>
          <a:bodyPr>
            <a:normAutofit/>
          </a:bodyPr>
          <a:lstStyle/>
          <a:p>
            <a:r>
              <a:rPr lang="en-US" dirty="0"/>
              <a:t>In Spring Boot, Hibernate is the default implementation of JPA</a:t>
            </a:r>
          </a:p>
          <a:p>
            <a:r>
              <a:rPr lang="en-US" dirty="0"/>
              <a:t>With Spring </a:t>
            </a:r>
            <a:r>
              <a:rPr lang="en-US" dirty="0" err="1"/>
              <a:t>Initializr</a:t>
            </a:r>
            <a:r>
              <a:rPr lang="en-US" dirty="0"/>
              <a:t>:</a:t>
            </a:r>
          </a:p>
          <a:p>
            <a:pPr lvl="1"/>
            <a:r>
              <a:rPr lang="en-US" dirty="0"/>
              <a:t>Postgres Driver: </a:t>
            </a:r>
            <a:r>
              <a:rPr lang="en-US" dirty="0" err="1"/>
              <a:t>org.postgresql:postgresql</a:t>
            </a:r>
            <a:endParaRPr lang="en-US" dirty="0"/>
          </a:p>
          <a:p>
            <a:pPr lvl="1"/>
            <a:r>
              <a:rPr lang="en-US" dirty="0"/>
              <a:t>Spring Data JPA: spring-boot-starter-data-</a:t>
            </a:r>
            <a:r>
              <a:rPr lang="en-US" dirty="0" err="1"/>
              <a:t>jpa</a:t>
            </a:r>
            <a:endParaRPr lang="en-US" dirty="0"/>
          </a:p>
          <a:p>
            <a:r>
              <a:rPr lang="en-US" dirty="0"/>
              <a:t>Spring Boot will automatically configure our data source for us based on the above </a:t>
            </a:r>
          </a:p>
          <a:p>
            <a:pPr lvl="1"/>
            <a:r>
              <a:rPr lang="en-US" dirty="0"/>
              <a:t>Also, our connection details in ‘</a:t>
            </a:r>
            <a:r>
              <a:rPr lang="en-US" dirty="0" err="1"/>
              <a:t>application.properties</a:t>
            </a:r>
            <a:r>
              <a:rPr lang="en-US" dirty="0"/>
              <a:t>’</a:t>
            </a:r>
          </a:p>
        </p:txBody>
      </p:sp>
      <p:pic>
        <p:nvPicPr>
          <p:cNvPr id="7" name="Picture 6">
            <a:extLst>
              <a:ext uri="{FF2B5EF4-FFF2-40B4-BE49-F238E27FC236}">
                <a16:creationId xmlns:a16="http://schemas.microsoft.com/office/drawing/2014/main" id="{D0724A1C-52A6-C1A5-9C27-F26577C4EF92}"/>
              </a:ext>
            </a:extLst>
          </p:cNvPr>
          <p:cNvPicPr>
            <a:picLocks noChangeAspect="1"/>
          </p:cNvPicPr>
          <p:nvPr/>
        </p:nvPicPr>
        <p:blipFill>
          <a:blip r:embed="rId2"/>
          <a:stretch>
            <a:fillRect/>
          </a:stretch>
        </p:blipFill>
        <p:spPr>
          <a:xfrm>
            <a:off x="748920" y="4377440"/>
            <a:ext cx="7925906" cy="2429214"/>
          </a:xfrm>
          <a:prstGeom prst="rect">
            <a:avLst/>
          </a:prstGeom>
        </p:spPr>
      </p:pic>
      <p:pic>
        <p:nvPicPr>
          <p:cNvPr id="9" name="Picture 8">
            <a:extLst>
              <a:ext uri="{FF2B5EF4-FFF2-40B4-BE49-F238E27FC236}">
                <a16:creationId xmlns:a16="http://schemas.microsoft.com/office/drawing/2014/main" id="{C42DFC67-AB62-DB86-1B14-68969966D916}"/>
              </a:ext>
            </a:extLst>
          </p:cNvPr>
          <p:cNvPicPr>
            <a:picLocks noChangeAspect="1"/>
          </p:cNvPicPr>
          <p:nvPr/>
        </p:nvPicPr>
        <p:blipFill>
          <a:blip r:embed="rId3"/>
          <a:stretch>
            <a:fillRect/>
          </a:stretch>
        </p:blipFill>
        <p:spPr>
          <a:xfrm>
            <a:off x="6352274" y="5079453"/>
            <a:ext cx="5258534" cy="657317"/>
          </a:xfrm>
          <a:prstGeom prst="rect">
            <a:avLst/>
          </a:prstGeom>
        </p:spPr>
      </p:pic>
      <p:sp>
        <p:nvSpPr>
          <p:cNvPr id="10" name="TextBox 9">
            <a:extLst>
              <a:ext uri="{FF2B5EF4-FFF2-40B4-BE49-F238E27FC236}">
                <a16:creationId xmlns:a16="http://schemas.microsoft.com/office/drawing/2014/main" id="{4D81AB22-FD75-B44C-5790-86207A5D390D}"/>
              </a:ext>
            </a:extLst>
          </p:cNvPr>
          <p:cNvSpPr txBox="1"/>
          <p:nvPr/>
        </p:nvSpPr>
        <p:spPr>
          <a:xfrm>
            <a:off x="8610285" y="4556233"/>
            <a:ext cx="2940741" cy="523220"/>
          </a:xfrm>
          <a:prstGeom prst="rect">
            <a:avLst/>
          </a:prstGeom>
          <a:noFill/>
        </p:spPr>
        <p:txBody>
          <a:bodyPr wrap="none" rtlCol="0">
            <a:spAutoFit/>
          </a:bodyPr>
          <a:lstStyle/>
          <a:p>
            <a:r>
              <a:rPr lang="en-US" sz="2800" b="1" dirty="0">
                <a:solidFill>
                  <a:srgbClr val="FF0000"/>
                </a:solidFill>
              </a:rPr>
              <a:t>OR for </a:t>
            </a:r>
            <a:r>
              <a:rPr lang="en-US" sz="2800" b="1" dirty="0" err="1">
                <a:solidFill>
                  <a:srgbClr val="FF0000"/>
                </a:solidFill>
              </a:rPr>
              <a:t>postgres</a:t>
            </a:r>
            <a:r>
              <a:rPr lang="en-US" sz="2800" b="1" dirty="0">
                <a:solidFill>
                  <a:srgbClr val="FF0000"/>
                </a:solidFill>
              </a:rPr>
              <a:t>:</a:t>
            </a:r>
          </a:p>
        </p:txBody>
      </p:sp>
    </p:spTree>
    <p:extLst>
      <p:ext uri="{BB962C8B-B14F-4D97-AF65-F5344CB8AC3E}">
        <p14:creationId xmlns:p14="http://schemas.microsoft.com/office/powerpoint/2010/main" val="2860410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111FE-A749-109A-A58E-30AF8D865F9E}"/>
              </a:ext>
            </a:extLst>
          </p:cNvPr>
          <p:cNvSpPr>
            <a:spLocks noGrp="1"/>
          </p:cNvSpPr>
          <p:nvPr>
            <p:ph type="title"/>
          </p:nvPr>
        </p:nvSpPr>
        <p:spPr/>
        <p:txBody>
          <a:bodyPr/>
          <a:lstStyle/>
          <a:p>
            <a:r>
              <a:rPr lang="en-US" dirty="0" err="1"/>
              <a:t>EntityManager</a:t>
            </a:r>
            <a:r>
              <a:rPr lang="en-US" dirty="0"/>
              <a:t> vs </a:t>
            </a:r>
            <a:r>
              <a:rPr lang="en-US" dirty="0" err="1"/>
              <a:t>JpaRepository</a:t>
            </a:r>
            <a:endParaRPr lang="en-US" dirty="0"/>
          </a:p>
        </p:txBody>
      </p:sp>
      <p:sp>
        <p:nvSpPr>
          <p:cNvPr id="3" name="Content Placeholder 2">
            <a:extLst>
              <a:ext uri="{FF2B5EF4-FFF2-40B4-BE49-F238E27FC236}">
                <a16:creationId xmlns:a16="http://schemas.microsoft.com/office/drawing/2014/main" id="{CF664EAA-1D44-76F6-2F01-9982BB5CB94E}"/>
              </a:ext>
            </a:extLst>
          </p:cNvPr>
          <p:cNvSpPr>
            <a:spLocks noGrp="1"/>
          </p:cNvSpPr>
          <p:nvPr>
            <p:ph idx="1"/>
          </p:nvPr>
        </p:nvSpPr>
        <p:spPr>
          <a:xfrm>
            <a:off x="581193" y="2139989"/>
            <a:ext cx="11029615" cy="2110636"/>
          </a:xfrm>
        </p:spPr>
        <p:txBody>
          <a:bodyPr>
            <a:normAutofit fontScale="70000" lnSpcReduction="20000"/>
          </a:bodyPr>
          <a:lstStyle/>
          <a:p>
            <a:pPr lvl="0"/>
            <a:r>
              <a:rPr lang="en-US" dirty="0" err="1">
                <a:solidFill>
                  <a:srgbClr val="92D050"/>
                </a:solidFill>
              </a:rPr>
              <a:t>EntityManager</a:t>
            </a:r>
            <a:r>
              <a:rPr lang="en-US" dirty="0"/>
              <a:t> is the low-level JPA API for directly managing entities and interacting with the persistence context.</a:t>
            </a:r>
          </a:p>
          <a:p>
            <a:pPr lvl="0"/>
            <a:r>
              <a:rPr lang="en-US" dirty="0" err="1">
                <a:solidFill>
                  <a:srgbClr val="92D050"/>
                </a:solidFill>
              </a:rPr>
              <a:t>JpaRepository</a:t>
            </a:r>
            <a:r>
              <a:rPr lang="en-US" dirty="0"/>
              <a:t> is a Spring Data abstraction that gives you a ready-made repository with CRUD, pagination, sorting, and query methods—without writing most of the boilerplate yourself.</a:t>
            </a:r>
          </a:p>
          <a:p>
            <a:pPr lvl="0"/>
            <a:r>
              <a:rPr lang="en-US" dirty="0"/>
              <a:t>We will cover BOTH, starting with </a:t>
            </a:r>
            <a:r>
              <a:rPr lang="en-US" dirty="0" err="1"/>
              <a:t>EntityManager</a:t>
            </a:r>
            <a:endParaRPr lang="en-US" dirty="0"/>
          </a:p>
          <a:p>
            <a:pPr lvl="0"/>
            <a:r>
              <a:rPr lang="en-US" dirty="0">
                <a:solidFill>
                  <a:srgbClr val="92D050"/>
                </a:solidFill>
              </a:rPr>
              <a:t>Java Persistence Query Language (JPQL) </a:t>
            </a:r>
            <a:r>
              <a:rPr lang="en-US" dirty="0"/>
              <a:t>– used for querying entities and their fields, rather than database tables and columns, part of JPA standard and can be used by any JPA provider, i.e. Hibernate, </a:t>
            </a:r>
            <a:r>
              <a:rPr lang="en-US" dirty="0" err="1"/>
              <a:t>EclipseLink</a:t>
            </a:r>
            <a:r>
              <a:rPr lang="en-US" dirty="0"/>
              <a:t>, etc. </a:t>
            </a:r>
          </a:p>
          <a:p>
            <a:pPr lvl="0"/>
            <a:r>
              <a:rPr lang="en-US" dirty="0">
                <a:solidFill>
                  <a:srgbClr val="92D050"/>
                </a:solidFill>
              </a:rPr>
              <a:t>Hibernate Query Language (HQL) </a:t>
            </a:r>
            <a:r>
              <a:rPr lang="en-US" dirty="0"/>
              <a:t>– Operates similar as above, but is Hibernate specific and thus may come with features unique to Hibernate  </a:t>
            </a:r>
          </a:p>
          <a:p>
            <a:pPr lvl="0"/>
            <a:r>
              <a:rPr lang="en-US" dirty="0"/>
              <a:t>We will cover BOTH, starting with JPQL…. And… BOTH are accessible from </a:t>
            </a:r>
            <a:r>
              <a:rPr lang="en-US" dirty="0" err="1"/>
              <a:t>EntityManager</a:t>
            </a:r>
            <a:r>
              <a:rPr lang="en-US" dirty="0"/>
              <a:t> OR </a:t>
            </a:r>
            <a:r>
              <a:rPr lang="en-US" dirty="0" err="1"/>
              <a:t>JpaRepository</a:t>
            </a:r>
            <a:endParaRPr lang="en-US" dirty="0"/>
          </a:p>
          <a:p>
            <a:pPr lvl="0"/>
            <a:endParaRPr lang="en-US" dirty="0"/>
          </a:p>
          <a:p>
            <a:endParaRPr lang="en-US" dirty="0"/>
          </a:p>
        </p:txBody>
      </p:sp>
      <p:graphicFrame>
        <p:nvGraphicFramePr>
          <p:cNvPr id="4" name="Table 3">
            <a:extLst>
              <a:ext uri="{FF2B5EF4-FFF2-40B4-BE49-F238E27FC236}">
                <a16:creationId xmlns:a16="http://schemas.microsoft.com/office/drawing/2014/main" id="{8C362A85-186A-115C-1EF5-8A0206339B13}"/>
              </a:ext>
            </a:extLst>
          </p:cNvPr>
          <p:cNvGraphicFramePr>
            <a:graphicFrameLocks noGrp="1"/>
          </p:cNvGraphicFramePr>
          <p:nvPr>
            <p:extLst>
              <p:ext uri="{D42A27DB-BD31-4B8C-83A1-F6EECF244321}">
                <p14:modId xmlns:p14="http://schemas.microsoft.com/office/powerpoint/2010/main" val="1523063154"/>
              </p:ext>
            </p:extLst>
          </p:nvPr>
        </p:nvGraphicFramePr>
        <p:xfrm>
          <a:off x="581192" y="4094050"/>
          <a:ext cx="11029950" cy="2567940"/>
        </p:xfrm>
        <a:graphic>
          <a:graphicData uri="http://schemas.openxmlformats.org/drawingml/2006/table">
            <a:tbl>
              <a:tblPr>
                <a:tableStyleId>{5C22544A-7EE6-4342-B048-85BDC9FD1C3A}</a:tableStyleId>
              </a:tblPr>
              <a:tblGrid>
                <a:gridCol w="3676650">
                  <a:extLst>
                    <a:ext uri="{9D8B030D-6E8A-4147-A177-3AD203B41FA5}">
                      <a16:colId xmlns:a16="http://schemas.microsoft.com/office/drawing/2014/main" val="2155962822"/>
                    </a:ext>
                  </a:extLst>
                </a:gridCol>
                <a:gridCol w="3676650">
                  <a:extLst>
                    <a:ext uri="{9D8B030D-6E8A-4147-A177-3AD203B41FA5}">
                      <a16:colId xmlns:a16="http://schemas.microsoft.com/office/drawing/2014/main" val="1810830742"/>
                    </a:ext>
                  </a:extLst>
                </a:gridCol>
                <a:gridCol w="3676650">
                  <a:extLst>
                    <a:ext uri="{9D8B030D-6E8A-4147-A177-3AD203B41FA5}">
                      <a16:colId xmlns:a16="http://schemas.microsoft.com/office/drawing/2014/main" val="3309991933"/>
                    </a:ext>
                  </a:extLst>
                </a:gridCol>
              </a:tblGrid>
              <a:tr h="0">
                <a:tc>
                  <a:txBody>
                    <a:bodyPr/>
                    <a:lstStyle/>
                    <a:p>
                      <a:pPr marL="0" marR="0" algn="l">
                        <a:buNone/>
                      </a:pPr>
                      <a:endParaRPr lang="en-US" sz="1400" b="1" i="0" dirty="0">
                        <a:solidFill>
                          <a:srgbClr val="FFFFFF"/>
                        </a:solidFill>
                        <a:effectLst/>
                        <a:latin typeface="-apple-system-body"/>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err="1">
                          <a:effectLst/>
                        </a:rPr>
                        <a:t>EntityManager</a:t>
                      </a:r>
                      <a:endParaRPr lang="en-US" sz="1400" b="1" i="0" dirty="0">
                        <a:solidFill>
                          <a:srgbClr val="FFFFFF"/>
                        </a:solidFill>
                        <a:effectLst/>
                        <a:latin typeface="-apple-system-body"/>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err="1">
                          <a:effectLst/>
                        </a:rPr>
                        <a:t>JpaRepository</a:t>
                      </a:r>
                      <a:endParaRPr lang="en-US" sz="1400" b="1" i="0" dirty="0">
                        <a:solidFill>
                          <a:srgbClr val="FFFFFF"/>
                        </a:solidFill>
                        <a:effectLst/>
                        <a:latin typeface="-apple-system-body"/>
                      </a:endParaRPr>
                    </a:p>
                  </a:txBody>
                  <a:tcPr anchor="ctr"/>
                </a:tc>
                <a:extLst>
                  <a:ext uri="{0D108BD9-81ED-4DB2-BD59-A6C34878D82A}">
                    <a16:rowId xmlns:a16="http://schemas.microsoft.com/office/drawing/2014/main" val="609020007"/>
                  </a:ext>
                </a:extLst>
              </a:tr>
              <a:tr h="0">
                <a:tc>
                  <a:txBody>
                    <a:bodyPr/>
                    <a:lstStyle/>
                    <a:p>
                      <a:pPr marL="0" marR="0" algn="l">
                        <a:buNone/>
                      </a:pPr>
                      <a:r>
                        <a:rPr lang="en-US" sz="1050" b="1" dirty="0">
                          <a:effectLst/>
                        </a:rPr>
                        <a:t>Comes from</a:t>
                      </a:r>
                      <a:endParaRPr lang="en-US" sz="1050" b="1" i="0" dirty="0">
                        <a:solidFill>
                          <a:srgbClr val="FFFFFF"/>
                        </a:solidFill>
                        <a:effectLst/>
                        <a:latin typeface="-apple-system-body"/>
                      </a:endParaRPr>
                    </a:p>
                  </a:txBody>
                  <a:tcPr anchor="ctr"/>
                </a:tc>
                <a:tc>
                  <a:txBody>
                    <a:bodyPr/>
                    <a:lstStyle/>
                    <a:p>
                      <a:pPr marL="0" marR="0" algn="l">
                        <a:buNone/>
                      </a:pPr>
                      <a:r>
                        <a:rPr lang="en-US" sz="1050" dirty="0">
                          <a:effectLst/>
                        </a:rPr>
                        <a:t>JPA</a:t>
                      </a:r>
                      <a:endParaRPr lang="en-US" sz="1050" b="0" i="0" dirty="0">
                        <a:solidFill>
                          <a:srgbClr val="FFFFFF"/>
                        </a:solidFill>
                        <a:effectLst/>
                        <a:latin typeface="-apple-system-body"/>
                      </a:endParaRPr>
                    </a:p>
                  </a:txBody>
                  <a:tcPr anchor="ctr"/>
                </a:tc>
                <a:tc>
                  <a:txBody>
                    <a:bodyPr/>
                    <a:lstStyle/>
                    <a:p>
                      <a:pPr marL="0" marR="0" algn="l">
                        <a:buNone/>
                      </a:pPr>
                      <a:r>
                        <a:rPr lang="en-US" sz="1050">
                          <a:effectLst/>
                        </a:rPr>
                        <a:t>Spring Data JPA</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870512413"/>
                  </a:ext>
                </a:extLst>
              </a:tr>
              <a:tr h="0">
                <a:tc>
                  <a:txBody>
                    <a:bodyPr/>
                    <a:lstStyle/>
                    <a:p>
                      <a:pPr marL="0" marR="0" algn="l">
                        <a:buNone/>
                      </a:pPr>
                      <a:r>
                        <a:rPr lang="en-US" sz="1050" b="1" dirty="0">
                          <a:effectLst/>
                        </a:rPr>
                        <a:t>Abstraction level</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Low</a:t>
                      </a:r>
                      <a:endParaRPr lang="en-US" sz="1050" b="0" i="0">
                        <a:solidFill>
                          <a:srgbClr val="FFFFFF"/>
                        </a:solidFill>
                        <a:effectLst/>
                        <a:latin typeface="-apple-system-body"/>
                      </a:endParaRPr>
                    </a:p>
                  </a:txBody>
                  <a:tcPr anchor="ctr"/>
                </a:tc>
                <a:tc>
                  <a:txBody>
                    <a:bodyPr/>
                    <a:lstStyle/>
                    <a:p>
                      <a:pPr marL="0" marR="0" algn="l">
                        <a:buNone/>
                      </a:pPr>
                      <a:r>
                        <a:rPr lang="en-US" sz="1050">
                          <a:effectLst/>
                        </a:rPr>
                        <a:t>High</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511902263"/>
                  </a:ext>
                </a:extLst>
              </a:tr>
              <a:tr h="0">
                <a:tc>
                  <a:txBody>
                    <a:bodyPr/>
                    <a:lstStyle/>
                    <a:p>
                      <a:pPr marL="0" marR="0" algn="l">
                        <a:buNone/>
                      </a:pPr>
                      <a:r>
                        <a:rPr lang="en-US" sz="1050" b="1" dirty="0">
                          <a:effectLst/>
                        </a:rPr>
                        <a:t>CRUD boilerplate</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You write it</a:t>
                      </a:r>
                      <a:endParaRPr lang="en-US" sz="1050" b="0" i="0">
                        <a:solidFill>
                          <a:srgbClr val="FFFFFF"/>
                        </a:solidFill>
                        <a:effectLst/>
                        <a:latin typeface="-apple-system-body"/>
                      </a:endParaRPr>
                    </a:p>
                  </a:txBody>
                  <a:tcPr anchor="ctr"/>
                </a:tc>
                <a:tc>
                  <a:txBody>
                    <a:bodyPr/>
                    <a:lstStyle/>
                    <a:p>
                      <a:pPr marL="0" marR="0" algn="l">
                        <a:buNone/>
                      </a:pPr>
                      <a:r>
                        <a:rPr lang="en-US" sz="1050">
                          <a:effectLst/>
                        </a:rPr>
                        <a:t>Mostly provided</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2112053371"/>
                  </a:ext>
                </a:extLst>
              </a:tr>
              <a:tr h="0">
                <a:tc>
                  <a:txBody>
                    <a:bodyPr/>
                    <a:lstStyle/>
                    <a:p>
                      <a:pPr marL="0" marR="0" algn="l">
                        <a:buNone/>
                      </a:pPr>
                      <a:r>
                        <a:rPr lang="en-US" sz="1050" b="1" dirty="0">
                          <a:effectLst/>
                        </a:rPr>
                        <a:t>Custom JPQL</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Directly</a:t>
                      </a:r>
                      <a:endParaRPr lang="en-US" sz="1050" b="0" i="0">
                        <a:solidFill>
                          <a:srgbClr val="FFFFFF"/>
                        </a:solidFill>
                        <a:effectLst/>
                        <a:latin typeface="-apple-system-body"/>
                      </a:endParaRPr>
                    </a:p>
                  </a:txBody>
                  <a:tcPr anchor="ctr"/>
                </a:tc>
                <a:tc>
                  <a:txBody>
                    <a:bodyPr/>
                    <a:lstStyle/>
                    <a:p>
                      <a:pPr marL="0" marR="0" algn="l">
                        <a:buNone/>
                      </a:pPr>
                      <a:r>
                        <a:rPr lang="en-US" sz="1050">
                          <a:effectLst/>
                        </a:rPr>
                        <a:t>@Query, specifications, etc.</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785226202"/>
                  </a:ext>
                </a:extLst>
              </a:tr>
              <a:tr h="0">
                <a:tc>
                  <a:txBody>
                    <a:bodyPr/>
                    <a:lstStyle/>
                    <a:p>
                      <a:pPr marL="0" marR="0" algn="l">
                        <a:buNone/>
                      </a:pPr>
                      <a:r>
                        <a:rPr lang="en-US" sz="1050" b="1" dirty="0">
                          <a:effectLst/>
                        </a:rPr>
                        <a:t>Persistence-context control</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Excellent</a:t>
                      </a:r>
                      <a:endParaRPr lang="en-US" sz="1050" b="0" i="0">
                        <a:solidFill>
                          <a:srgbClr val="FFFFFF"/>
                        </a:solidFill>
                        <a:effectLst/>
                        <a:latin typeface="-apple-system-body"/>
                      </a:endParaRPr>
                    </a:p>
                  </a:txBody>
                  <a:tcPr anchor="ctr"/>
                </a:tc>
                <a:tc>
                  <a:txBody>
                    <a:bodyPr/>
                    <a:lstStyle/>
                    <a:p>
                      <a:pPr marL="0" marR="0" algn="l">
                        <a:buNone/>
                      </a:pPr>
                      <a:r>
                        <a:rPr lang="en-US" sz="1050">
                          <a:effectLst/>
                        </a:rPr>
                        <a:t>Limited/direct access not its purpose</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3624453493"/>
                  </a:ext>
                </a:extLst>
              </a:tr>
              <a:tr h="0">
                <a:tc>
                  <a:txBody>
                    <a:bodyPr/>
                    <a:lstStyle/>
                    <a:p>
                      <a:pPr marL="0" marR="0" algn="l">
                        <a:buNone/>
                      </a:pPr>
                      <a:r>
                        <a:rPr lang="en-US" sz="1050" b="1" dirty="0">
                          <a:effectLst/>
                        </a:rPr>
                        <a:t>Pagination/sorting</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Manual</a:t>
                      </a:r>
                      <a:endParaRPr lang="en-US" sz="1050" b="0" i="0">
                        <a:solidFill>
                          <a:srgbClr val="FFFFFF"/>
                        </a:solidFill>
                        <a:effectLst/>
                        <a:latin typeface="-apple-system-body"/>
                      </a:endParaRPr>
                    </a:p>
                  </a:txBody>
                  <a:tcPr anchor="ctr"/>
                </a:tc>
                <a:tc>
                  <a:txBody>
                    <a:bodyPr/>
                    <a:lstStyle/>
                    <a:p>
                      <a:pPr marL="0" marR="0" algn="l">
                        <a:buNone/>
                      </a:pPr>
                      <a:r>
                        <a:rPr lang="en-US" sz="1050">
                          <a:effectLst/>
                        </a:rPr>
                        <a:t>Built in</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4046422720"/>
                  </a:ext>
                </a:extLst>
              </a:tr>
              <a:tr h="0">
                <a:tc>
                  <a:txBody>
                    <a:bodyPr/>
                    <a:lstStyle/>
                    <a:p>
                      <a:pPr marL="0" marR="0" algn="l">
                        <a:buNone/>
                      </a:pPr>
                      <a:r>
                        <a:rPr lang="en-US" sz="1050" b="1" dirty="0">
                          <a:effectLst/>
                        </a:rPr>
                        <a:t>Derived queries</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No</a:t>
                      </a:r>
                      <a:endParaRPr lang="en-US" sz="1050" b="0" i="0">
                        <a:solidFill>
                          <a:srgbClr val="FFFFFF"/>
                        </a:solidFill>
                        <a:effectLst/>
                        <a:latin typeface="-apple-system-body"/>
                      </a:endParaRPr>
                    </a:p>
                  </a:txBody>
                  <a:tcPr anchor="ctr"/>
                </a:tc>
                <a:tc>
                  <a:txBody>
                    <a:bodyPr/>
                    <a:lstStyle/>
                    <a:p>
                      <a:pPr marL="0" marR="0" algn="l">
                        <a:buNone/>
                      </a:pPr>
                      <a:r>
                        <a:rPr lang="en-US" sz="1050">
                          <a:effectLst/>
                        </a:rPr>
                        <a:t>Yes</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1752053743"/>
                  </a:ext>
                </a:extLst>
              </a:tr>
              <a:tr h="0">
                <a:tc>
                  <a:txBody>
                    <a:bodyPr/>
                    <a:lstStyle/>
                    <a:p>
                      <a:pPr marL="0" marR="0" algn="l">
                        <a:buNone/>
                      </a:pPr>
                      <a:r>
                        <a:rPr lang="en-US" sz="1050" b="1" dirty="0">
                          <a:effectLst/>
                        </a:rPr>
                        <a:t>JPA portability</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Yes</a:t>
                      </a:r>
                      <a:endParaRPr lang="en-US" sz="1050" b="0" i="0">
                        <a:solidFill>
                          <a:srgbClr val="FFFFFF"/>
                        </a:solidFill>
                        <a:effectLst/>
                        <a:latin typeface="-apple-system-body"/>
                      </a:endParaRPr>
                    </a:p>
                  </a:txBody>
                  <a:tcPr anchor="ctr"/>
                </a:tc>
                <a:tc>
                  <a:txBody>
                    <a:bodyPr/>
                    <a:lstStyle/>
                    <a:p>
                      <a:pPr marL="0" marR="0" algn="l">
                        <a:buNone/>
                      </a:pPr>
                      <a:r>
                        <a:rPr lang="en-US" sz="1050">
                          <a:effectLst/>
                        </a:rPr>
                        <a:t>Tied to Spring Data</a:t>
                      </a:r>
                      <a:endParaRPr lang="en-US" sz="1050" b="0" i="0">
                        <a:solidFill>
                          <a:srgbClr val="FFFFFF"/>
                        </a:solidFill>
                        <a:effectLst/>
                        <a:latin typeface="-apple-system-body"/>
                      </a:endParaRPr>
                    </a:p>
                  </a:txBody>
                  <a:tcPr anchor="ctr"/>
                </a:tc>
                <a:extLst>
                  <a:ext uri="{0D108BD9-81ED-4DB2-BD59-A6C34878D82A}">
                    <a16:rowId xmlns:a16="http://schemas.microsoft.com/office/drawing/2014/main" val="3687287676"/>
                  </a:ext>
                </a:extLst>
              </a:tr>
              <a:tr h="0">
                <a:tc>
                  <a:txBody>
                    <a:bodyPr/>
                    <a:lstStyle/>
                    <a:p>
                      <a:pPr marL="0" marR="0" algn="l">
                        <a:buNone/>
                      </a:pPr>
                      <a:r>
                        <a:rPr lang="en-US" sz="1050" b="1" dirty="0">
                          <a:effectLst/>
                        </a:rPr>
                        <a:t>Best for</a:t>
                      </a:r>
                      <a:endParaRPr lang="en-US" sz="1050" b="1" i="0" dirty="0">
                        <a:solidFill>
                          <a:srgbClr val="FFFFFF"/>
                        </a:solidFill>
                        <a:effectLst/>
                        <a:latin typeface="-apple-system-body"/>
                      </a:endParaRPr>
                    </a:p>
                  </a:txBody>
                  <a:tcPr anchor="ctr"/>
                </a:tc>
                <a:tc>
                  <a:txBody>
                    <a:bodyPr/>
                    <a:lstStyle/>
                    <a:p>
                      <a:pPr marL="0" marR="0" algn="l">
                        <a:buNone/>
                      </a:pPr>
                      <a:r>
                        <a:rPr lang="en-US" sz="1050">
                          <a:effectLst/>
                        </a:rPr>
                        <a:t>Complex/custom persistence logic</a:t>
                      </a:r>
                      <a:endParaRPr lang="en-US" sz="1050" b="0" i="0">
                        <a:solidFill>
                          <a:srgbClr val="FFFFFF"/>
                        </a:solidFill>
                        <a:effectLst/>
                        <a:latin typeface="-apple-system-body"/>
                      </a:endParaRPr>
                    </a:p>
                  </a:txBody>
                  <a:tcPr anchor="ctr"/>
                </a:tc>
                <a:tc>
                  <a:txBody>
                    <a:bodyPr/>
                    <a:lstStyle/>
                    <a:p>
                      <a:pPr marL="0" marR="0" algn="l">
                        <a:buNone/>
                      </a:pPr>
                      <a:r>
                        <a:rPr lang="en-US" sz="1050" dirty="0">
                          <a:effectLst/>
                        </a:rPr>
                        <a:t>Typical application CRUD</a:t>
                      </a:r>
                      <a:endParaRPr lang="en-US" sz="1050" b="0" i="0" dirty="0">
                        <a:solidFill>
                          <a:srgbClr val="FFFFFF"/>
                        </a:solidFill>
                        <a:effectLst/>
                        <a:latin typeface="-apple-system-body"/>
                      </a:endParaRPr>
                    </a:p>
                  </a:txBody>
                  <a:tcPr anchor="ctr"/>
                </a:tc>
                <a:extLst>
                  <a:ext uri="{0D108BD9-81ED-4DB2-BD59-A6C34878D82A}">
                    <a16:rowId xmlns:a16="http://schemas.microsoft.com/office/drawing/2014/main" val="3217419162"/>
                  </a:ext>
                </a:extLst>
              </a:tr>
            </a:tbl>
          </a:graphicData>
        </a:graphic>
      </p:graphicFrame>
    </p:spTree>
    <p:extLst>
      <p:ext uri="{BB962C8B-B14F-4D97-AF65-F5344CB8AC3E}">
        <p14:creationId xmlns:p14="http://schemas.microsoft.com/office/powerpoint/2010/main" val="1725810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BDCBF-5D78-C5BA-D809-7F7F3FC0A4AA}"/>
              </a:ext>
            </a:extLst>
          </p:cNvPr>
          <p:cNvSpPr>
            <a:spLocks noGrp="1"/>
          </p:cNvSpPr>
          <p:nvPr>
            <p:ph type="title"/>
          </p:nvPr>
        </p:nvSpPr>
        <p:spPr/>
        <p:txBody>
          <a:bodyPr/>
          <a:lstStyle/>
          <a:p>
            <a:r>
              <a:rPr lang="en-US" dirty="0"/>
              <a:t>Typical stack</a:t>
            </a:r>
          </a:p>
        </p:txBody>
      </p:sp>
      <p:sp>
        <p:nvSpPr>
          <p:cNvPr id="5" name="TextBox 4">
            <a:extLst>
              <a:ext uri="{FF2B5EF4-FFF2-40B4-BE49-F238E27FC236}">
                <a16:creationId xmlns:a16="http://schemas.microsoft.com/office/drawing/2014/main" id="{88CFE19A-50B1-8913-AE67-1C9B68684A46}"/>
              </a:ext>
            </a:extLst>
          </p:cNvPr>
          <p:cNvSpPr txBox="1"/>
          <p:nvPr/>
        </p:nvSpPr>
        <p:spPr>
          <a:xfrm>
            <a:off x="3336620" y="2623428"/>
            <a:ext cx="2212410" cy="3139321"/>
          </a:xfrm>
          <a:prstGeom prst="rect">
            <a:avLst/>
          </a:prstGeom>
          <a:noFill/>
        </p:spPr>
        <p:txBody>
          <a:bodyPr wrap="square">
            <a:spAutoFit/>
          </a:bodyPr>
          <a:lstStyle/>
          <a:p>
            <a:pPr algn="ctr"/>
            <a:r>
              <a:rPr lang="en-US" dirty="0"/>
              <a:t>Spring Data JPA</a:t>
            </a:r>
          </a:p>
          <a:p>
            <a:pPr algn="ctr"/>
            <a:r>
              <a:rPr lang="en-US" dirty="0"/>
              <a:t>      ↓</a:t>
            </a:r>
          </a:p>
          <a:p>
            <a:pPr algn="ctr"/>
            <a:r>
              <a:rPr lang="en-US" dirty="0"/>
              <a:t>  </a:t>
            </a:r>
            <a:r>
              <a:rPr lang="en-US" dirty="0" err="1"/>
              <a:t>JpaRepository</a:t>
            </a:r>
            <a:endParaRPr lang="en-US" dirty="0"/>
          </a:p>
          <a:p>
            <a:pPr algn="ctr"/>
            <a:r>
              <a:rPr lang="en-US" dirty="0"/>
              <a:t>      ↓</a:t>
            </a:r>
          </a:p>
          <a:p>
            <a:pPr algn="ctr"/>
            <a:r>
              <a:rPr lang="en-US" dirty="0"/>
              <a:t> </a:t>
            </a:r>
            <a:r>
              <a:rPr lang="en-US" dirty="0" err="1"/>
              <a:t>EntityManager</a:t>
            </a:r>
            <a:endParaRPr lang="en-US" dirty="0"/>
          </a:p>
          <a:p>
            <a:pPr algn="ctr"/>
            <a:r>
              <a:rPr lang="en-US" dirty="0"/>
              <a:t>      ↓</a:t>
            </a:r>
          </a:p>
          <a:p>
            <a:pPr algn="ctr"/>
            <a:r>
              <a:rPr lang="en-US" dirty="0"/>
              <a:t>   Hibernate</a:t>
            </a:r>
          </a:p>
          <a:p>
            <a:pPr algn="ctr"/>
            <a:r>
              <a:rPr lang="en-US" dirty="0"/>
              <a:t>      ↓</a:t>
            </a:r>
          </a:p>
          <a:p>
            <a:pPr algn="ctr"/>
            <a:r>
              <a:rPr lang="en-US" dirty="0"/>
              <a:t>    Session</a:t>
            </a:r>
          </a:p>
          <a:p>
            <a:pPr algn="ctr"/>
            <a:r>
              <a:rPr lang="en-US" dirty="0"/>
              <a:t>      ↓</a:t>
            </a:r>
          </a:p>
          <a:p>
            <a:pPr algn="ctr"/>
            <a:r>
              <a:rPr lang="en-US" dirty="0"/>
              <a:t>   Database</a:t>
            </a:r>
          </a:p>
        </p:txBody>
      </p:sp>
      <p:sp>
        <p:nvSpPr>
          <p:cNvPr id="6" name="TextBox 5">
            <a:extLst>
              <a:ext uri="{FF2B5EF4-FFF2-40B4-BE49-F238E27FC236}">
                <a16:creationId xmlns:a16="http://schemas.microsoft.com/office/drawing/2014/main" id="{D2A814FD-D449-EC97-F6A1-90B628648FEE}"/>
              </a:ext>
            </a:extLst>
          </p:cNvPr>
          <p:cNvSpPr txBox="1"/>
          <p:nvPr/>
        </p:nvSpPr>
        <p:spPr>
          <a:xfrm>
            <a:off x="6200383" y="2623428"/>
            <a:ext cx="2013885" cy="3139321"/>
          </a:xfrm>
          <a:prstGeom prst="rect">
            <a:avLst/>
          </a:prstGeom>
          <a:noFill/>
        </p:spPr>
        <p:txBody>
          <a:bodyPr wrap="none" rtlCol="0">
            <a:spAutoFit/>
          </a:bodyPr>
          <a:lstStyle/>
          <a:p>
            <a:pPr marL="285750" indent="-285750">
              <a:buFont typeface="Wingdings" panose="05000000000000000000" pitchFamily="2" charset="2"/>
              <a:buChar char="ß"/>
            </a:pPr>
            <a:r>
              <a:rPr lang="en-US" dirty="0">
                <a:sym typeface="Wingdings" panose="05000000000000000000" pitchFamily="2" charset="2"/>
              </a:rPr>
              <a:t>More abstracted</a:t>
            </a: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endParaRPr lang="en-US" dirty="0">
              <a:sym typeface="Wingdings" panose="05000000000000000000" pitchFamily="2" charset="2"/>
            </a:endParaRPr>
          </a:p>
          <a:p>
            <a:pPr marL="285750" indent="-285750">
              <a:buFont typeface="Wingdings" panose="05000000000000000000" pitchFamily="2" charset="2"/>
              <a:buChar char="ß"/>
            </a:pPr>
            <a:r>
              <a:rPr lang="en-US" dirty="0">
                <a:sym typeface="Wingdings" panose="05000000000000000000" pitchFamily="2" charset="2"/>
              </a:rPr>
              <a:t>Less </a:t>
            </a:r>
            <a:r>
              <a:rPr lang="en-US" dirty="0" err="1">
                <a:sym typeface="Wingdings" panose="05000000000000000000" pitchFamily="2" charset="2"/>
              </a:rPr>
              <a:t>absracted</a:t>
            </a:r>
            <a:endParaRPr lang="en-US" dirty="0">
              <a:sym typeface="Wingdings" panose="05000000000000000000" pitchFamily="2" charset="2"/>
            </a:endParaRPr>
          </a:p>
        </p:txBody>
      </p:sp>
    </p:spTree>
    <p:extLst>
      <p:ext uri="{BB962C8B-B14F-4D97-AF65-F5344CB8AC3E}">
        <p14:creationId xmlns:p14="http://schemas.microsoft.com/office/powerpoint/2010/main" val="119419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BD6DA-8438-DEEE-713D-05684037D5CB}"/>
              </a:ext>
            </a:extLst>
          </p:cNvPr>
          <p:cNvSpPr>
            <a:spLocks noGrp="1"/>
          </p:cNvSpPr>
          <p:nvPr>
            <p:ph type="title"/>
          </p:nvPr>
        </p:nvSpPr>
        <p:spPr/>
        <p:txBody>
          <a:bodyPr/>
          <a:lstStyle/>
          <a:p>
            <a:r>
              <a:rPr lang="en-US" dirty="0"/>
              <a:t>JQPL</a:t>
            </a:r>
          </a:p>
        </p:txBody>
      </p:sp>
      <p:sp>
        <p:nvSpPr>
          <p:cNvPr id="3" name="Content Placeholder 2">
            <a:extLst>
              <a:ext uri="{FF2B5EF4-FFF2-40B4-BE49-F238E27FC236}">
                <a16:creationId xmlns:a16="http://schemas.microsoft.com/office/drawing/2014/main" id="{97FCE9EA-5AF7-3060-E641-8BBD651AA4E5}"/>
              </a:ext>
            </a:extLst>
          </p:cNvPr>
          <p:cNvSpPr>
            <a:spLocks noGrp="1"/>
          </p:cNvSpPr>
          <p:nvPr>
            <p:ph idx="1"/>
          </p:nvPr>
        </p:nvSpPr>
        <p:spPr>
          <a:xfrm>
            <a:off x="474721" y="1967553"/>
            <a:ext cx="11029615" cy="3678303"/>
          </a:xfrm>
        </p:spPr>
        <p:txBody>
          <a:bodyPr/>
          <a:lstStyle/>
          <a:p>
            <a:r>
              <a:rPr lang="en-US" dirty="0"/>
              <a:t>In SQL you may write:</a:t>
            </a:r>
          </a:p>
          <a:p>
            <a:endParaRPr lang="en-US" dirty="0"/>
          </a:p>
          <a:p>
            <a:endParaRPr lang="en-US" dirty="0"/>
          </a:p>
          <a:p>
            <a:endParaRPr lang="en-US" dirty="0"/>
          </a:p>
          <a:p>
            <a:r>
              <a:rPr lang="en-US" dirty="0"/>
              <a:t>In JPQL you may write:</a:t>
            </a:r>
          </a:p>
        </p:txBody>
      </p:sp>
      <p:sp>
        <p:nvSpPr>
          <p:cNvPr id="5" name="TextBox 4">
            <a:extLst>
              <a:ext uri="{FF2B5EF4-FFF2-40B4-BE49-F238E27FC236}">
                <a16:creationId xmlns:a16="http://schemas.microsoft.com/office/drawing/2014/main" id="{D5D44907-75B4-15C1-A760-D181236EFB25}"/>
              </a:ext>
            </a:extLst>
          </p:cNvPr>
          <p:cNvSpPr txBox="1"/>
          <p:nvPr/>
        </p:nvSpPr>
        <p:spPr>
          <a:xfrm>
            <a:off x="1144566" y="3280486"/>
            <a:ext cx="6097044" cy="923330"/>
          </a:xfrm>
          <a:prstGeom prst="rect">
            <a:avLst/>
          </a:prstGeom>
          <a:noFill/>
        </p:spPr>
        <p:txBody>
          <a:bodyPr wrap="square">
            <a:spAutoFit/>
          </a:bodyPr>
          <a:lstStyle/>
          <a:p>
            <a:r>
              <a:rPr lang="en-US" dirty="0"/>
              <a:t>SELECT *</a:t>
            </a:r>
          </a:p>
          <a:p>
            <a:r>
              <a:rPr lang="en-US" dirty="0"/>
              <a:t>FROM students</a:t>
            </a:r>
          </a:p>
          <a:p>
            <a:r>
              <a:rPr lang="en-US" dirty="0"/>
              <a:t>ORDER BY id;</a:t>
            </a:r>
          </a:p>
        </p:txBody>
      </p:sp>
      <p:sp>
        <p:nvSpPr>
          <p:cNvPr id="7" name="TextBox 6">
            <a:extLst>
              <a:ext uri="{FF2B5EF4-FFF2-40B4-BE49-F238E27FC236}">
                <a16:creationId xmlns:a16="http://schemas.microsoft.com/office/drawing/2014/main" id="{BA6259CB-D72D-2B51-4143-5A4681E7F3BC}"/>
              </a:ext>
            </a:extLst>
          </p:cNvPr>
          <p:cNvSpPr txBox="1"/>
          <p:nvPr/>
        </p:nvSpPr>
        <p:spPr>
          <a:xfrm>
            <a:off x="1144566" y="4858764"/>
            <a:ext cx="6097044" cy="923330"/>
          </a:xfrm>
          <a:prstGeom prst="rect">
            <a:avLst/>
          </a:prstGeom>
          <a:noFill/>
        </p:spPr>
        <p:txBody>
          <a:bodyPr wrap="square">
            <a:spAutoFit/>
          </a:bodyPr>
          <a:lstStyle/>
          <a:p>
            <a:r>
              <a:rPr lang="en-US" dirty="0"/>
              <a:t>SELECT student</a:t>
            </a:r>
          </a:p>
          <a:p>
            <a:r>
              <a:rPr lang="en-US" dirty="0"/>
              <a:t>FROM Student </a:t>
            </a:r>
            <a:r>
              <a:rPr lang="en-US" dirty="0" err="1"/>
              <a:t>student</a:t>
            </a:r>
            <a:endParaRPr lang="en-US" dirty="0"/>
          </a:p>
          <a:p>
            <a:r>
              <a:rPr lang="en-US" dirty="0"/>
              <a:t>ORDER BY student.id</a:t>
            </a:r>
          </a:p>
        </p:txBody>
      </p:sp>
      <p:sp>
        <p:nvSpPr>
          <p:cNvPr id="9" name="TextBox 8">
            <a:extLst>
              <a:ext uri="{FF2B5EF4-FFF2-40B4-BE49-F238E27FC236}">
                <a16:creationId xmlns:a16="http://schemas.microsoft.com/office/drawing/2014/main" id="{E2AFC972-57DD-770B-89BF-DC0404323E02}"/>
              </a:ext>
            </a:extLst>
          </p:cNvPr>
          <p:cNvSpPr txBox="1"/>
          <p:nvPr/>
        </p:nvSpPr>
        <p:spPr>
          <a:xfrm>
            <a:off x="6096000" y="2998776"/>
            <a:ext cx="4817824" cy="2585323"/>
          </a:xfrm>
          <a:prstGeom prst="rect">
            <a:avLst/>
          </a:prstGeom>
          <a:noFill/>
        </p:spPr>
        <p:txBody>
          <a:bodyPr wrap="square">
            <a:spAutoFit/>
          </a:bodyPr>
          <a:lstStyle/>
          <a:p>
            <a:r>
              <a:rPr lang="en-US" dirty="0"/>
              <a:t>Because we are querying against our entity!</a:t>
            </a:r>
          </a:p>
          <a:p>
            <a:endParaRPr lang="en-US" dirty="0"/>
          </a:p>
          <a:p>
            <a:r>
              <a:rPr lang="en-US" dirty="0"/>
              <a:t>@Entity</a:t>
            </a:r>
          </a:p>
          <a:p>
            <a:r>
              <a:rPr lang="en-US" dirty="0"/>
              <a:t>public class Student {</a:t>
            </a:r>
          </a:p>
          <a:p>
            <a:r>
              <a:rPr lang="en-US" dirty="0"/>
              <a:t>    private int id;</a:t>
            </a:r>
          </a:p>
          <a:p>
            <a:r>
              <a:rPr lang="en-US" dirty="0"/>
              <a:t>    private String </a:t>
            </a:r>
            <a:r>
              <a:rPr lang="en-US" dirty="0" err="1"/>
              <a:t>firstName</a:t>
            </a:r>
            <a:r>
              <a:rPr lang="en-US" dirty="0"/>
              <a:t>;</a:t>
            </a:r>
          </a:p>
          <a:p>
            <a:r>
              <a:rPr lang="en-US" dirty="0"/>
              <a:t>    private String </a:t>
            </a:r>
            <a:r>
              <a:rPr lang="en-US" dirty="0" err="1"/>
              <a:t>lastName</a:t>
            </a:r>
            <a:r>
              <a:rPr lang="en-US" dirty="0"/>
              <a:t>;</a:t>
            </a:r>
          </a:p>
          <a:p>
            <a:r>
              <a:rPr lang="en-US" dirty="0"/>
              <a:t>    private String email;</a:t>
            </a:r>
          </a:p>
          <a:p>
            <a:r>
              <a:rPr lang="en-US" dirty="0"/>
              <a:t>}</a:t>
            </a:r>
          </a:p>
        </p:txBody>
      </p:sp>
      <p:sp>
        <p:nvSpPr>
          <p:cNvPr id="10" name="TextBox 9">
            <a:extLst>
              <a:ext uri="{FF2B5EF4-FFF2-40B4-BE49-F238E27FC236}">
                <a16:creationId xmlns:a16="http://schemas.microsoft.com/office/drawing/2014/main" id="{F2E60F99-8A55-89C3-00F9-C8298C4F6C28}"/>
              </a:ext>
            </a:extLst>
          </p:cNvPr>
          <p:cNvSpPr txBox="1"/>
          <p:nvPr/>
        </p:nvSpPr>
        <p:spPr>
          <a:xfrm>
            <a:off x="4343083" y="1974496"/>
            <a:ext cx="3292889" cy="369332"/>
          </a:xfrm>
          <a:prstGeom prst="rect">
            <a:avLst/>
          </a:prstGeom>
          <a:noFill/>
        </p:spPr>
        <p:txBody>
          <a:bodyPr wrap="none" rtlCol="0">
            <a:spAutoFit/>
          </a:bodyPr>
          <a:lstStyle/>
          <a:p>
            <a:r>
              <a:rPr lang="en-US" dirty="0">
                <a:solidFill>
                  <a:schemeClr val="accent2"/>
                </a:solidFill>
              </a:rPr>
              <a:t>HQL is very similar conceptually!</a:t>
            </a:r>
          </a:p>
        </p:txBody>
      </p:sp>
    </p:spTree>
    <p:extLst>
      <p:ext uri="{BB962C8B-B14F-4D97-AF65-F5344CB8AC3E}">
        <p14:creationId xmlns:p14="http://schemas.microsoft.com/office/powerpoint/2010/main" val="1398246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C7421-26D0-C64F-F603-15F692B983E1}"/>
              </a:ext>
            </a:extLst>
          </p:cNvPr>
          <p:cNvSpPr>
            <a:spLocks noGrp="1"/>
          </p:cNvSpPr>
          <p:nvPr>
            <p:ph type="title"/>
          </p:nvPr>
        </p:nvSpPr>
        <p:spPr/>
        <p:txBody>
          <a:bodyPr/>
          <a:lstStyle/>
          <a:p>
            <a:r>
              <a:rPr lang="en-US" dirty="0"/>
              <a:t>Stereotype annotations</a:t>
            </a:r>
          </a:p>
        </p:txBody>
      </p:sp>
      <p:sp>
        <p:nvSpPr>
          <p:cNvPr id="3" name="Content Placeholder 2">
            <a:extLst>
              <a:ext uri="{FF2B5EF4-FFF2-40B4-BE49-F238E27FC236}">
                <a16:creationId xmlns:a16="http://schemas.microsoft.com/office/drawing/2014/main" id="{F6F5AB61-17F7-093B-D3FC-5E6D4784FA35}"/>
              </a:ext>
            </a:extLst>
          </p:cNvPr>
          <p:cNvSpPr>
            <a:spLocks noGrp="1"/>
          </p:cNvSpPr>
          <p:nvPr>
            <p:ph idx="1"/>
          </p:nvPr>
        </p:nvSpPr>
        <p:spPr>
          <a:xfrm>
            <a:off x="581192" y="2180496"/>
            <a:ext cx="11029615" cy="4157674"/>
          </a:xfrm>
        </p:spPr>
        <p:txBody>
          <a:bodyPr>
            <a:normAutofit fontScale="92500" lnSpcReduction="10000"/>
          </a:bodyPr>
          <a:lstStyle/>
          <a:p>
            <a:r>
              <a:rPr lang="en-US" b="1" dirty="0"/>
              <a:t>@Component</a:t>
            </a:r>
            <a:endParaRPr lang="en-US" dirty="0"/>
          </a:p>
          <a:p>
            <a:pPr lvl="1"/>
            <a:r>
              <a:rPr lang="en-US" dirty="0"/>
              <a:t>@Component is the main stereotype annotation. It is a class-level annotation. @Component is used across the application to mark the beans as Spring's managed components.</a:t>
            </a:r>
          </a:p>
          <a:p>
            <a:r>
              <a:rPr lang="en-US" b="1" dirty="0"/>
              <a:t>@Service</a:t>
            </a:r>
            <a:endParaRPr lang="en-US" dirty="0"/>
          </a:p>
          <a:p>
            <a:pPr lvl="1"/>
            <a:r>
              <a:rPr lang="en-US" dirty="0"/>
              <a:t>It is a specialization of @Component. The business logic of an application exists in the service layer, and the @Service annotation is used to indicate that a class belongs to the service layer.</a:t>
            </a:r>
          </a:p>
          <a:p>
            <a:r>
              <a:rPr lang="en-US" b="1" dirty="0"/>
              <a:t>@Repository</a:t>
            </a:r>
            <a:endParaRPr lang="en-US" dirty="0"/>
          </a:p>
          <a:p>
            <a:pPr lvl="1"/>
            <a:r>
              <a:rPr lang="en-US" dirty="0"/>
              <a:t>It is a specialization of @Component and is very similar to the DAO pattern. DAO classes provide CRUD operations for database tables.</a:t>
            </a:r>
          </a:p>
          <a:p>
            <a:r>
              <a:rPr lang="en-US" b="1" dirty="0"/>
              <a:t>@RestController</a:t>
            </a:r>
            <a:endParaRPr lang="en-US" dirty="0"/>
          </a:p>
          <a:p>
            <a:pPr lvl="1"/>
            <a:r>
              <a:rPr lang="en-US" dirty="0"/>
              <a:t>It is a specialization of @Component. The @RestController annotation (which inherits @Controller) indicates that a particular class is a web service controller that returns data. It is mostly used with Spring MVC applications and is used in combination with @RequestMapping annotation. The dispatcher scans the class and detects methods with HTTP annotations:</a:t>
            </a:r>
          </a:p>
          <a:p>
            <a:pPr lvl="2"/>
            <a:r>
              <a:rPr lang="en-US" dirty="0"/>
              <a:t>@GetMapping, @PostMapping, @PutMapping, &amp; @DeleteMapping</a:t>
            </a:r>
          </a:p>
          <a:p>
            <a:endParaRPr lang="en-US" dirty="0"/>
          </a:p>
        </p:txBody>
      </p:sp>
    </p:spTree>
    <p:extLst>
      <p:ext uri="{BB962C8B-B14F-4D97-AF65-F5344CB8AC3E}">
        <p14:creationId xmlns:p14="http://schemas.microsoft.com/office/powerpoint/2010/main" val="1327387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D9D32-6DB3-28A5-5C74-390DEEA18B2D}"/>
              </a:ext>
            </a:extLst>
          </p:cNvPr>
          <p:cNvSpPr>
            <a:spLocks noGrp="1"/>
          </p:cNvSpPr>
          <p:nvPr>
            <p:ph type="title"/>
          </p:nvPr>
        </p:nvSpPr>
        <p:spPr/>
        <p:txBody>
          <a:bodyPr/>
          <a:lstStyle/>
          <a:p>
            <a:r>
              <a:rPr lang="en-US" dirty="0"/>
              <a:t>Jackson</a:t>
            </a:r>
          </a:p>
        </p:txBody>
      </p:sp>
      <p:sp>
        <p:nvSpPr>
          <p:cNvPr id="3" name="Content Placeholder 2">
            <a:extLst>
              <a:ext uri="{FF2B5EF4-FFF2-40B4-BE49-F238E27FC236}">
                <a16:creationId xmlns:a16="http://schemas.microsoft.com/office/drawing/2014/main" id="{89380D51-8FAC-7542-6BF1-B037460A8252}"/>
              </a:ext>
            </a:extLst>
          </p:cNvPr>
          <p:cNvSpPr>
            <a:spLocks noGrp="1"/>
          </p:cNvSpPr>
          <p:nvPr>
            <p:ph idx="1"/>
          </p:nvPr>
        </p:nvSpPr>
        <p:spPr/>
        <p:txBody>
          <a:bodyPr>
            <a:normAutofit fontScale="92500" lnSpcReduction="10000"/>
          </a:bodyPr>
          <a:lstStyle/>
          <a:p>
            <a:r>
              <a:rPr lang="en-US" dirty="0"/>
              <a:t>Java Library for converting between Java objects and JSON</a:t>
            </a:r>
          </a:p>
          <a:p>
            <a:r>
              <a:rPr lang="en-US" dirty="0"/>
              <a:t>Built right into Spring</a:t>
            </a:r>
          </a:p>
          <a:p>
            <a:endParaRPr lang="en-US" dirty="0"/>
          </a:p>
          <a:p>
            <a:r>
              <a:rPr lang="en-US" dirty="0"/>
              <a:t>Java Object  ──────→  JSON</a:t>
            </a:r>
          </a:p>
          <a:p>
            <a:r>
              <a:rPr lang="en-US" dirty="0"/>
              <a:t>        serialization</a:t>
            </a:r>
          </a:p>
          <a:p>
            <a:r>
              <a:rPr lang="en-US" dirty="0"/>
              <a:t>JSON  ──────→  Java Object</a:t>
            </a:r>
          </a:p>
          <a:p>
            <a:r>
              <a:rPr lang="en-US" dirty="0"/>
              <a:t>        deserialization</a:t>
            </a:r>
          </a:p>
          <a:p>
            <a:r>
              <a:rPr lang="en-US" dirty="0"/>
              <a:t>It all happens under the hood for us! </a:t>
            </a:r>
          </a:p>
          <a:p>
            <a:r>
              <a:rPr lang="en-US" dirty="0">
                <a:sym typeface="Wingdings" panose="05000000000000000000" pitchFamily="2" charset="2"/>
              </a:rPr>
              <a:t>Request is made  we prepare a POJO (plain old java object)  Jackson coverts to JSON  client gets JSON</a:t>
            </a:r>
          </a:p>
          <a:p>
            <a:r>
              <a:rPr lang="en-US" dirty="0"/>
              <a:t>Request is made </a:t>
            </a:r>
            <a:r>
              <a:rPr lang="en-US" dirty="0">
                <a:sym typeface="Wingdings" panose="05000000000000000000" pitchFamily="2" charset="2"/>
              </a:rPr>
              <a:t> we receive JSON (e.g. record to be created)  Jackson converts to POJO  use POJO in app</a:t>
            </a:r>
            <a:endParaRPr lang="en-US" dirty="0"/>
          </a:p>
        </p:txBody>
      </p:sp>
    </p:spTree>
    <p:extLst>
      <p:ext uri="{BB962C8B-B14F-4D97-AF65-F5344CB8AC3E}">
        <p14:creationId xmlns:p14="http://schemas.microsoft.com/office/powerpoint/2010/main" val="3041639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3CF08-5EB3-F45D-C2AE-5FB69B219887}"/>
              </a:ext>
            </a:extLst>
          </p:cNvPr>
          <p:cNvSpPr>
            <a:spLocks noGrp="1"/>
          </p:cNvSpPr>
          <p:nvPr>
            <p:ph type="title"/>
          </p:nvPr>
        </p:nvSpPr>
        <p:spPr/>
        <p:txBody>
          <a:bodyPr/>
          <a:lstStyle/>
          <a:p>
            <a:r>
              <a:rPr lang="en-US" dirty="0"/>
              <a:t>Request Validation &amp; schema enforcement</a:t>
            </a:r>
          </a:p>
        </p:txBody>
      </p:sp>
      <p:sp>
        <p:nvSpPr>
          <p:cNvPr id="3" name="Content Placeholder 2">
            <a:extLst>
              <a:ext uri="{FF2B5EF4-FFF2-40B4-BE49-F238E27FC236}">
                <a16:creationId xmlns:a16="http://schemas.microsoft.com/office/drawing/2014/main" id="{7BC70ACD-75CE-8193-CF54-E1B5A75DCF6F}"/>
              </a:ext>
            </a:extLst>
          </p:cNvPr>
          <p:cNvSpPr>
            <a:spLocks noGrp="1"/>
          </p:cNvSpPr>
          <p:nvPr>
            <p:ph idx="1"/>
          </p:nvPr>
        </p:nvSpPr>
        <p:spPr/>
        <p:txBody>
          <a:bodyPr>
            <a:normAutofit fontScale="92500" lnSpcReduction="10000"/>
          </a:bodyPr>
          <a:lstStyle/>
          <a:p>
            <a:r>
              <a:rPr lang="en-US" dirty="0"/>
              <a:t>@NotNull - not null</a:t>
            </a:r>
          </a:p>
          <a:p>
            <a:r>
              <a:rPr lang="en-US" dirty="0"/>
              <a:t>@NotEmpty - not null or empty such as ""</a:t>
            </a:r>
          </a:p>
          <a:p>
            <a:r>
              <a:rPr lang="en-US" dirty="0"/>
              <a:t>@NotBlank - not null, empty, or whitespace</a:t>
            </a:r>
          </a:p>
          <a:p>
            <a:r>
              <a:rPr lang="en-US" dirty="0"/>
              <a:t>@Size</a:t>
            </a:r>
          </a:p>
          <a:p>
            <a:r>
              <a:rPr lang="en-US" dirty="0"/>
              <a:t>@Min</a:t>
            </a:r>
          </a:p>
          <a:p>
            <a:r>
              <a:rPr lang="en-US" dirty="0"/>
              <a:t>@Max</a:t>
            </a:r>
          </a:p>
          <a:p>
            <a:r>
              <a:rPr lang="en-US" dirty="0"/>
              <a:t>@Positive</a:t>
            </a:r>
          </a:p>
          <a:p>
            <a:r>
              <a:rPr lang="en-US" dirty="0"/>
              <a:t>@PositiveOrZero</a:t>
            </a:r>
          </a:p>
          <a:p>
            <a:r>
              <a:rPr lang="en-US" dirty="0"/>
              <a:t>@Email</a:t>
            </a:r>
          </a:p>
          <a:p>
            <a:r>
              <a:rPr lang="en-US" dirty="0"/>
              <a:t>@Pattern</a:t>
            </a:r>
          </a:p>
          <a:p>
            <a:endParaRPr lang="en-US" dirty="0"/>
          </a:p>
        </p:txBody>
      </p:sp>
      <p:pic>
        <p:nvPicPr>
          <p:cNvPr id="5" name="Picture 4">
            <a:extLst>
              <a:ext uri="{FF2B5EF4-FFF2-40B4-BE49-F238E27FC236}">
                <a16:creationId xmlns:a16="http://schemas.microsoft.com/office/drawing/2014/main" id="{12DDB36B-C7AC-7CC0-35BE-6E21CF0C4817}"/>
              </a:ext>
            </a:extLst>
          </p:cNvPr>
          <p:cNvPicPr>
            <a:picLocks noChangeAspect="1"/>
          </p:cNvPicPr>
          <p:nvPr/>
        </p:nvPicPr>
        <p:blipFill>
          <a:blip r:embed="rId2"/>
          <a:stretch>
            <a:fillRect/>
          </a:stretch>
        </p:blipFill>
        <p:spPr>
          <a:xfrm>
            <a:off x="5851789" y="3221713"/>
            <a:ext cx="5225633" cy="964109"/>
          </a:xfrm>
          <a:prstGeom prst="rect">
            <a:avLst/>
          </a:prstGeom>
        </p:spPr>
      </p:pic>
      <p:pic>
        <p:nvPicPr>
          <p:cNvPr id="7" name="Picture 6">
            <a:extLst>
              <a:ext uri="{FF2B5EF4-FFF2-40B4-BE49-F238E27FC236}">
                <a16:creationId xmlns:a16="http://schemas.microsoft.com/office/drawing/2014/main" id="{4F8BB4D3-2CA9-AC94-BA50-20F48602F7D3}"/>
              </a:ext>
            </a:extLst>
          </p:cNvPr>
          <p:cNvPicPr>
            <a:picLocks noChangeAspect="1"/>
          </p:cNvPicPr>
          <p:nvPr/>
        </p:nvPicPr>
        <p:blipFill>
          <a:blip r:embed="rId3"/>
          <a:stretch>
            <a:fillRect/>
          </a:stretch>
        </p:blipFill>
        <p:spPr>
          <a:xfrm>
            <a:off x="2327563" y="5549330"/>
            <a:ext cx="8749859" cy="606514"/>
          </a:xfrm>
          <a:prstGeom prst="rect">
            <a:avLst/>
          </a:prstGeom>
        </p:spPr>
      </p:pic>
      <p:sp>
        <p:nvSpPr>
          <p:cNvPr id="8" name="TextBox 7">
            <a:extLst>
              <a:ext uri="{FF2B5EF4-FFF2-40B4-BE49-F238E27FC236}">
                <a16:creationId xmlns:a16="http://schemas.microsoft.com/office/drawing/2014/main" id="{F01206C5-D9C8-B35D-7D13-60DF8129B6E6}"/>
              </a:ext>
            </a:extLst>
          </p:cNvPr>
          <p:cNvSpPr txBox="1"/>
          <p:nvPr/>
        </p:nvSpPr>
        <p:spPr>
          <a:xfrm>
            <a:off x="3645724" y="4947728"/>
            <a:ext cx="7491218" cy="369332"/>
          </a:xfrm>
          <a:prstGeom prst="rect">
            <a:avLst/>
          </a:prstGeom>
          <a:noFill/>
        </p:spPr>
        <p:txBody>
          <a:bodyPr wrap="none" rtlCol="0">
            <a:spAutoFit/>
          </a:bodyPr>
          <a:lstStyle/>
          <a:p>
            <a:r>
              <a:rPr lang="en-US" dirty="0"/>
              <a:t>@Valid – ensure our endpoints enforce our validations on the application-level</a:t>
            </a:r>
          </a:p>
        </p:txBody>
      </p:sp>
      <p:sp>
        <p:nvSpPr>
          <p:cNvPr id="9" name="TextBox 8">
            <a:extLst>
              <a:ext uri="{FF2B5EF4-FFF2-40B4-BE49-F238E27FC236}">
                <a16:creationId xmlns:a16="http://schemas.microsoft.com/office/drawing/2014/main" id="{D20D327B-C978-F8B7-3164-0E45EA362820}"/>
              </a:ext>
            </a:extLst>
          </p:cNvPr>
          <p:cNvSpPr txBox="1"/>
          <p:nvPr/>
        </p:nvSpPr>
        <p:spPr>
          <a:xfrm>
            <a:off x="5851789" y="2434007"/>
            <a:ext cx="6093206" cy="646331"/>
          </a:xfrm>
          <a:prstGeom prst="rect">
            <a:avLst/>
          </a:prstGeom>
          <a:noFill/>
        </p:spPr>
        <p:txBody>
          <a:bodyPr wrap="none" rtlCol="0">
            <a:spAutoFit/>
          </a:bodyPr>
          <a:lstStyle/>
          <a:p>
            <a:r>
              <a:rPr lang="en-US" dirty="0"/>
              <a:t>Nullable – enforces schema/</a:t>
            </a:r>
            <a:r>
              <a:rPr lang="en-US" dirty="0" err="1"/>
              <a:t>db</a:t>
            </a:r>
            <a:r>
              <a:rPr lang="en-US" dirty="0"/>
              <a:t> level validation</a:t>
            </a:r>
          </a:p>
          <a:p>
            <a:r>
              <a:rPr lang="en-US" dirty="0"/>
              <a:t>Often, we use nullable + annotations for maximum protection </a:t>
            </a:r>
          </a:p>
        </p:txBody>
      </p:sp>
    </p:spTree>
    <p:extLst>
      <p:ext uri="{BB962C8B-B14F-4D97-AF65-F5344CB8AC3E}">
        <p14:creationId xmlns:p14="http://schemas.microsoft.com/office/powerpoint/2010/main" val="1204682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1AE0-F3C4-2C1A-EE1F-AB4C60B24629}"/>
              </a:ext>
            </a:extLst>
          </p:cNvPr>
          <p:cNvSpPr>
            <a:spLocks noGrp="1"/>
          </p:cNvSpPr>
          <p:nvPr>
            <p:ph type="title"/>
          </p:nvPr>
        </p:nvSpPr>
        <p:spPr/>
        <p:txBody>
          <a:bodyPr/>
          <a:lstStyle/>
          <a:p>
            <a:r>
              <a:rPr lang="en-US" dirty="0"/>
              <a:t>Exception handling</a:t>
            </a:r>
          </a:p>
        </p:txBody>
      </p:sp>
      <p:sp>
        <p:nvSpPr>
          <p:cNvPr id="8" name="TextBox 7">
            <a:extLst>
              <a:ext uri="{FF2B5EF4-FFF2-40B4-BE49-F238E27FC236}">
                <a16:creationId xmlns:a16="http://schemas.microsoft.com/office/drawing/2014/main" id="{D9068152-8FB2-1638-BDC5-524C96C96A3F}"/>
              </a:ext>
            </a:extLst>
          </p:cNvPr>
          <p:cNvSpPr txBox="1"/>
          <p:nvPr/>
        </p:nvSpPr>
        <p:spPr>
          <a:xfrm>
            <a:off x="1341913" y="2161309"/>
            <a:ext cx="3788228" cy="923330"/>
          </a:xfrm>
          <a:prstGeom prst="rect">
            <a:avLst/>
          </a:prstGeom>
          <a:noFill/>
        </p:spPr>
        <p:txBody>
          <a:bodyPr wrap="square" rtlCol="0">
            <a:spAutoFit/>
          </a:bodyPr>
          <a:lstStyle/>
          <a:p>
            <a:r>
              <a:rPr lang="en-US" dirty="0"/>
              <a:t>This defines our custom exception, so we have full control to describe the issue:</a:t>
            </a:r>
          </a:p>
        </p:txBody>
      </p:sp>
      <p:sp>
        <p:nvSpPr>
          <p:cNvPr id="9" name="TextBox 8">
            <a:extLst>
              <a:ext uri="{FF2B5EF4-FFF2-40B4-BE49-F238E27FC236}">
                <a16:creationId xmlns:a16="http://schemas.microsoft.com/office/drawing/2014/main" id="{C4FDF15D-A437-3643-58C8-AAF98437E33E}"/>
              </a:ext>
            </a:extLst>
          </p:cNvPr>
          <p:cNvSpPr txBox="1"/>
          <p:nvPr/>
        </p:nvSpPr>
        <p:spPr>
          <a:xfrm>
            <a:off x="5605153" y="2137558"/>
            <a:ext cx="6298584" cy="646331"/>
          </a:xfrm>
          <a:prstGeom prst="rect">
            <a:avLst/>
          </a:prstGeom>
          <a:noFill/>
        </p:spPr>
        <p:txBody>
          <a:bodyPr wrap="none" rtlCol="0">
            <a:spAutoFit/>
          </a:bodyPr>
          <a:lstStyle/>
          <a:p>
            <a:r>
              <a:rPr lang="en-US" dirty="0"/>
              <a:t>This defines what our error output should look like</a:t>
            </a:r>
            <a:br>
              <a:rPr lang="en-US" dirty="0"/>
            </a:br>
            <a:r>
              <a:rPr lang="en-US" dirty="0"/>
              <a:t>i.e. we define a contract for what returned HTTP errors look like:</a:t>
            </a:r>
          </a:p>
        </p:txBody>
      </p:sp>
      <p:pic>
        <p:nvPicPr>
          <p:cNvPr id="10" name="Picture 9">
            <a:extLst>
              <a:ext uri="{FF2B5EF4-FFF2-40B4-BE49-F238E27FC236}">
                <a16:creationId xmlns:a16="http://schemas.microsoft.com/office/drawing/2014/main" id="{539AB847-B076-C55C-A8DC-321A5DDEE497}"/>
              </a:ext>
            </a:extLst>
          </p:cNvPr>
          <p:cNvPicPr>
            <a:picLocks noChangeAspect="1"/>
          </p:cNvPicPr>
          <p:nvPr/>
        </p:nvPicPr>
        <p:blipFill>
          <a:blip r:embed="rId2"/>
          <a:stretch>
            <a:fillRect/>
          </a:stretch>
        </p:blipFill>
        <p:spPr>
          <a:xfrm>
            <a:off x="652219" y="3429000"/>
            <a:ext cx="4963709" cy="3097763"/>
          </a:xfrm>
          <a:prstGeom prst="rect">
            <a:avLst/>
          </a:prstGeom>
        </p:spPr>
      </p:pic>
      <p:pic>
        <p:nvPicPr>
          <p:cNvPr id="12" name="Picture 11">
            <a:extLst>
              <a:ext uri="{FF2B5EF4-FFF2-40B4-BE49-F238E27FC236}">
                <a16:creationId xmlns:a16="http://schemas.microsoft.com/office/drawing/2014/main" id="{90794AEA-0982-9A40-4CAA-5CADF26C6467}"/>
              </a:ext>
            </a:extLst>
          </p:cNvPr>
          <p:cNvPicPr>
            <a:picLocks noChangeAspect="1"/>
          </p:cNvPicPr>
          <p:nvPr/>
        </p:nvPicPr>
        <p:blipFill>
          <a:blip r:embed="rId3"/>
          <a:stretch>
            <a:fillRect/>
          </a:stretch>
        </p:blipFill>
        <p:spPr>
          <a:xfrm>
            <a:off x="6576073" y="2783889"/>
            <a:ext cx="4274014" cy="3967040"/>
          </a:xfrm>
          <a:prstGeom prst="rect">
            <a:avLst/>
          </a:prstGeom>
        </p:spPr>
      </p:pic>
    </p:spTree>
    <p:extLst>
      <p:ext uri="{BB962C8B-B14F-4D97-AF65-F5344CB8AC3E}">
        <p14:creationId xmlns:p14="http://schemas.microsoft.com/office/powerpoint/2010/main" val="1592474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6ECB-5363-B255-4D5E-7CBFAE4305D4}"/>
              </a:ext>
            </a:extLst>
          </p:cNvPr>
          <p:cNvSpPr>
            <a:spLocks noGrp="1"/>
          </p:cNvSpPr>
          <p:nvPr>
            <p:ph type="title"/>
          </p:nvPr>
        </p:nvSpPr>
        <p:spPr/>
        <p:txBody>
          <a:bodyPr/>
          <a:lstStyle/>
          <a:p>
            <a:r>
              <a:rPr lang="en-US" dirty="0"/>
              <a:t>Exception Handling</a:t>
            </a:r>
          </a:p>
        </p:txBody>
      </p:sp>
      <p:sp>
        <p:nvSpPr>
          <p:cNvPr id="3" name="Content Placeholder 2">
            <a:extLst>
              <a:ext uri="{FF2B5EF4-FFF2-40B4-BE49-F238E27FC236}">
                <a16:creationId xmlns:a16="http://schemas.microsoft.com/office/drawing/2014/main" id="{B6E0D074-5577-A74C-6343-A914959DD982}"/>
              </a:ext>
            </a:extLst>
          </p:cNvPr>
          <p:cNvSpPr>
            <a:spLocks noGrp="1"/>
          </p:cNvSpPr>
          <p:nvPr>
            <p:ph idx="1"/>
          </p:nvPr>
        </p:nvSpPr>
        <p:spPr>
          <a:xfrm>
            <a:off x="581192" y="2180496"/>
            <a:ext cx="4085811" cy="4134066"/>
          </a:xfrm>
        </p:spPr>
        <p:txBody>
          <a:bodyPr>
            <a:normAutofit lnSpcReduction="10000"/>
          </a:bodyPr>
          <a:lstStyle/>
          <a:p>
            <a:r>
              <a:rPr lang="en-US" dirty="0"/>
              <a:t>@RestControllerAdvice – let’s us setup a global handler for exceptions</a:t>
            </a:r>
          </a:p>
          <a:p>
            <a:r>
              <a:rPr lang="en-US" dirty="0"/>
              <a:t>@ExceptionHanlder – defines a single way to handle a particular exception </a:t>
            </a:r>
          </a:p>
          <a:p>
            <a:r>
              <a:rPr lang="en-US" dirty="0"/>
              <a:t>For web service applications, we typically want to return a </a:t>
            </a:r>
            <a:r>
              <a:rPr lang="en-US" dirty="0" err="1"/>
              <a:t>ResponseEntity</a:t>
            </a:r>
            <a:r>
              <a:rPr lang="en-US" dirty="0"/>
              <a:t> that includes the relevant error status code and body </a:t>
            </a:r>
          </a:p>
          <a:p>
            <a:r>
              <a:rPr lang="en-US" dirty="0"/>
              <a:t>We can have more than one @ExceptionHandler methods</a:t>
            </a:r>
          </a:p>
          <a:p>
            <a:r>
              <a:rPr lang="en-US" dirty="0"/>
              <a:t>This lets us handle/manage many types of exceptions, and their responses, in a single location</a:t>
            </a:r>
          </a:p>
        </p:txBody>
      </p:sp>
      <p:pic>
        <p:nvPicPr>
          <p:cNvPr id="6" name="Picture 5">
            <a:extLst>
              <a:ext uri="{FF2B5EF4-FFF2-40B4-BE49-F238E27FC236}">
                <a16:creationId xmlns:a16="http://schemas.microsoft.com/office/drawing/2014/main" id="{8340305E-C977-4F17-4BF0-58ED44A0B4AA}"/>
              </a:ext>
            </a:extLst>
          </p:cNvPr>
          <p:cNvPicPr>
            <a:picLocks noChangeAspect="1"/>
          </p:cNvPicPr>
          <p:nvPr/>
        </p:nvPicPr>
        <p:blipFill>
          <a:blip r:embed="rId2"/>
          <a:stretch>
            <a:fillRect/>
          </a:stretch>
        </p:blipFill>
        <p:spPr>
          <a:xfrm>
            <a:off x="5220586" y="2082148"/>
            <a:ext cx="5944041" cy="4330761"/>
          </a:xfrm>
          <a:prstGeom prst="rect">
            <a:avLst/>
          </a:prstGeom>
        </p:spPr>
      </p:pic>
    </p:spTree>
    <p:extLst>
      <p:ext uri="{BB962C8B-B14F-4D97-AF65-F5344CB8AC3E}">
        <p14:creationId xmlns:p14="http://schemas.microsoft.com/office/powerpoint/2010/main" val="1492447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C9E93-23C7-840B-2FAD-5B87979DE1A1}"/>
              </a:ext>
            </a:extLst>
          </p:cNvPr>
          <p:cNvSpPr>
            <a:spLocks noGrp="1"/>
          </p:cNvSpPr>
          <p:nvPr>
            <p:ph type="title"/>
          </p:nvPr>
        </p:nvSpPr>
        <p:spPr/>
        <p:txBody>
          <a:bodyPr/>
          <a:lstStyle/>
          <a:p>
            <a:r>
              <a:rPr lang="en-US" dirty="0"/>
              <a:t>@transactional</a:t>
            </a:r>
          </a:p>
        </p:txBody>
      </p:sp>
      <p:sp>
        <p:nvSpPr>
          <p:cNvPr id="3" name="Content Placeholder 2">
            <a:extLst>
              <a:ext uri="{FF2B5EF4-FFF2-40B4-BE49-F238E27FC236}">
                <a16:creationId xmlns:a16="http://schemas.microsoft.com/office/drawing/2014/main" id="{79312368-F0AA-6282-CBF7-440C6ED258BC}"/>
              </a:ext>
            </a:extLst>
          </p:cNvPr>
          <p:cNvSpPr>
            <a:spLocks noGrp="1"/>
          </p:cNvSpPr>
          <p:nvPr>
            <p:ph idx="1"/>
          </p:nvPr>
        </p:nvSpPr>
        <p:spPr>
          <a:xfrm>
            <a:off x="581192" y="2180496"/>
            <a:ext cx="11029615" cy="4103346"/>
          </a:xfrm>
        </p:spPr>
        <p:txBody>
          <a:bodyPr>
            <a:normAutofit/>
          </a:bodyPr>
          <a:lstStyle/>
          <a:p>
            <a:r>
              <a:rPr lang="en-US" dirty="0"/>
              <a:t>What is a transaction?</a:t>
            </a:r>
          </a:p>
          <a:p>
            <a:r>
              <a:rPr lang="en-US" dirty="0"/>
              <a:t>The @Transactional annotation provides declarative transaction management in Spring, simplifying the process. When you apply it to a method or class, it instructs Spring to manage the transaction automatically:</a:t>
            </a:r>
          </a:p>
          <a:p>
            <a:pPr lvl="1"/>
            <a:r>
              <a:rPr lang="en-US" b="1" dirty="0"/>
              <a:t>Method-level</a:t>
            </a:r>
            <a:r>
              <a:rPr lang="en-US" dirty="0"/>
              <a:t>: Runs only the annotated method within a transactional context.</a:t>
            </a:r>
          </a:p>
          <a:p>
            <a:pPr lvl="1"/>
            <a:r>
              <a:rPr lang="en-US" b="1" dirty="0"/>
              <a:t>Class-level</a:t>
            </a:r>
            <a:r>
              <a:rPr lang="en-US" dirty="0"/>
              <a:t>: Runs all public methods within the class in a transactional context.</a:t>
            </a:r>
          </a:p>
          <a:p>
            <a:r>
              <a:rPr lang="en-US" dirty="0"/>
              <a:t>You can customize @Transactional to control aspects of transaction behavior:	</a:t>
            </a:r>
          </a:p>
          <a:p>
            <a:pPr lvl="1"/>
            <a:r>
              <a:rPr lang="en-US" b="1" dirty="0"/>
              <a:t>Propagation</a:t>
            </a:r>
            <a:r>
              <a:rPr lang="en-US" dirty="0"/>
              <a:t>: Defines how transactions behave when a method calls another transactional method. The propagation attribute supports values such as REQUIRED, REQUIRES_NEW, and NESTED.</a:t>
            </a:r>
          </a:p>
          <a:p>
            <a:pPr lvl="1"/>
            <a:r>
              <a:rPr lang="en-US" b="1" dirty="0"/>
              <a:t>Isolation Level</a:t>
            </a:r>
            <a:r>
              <a:rPr lang="en-US" dirty="0"/>
              <a:t>: Sets how isolated a transaction is from other concurrent transactions. The isolation attribute supports values such as READ_COMMITTED, REPEATABLE_READ, and SERIALIZABLE.</a:t>
            </a:r>
          </a:p>
          <a:p>
            <a:pPr lvl="1"/>
            <a:r>
              <a:rPr lang="en-US" b="1" dirty="0"/>
              <a:t>Rollback Rules</a:t>
            </a:r>
            <a:r>
              <a:rPr lang="en-US" dirty="0"/>
              <a:t>: Define the conditions under which the system rolls back a transaction. The </a:t>
            </a:r>
            <a:r>
              <a:rPr lang="en-US" dirty="0" err="1"/>
              <a:t>rollbackFor</a:t>
            </a:r>
            <a:r>
              <a:rPr lang="en-US" dirty="0"/>
              <a:t> and </a:t>
            </a:r>
            <a:r>
              <a:rPr lang="en-US" dirty="0" err="1"/>
              <a:t>noRollbackFor</a:t>
            </a:r>
            <a:r>
              <a:rPr lang="en-US" dirty="0"/>
              <a:t> attributes specify which exception types trigger or skip a rollback.</a:t>
            </a:r>
          </a:p>
          <a:p>
            <a:endParaRPr lang="en-US" dirty="0"/>
          </a:p>
        </p:txBody>
      </p:sp>
    </p:spTree>
    <p:extLst>
      <p:ext uri="{BB962C8B-B14F-4D97-AF65-F5344CB8AC3E}">
        <p14:creationId xmlns:p14="http://schemas.microsoft.com/office/powerpoint/2010/main" val="107184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4A4F0-B0B2-4F3B-3F8D-333D7117DEA6}"/>
              </a:ext>
            </a:extLst>
          </p:cNvPr>
          <p:cNvSpPr>
            <a:spLocks noGrp="1"/>
          </p:cNvSpPr>
          <p:nvPr>
            <p:ph type="title"/>
          </p:nvPr>
        </p:nvSpPr>
        <p:spPr/>
        <p:txBody>
          <a:bodyPr/>
          <a:lstStyle/>
          <a:p>
            <a:r>
              <a:rPr lang="en-US" dirty="0"/>
              <a:t>@transactional propagation strategies</a:t>
            </a:r>
          </a:p>
        </p:txBody>
      </p:sp>
      <p:sp>
        <p:nvSpPr>
          <p:cNvPr id="3" name="Content Placeholder 2">
            <a:extLst>
              <a:ext uri="{FF2B5EF4-FFF2-40B4-BE49-F238E27FC236}">
                <a16:creationId xmlns:a16="http://schemas.microsoft.com/office/drawing/2014/main" id="{3CC720DC-15C9-FD58-A4F3-AFF5BBEB7DC5}"/>
              </a:ext>
            </a:extLst>
          </p:cNvPr>
          <p:cNvSpPr>
            <a:spLocks noGrp="1"/>
          </p:cNvSpPr>
          <p:nvPr>
            <p:ph idx="1"/>
          </p:nvPr>
        </p:nvSpPr>
        <p:spPr>
          <a:xfrm>
            <a:off x="581192" y="2180496"/>
            <a:ext cx="11029615" cy="2961549"/>
          </a:xfrm>
        </p:spPr>
        <p:txBody>
          <a:bodyPr>
            <a:normAutofit fontScale="92500" lnSpcReduction="20000"/>
          </a:bodyPr>
          <a:lstStyle/>
          <a:p>
            <a:pPr lvl="0"/>
            <a:r>
              <a:rPr lang="en-US" b="1" dirty="0"/>
              <a:t>REQUIRED</a:t>
            </a:r>
            <a:r>
              <a:rPr lang="en-US" dirty="0"/>
              <a:t> – Joins an active transaction if one exists, otherwise starts a new one. </a:t>
            </a:r>
            <a:r>
              <a:rPr lang="en-US" i="1" dirty="0"/>
              <a:t>(Default behavior)</a:t>
            </a:r>
            <a:endParaRPr lang="en-US" dirty="0"/>
          </a:p>
          <a:p>
            <a:pPr lvl="0"/>
            <a:r>
              <a:rPr lang="en-US" b="1" dirty="0"/>
              <a:t>SUPPORTS</a:t>
            </a:r>
            <a:r>
              <a:rPr lang="en-US" dirty="0"/>
              <a:t> – Joins an active transaction if one exists; runs without a transaction otherwise.</a:t>
            </a:r>
          </a:p>
          <a:p>
            <a:pPr lvl="0"/>
            <a:r>
              <a:rPr lang="en-US" b="1" dirty="0"/>
              <a:t>MANDATORY</a:t>
            </a:r>
            <a:r>
              <a:rPr lang="en-US" dirty="0"/>
              <a:t> – Joins an active transaction if one exists; throws an exception if there is none.</a:t>
            </a:r>
          </a:p>
          <a:p>
            <a:pPr lvl="0"/>
            <a:r>
              <a:rPr lang="en-US" b="1" dirty="0"/>
              <a:t>NEVER</a:t>
            </a:r>
            <a:r>
              <a:rPr lang="en-US" dirty="0"/>
              <a:t> – Throws an exception if an active transaction exists.</a:t>
            </a:r>
          </a:p>
          <a:p>
            <a:pPr lvl="0"/>
            <a:r>
              <a:rPr lang="en-US" b="1" dirty="0"/>
              <a:t>NOT_SUPPORTED</a:t>
            </a:r>
            <a:r>
              <a:rPr lang="en-US" dirty="0"/>
              <a:t> – Pauses any active transaction and runs without a transactional context.</a:t>
            </a:r>
          </a:p>
          <a:p>
            <a:pPr lvl="0"/>
            <a:r>
              <a:rPr lang="en-US" b="1" dirty="0"/>
              <a:t>REQUIRES_NEW</a:t>
            </a:r>
            <a:r>
              <a:rPr lang="en-US" dirty="0"/>
              <a:t> – Always starts a new transaction. If an active transaction exists, Spring suspends it until this method completes.</a:t>
            </a:r>
          </a:p>
          <a:p>
            <a:pPr lvl="0"/>
            <a:r>
              <a:rPr lang="en-US" b="1" dirty="0"/>
              <a:t>NESTED</a:t>
            </a:r>
            <a:r>
              <a:rPr lang="en-US" dirty="0"/>
              <a:t> – Starts a new transaction if none exists. If one exists, Spring creates a </a:t>
            </a:r>
            <a:r>
              <a:rPr lang="en-US" dirty="0" err="1"/>
              <a:t>savepoint</a:t>
            </a:r>
            <a:r>
              <a:rPr lang="en-US" dirty="0"/>
              <a:t> and can roll back to that </a:t>
            </a:r>
            <a:r>
              <a:rPr lang="en-US" dirty="0" err="1"/>
              <a:t>savepoint</a:t>
            </a:r>
            <a:r>
              <a:rPr lang="en-US" dirty="0"/>
              <a:t> if an exception occurs.</a:t>
            </a:r>
          </a:p>
          <a:p>
            <a:endParaRPr lang="en-US" dirty="0"/>
          </a:p>
        </p:txBody>
      </p:sp>
      <p:sp>
        <p:nvSpPr>
          <p:cNvPr id="5" name="TextBox 4">
            <a:extLst>
              <a:ext uri="{FF2B5EF4-FFF2-40B4-BE49-F238E27FC236}">
                <a16:creationId xmlns:a16="http://schemas.microsoft.com/office/drawing/2014/main" id="{FB6AC3A0-871B-808A-AF6C-314EAF9DBEE2}"/>
              </a:ext>
            </a:extLst>
          </p:cNvPr>
          <p:cNvSpPr txBox="1"/>
          <p:nvPr/>
        </p:nvSpPr>
        <p:spPr>
          <a:xfrm>
            <a:off x="4388589" y="4839108"/>
            <a:ext cx="6097772" cy="1785104"/>
          </a:xfrm>
          <a:prstGeom prst="rect">
            <a:avLst/>
          </a:prstGeom>
          <a:noFill/>
        </p:spPr>
        <p:txBody>
          <a:bodyPr wrap="square">
            <a:spAutoFit/>
          </a:bodyPr>
          <a:lstStyle/>
          <a:p>
            <a:pPr marL="0" marR="0" indent="0" algn="l" rtl="0" latinLnBrk="0">
              <a:lnSpc>
                <a:spcPct val="100000"/>
              </a:lnSpc>
              <a:spcAft>
                <a:spcPts val="1500"/>
              </a:spcAft>
              <a:buNone/>
            </a:pPr>
            <a:r>
              <a:rPr lang="en-US" sz="1200" b="0" i="0" dirty="0">
                <a:solidFill>
                  <a:schemeClr val="tx1"/>
                </a:solidFill>
                <a:effectLst/>
                <a:latin typeface="+mn-lt"/>
              </a:rPr>
              <a:t>@Transactional(propagation = </a:t>
            </a:r>
            <a:r>
              <a:rPr lang="en-US" sz="1200" b="1" i="0" dirty="0" err="1">
                <a:solidFill>
                  <a:schemeClr val="tx1"/>
                </a:solidFill>
                <a:effectLst/>
                <a:latin typeface="+mn-lt"/>
              </a:rPr>
              <a:t>Propagation</a:t>
            </a:r>
            <a:r>
              <a:rPr lang="en-US" sz="1200" b="0" i="0" dirty="0" err="1">
                <a:solidFill>
                  <a:schemeClr val="tx1"/>
                </a:solidFill>
                <a:effectLst/>
                <a:latin typeface="+mn-lt"/>
              </a:rPr>
              <a:t>.REQUIRES_NEW</a:t>
            </a:r>
            <a:r>
              <a:rPr lang="en-US" sz="1200" b="0" i="0" dirty="0">
                <a:solidFill>
                  <a:schemeClr val="tx1"/>
                </a:solidFill>
                <a:effectLst/>
                <a:latin typeface="+mn-lt"/>
              </a:rPr>
              <a:t>)</a:t>
            </a:r>
          </a:p>
          <a:p>
            <a:pPr marL="0" marR="0" indent="0" algn="l" rtl="0" latinLnBrk="0">
              <a:lnSpc>
                <a:spcPct val="100000"/>
              </a:lnSpc>
              <a:spcAft>
                <a:spcPts val="1500"/>
              </a:spcAft>
              <a:buNone/>
            </a:pPr>
            <a:r>
              <a:rPr lang="en-US" sz="1200" b="0" i="0" dirty="0">
                <a:solidFill>
                  <a:schemeClr val="tx1"/>
                </a:solidFill>
                <a:effectLst/>
                <a:latin typeface="+mn-lt"/>
              </a:rPr>
              <a:t>    </a:t>
            </a:r>
            <a:r>
              <a:rPr lang="en-US" sz="1200" b="1" i="0" dirty="0">
                <a:solidFill>
                  <a:schemeClr val="tx1"/>
                </a:solidFill>
                <a:effectLst/>
                <a:latin typeface="+mn-lt"/>
              </a:rPr>
              <a:t>public</a:t>
            </a:r>
            <a:r>
              <a:rPr lang="en-US" sz="1200" b="0" i="0" dirty="0">
                <a:solidFill>
                  <a:schemeClr val="tx1"/>
                </a:solidFill>
                <a:effectLst/>
                <a:latin typeface="+mn-lt"/>
              </a:rPr>
              <a:t> </a:t>
            </a:r>
            <a:r>
              <a:rPr lang="en-US" sz="1200" b="1" i="0" dirty="0">
                <a:solidFill>
                  <a:schemeClr val="tx1"/>
                </a:solidFill>
                <a:effectLst/>
                <a:latin typeface="+mn-lt"/>
              </a:rPr>
              <a:t>void</a:t>
            </a:r>
            <a:r>
              <a:rPr lang="en-US" sz="1200" b="0" i="0" dirty="0">
                <a:solidFill>
                  <a:schemeClr val="tx1"/>
                </a:solidFill>
                <a:effectLst/>
                <a:latin typeface="+mn-lt"/>
              </a:rPr>
              <a:t> </a:t>
            </a:r>
            <a:r>
              <a:rPr lang="en-US" sz="1200" b="1" i="0" dirty="0" err="1">
                <a:solidFill>
                  <a:schemeClr val="tx1"/>
                </a:solidFill>
                <a:effectLst/>
                <a:latin typeface="+mn-lt"/>
              </a:rPr>
              <a:t>updateAssociateNameTransaction</a:t>
            </a:r>
            <a:r>
              <a:rPr lang="en-US" sz="1200" b="0" i="0" dirty="0">
                <a:solidFill>
                  <a:schemeClr val="tx1"/>
                </a:solidFill>
                <a:effectLst/>
                <a:latin typeface="+mn-lt"/>
              </a:rPr>
              <a:t>() {</a:t>
            </a:r>
          </a:p>
          <a:p>
            <a:pPr marL="0" marR="0" indent="0" algn="l" rtl="0" latinLnBrk="0">
              <a:lnSpc>
                <a:spcPct val="100000"/>
              </a:lnSpc>
              <a:spcAft>
                <a:spcPts val="1500"/>
              </a:spcAft>
              <a:buNone/>
            </a:pPr>
            <a:r>
              <a:rPr lang="en-US" sz="1200" b="0" i="0" dirty="0">
                <a:solidFill>
                  <a:schemeClr val="tx1"/>
                </a:solidFill>
                <a:effectLst/>
                <a:latin typeface="+mn-lt"/>
              </a:rPr>
              <a:t>        </a:t>
            </a:r>
            <a:r>
              <a:rPr lang="en-US" sz="1200" b="1" i="0" dirty="0">
                <a:solidFill>
                  <a:schemeClr val="tx1"/>
                </a:solidFill>
                <a:effectLst/>
                <a:latin typeface="+mn-lt"/>
              </a:rPr>
              <a:t>Associate</a:t>
            </a:r>
            <a:r>
              <a:rPr lang="en-US" sz="1200" b="0" i="0" dirty="0">
                <a:solidFill>
                  <a:schemeClr val="tx1"/>
                </a:solidFill>
                <a:effectLst/>
                <a:latin typeface="+mn-lt"/>
              </a:rPr>
              <a:t> </a:t>
            </a:r>
            <a:r>
              <a:rPr lang="en-US" sz="1200" b="0" i="0" dirty="0" err="1">
                <a:solidFill>
                  <a:schemeClr val="tx1"/>
                </a:solidFill>
                <a:effectLst/>
                <a:latin typeface="+mn-lt"/>
              </a:rPr>
              <a:t>associate</a:t>
            </a:r>
            <a:r>
              <a:rPr lang="en-US" sz="1200" b="0" i="0" dirty="0">
                <a:solidFill>
                  <a:schemeClr val="tx1"/>
                </a:solidFill>
                <a:effectLst/>
                <a:latin typeface="+mn-lt"/>
              </a:rPr>
              <a:t> = </a:t>
            </a:r>
            <a:r>
              <a:rPr lang="en-US" sz="1200" b="0" i="0" dirty="0" err="1">
                <a:solidFill>
                  <a:schemeClr val="tx1"/>
                </a:solidFill>
                <a:effectLst/>
                <a:latin typeface="+mn-lt"/>
              </a:rPr>
              <a:t>associateRepository.</a:t>
            </a:r>
            <a:r>
              <a:rPr lang="en-US" sz="1200" b="1" i="0" dirty="0" err="1">
                <a:solidFill>
                  <a:schemeClr val="tx1"/>
                </a:solidFill>
                <a:effectLst/>
                <a:latin typeface="+mn-lt"/>
              </a:rPr>
              <a:t>findById</a:t>
            </a:r>
            <a:r>
              <a:rPr lang="en-US" sz="1200" b="0" i="0" dirty="0">
                <a:solidFill>
                  <a:schemeClr val="tx1"/>
                </a:solidFill>
                <a:effectLst/>
                <a:latin typeface="+mn-lt"/>
              </a:rPr>
              <a:t>(10).</a:t>
            </a:r>
            <a:r>
              <a:rPr lang="en-US" sz="1200" b="1" i="0" dirty="0">
                <a:solidFill>
                  <a:schemeClr val="tx1"/>
                </a:solidFill>
                <a:effectLst/>
                <a:latin typeface="+mn-lt"/>
              </a:rPr>
              <a:t>get</a:t>
            </a:r>
            <a:r>
              <a:rPr lang="en-US" sz="1200" b="0" i="0" dirty="0">
                <a:solidFill>
                  <a:schemeClr val="tx1"/>
                </a:solidFill>
                <a:effectLst/>
                <a:latin typeface="+mn-lt"/>
              </a:rPr>
              <a:t>();</a:t>
            </a:r>
          </a:p>
          <a:p>
            <a:pPr marL="0" marR="0" indent="0" algn="l" rtl="0" latinLnBrk="0">
              <a:lnSpc>
                <a:spcPct val="100000"/>
              </a:lnSpc>
              <a:spcAft>
                <a:spcPts val="1500"/>
              </a:spcAft>
              <a:buNone/>
            </a:pPr>
            <a:r>
              <a:rPr lang="en-US" sz="1200" b="0" i="0" dirty="0">
                <a:solidFill>
                  <a:schemeClr val="tx1"/>
                </a:solidFill>
                <a:effectLst/>
                <a:latin typeface="+mn-lt"/>
              </a:rPr>
              <a:t>        </a:t>
            </a:r>
            <a:r>
              <a:rPr lang="en-US" sz="1200" b="0" i="0" dirty="0" err="1">
                <a:solidFill>
                  <a:schemeClr val="tx1"/>
                </a:solidFill>
                <a:effectLst/>
                <a:latin typeface="+mn-lt"/>
              </a:rPr>
              <a:t>associate.</a:t>
            </a:r>
            <a:r>
              <a:rPr lang="en-US" sz="1200" b="1" i="0" dirty="0" err="1">
                <a:solidFill>
                  <a:schemeClr val="tx1"/>
                </a:solidFill>
                <a:effectLst/>
                <a:latin typeface="+mn-lt"/>
              </a:rPr>
              <a:t>setName</a:t>
            </a:r>
            <a:r>
              <a:rPr lang="en-US" sz="1200" b="0" i="0" dirty="0">
                <a:solidFill>
                  <a:schemeClr val="tx1"/>
                </a:solidFill>
                <a:effectLst/>
                <a:latin typeface="+mn-lt"/>
              </a:rPr>
              <a:t>("name");</a:t>
            </a:r>
          </a:p>
          <a:p>
            <a:pPr indent="0" algn="l" rtl="0">
              <a:lnSpc>
                <a:spcPct val="100000"/>
              </a:lnSpc>
              <a:spcAft>
                <a:spcPts val="1500"/>
              </a:spcAft>
              <a:buNone/>
            </a:pPr>
            <a:r>
              <a:rPr lang="en-US" sz="1200" b="0" i="0" dirty="0">
                <a:solidFill>
                  <a:schemeClr val="tx1"/>
                </a:solidFill>
                <a:effectLst/>
                <a:latin typeface="+mn-lt"/>
              </a:rPr>
              <a:t>    }</a:t>
            </a:r>
            <a:endParaRPr lang="en-US" sz="700" b="0" i="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3911263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BC83D-F4F0-784D-53F9-B7B772EE6819}"/>
              </a:ext>
            </a:extLst>
          </p:cNvPr>
          <p:cNvSpPr>
            <a:spLocks noGrp="1"/>
          </p:cNvSpPr>
          <p:nvPr>
            <p:ph type="title"/>
          </p:nvPr>
        </p:nvSpPr>
        <p:spPr/>
        <p:txBody>
          <a:bodyPr/>
          <a:lstStyle/>
          <a:p>
            <a:r>
              <a:rPr lang="en-US" dirty="0"/>
              <a:t>@transactional </a:t>
            </a:r>
          </a:p>
        </p:txBody>
      </p:sp>
      <p:sp>
        <p:nvSpPr>
          <p:cNvPr id="3" name="Content Placeholder 2">
            <a:extLst>
              <a:ext uri="{FF2B5EF4-FFF2-40B4-BE49-F238E27FC236}">
                <a16:creationId xmlns:a16="http://schemas.microsoft.com/office/drawing/2014/main" id="{687B032A-DF8B-36F1-5D06-14AA2E7EA7D3}"/>
              </a:ext>
            </a:extLst>
          </p:cNvPr>
          <p:cNvSpPr>
            <a:spLocks noGrp="1"/>
          </p:cNvSpPr>
          <p:nvPr>
            <p:ph idx="1"/>
          </p:nvPr>
        </p:nvSpPr>
        <p:spPr>
          <a:xfrm>
            <a:off x="581192" y="2180496"/>
            <a:ext cx="5072361" cy="3678303"/>
          </a:xfrm>
        </p:spPr>
        <p:txBody>
          <a:bodyPr/>
          <a:lstStyle/>
          <a:p>
            <a:r>
              <a:rPr lang="en-US" dirty="0"/>
              <a:t>As you’ve seen, there are many options for @Transactional</a:t>
            </a:r>
          </a:p>
          <a:p>
            <a:r>
              <a:rPr lang="en-US" dirty="0"/>
              <a:t>We don’t commonly need all these options</a:t>
            </a:r>
          </a:p>
          <a:p>
            <a:r>
              <a:rPr lang="en-US" dirty="0"/>
              <a:t>It’s more common to just use ‘</a:t>
            </a:r>
            <a:r>
              <a:rPr lang="en-US" dirty="0" err="1"/>
              <a:t>readOnly</a:t>
            </a:r>
            <a:r>
              <a:rPr lang="en-US" dirty="0"/>
              <a:t>’</a:t>
            </a:r>
          </a:p>
          <a:p>
            <a:r>
              <a:rPr lang="en-US" dirty="0"/>
              <a:t>This disallows create, update, or delete operations and improves the performance of read-only transactions </a:t>
            </a:r>
          </a:p>
        </p:txBody>
      </p:sp>
      <p:pic>
        <p:nvPicPr>
          <p:cNvPr id="5" name="Picture 4">
            <a:extLst>
              <a:ext uri="{FF2B5EF4-FFF2-40B4-BE49-F238E27FC236}">
                <a16:creationId xmlns:a16="http://schemas.microsoft.com/office/drawing/2014/main" id="{A1E5825A-C3BA-AF9B-F3E3-738D01551826}"/>
              </a:ext>
            </a:extLst>
          </p:cNvPr>
          <p:cNvPicPr>
            <a:picLocks noChangeAspect="1"/>
          </p:cNvPicPr>
          <p:nvPr/>
        </p:nvPicPr>
        <p:blipFill>
          <a:blip r:embed="rId2"/>
          <a:stretch>
            <a:fillRect/>
          </a:stretch>
        </p:blipFill>
        <p:spPr>
          <a:xfrm>
            <a:off x="6096000" y="2706316"/>
            <a:ext cx="5072360" cy="2907933"/>
          </a:xfrm>
          <a:prstGeom prst="rect">
            <a:avLst/>
          </a:prstGeom>
        </p:spPr>
      </p:pic>
    </p:spTree>
    <p:extLst>
      <p:ext uri="{BB962C8B-B14F-4D97-AF65-F5344CB8AC3E}">
        <p14:creationId xmlns:p14="http://schemas.microsoft.com/office/powerpoint/2010/main" val="4270507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CB1D-38E9-88B1-4DE6-3E50454DB880}"/>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CF5BF0EC-9B89-4A87-A203-4B32191C1C9C}"/>
              </a:ext>
            </a:extLst>
          </p:cNvPr>
          <p:cNvSpPr>
            <a:spLocks noGrp="1"/>
          </p:cNvSpPr>
          <p:nvPr>
            <p:ph idx="1"/>
          </p:nvPr>
        </p:nvSpPr>
        <p:spPr/>
        <p:txBody>
          <a:bodyPr/>
          <a:lstStyle/>
          <a:p>
            <a:r>
              <a:rPr lang="en-US" dirty="0"/>
              <a:t>Let’s put theory into practice with a code-along</a:t>
            </a:r>
          </a:p>
          <a:p>
            <a:r>
              <a:rPr lang="en-US" dirty="0"/>
              <a:t>Please see the completed CRUD app “</a:t>
            </a:r>
            <a:r>
              <a:rPr lang="en-US" dirty="0" err="1"/>
              <a:t>EntityMangerApp</a:t>
            </a:r>
            <a:r>
              <a:rPr lang="en-US" dirty="0"/>
              <a:t>” with code comments in your course materials</a:t>
            </a:r>
          </a:p>
          <a:p>
            <a:r>
              <a:rPr lang="en-US" dirty="0"/>
              <a:t>We will stick with </a:t>
            </a:r>
            <a:r>
              <a:rPr lang="en-US" dirty="0" err="1"/>
              <a:t>EntityManager</a:t>
            </a:r>
            <a:r>
              <a:rPr lang="en-US" dirty="0"/>
              <a:t> for now, and later create other files in our DAO layer that uses </a:t>
            </a:r>
            <a:r>
              <a:rPr lang="en-US" dirty="0" err="1"/>
              <a:t>JpaRepository</a:t>
            </a:r>
            <a:endParaRPr lang="en-US" dirty="0"/>
          </a:p>
        </p:txBody>
      </p:sp>
    </p:spTree>
    <p:extLst>
      <p:ext uri="{BB962C8B-B14F-4D97-AF65-F5344CB8AC3E}">
        <p14:creationId xmlns:p14="http://schemas.microsoft.com/office/powerpoint/2010/main" val="4118949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23F1-3303-6F80-4FD5-4F2307C7F8F9}"/>
              </a:ext>
            </a:extLst>
          </p:cNvPr>
          <p:cNvSpPr>
            <a:spLocks noGrp="1"/>
          </p:cNvSpPr>
          <p:nvPr>
            <p:ph type="title"/>
          </p:nvPr>
        </p:nvSpPr>
        <p:spPr/>
        <p:txBody>
          <a:bodyPr/>
          <a:lstStyle/>
          <a:p>
            <a:r>
              <a:rPr lang="en-US" dirty="0"/>
              <a:t>Mapping JPA relationships</a:t>
            </a:r>
          </a:p>
        </p:txBody>
      </p:sp>
      <p:sp>
        <p:nvSpPr>
          <p:cNvPr id="3" name="Content Placeholder 2">
            <a:extLst>
              <a:ext uri="{FF2B5EF4-FFF2-40B4-BE49-F238E27FC236}">
                <a16:creationId xmlns:a16="http://schemas.microsoft.com/office/drawing/2014/main" id="{DFF75D48-3B9B-B113-A355-D8A96EB2273F}"/>
              </a:ext>
            </a:extLst>
          </p:cNvPr>
          <p:cNvSpPr>
            <a:spLocks noGrp="1"/>
          </p:cNvSpPr>
          <p:nvPr>
            <p:ph idx="1"/>
          </p:nvPr>
        </p:nvSpPr>
        <p:spPr/>
        <p:txBody>
          <a:bodyPr/>
          <a:lstStyle/>
          <a:p>
            <a:pPr lvl="0"/>
            <a:r>
              <a:rPr lang="en-US" dirty="0"/>
              <a:t>We supply these on @Entity fields to map relationships between entities</a:t>
            </a:r>
          </a:p>
          <a:p>
            <a:pPr lvl="0"/>
            <a:r>
              <a:rPr lang="en-US" dirty="0"/>
              <a:t>@OneToOne</a:t>
            </a:r>
          </a:p>
          <a:p>
            <a:pPr lvl="0"/>
            <a:r>
              <a:rPr lang="en-US" dirty="0"/>
              <a:t>@OneToMany</a:t>
            </a:r>
          </a:p>
          <a:p>
            <a:pPr lvl="0"/>
            <a:r>
              <a:rPr lang="en-US" dirty="0"/>
              <a:t>@ManyToOne</a:t>
            </a:r>
          </a:p>
          <a:p>
            <a:pPr lvl="0"/>
            <a:r>
              <a:rPr lang="en-US" dirty="0"/>
              <a:t>@ManyToMany</a:t>
            </a:r>
          </a:p>
        </p:txBody>
      </p:sp>
    </p:spTree>
    <p:extLst>
      <p:ext uri="{BB962C8B-B14F-4D97-AF65-F5344CB8AC3E}">
        <p14:creationId xmlns:p14="http://schemas.microsoft.com/office/powerpoint/2010/main" val="372066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6FF78-2086-074E-7655-10C6D953A8B4}"/>
              </a:ext>
            </a:extLst>
          </p:cNvPr>
          <p:cNvSpPr>
            <a:spLocks noGrp="1"/>
          </p:cNvSpPr>
          <p:nvPr>
            <p:ph type="title"/>
          </p:nvPr>
        </p:nvSpPr>
        <p:spPr/>
        <p:txBody>
          <a:bodyPr/>
          <a:lstStyle/>
          <a:p>
            <a:r>
              <a:rPr lang="en-US" dirty="0"/>
              <a:t>1-n relationship</a:t>
            </a:r>
          </a:p>
        </p:txBody>
      </p:sp>
      <p:sp>
        <p:nvSpPr>
          <p:cNvPr id="3" name="Content Placeholder 2">
            <a:extLst>
              <a:ext uri="{FF2B5EF4-FFF2-40B4-BE49-F238E27FC236}">
                <a16:creationId xmlns:a16="http://schemas.microsoft.com/office/drawing/2014/main" id="{8A577275-0D72-7CAF-63A5-BF79F99722B0}"/>
              </a:ext>
            </a:extLst>
          </p:cNvPr>
          <p:cNvSpPr>
            <a:spLocks noGrp="1"/>
          </p:cNvSpPr>
          <p:nvPr>
            <p:ph idx="1"/>
          </p:nvPr>
        </p:nvSpPr>
        <p:spPr>
          <a:xfrm>
            <a:off x="581192" y="2180496"/>
            <a:ext cx="11029615" cy="1976834"/>
          </a:xfrm>
        </p:spPr>
        <p:txBody>
          <a:bodyPr>
            <a:normAutofit/>
          </a:bodyPr>
          <a:lstStyle/>
          <a:p>
            <a:r>
              <a:rPr lang="en-US" dirty="0" err="1"/>
              <a:t>mappedBy</a:t>
            </a:r>
            <a:r>
              <a:rPr lang="en-US" dirty="0"/>
              <a:t> – allows us to use dot notation to reach a student’s school. E.g. </a:t>
            </a:r>
            <a:r>
              <a:rPr lang="en-US" dirty="0" err="1"/>
              <a:t>someStudent.school</a:t>
            </a:r>
            <a:r>
              <a:rPr lang="en-US" dirty="0"/>
              <a:t> </a:t>
            </a:r>
          </a:p>
          <a:p>
            <a:r>
              <a:rPr lang="en-US" dirty="0"/>
              <a:t>A single school has many students, we don’t necessarily want to load all those into memory when we query a school, so we can fetch it lazily (only when needed/called for)</a:t>
            </a:r>
          </a:p>
          <a:p>
            <a:r>
              <a:rPr lang="en-US" dirty="0"/>
              <a:t>@JoinColumn + name – defines the database field to use to tie the primary key of the other table</a:t>
            </a:r>
          </a:p>
          <a:p>
            <a:r>
              <a:rPr lang="en-US" dirty="0"/>
              <a:t>We initialize @OneToMany collections with </a:t>
            </a:r>
            <a:r>
              <a:rPr lang="en-US" dirty="0" err="1"/>
              <a:t>ArrayList</a:t>
            </a:r>
            <a:r>
              <a:rPr lang="en-US" dirty="0"/>
              <a:t> so that it can never be null (best practice pattern)</a:t>
            </a:r>
          </a:p>
        </p:txBody>
      </p:sp>
      <p:pic>
        <p:nvPicPr>
          <p:cNvPr id="7" name="Picture 6">
            <a:extLst>
              <a:ext uri="{FF2B5EF4-FFF2-40B4-BE49-F238E27FC236}">
                <a16:creationId xmlns:a16="http://schemas.microsoft.com/office/drawing/2014/main" id="{28E61235-8186-CD0F-7D7B-48B9741E6541}"/>
              </a:ext>
            </a:extLst>
          </p:cNvPr>
          <p:cNvPicPr>
            <a:picLocks noChangeAspect="1"/>
          </p:cNvPicPr>
          <p:nvPr/>
        </p:nvPicPr>
        <p:blipFill>
          <a:blip r:embed="rId2"/>
          <a:stretch>
            <a:fillRect/>
          </a:stretch>
        </p:blipFill>
        <p:spPr>
          <a:xfrm>
            <a:off x="7069277" y="4719298"/>
            <a:ext cx="3526607" cy="1059109"/>
          </a:xfrm>
          <a:prstGeom prst="rect">
            <a:avLst/>
          </a:prstGeom>
        </p:spPr>
      </p:pic>
      <p:pic>
        <p:nvPicPr>
          <p:cNvPr id="9" name="Picture 8">
            <a:extLst>
              <a:ext uri="{FF2B5EF4-FFF2-40B4-BE49-F238E27FC236}">
                <a16:creationId xmlns:a16="http://schemas.microsoft.com/office/drawing/2014/main" id="{F4F7ED5A-A402-F945-F7AD-0ECC7A722169}"/>
              </a:ext>
            </a:extLst>
          </p:cNvPr>
          <p:cNvPicPr>
            <a:picLocks noChangeAspect="1"/>
          </p:cNvPicPr>
          <p:nvPr/>
        </p:nvPicPr>
        <p:blipFill>
          <a:blip r:embed="rId3"/>
          <a:stretch>
            <a:fillRect/>
          </a:stretch>
        </p:blipFill>
        <p:spPr>
          <a:xfrm>
            <a:off x="846944" y="4719298"/>
            <a:ext cx="4820323" cy="1771897"/>
          </a:xfrm>
          <a:prstGeom prst="rect">
            <a:avLst/>
          </a:prstGeom>
        </p:spPr>
      </p:pic>
      <p:sp>
        <p:nvSpPr>
          <p:cNvPr id="10" name="TextBox 9">
            <a:extLst>
              <a:ext uri="{FF2B5EF4-FFF2-40B4-BE49-F238E27FC236}">
                <a16:creationId xmlns:a16="http://schemas.microsoft.com/office/drawing/2014/main" id="{D5C0EED5-E212-26E9-E02C-FD81FDD9A71B}"/>
              </a:ext>
            </a:extLst>
          </p:cNvPr>
          <p:cNvSpPr txBox="1"/>
          <p:nvPr/>
        </p:nvSpPr>
        <p:spPr>
          <a:xfrm>
            <a:off x="978195" y="4293995"/>
            <a:ext cx="2008755" cy="369332"/>
          </a:xfrm>
          <a:prstGeom prst="rect">
            <a:avLst/>
          </a:prstGeom>
          <a:noFill/>
        </p:spPr>
        <p:txBody>
          <a:bodyPr wrap="none" rtlCol="0">
            <a:spAutoFit/>
          </a:bodyPr>
          <a:lstStyle/>
          <a:p>
            <a:r>
              <a:rPr lang="en-US" dirty="0"/>
              <a:t>Domain/School.java</a:t>
            </a:r>
          </a:p>
        </p:txBody>
      </p:sp>
      <p:sp>
        <p:nvSpPr>
          <p:cNvPr id="12" name="TextBox 11">
            <a:extLst>
              <a:ext uri="{FF2B5EF4-FFF2-40B4-BE49-F238E27FC236}">
                <a16:creationId xmlns:a16="http://schemas.microsoft.com/office/drawing/2014/main" id="{32BA6FD6-70B6-9366-4EA8-65DACB52D3BB}"/>
              </a:ext>
            </a:extLst>
          </p:cNvPr>
          <p:cNvSpPr txBox="1"/>
          <p:nvPr/>
        </p:nvSpPr>
        <p:spPr>
          <a:xfrm>
            <a:off x="7069277" y="4293995"/>
            <a:ext cx="2100127" cy="369332"/>
          </a:xfrm>
          <a:prstGeom prst="rect">
            <a:avLst/>
          </a:prstGeom>
          <a:noFill/>
        </p:spPr>
        <p:txBody>
          <a:bodyPr wrap="none" rtlCol="0">
            <a:spAutoFit/>
          </a:bodyPr>
          <a:lstStyle/>
          <a:p>
            <a:r>
              <a:rPr lang="en-US" dirty="0"/>
              <a:t>Domain/Student.java</a:t>
            </a:r>
          </a:p>
        </p:txBody>
      </p:sp>
    </p:spTree>
    <p:extLst>
      <p:ext uri="{BB962C8B-B14F-4D97-AF65-F5344CB8AC3E}">
        <p14:creationId xmlns:p14="http://schemas.microsoft.com/office/powerpoint/2010/main" val="1793672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C1BF6-CAFB-5F33-441E-AA6A1EA7C2EC}"/>
              </a:ext>
            </a:extLst>
          </p:cNvPr>
          <p:cNvSpPr>
            <a:spLocks noGrp="1"/>
          </p:cNvSpPr>
          <p:nvPr>
            <p:ph type="title"/>
          </p:nvPr>
        </p:nvSpPr>
        <p:spPr/>
        <p:txBody>
          <a:bodyPr/>
          <a:lstStyle/>
          <a:p>
            <a:r>
              <a:rPr lang="en-US" dirty="0"/>
              <a:t>N-M</a:t>
            </a:r>
          </a:p>
        </p:txBody>
      </p:sp>
      <p:sp>
        <p:nvSpPr>
          <p:cNvPr id="3" name="Content Placeholder 2">
            <a:extLst>
              <a:ext uri="{FF2B5EF4-FFF2-40B4-BE49-F238E27FC236}">
                <a16:creationId xmlns:a16="http://schemas.microsoft.com/office/drawing/2014/main" id="{2BDB8BCD-78A3-F7D1-7E1F-BD5545737778}"/>
              </a:ext>
            </a:extLst>
          </p:cNvPr>
          <p:cNvSpPr>
            <a:spLocks noGrp="1"/>
          </p:cNvSpPr>
          <p:nvPr>
            <p:ph idx="1"/>
          </p:nvPr>
        </p:nvSpPr>
        <p:spPr>
          <a:xfrm>
            <a:off x="581193" y="1953491"/>
            <a:ext cx="11029615" cy="2247764"/>
          </a:xfrm>
        </p:spPr>
        <p:txBody>
          <a:bodyPr>
            <a:normAutofit fontScale="92500"/>
          </a:bodyPr>
          <a:lstStyle/>
          <a:p>
            <a:r>
              <a:rPr lang="en-US" dirty="0"/>
              <a:t>Many to many relationships may certainly be mapped with @ManyToMany</a:t>
            </a:r>
          </a:p>
          <a:p>
            <a:r>
              <a:rPr lang="en-US" dirty="0"/>
              <a:t>This doesn’t allow us to create fields on the underlying junction table however</a:t>
            </a:r>
          </a:p>
          <a:p>
            <a:r>
              <a:rPr lang="en-US" dirty="0"/>
              <a:t>For that reason, it is common to create a domain model for the junction object manually, and then use @ManyToOne and @OneToMany to tie all three tables together!</a:t>
            </a:r>
          </a:p>
          <a:p>
            <a:r>
              <a:rPr lang="en-US" dirty="0" err="1"/>
              <a:t>orphanRemoval</a:t>
            </a:r>
            <a:r>
              <a:rPr lang="en-US" dirty="0"/>
              <a:t> – Remove an enrollment from this collection -&gt; delete it from the database.</a:t>
            </a:r>
          </a:p>
          <a:p>
            <a:r>
              <a:rPr lang="en-US" dirty="0" err="1"/>
              <a:t>CascadeType.ALL</a:t>
            </a:r>
            <a:r>
              <a:rPr lang="en-US" dirty="0"/>
              <a:t> – if we add or remove an enrollment, then the change is also saved to the </a:t>
            </a:r>
            <a:r>
              <a:rPr lang="en-US" dirty="0" err="1"/>
              <a:t>db</a:t>
            </a:r>
            <a:r>
              <a:rPr lang="en-US" dirty="0"/>
              <a:t> for the parent record</a:t>
            </a:r>
          </a:p>
        </p:txBody>
      </p:sp>
      <p:pic>
        <p:nvPicPr>
          <p:cNvPr id="5" name="Picture 4">
            <a:extLst>
              <a:ext uri="{FF2B5EF4-FFF2-40B4-BE49-F238E27FC236}">
                <a16:creationId xmlns:a16="http://schemas.microsoft.com/office/drawing/2014/main" id="{B612311E-02ED-CEB0-DF23-5D078010398C}"/>
              </a:ext>
            </a:extLst>
          </p:cNvPr>
          <p:cNvPicPr>
            <a:picLocks noChangeAspect="1"/>
          </p:cNvPicPr>
          <p:nvPr/>
        </p:nvPicPr>
        <p:blipFill>
          <a:blip r:embed="rId2"/>
          <a:stretch>
            <a:fillRect/>
          </a:stretch>
        </p:blipFill>
        <p:spPr>
          <a:xfrm>
            <a:off x="415934" y="4904509"/>
            <a:ext cx="3730780" cy="1348317"/>
          </a:xfrm>
          <a:prstGeom prst="rect">
            <a:avLst/>
          </a:prstGeom>
        </p:spPr>
      </p:pic>
      <p:pic>
        <p:nvPicPr>
          <p:cNvPr id="7" name="Picture 6">
            <a:extLst>
              <a:ext uri="{FF2B5EF4-FFF2-40B4-BE49-F238E27FC236}">
                <a16:creationId xmlns:a16="http://schemas.microsoft.com/office/drawing/2014/main" id="{D09E6DDF-BD63-95D5-C383-61FDBCFCAB63}"/>
              </a:ext>
            </a:extLst>
          </p:cNvPr>
          <p:cNvPicPr>
            <a:picLocks noChangeAspect="1"/>
          </p:cNvPicPr>
          <p:nvPr/>
        </p:nvPicPr>
        <p:blipFill>
          <a:blip r:embed="rId3"/>
          <a:stretch>
            <a:fillRect/>
          </a:stretch>
        </p:blipFill>
        <p:spPr>
          <a:xfrm>
            <a:off x="4370089" y="4753773"/>
            <a:ext cx="3126926" cy="1596035"/>
          </a:xfrm>
          <a:prstGeom prst="rect">
            <a:avLst/>
          </a:prstGeom>
        </p:spPr>
      </p:pic>
      <p:pic>
        <p:nvPicPr>
          <p:cNvPr id="9" name="Picture 8">
            <a:extLst>
              <a:ext uri="{FF2B5EF4-FFF2-40B4-BE49-F238E27FC236}">
                <a16:creationId xmlns:a16="http://schemas.microsoft.com/office/drawing/2014/main" id="{6DEEA643-34CB-2A26-12E6-E38655BC4A21}"/>
              </a:ext>
            </a:extLst>
          </p:cNvPr>
          <p:cNvPicPr>
            <a:picLocks noChangeAspect="1"/>
          </p:cNvPicPr>
          <p:nvPr/>
        </p:nvPicPr>
        <p:blipFill>
          <a:blip r:embed="rId4"/>
          <a:stretch>
            <a:fillRect/>
          </a:stretch>
        </p:blipFill>
        <p:spPr>
          <a:xfrm>
            <a:off x="7821912" y="4904509"/>
            <a:ext cx="4095968" cy="1348317"/>
          </a:xfrm>
          <a:prstGeom prst="rect">
            <a:avLst/>
          </a:prstGeom>
        </p:spPr>
      </p:pic>
      <p:sp>
        <p:nvSpPr>
          <p:cNvPr id="11" name="TextBox 10">
            <a:extLst>
              <a:ext uri="{FF2B5EF4-FFF2-40B4-BE49-F238E27FC236}">
                <a16:creationId xmlns:a16="http://schemas.microsoft.com/office/drawing/2014/main" id="{E0EF4441-6DF4-BEE9-9701-74374EB1A6F7}"/>
              </a:ext>
            </a:extLst>
          </p:cNvPr>
          <p:cNvSpPr txBox="1"/>
          <p:nvPr/>
        </p:nvSpPr>
        <p:spPr>
          <a:xfrm>
            <a:off x="7821912" y="4319672"/>
            <a:ext cx="2100127" cy="369332"/>
          </a:xfrm>
          <a:prstGeom prst="rect">
            <a:avLst/>
          </a:prstGeom>
          <a:noFill/>
        </p:spPr>
        <p:txBody>
          <a:bodyPr wrap="none" rtlCol="0">
            <a:spAutoFit/>
          </a:bodyPr>
          <a:lstStyle/>
          <a:p>
            <a:r>
              <a:rPr lang="en-US" dirty="0"/>
              <a:t>Domain/Student.java</a:t>
            </a:r>
          </a:p>
        </p:txBody>
      </p:sp>
      <p:sp>
        <p:nvSpPr>
          <p:cNvPr id="13" name="TextBox 12">
            <a:extLst>
              <a:ext uri="{FF2B5EF4-FFF2-40B4-BE49-F238E27FC236}">
                <a16:creationId xmlns:a16="http://schemas.microsoft.com/office/drawing/2014/main" id="{8BF60BFB-7D28-55C0-7C23-F83F7D0698AF}"/>
              </a:ext>
            </a:extLst>
          </p:cNvPr>
          <p:cNvSpPr txBox="1"/>
          <p:nvPr/>
        </p:nvSpPr>
        <p:spPr>
          <a:xfrm>
            <a:off x="416996" y="4266024"/>
            <a:ext cx="2082301" cy="369332"/>
          </a:xfrm>
          <a:prstGeom prst="rect">
            <a:avLst/>
          </a:prstGeom>
          <a:noFill/>
        </p:spPr>
        <p:txBody>
          <a:bodyPr wrap="none" rtlCol="0">
            <a:spAutoFit/>
          </a:bodyPr>
          <a:lstStyle/>
          <a:p>
            <a:r>
              <a:rPr lang="en-US" dirty="0"/>
              <a:t>Domain/Course.java</a:t>
            </a:r>
          </a:p>
        </p:txBody>
      </p:sp>
      <p:sp>
        <p:nvSpPr>
          <p:cNvPr id="15" name="TextBox 14">
            <a:extLst>
              <a:ext uri="{FF2B5EF4-FFF2-40B4-BE49-F238E27FC236}">
                <a16:creationId xmlns:a16="http://schemas.microsoft.com/office/drawing/2014/main" id="{7DDE4BFF-6CA1-7C4E-507D-EF5EB3FF3069}"/>
              </a:ext>
            </a:extLst>
          </p:cNvPr>
          <p:cNvSpPr txBox="1"/>
          <p:nvPr/>
        </p:nvSpPr>
        <p:spPr>
          <a:xfrm>
            <a:off x="4370089" y="4319672"/>
            <a:ext cx="2408544" cy="369332"/>
          </a:xfrm>
          <a:prstGeom prst="rect">
            <a:avLst/>
          </a:prstGeom>
          <a:noFill/>
        </p:spPr>
        <p:txBody>
          <a:bodyPr wrap="none" rtlCol="0">
            <a:spAutoFit/>
          </a:bodyPr>
          <a:lstStyle/>
          <a:p>
            <a:r>
              <a:rPr lang="en-US" dirty="0"/>
              <a:t>Domain/Enrollment.java</a:t>
            </a:r>
          </a:p>
        </p:txBody>
      </p:sp>
    </p:spTree>
    <p:extLst>
      <p:ext uri="{BB962C8B-B14F-4D97-AF65-F5344CB8AC3E}">
        <p14:creationId xmlns:p14="http://schemas.microsoft.com/office/powerpoint/2010/main" val="92855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BC21E-30C8-BA69-3B69-F12F236BBB5C}"/>
              </a:ext>
            </a:extLst>
          </p:cNvPr>
          <p:cNvSpPr>
            <a:spLocks noGrp="1"/>
          </p:cNvSpPr>
          <p:nvPr>
            <p:ph type="title"/>
          </p:nvPr>
        </p:nvSpPr>
        <p:spPr/>
        <p:txBody>
          <a:bodyPr/>
          <a:lstStyle/>
          <a:p>
            <a:r>
              <a:rPr lang="en-US" dirty="0"/>
              <a:t>Using </a:t>
            </a:r>
            <a:r>
              <a:rPr lang="en-US" dirty="0" err="1"/>
              <a:t>entitymanager</a:t>
            </a:r>
            <a:r>
              <a:rPr lang="en-US" dirty="0"/>
              <a:t> to traverse relationships</a:t>
            </a:r>
          </a:p>
        </p:txBody>
      </p:sp>
      <p:pic>
        <p:nvPicPr>
          <p:cNvPr id="5" name="Picture 4">
            <a:extLst>
              <a:ext uri="{FF2B5EF4-FFF2-40B4-BE49-F238E27FC236}">
                <a16:creationId xmlns:a16="http://schemas.microsoft.com/office/drawing/2014/main" id="{8D45A9C3-052E-607A-0E70-86FCE65A2488}"/>
              </a:ext>
            </a:extLst>
          </p:cNvPr>
          <p:cNvPicPr>
            <a:picLocks noChangeAspect="1"/>
          </p:cNvPicPr>
          <p:nvPr/>
        </p:nvPicPr>
        <p:blipFill>
          <a:blip r:embed="rId2"/>
          <a:stretch>
            <a:fillRect/>
          </a:stretch>
        </p:blipFill>
        <p:spPr>
          <a:xfrm>
            <a:off x="5787656" y="2905335"/>
            <a:ext cx="5628222" cy="2536993"/>
          </a:xfrm>
          <a:prstGeom prst="rect">
            <a:avLst/>
          </a:prstGeom>
        </p:spPr>
      </p:pic>
      <p:sp>
        <p:nvSpPr>
          <p:cNvPr id="6" name="TextBox 5">
            <a:extLst>
              <a:ext uri="{FF2B5EF4-FFF2-40B4-BE49-F238E27FC236}">
                <a16:creationId xmlns:a16="http://schemas.microsoft.com/office/drawing/2014/main" id="{65CDB6C4-71F8-7D34-4062-F7C921D04E96}"/>
              </a:ext>
            </a:extLst>
          </p:cNvPr>
          <p:cNvSpPr txBox="1"/>
          <p:nvPr/>
        </p:nvSpPr>
        <p:spPr>
          <a:xfrm>
            <a:off x="5982942" y="2314837"/>
            <a:ext cx="1396053" cy="369332"/>
          </a:xfrm>
          <a:prstGeom prst="rect">
            <a:avLst/>
          </a:prstGeom>
          <a:noFill/>
        </p:spPr>
        <p:txBody>
          <a:bodyPr wrap="square" rtlCol="0">
            <a:spAutoFit/>
          </a:bodyPr>
          <a:lstStyle/>
          <a:p>
            <a:r>
              <a:rPr lang="en-US" dirty="0"/>
              <a:t>DAO class:</a:t>
            </a:r>
          </a:p>
        </p:txBody>
      </p:sp>
      <p:pic>
        <p:nvPicPr>
          <p:cNvPr id="10" name="Picture 9">
            <a:extLst>
              <a:ext uri="{FF2B5EF4-FFF2-40B4-BE49-F238E27FC236}">
                <a16:creationId xmlns:a16="http://schemas.microsoft.com/office/drawing/2014/main" id="{172DE95A-6DFC-3BE5-C068-E28E3F303199}"/>
              </a:ext>
            </a:extLst>
          </p:cNvPr>
          <p:cNvPicPr>
            <a:picLocks noChangeAspect="1"/>
          </p:cNvPicPr>
          <p:nvPr/>
        </p:nvPicPr>
        <p:blipFill>
          <a:blip r:embed="rId3"/>
          <a:stretch>
            <a:fillRect/>
          </a:stretch>
        </p:blipFill>
        <p:spPr>
          <a:xfrm>
            <a:off x="648792" y="2992820"/>
            <a:ext cx="4735663" cy="872359"/>
          </a:xfrm>
          <a:prstGeom prst="rect">
            <a:avLst/>
          </a:prstGeom>
        </p:spPr>
      </p:pic>
      <p:pic>
        <p:nvPicPr>
          <p:cNvPr id="12" name="Picture 11">
            <a:extLst>
              <a:ext uri="{FF2B5EF4-FFF2-40B4-BE49-F238E27FC236}">
                <a16:creationId xmlns:a16="http://schemas.microsoft.com/office/drawing/2014/main" id="{92567DAF-0E18-5AC1-6C23-23908C85AEAA}"/>
              </a:ext>
            </a:extLst>
          </p:cNvPr>
          <p:cNvPicPr>
            <a:picLocks noChangeAspect="1"/>
          </p:cNvPicPr>
          <p:nvPr/>
        </p:nvPicPr>
        <p:blipFill>
          <a:blip r:embed="rId4"/>
          <a:stretch>
            <a:fillRect/>
          </a:stretch>
        </p:blipFill>
        <p:spPr>
          <a:xfrm>
            <a:off x="667467" y="4927906"/>
            <a:ext cx="4563112" cy="1028844"/>
          </a:xfrm>
          <a:prstGeom prst="rect">
            <a:avLst/>
          </a:prstGeom>
        </p:spPr>
      </p:pic>
      <p:sp>
        <p:nvSpPr>
          <p:cNvPr id="14" name="TextBox 13">
            <a:extLst>
              <a:ext uri="{FF2B5EF4-FFF2-40B4-BE49-F238E27FC236}">
                <a16:creationId xmlns:a16="http://schemas.microsoft.com/office/drawing/2014/main" id="{E6DB08A0-2D4B-4D57-3ECE-002872783D54}"/>
              </a:ext>
            </a:extLst>
          </p:cNvPr>
          <p:cNvSpPr txBox="1"/>
          <p:nvPr/>
        </p:nvSpPr>
        <p:spPr>
          <a:xfrm>
            <a:off x="648792" y="2409351"/>
            <a:ext cx="1924287" cy="369332"/>
          </a:xfrm>
          <a:prstGeom prst="rect">
            <a:avLst/>
          </a:prstGeom>
          <a:noFill/>
        </p:spPr>
        <p:txBody>
          <a:bodyPr wrap="square" rtlCol="0">
            <a:spAutoFit/>
          </a:bodyPr>
          <a:lstStyle/>
          <a:p>
            <a:r>
              <a:rPr lang="en-US" dirty="0"/>
              <a:t>Controller class:</a:t>
            </a:r>
          </a:p>
        </p:txBody>
      </p:sp>
      <p:sp>
        <p:nvSpPr>
          <p:cNvPr id="16" name="TextBox 15">
            <a:extLst>
              <a:ext uri="{FF2B5EF4-FFF2-40B4-BE49-F238E27FC236}">
                <a16:creationId xmlns:a16="http://schemas.microsoft.com/office/drawing/2014/main" id="{C293371D-2B70-A91B-82FE-17E9C52A2074}"/>
              </a:ext>
            </a:extLst>
          </p:cNvPr>
          <p:cNvSpPr txBox="1"/>
          <p:nvPr/>
        </p:nvSpPr>
        <p:spPr>
          <a:xfrm>
            <a:off x="581192" y="4390551"/>
            <a:ext cx="1924287" cy="369332"/>
          </a:xfrm>
          <a:prstGeom prst="rect">
            <a:avLst/>
          </a:prstGeom>
          <a:noFill/>
        </p:spPr>
        <p:txBody>
          <a:bodyPr wrap="square" rtlCol="0">
            <a:spAutoFit/>
          </a:bodyPr>
          <a:lstStyle/>
          <a:p>
            <a:r>
              <a:rPr lang="en-US" dirty="0"/>
              <a:t>Service class:</a:t>
            </a:r>
          </a:p>
        </p:txBody>
      </p:sp>
    </p:spTree>
    <p:extLst>
      <p:ext uri="{BB962C8B-B14F-4D97-AF65-F5344CB8AC3E}">
        <p14:creationId xmlns:p14="http://schemas.microsoft.com/office/powerpoint/2010/main" val="4278710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DCDF-55CB-C62E-6939-77DDD93BFA14}"/>
              </a:ext>
            </a:extLst>
          </p:cNvPr>
          <p:cNvSpPr>
            <a:spLocks noGrp="1"/>
          </p:cNvSpPr>
          <p:nvPr>
            <p:ph type="title"/>
          </p:nvPr>
        </p:nvSpPr>
        <p:spPr/>
        <p:txBody>
          <a:bodyPr/>
          <a:lstStyle/>
          <a:p>
            <a:r>
              <a:rPr lang="en-US" dirty="0" err="1"/>
              <a:t>JpaRepository</a:t>
            </a:r>
            <a:endParaRPr lang="en-US" dirty="0"/>
          </a:p>
        </p:txBody>
      </p:sp>
      <p:sp>
        <p:nvSpPr>
          <p:cNvPr id="3" name="Content Placeholder 2">
            <a:extLst>
              <a:ext uri="{FF2B5EF4-FFF2-40B4-BE49-F238E27FC236}">
                <a16:creationId xmlns:a16="http://schemas.microsoft.com/office/drawing/2014/main" id="{3D594618-54E1-D55F-6C53-13C346075163}"/>
              </a:ext>
            </a:extLst>
          </p:cNvPr>
          <p:cNvSpPr>
            <a:spLocks noGrp="1"/>
          </p:cNvSpPr>
          <p:nvPr>
            <p:ph idx="1"/>
          </p:nvPr>
        </p:nvSpPr>
        <p:spPr/>
        <p:txBody>
          <a:bodyPr/>
          <a:lstStyle/>
          <a:p>
            <a:r>
              <a:rPr lang="en-US" dirty="0"/>
              <a:t>Recap: </a:t>
            </a:r>
          </a:p>
          <a:p>
            <a:pPr lvl="1"/>
            <a:r>
              <a:rPr lang="en-US" dirty="0" err="1"/>
              <a:t>EntityManager</a:t>
            </a:r>
            <a:r>
              <a:rPr lang="en-US" dirty="0"/>
              <a:t> is one API to interact with our database, it has a lower level of abstraction and thus, more control</a:t>
            </a:r>
          </a:p>
          <a:p>
            <a:pPr lvl="1"/>
            <a:r>
              <a:rPr lang="en-US" dirty="0" err="1"/>
              <a:t>JpaRepositry</a:t>
            </a:r>
            <a:r>
              <a:rPr lang="en-US" dirty="0"/>
              <a:t> is another API to interact with our database, it has a higher level of abstraction and thus, less control</a:t>
            </a:r>
          </a:p>
          <a:p>
            <a:endParaRPr lang="en-US" dirty="0"/>
          </a:p>
          <a:p>
            <a:r>
              <a:rPr lang="en-US" dirty="0"/>
              <a:t>Benefits of </a:t>
            </a:r>
            <a:r>
              <a:rPr lang="en-US" dirty="0" err="1"/>
              <a:t>JpaRepository</a:t>
            </a:r>
            <a:r>
              <a:rPr lang="en-US" dirty="0"/>
              <a:t>:</a:t>
            </a:r>
          </a:p>
          <a:p>
            <a:pPr lvl="1"/>
            <a:r>
              <a:rPr lang="en-US" dirty="0"/>
              <a:t>We simply create an interface that extends </a:t>
            </a:r>
            <a:r>
              <a:rPr lang="en-US" dirty="0" err="1"/>
              <a:t>JpaRepository</a:t>
            </a:r>
            <a:r>
              <a:rPr lang="en-US" dirty="0"/>
              <a:t>, and then we get CRUD methods out of the box</a:t>
            </a:r>
          </a:p>
          <a:p>
            <a:pPr lvl="1"/>
            <a:r>
              <a:rPr lang="en-US" dirty="0"/>
              <a:t>E.g. before we had: Service </a:t>
            </a:r>
            <a:r>
              <a:rPr lang="en-US" dirty="0">
                <a:sym typeface="Wingdings" panose="05000000000000000000" pitchFamily="2" charset="2"/>
              </a:rPr>
              <a:t></a:t>
            </a:r>
            <a:r>
              <a:rPr lang="en-US" dirty="0"/>
              <a:t> </a:t>
            </a:r>
            <a:r>
              <a:rPr lang="en-US" dirty="0" err="1"/>
              <a:t>DAOInterface</a:t>
            </a:r>
            <a:r>
              <a:rPr lang="en-US" dirty="0"/>
              <a:t> </a:t>
            </a:r>
            <a:r>
              <a:rPr lang="en-US" dirty="0">
                <a:sym typeface="Wingdings" panose="05000000000000000000" pitchFamily="2" charset="2"/>
              </a:rPr>
              <a:t> Concretion (We had to write boilerplate here for CRUD)</a:t>
            </a:r>
          </a:p>
          <a:p>
            <a:pPr lvl="1"/>
            <a:r>
              <a:rPr lang="en-US" dirty="0">
                <a:sym typeface="Wingdings" panose="05000000000000000000" pitchFamily="2" charset="2"/>
              </a:rPr>
              <a:t>Now we will have: Service  </a:t>
            </a:r>
            <a:r>
              <a:rPr lang="en-US" dirty="0" err="1">
                <a:sym typeface="Wingdings" panose="05000000000000000000" pitchFamily="2" charset="2"/>
              </a:rPr>
              <a:t>RepoInterface</a:t>
            </a:r>
            <a:r>
              <a:rPr lang="en-US" dirty="0">
                <a:sym typeface="Wingdings" panose="05000000000000000000" pitchFamily="2" charset="2"/>
              </a:rPr>
              <a:t> that extends </a:t>
            </a:r>
            <a:r>
              <a:rPr lang="en-US" dirty="0" err="1">
                <a:sym typeface="Wingdings" panose="05000000000000000000" pitchFamily="2" charset="2"/>
              </a:rPr>
              <a:t>JpaRepository</a:t>
            </a:r>
            <a:r>
              <a:rPr lang="en-US" dirty="0">
                <a:sym typeface="Wingdings" panose="05000000000000000000" pitchFamily="2" charset="2"/>
              </a:rPr>
              <a:t> </a:t>
            </a:r>
          </a:p>
          <a:p>
            <a:pPr lvl="1"/>
            <a:r>
              <a:rPr lang="en-US" dirty="0">
                <a:sym typeface="Wingdings" panose="05000000000000000000" pitchFamily="2" charset="2"/>
              </a:rPr>
              <a:t>No extra code required for common CRUD tasks! </a:t>
            </a:r>
            <a:endParaRPr lang="en-US" dirty="0"/>
          </a:p>
        </p:txBody>
      </p:sp>
    </p:spTree>
    <p:extLst>
      <p:ext uri="{BB962C8B-B14F-4D97-AF65-F5344CB8AC3E}">
        <p14:creationId xmlns:p14="http://schemas.microsoft.com/office/powerpoint/2010/main" val="277777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8D4C1-7990-05A1-CF4B-E74922DFDDD9}"/>
              </a:ext>
            </a:extLst>
          </p:cNvPr>
          <p:cNvSpPr>
            <a:spLocks noGrp="1"/>
          </p:cNvSpPr>
          <p:nvPr>
            <p:ph type="title"/>
          </p:nvPr>
        </p:nvSpPr>
        <p:spPr/>
        <p:txBody>
          <a:bodyPr/>
          <a:lstStyle/>
          <a:p>
            <a:r>
              <a:rPr lang="en-US" dirty="0" err="1"/>
              <a:t>Jparepository</a:t>
            </a:r>
            <a:r>
              <a:rPr lang="en-US" dirty="0"/>
              <a:t> – out-of-the-box methods</a:t>
            </a:r>
          </a:p>
        </p:txBody>
      </p:sp>
      <p:graphicFrame>
        <p:nvGraphicFramePr>
          <p:cNvPr id="8" name="Table 7">
            <a:extLst>
              <a:ext uri="{FF2B5EF4-FFF2-40B4-BE49-F238E27FC236}">
                <a16:creationId xmlns:a16="http://schemas.microsoft.com/office/drawing/2014/main" id="{6B5095AD-186A-4927-6C4E-7CDEBB977511}"/>
              </a:ext>
            </a:extLst>
          </p:cNvPr>
          <p:cNvGraphicFramePr>
            <a:graphicFrameLocks noGrp="1"/>
          </p:cNvGraphicFramePr>
          <p:nvPr>
            <p:extLst>
              <p:ext uri="{D42A27DB-BD31-4B8C-83A1-F6EECF244321}">
                <p14:modId xmlns:p14="http://schemas.microsoft.com/office/powerpoint/2010/main" val="2946580001"/>
              </p:ext>
            </p:extLst>
          </p:nvPr>
        </p:nvGraphicFramePr>
        <p:xfrm>
          <a:off x="1458322" y="2104836"/>
          <a:ext cx="9275356" cy="4180016"/>
        </p:xfrm>
        <a:graphic>
          <a:graphicData uri="http://schemas.openxmlformats.org/drawingml/2006/table">
            <a:tbl>
              <a:tblPr>
                <a:tableStyleId>{5C22544A-7EE6-4342-B048-85BDC9FD1C3A}</a:tableStyleId>
              </a:tblPr>
              <a:tblGrid>
                <a:gridCol w="2318839">
                  <a:extLst>
                    <a:ext uri="{9D8B030D-6E8A-4147-A177-3AD203B41FA5}">
                      <a16:colId xmlns:a16="http://schemas.microsoft.com/office/drawing/2014/main" val="3938241541"/>
                    </a:ext>
                  </a:extLst>
                </a:gridCol>
                <a:gridCol w="2318839">
                  <a:extLst>
                    <a:ext uri="{9D8B030D-6E8A-4147-A177-3AD203B41FA5}">
                      <a16:colId xmlns:a16="http://schemas.microsoft.com/office/drawing/2014/main" val="457960114"/>
                    </a:ext>
                  </a:extLst>
                </a:gridCol>
                <a:gridCol w="2318839">
                  <a:extLst>
                    <a:ext uri="{9D8B030D-6E8A-4147-A177-3AD203B41FA5}">
                      <a16:colId xmlns:a16="http://schemas.microsoft.com/office/drawing/2014/main" val="2275564418"/>
                    </a:ext>
                  </a:extLst>
                </a:gridCol>
                <a:gridCol w="2318839">
                  <a:extLst>
                    <a:ext uri="{9D8B030D-6E8A-4147-A177-3AD203B41FA5}">
                      <a16:colId xmlns:a16="http://schemas.microsoft.com/office/drawing/2014/main" val="2627583357"/>
                    </a:ext>
                  </a:extLst>
                </a:gridCol>
              </a:tblGrid>
              <a:tr h="450112">
                <a:tc>
                  <a:txBody>
                    <a:bodyPr/>
                    <a:lstStyle/>
                    <a:p>
                      <a:pPr marL="0" marR="0" algn="l">
                        <a:buNone/>
                      </a:pPr>
                      <a:r>
                        <a:rPr lang="en-US" sz="1600" b="1" dirty="0">
                          <a:effectLst/>
                        </a:rPr>
                        <a:t>Method</a:t>
                      </a:r>
                      <a:endParaRPr lang="en-US" sz="1600" b="1" i="0" dirty="0">
                        <a:solidFill>
                          <a:srgbClr val="FFFFFF"/>
                        </a:solidFill>
                        <a:effectLst/>
                        <a:latin typeface="-apple-system-body"/>
                      </a:endParaRPr>
                    </a:p>
                  </a:txBody>
                  <a:tcPr anchor="ctr"/>
                </a:tc>
                <a:tc>
                  <a:txBody>
                    <a:bodyPr/>
                    <a:lstStyle/>
                    <a:p>
                      <a:pPr marL="0" marR="0" algn="l">
                        <a:buNone/>
                      </a:pPr>
                      <a:r>
                        <a:rPr lang="en-US" sz="1600" b="1">
                          <a:effectLst/>
                        </a:rPr>
                        <a:t>Parameters</a:t>
                      </a:r>
                      <a:endParaRPr lang="en-US" sz="1600" b="1" i="0">
                        <a:solidFill>
                          <a:srgbClr val="FFFFFF"/>
                        </a:solidFill>
                        <a:effectLst/>
                        <a:latin typeface="-apple-system-body"/>
                      </a:endParaRPr>
                    </a:p>
                  </a:txBody>
                  <a:tcPr anchor="ctr"/>
                </a:tc>
                <a:tc>
                  <a:txBody>
                    <a:bodyPr/>
                    <a:lstStyle/>
                    <a:p>
                      <a:pPr marL="0" marR="0" algn="l">
                        <a:buNone/>
                      </a:pPr>
                      <a:r>
                        <a:rPr lang="en-US" sz="1600" b="1">
                          <a:effectLst/>
                        </a:rPr>
                        <a:t>Return type</a:t>
                      </a:r>
                      <a:endParaRPr lang="en-US" sz="1600" b="1" i="0">
                        <a:solidFill>
                          <a:srgbClr val="FFFFFF"/>
                        </a:solidFill>
                        <a:effectLst/>
                        <a:latin typeface="-apple-system-body"/>
                      </a:endParaRPr>
                    </a:p>
                  </a:txBody>
                  <a:tcPr anchor="ctr"/>
                </a:tc>
                <a:tc>
                  <a:txBody>
                    <a:bodyPr/>
                    <a:lstStyle/>
                    <a:p>
                      <a:pPr marL="0" marR="0" algn="l">
                        <a:buNone/>
                      </a:pPr>
                      <a:r>
                        <a:rPr lang="en-US" sz="1600" b="1" dirty="0">
                          <a:effectLst/>
                        </a:rPr>
                        <a:t>What it does</a:t>
                      </a:r>
                      <a:endParaRPr lang="en-US" sz="1600" b="1" i="0" dirty="0">
                        <a:solidFill>
                          <a:srgbClr val="FFFFFF"/>
                        </a:solidFill>
                        <a:effectLst/>
                        <a:latin typeface="-apple-system-body"/>
                      </a:endParaRPr>
                    </a:p>
                  </a:txBody>
                  <a:tcPr anchor="ctr"/>
                </a:tc>
                <a:extLst>
                  <a:ext uri="{0D108BD9-81ED-4DB2-BD59-A6C34878D82A}">
                    <a16:rowId xmlns:a16="http://schemas.microsoft.com/office/drawing/2014/main" val="507458088"/>
                  </a:ext>
                </a:extLst>
              </a:tr>
              <a:tr h="450112">
                <a:tc>
                  <a:txBody>
                    <a:bodyPr/>
                    <a:lstStyle/>
                    <a:p>
                      <a:pPr marL="0" marR="0" algn="l">
                        <a:buNone/>
                      </a:pPr>
                      <a:r>
                        <a:rPr lang="en-US" sz="1600" dirty="0" err="1">
                          <a:effectLst/>
                        </a:rPr>
                        <a:t>existsById</a:t>
                      </a:r>
                      <a:r>
                        <a:rPr lang="en-US" sz="1600" dirty="0">
                          <a:effectLst/>
                        </a:rPr>
                        <a:t>(123)</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Integer id</a:t>
                      </a:r>
                      <a:endParaRPr lang="en-US" sz="1600" b="0" i="0">
                        <a:solidFill>
                          <a:srgbClr val="FFFFFF"/>
                        </a:solidFill>
                        <a:effectLst/>
                        <a:latin typeface="-apple-system-body"/>
                      </a:endParaRPr>
                    </a:p>
                  </a:txBody>
                  <a:tcPr anchor="ctr"/>
                </a:tc>
                <a:tc>
                  <a:txBody>
                    <a:bodyPr/>
                    <a:lstStyle/>
                    <a:p>
                      <a:pPr marL="0" marR="0" algn="l">
                        <a:buNone/>
                      </a:pPr>
                      <a:r>
                        <a:rPr lang="en-US" sz="1600">
                          <a:effectLst/>
                        </a:rPr>
                        <a:t>boolean</a:t>
                      </a:r>
                      <a:endParaRPr lang="en-US" sz="1600" b="0" i="0">
                        <a:solidFill>
                          <a:srgbClr val="FFFFFF"/>
                        </a:solidFill>
                        <a:effectLst/>
                        <a:latin typeface="-apple-system-body"/>
                      </a:endParaRPr>
                    </a:p>
                  </a:txBody>
                  <a:tcPr anchor="ctr"/>
                </a:tc>
                <a:tc>
                  <a:txBody>
                    <a:bodyPr/>
                    <a:lstStyle/>
                    <a:p>
                      <a:pPr marL="0" marR="0" algn="l">
                        <a:buNone/>
                      </a:pPr>
                      <a:r>
                        <a:rPr lang="en-US" sz="1600">
                          <a:effectLst/>
                        </a:rPr>
                        <a:t>Checks whether a record exists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324117081"/>
                  </a:ext>
                </a:extLst>
              </a:tr>
              <a:tr h="450112">
                <a:tc>
                  <a:txBody>
                    <a:bodyPr/>
                    <a:lstStyle/>
                    <a:p>
                      <a:pPr marL="0" marR="0" algn="l">
                        <a:buNone/>
                      </a:pPr>
                      <a:r>
                        <a:rPr lang="en-US" sz="1600" dirty="0">
                          <a:effectLst/>
                        </a:rPr>
                        <a:t>count()</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none</a:t>
                      </a:r>
                      <a:endParaRPr lang="en-US" sz="1600" b="0" i="0">
                        <a:solidFill>
                          <a:srgbClr val="FFFFFF"/>
                        </a:solidFill>
                        <a:effectLst/>
                        <a:latin typeface="-apple-system-body"/>
                      </a:endParaRPr>
                    </a:p>
                  </a:txBody>
                  <a:tcPr anchor="ctr"/>
                </a:tc>
                <a:tc>
                  <a:txBody>
                    <a:bodyPr/>
                    <a:lstStyle/>
                    <a:p>
                      <a:pPr marL="0" marR="0" algn="l">
                        <a:buNone/>
                      </a:pPr>
                      <a:r>
                        <a:rPr lang="en-US" sz="1600">
                          <a:effectLst/>
                        </a:rPr>
                        <a:t>long</a:t>
                      </a:r>
                      <a:endParaRPr lang="en-US" sz="1600" b="0" i="0">
                        <a:solidFill>
                          <a:srgbClr val="FFFFFF"/>
                        </a:solidFill>
                        <a:effectLst/>
                        <a:latin typeface="-apple-system-body"/>
                      </a:endParaRPr>
                    </a:p>
                  </a:txBody>
                  <a:tcPr anchor="ctr"/>
                </a:tc>
                <a:tc>
                  <a:txBody>
                    <a:bodyPr/>
                    <a:lstStyle/>
                    <a:p>
                      <a:pPr marL="0" marR="0" algn="l">
                        <a:buNone/>
                      </a:pPr>
                      <a:r>
                        <a:rPr lang="en-US" sz="1600">
                          <a:effectLst/>
                        </a:rPr>
                        <a:t>Counts all records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966564883"/>
                  </a:ext>
                </a:extLst>
              </a:tr>
              <a:tr h="450112">
                <a:tc>
                  <a:txBody>
                    <a:bodyPr/>
                    <a:lstStyle/>
                    <a:p>
                      <a:pPr marL="0" marR="0" algn="l">
                        <a:buNone/>
                      </a:pPr>
                      <a:r>
                        <a:rPr lang="en-US" sz="1600" dirty="0" err="1">
                          <a:effectLst/>
                        </a:rPr>
                        <a:t>findAll</a:t>
                      </a:r>
                      <a:r>
                        <a:rPr lang="en-US" sz="1600" dirty="0">
                          <a:effectLst/>
                        </a:rPr>
                        <a:t>()</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none</a:t>
                      </a:r>
                      <a:endParaRPr lang="en-US" sz="1600" b="0" i="0">
                        <a:solidFill>
                          <a:srgbClr val="FFFFFF"/>
                        </a:solidFill>
                        <a:effectLst/>
                        <a:latin typeface="-apple-system-body"/>
                      </a:endParaRPr>
                    </a:p>
                  </a:txBody>
                  <a:tcPr anchor="ctr"/>
                </a:tc>
                <a:tc>
                  <a:txBody>
                    <a:bodyPr/>
                    <a:lstStyle/>
                    <a:p>
                      <a:pPr marL="0" marR="0" algn="l">
                        <a:buNone/>
                      </a:pPr>
                      <a:r>
                        <a:rPr lang="en-US" sz="1600">
                          <a:effectLst/>
                        </a:rPr>
                        <a:t>List&lt;Student&gt;</a:t>
                      </a:r>
                      <a:endParaRPr lang="en-US" sz="1600" b="0" i="0">
                        <a:solidFill>
                          <a:srgbClr val="FFFFFF"/>
                        </a:solidFill>
                        <a:effectLst/>
                        <a:latin typeface="-apple-system-body"/>
                      </a:endParaRPr>
                    </a:p>
                  </a:txBody>
                  <a:tcPr anchor="ctr"/>
                </a:tc>
                <a:tc>
                  <a:txBody>
                    <a:bodyPr/>
                    <a:lstStyle/>
                    <a:p>
                      <a:pPr marL="0" marR="0" algn="l">
                        <a:buNone/>
                      </a:pPr>
                      <a:r>
                        <a:rPr lang="en-US" sz="1600">
                          <a:effectLst/>
                        </a:rPr>
                        <a:t>Gets all students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4290804774"/>
                  </a:ext>
                </a:extLst>
              </a:tr>
              <a:tr h="450112">
                <a:tc>
                  <a:txBody>
                    <a:bodyPr/>
                    <a:lstStyle/>
                    <a:p>
                      <a:pPr marL="0" marR="0" algn="l">
                        <a:buNone/>
                      </a:pPr>
                      <a:r>
                        <a:rPr lang="en-US" sz="1600" dirty="0" err="1">
                          <a:effectLst/>
                        </a:rPr>
                        <a:t>findById</a:t>
                      </a:r>
                      <a:r>
                        <a:rPr lang="en-US" sz="1600" dirty="0">
                          <a:effectLst/>
                        </a:rPr>
                        <a:t>(123)</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Integer id</a:t>
                      </a:r>
                      <a:endParaRPr lang="en-US" sz="1600" b="0" i="0">
                        <a:solidFill>
                          <a:srgbClr val="FFFFFF"/>
                        </a:solidFill>
                        <a:effectLst/>
                        <a:latin typeface="-apple-system-body"/>
                      </a:endParaRPr>
                    </a:p>
                  </a:txBody>
                  <a:tcPr anchor="ctr"/>
                </a:tc>
                <a:tc>
                  <a:txBody>
                    <a:bodyPr/>
                    <a:lstStyle/>
                    <a:p>
                      <a:pPr marL="0" marR="0" algn="l">
                        <a:buNone/>
                      </a:pPr>
                      <a:r>
                        <a:rPr lang="en-US" sz="1600">
                          <a:effectLst/>
                        </a:rPr>
                        <a:t>Optional&lt;Student&gt;</a:t>
                      </a:r>
                      <a:endParaRPr lang="en-US" sz="1600" b="0" i="0">
                        <a:solidFill>
                          <a:srgbClr val="FFFFFF"/>
                        </a:solidFill>
                        <a:effectLst/>
                        <a:latin typeface="-apple-system-body"/>
                      </a:endParaRPr>
                    </a:p>
                  </a:txBody>
                  <a:tcPr anchor="ctr"/>
                </a:tc>
                <a:tc>
                  <a:txBody>
                    <a:bodyPr/>
                    <a:lstStyle/>
                    <a:p>
                      <a:pPr marL="0" marR="0" algn="l">
                        <a:buNone/>
                      </a:pPr>
                      <a:r>
                        <a:rPr lang="en-US" sz="1600">
                          <a:effectLst/>
                        </a:rPr>
                        <a:t>Gets one student by ID</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632717524"/>
                  </a:ext>
                </a:extLst>
              </a:tr>
              <a:tr h="450112">
                <a:tc>
                  <a:txBody>
                    <a:bodyPr/>
                    <a:lstStyle/>
                    <a:p>
                      <a:pPr marL="0" marR="0" algn="l">
                        <a:buNone/>
                      </a:pPr>
                      <a:r>
                        <a:rPr lang="en-US" sz="1600" dirty="0">
                          <a:effectLst/>
                        </a:rPr>
                        <a:t>save(student)</a:t>
                      </a:r>
                      <a:endParaRPr lang="en-US" sz="1600" b="0" i="0" dirty="0">
                        <a:solidFill>
                          <a:srgbClr val="FFFFFF"/>
                        </a:solidFill>
                        <a:effectLst/>
                        <a:latin typeface="-apple-system-body"/>
                      </a:endParaRPr>
                    </a:p>
                  </a:txBody>
                  <a:tcPr anchor="ctr"/>
                </a:tc>
                <a:tc>
                  <a:txBody>
                    <a:bodyPr/>
                    <a:lstStyle/>
                    <a:p>
                      <a:pPr marL="0" marR="0" algn="l">
                        <a:buNone/>
                      </a:pPr>
                      <a:r>
                        <a:rPr lang="en-US" sz="1600" dirty="0">
                          <a:effectLst/>
                        </a:rPr>
                        <a:t>Object: Student student</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Student</a:t>
                      </a:r>
                      <a:endParaRPr lang="en-US" sz="1600" b="0" i="0">
                        <a:solidFill>
                          <a:srgbClr val="FFFFFF"/>
                        </a:solidFill>
                        <a:effectLst/>
                        <a:latin typeface="-apple-system-body"/>
                      </a:endParaRPr>
                    </a:p>
                  </a:txBody>
                  <a:tcPr anchor="ctr"/>
                </a:tc>
                <a:tc>
                  <a:txBody>
                    <a:bodyPr/>
                    <a:lstStyle/>
                    <a:p>
                      <a:pPr marL="0" marR="0" algn="l">
                        <a:buNone/>
                      </a:pPr>
                      <a:r>
                        <a:rPr lang="en-US" sz="1600">
                          <a:effectLst/>
                        </a:rPr>
                        <a:t>Inserts or updates</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818211999"/>
                  </a:ext>
                </a:extLst>
              </a:tr>
              <a:tr h="450112">
                <a:tc>
                  <a:txBody>
                    <a:bodyPr/>
                    <a:lstStyle/>
                    <a:p>
                      <a:pPr marL="0" marR="0" algn="l">
                        <a:buNone/>
                      </a:pPr>
                      <a:r>
                        <a:rPr lang="en-US" sz="1600" dirty="0">
                          <a:effectLst/>
                        </a:rPr>
                        <a:t>delete(student)</a:t>
                      </a:r>
                      <a:endParaRPr lang="en-US" sz="1600" b="0" i="0" dirty="0">
                        <a:solidFill>
                          <a:srgbClr val="FFFFFF"/>
                        </a:solidFill>
                        <a:effectLst/>
                        <a:latin typeface="-apple-system-body"/>
                      </a:endParaRPr>
                    </a:p>
                  </a:txBody>
                  <a:tcPr anchor="ctr"/>
                </a:tc>
                <a:tc>
                  <a:txBody>
                    <a:bodyPr/>
                    <a:lstStyle/>
                    <a:p>
                      <a:pPr marL="0" marR="0" algn="l">
                        <a:buNone/>
                      </a:pPr>
                      <a:r>
                        <a:rPr lang="en-US" sz="1600" dirty="0">
                          <a:effectLst/>
                        </a:rPr>
                        <a:t>Object: Student student</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void</a:t>
                      </a:r>
                      <a:endParaRPr lang="en-US" sz="1600" b="0" i="0">
                        <a:solidFill>
                          <a:srgbClr val="FFFFFF"/>
                        </a:solidFill>
                        <a:effectLst/>
                        <a:latin typeface="-apple-system-body"/>
                      </a:endParaRPr>
                    </a:p>
                  </a:txBody>
                  <a:tcPr anchor="ctr"/>
                </a:tc>
                <a:tc>
                  <a:txBody>
                    <a:bodyPr/>
                    <a:lstStyle/>
                    <a:p>
                      <a:pPr marL="0" marR="0" algn="l">
                        <a:buNone/>
                      </a:pPr>
                      <a:r>
                        <a:rPr lang="en-US" sz="1600">
                          <a:effectLst/>
                        </a:rPr>
                        <a:t>Deletes a student</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492185488"/>
                  </a:ext>
                </a:extLst>
              </a:tr>
              <a:tr h="450112">
                <a:tc>
                  <a:txBody>
                    <a:bodyPr/>
                    <a:lstStyle/>
                    <a:p>
                      <a:pPr marL="0" marR="0" algn="l">
                        <a:buNone/>
                      </a:pPr>
                      <a:r>
                        <a:rPr lang="en-US" sz="1600" dirty="0" err="1">
                          <a:effectLst/>
                        </a:rPr>
                        <a:t>deleteById</a:t>
                      </a:r>
                      <a:r>
                        <a:rPr lang="en-US" sz="1600" dirty="0">
                          <a:effectLst/>
                        </a:rPr>
                        <a:t>(123)</a:t>
                      </a:r>
                      <a:endParaRPr lang="en-US" sz="1600" b="0" i="0" dirty="0">
                        <a:solidFill>
                          <a:srgbClr val="FFFFFF"/>
                        </a:solidFill>
                        <a:effectLst/>
                        <a:latin typeface="-apple-system-body"/>
                      </a:endParaRPr>
                    </a:p>
                  </a:txBody>
                  <a:tcPr anchor="ctr"/>
                </a:tc>
                <a:tc>
                  <a:txBody>
                    <a:bodyPr/>
                    <a:lstStyle/>
                    <a:p>
                      <a:pPr marL="0" marR="0" algn="l">
                        <a:buNone/>
                      </a:pPr>
                      <a:r>
                        <a:rPr lang="en-US" sz="1600">
                          <a:effectLst/>
                        </a:rPr>
                        <a:t>Integer id</a:t>
                      </a:r>
                      <a:endParaRPr lang="en-US" sz="1600" b="0" i="0">
                        <a:solidFill>
                          <a:srgbClr val="FFFFFF"/>
                        </a:solidFill>
                        <a:effectLst/>
                        <a:latin typeface="-apple-system-body"/>
                      </a:endParaRPr>
                    </a:p>
                  </a:txBody>
                  <a:tcPr anchor="ctr"/>
                </a:tc>
                <a:tc>
                  <a:txBody>
                    <a:bodyPr/>
                    <a:lstStyle/>
                    <a:p>
                      <a:pPr marL="0" marR="0" algn="l">
                        <a:buNone/>
                      </a:pPr>
                      <a:r>
                        <a:rPr lang="en-US" sz="1600">
                          <a:effectLst/>
                        </a:rPr>
                        <a:t>void</a:t>
                      </a:r>
                      <a:endParaRPr lang="en-US" sz="1600" b="0" i="0">
                        <a:solidFill>
                          <a:srgbClr val="FFFFFF"/>
                        </a:solidFill>
                        <a:effectLst/>
                        <a:latin typeface="-apple-system-body"/>
                      </a:endParaRPr>
                    </a:p>
                  </a:txBody>
                  <a:tcPr anchor="ctr"/>
                </a:tc>
                <a:tc>
                  <a:txBody>
                    <a:bodyPr/>
                    <a:lstStyle/>
                    <a:p>
                      <a:pPr marL="0" marR="0" algn="l">
                        <a:buNone/>
                      </a:pPr>
                      <a:r>
                        <a:rPr lang="en-US" sz="1600">
                          <a:effectLst/>
                        </a:rPr>
                        <a:t>Deletes by primary key</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680659024"/>
                  </a:ext>
                </a:extLst>
              </a:tr>
              <a:tr h="450112">
                <a:tc>
                  <a:txBody>
                    <a:bodyPr/>
                    <a:lstStyle/>
                    <a:p>
                      <a:pPr marL="0" marR="0" algn="l">
                        <a:buNone/>
                      </a:pPr>
                      <a:r>
                        <a:rPr lang="en-US" sz="1600">
                          <a:effectLst/>
                        </a:rPr>
                        <a:t>deleteAll()</a:t>
                      </a:r>
                      <a:endParaRPr lang="en-US" sz="1600" b="0" i="0">
                        <a:solidFill>
                          <a:srgbClr val="FFFFFF"/>
                        </a:solidFill>
                        <a:effectLst/>
                        <a:latin typeface="-apple-system-body"/>
                      </a:endParaRPr>
                    </a:p>
                  </a:txBody>
                  <a:tcPr anchor="ctr"/>
                </a:tc>
                <a:tc>
                  <a:txBody>
                    <a:bodyPr/>
                    <a:lstStyle/>
                    <a:p>
                      <a:pPr marL="0" marR="0" algn="l">
                        <a:buNone/>
                      </a:pPr>
                      <a:r>
                        <a:rPr lang="en-US" sz="1600">
                          <a:effectLst/>
                        </a:rPr>
                        <a:t>none</a:t>
                      </a:r>
                      <a:endParaRPr lang="en-US" sz="1600" b="0" i="0">
                        <a:solidFill>
                          <a:srgbClr val="FFFFFF"/>
                        </a:solidFill>
                        <a:effectLst/>
                        <a:latin typeface="-apple-system-body"/>
                      </a:endParaRPr>
                    </a:p>
                  </a:txBody>
                  <a:tcPr anchor="ctr"/>
                </a:tc>
                <a:tc>
                  <a:txBody>
                    <a:bodyPr/>
                    <a:lstStyle/>
                    <a:p>
                      <a:pPr marL="0" marR="0" algn="l">
                        <a:buNone/>
                      </a:pPr>
                      <a:r>
                        <a:rPr lang="en-US" sz="1600">
                          <a:effectLst/>
                        </a:rPr>
                        <a:t>void</a:t>
                      </a:r>
                      <a:endParaRPr lang="en-US" sz="1600" b="0" i="0">
                        <a:solidFill>
                          <a:srgbClr val="FFFFFF"/>
                        </a:solidFill>
                        <a:effectLst/>
                        <a:latin typeface="-apple-system-body"/>
                      </a:endParaRPr>
                    </a:p>
                  </a:txBody>
                  <a:tcPr anchor="ctr"/>
                </a:tc>
                <a:tc>
                  <a:txBody>
                    <a:bodyPr/>
                    <a:lstStyle/>
                    <a:p>
                      <a:pPr marL="0" marR="0" algn="l">
                        <a:buNone/>
                      </a:pPr>
                      <a:r>
                        <a:rPr lang="en-US" sz="1600" dirty="0">
                          <a:effectLst/>
                        </a:rPr>
                        <a:t>Deletes all students</a:t>
                      </a:r>
                      <a:endParaRPr lang="en-US" sz="1600" b="0" i="0" dirty="0">
                        <a:solidFill>
                          <a:srgbClr val="FFFFFF"/>
                        </a:solidFill>
                        <a:effectLst/>
                        <a:latin typeface="-apple-system-body"/>
                      </a:endParaRPr>
                    </a:p>
                  </a:txBody>
                  <a:tcPr anchor="ctr"/>
                </a:tc>
                <a:extLst>
                  <a:ext uri="{0D108BD9-81ED-4DB2-BD59-A6C34878D82A}">
                    <a16:rowId xmlns:a16="http://schemas.microsoft.com/office/drawing/2014/main" val="4028241582"/>
                  </a:ext>
                </a:extLst>
              </a:tr>
            </a:tbl>
          </a:graphicData>
        </a:graphic>
      </p:graphicFrame>
    </p:spTree>
    <p:extLst>
      <p:ext uri="{BB962C8B-B14F-4D97-AF65-F5344CB8AC3E}">
        <p14:creationId xmlns:p14="http://schemas.microsoft.com/office/powerpoint/2010/main" val="430456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A0C0C-E778-92FD-4583-7D149A13D0B3}"/>
              </a:ext>
            </a:extLst>
          </p:cNvPr>
          <p:cNvSpPr>
            <a:spLocks noGrp="1"/>
          </p:cNvSpPr>
          <p:nvPr>
            <p:ph type="title"/>
          </p:nvPr>
        </p:nvSpPr>
        <p:spPr/>
        <p:txBody>
          <a:bodyPr/>
          <a:lstStyle/>
          <a:p>
            <a:r>
              <a:rPr lang="en-US" dirty="0"/>
              <a:t>Creating a </a:t>
            </a:r>
            <a:r>
              <a:rPr lang="en-US" dirty="0" err="1"/>
              <a:t>jparepository</a:t>
            </a:r>
            <a:endParaRPr lang="en-US" dirty="0"/>
          </a:p>
        </p:txBody>
      </p:sp>
      <p:sp>
        <p:nvSpPr>
          <p:cNvPr id="3" name="Content Placeholder 2">
            <a:extLst>
              <a:ext uri="{FF2B5EF4-FFF2-40B4-BE49-F238E27FC236}">
                <a16:creationId xmlns:a16="http://schemas.microsoft.com/office/drawing/2014/main" id="{31137AE7-317D-E69B-2F2F-E6056C62DCA9}"/>
              </a:ext>
            </a:extLst>
          </p:cNvPr>
          <p:cNvSpPr>
            <a:spLocks noGrp="1"/>
          </p:cNvSpPr>
          <p:nvPr>
            <p:ph idx="1"/>
          </p:nvPr>
        </p:nvSpPr>
        <p:spPr>
          <a:xfrm>
            <a:off x="581191" y="2180496"/>
            <a:ext cx="11029615" cy="1248504"/>
          </a:xfrm>
        </p:spPr>
        <p:txBody>
          <a:bodyPr/>
          <a:lstStyle/>
          <a:p>
            <a:r>
              <a:rPr lang="en-US" dirty="0"/>
              <a:t>We create an interface that extends </a:t>
            </a:r>
            <a:r>
              <a:rPr lang="en-US" dirty="0" err="1"/>
              <a:t>JpaRepository</a:t>
            </a:r>
            <a:endParaRPr lang="en-US" dirty="0"/>
          </a:p>
          <a:p>
            <a:r>
              <a:rPr lang="en-US" dirty="0"/>
              <a:t>The type provided is: &lt;Entity, </a:t>
            </a:r>
            <a:r>
              <a:rPr lang="en-US" dirty="0" err="1"/>
              <a:t>EntityIdDataType</a:t>
            </a:r>
            <a:r>
              <a:rPr lang="en-US" dirty="0"/>
              <a:t>&gt;</a:t>
            </a:r>
          </a:p>
          <a:p>
            <a:r>
              <a:rPr lang="en-US" dirty="0"/>
              <a:t>Now our service can simply make calls to this interface!</a:t>
            </a:r>
          </a:p>
        </p:txBody>
      </p:sp>
      <p:pic>
        <p:nvPicPr>
          <p:cNvPr id="5" name="Picture 4">
            <a:extLst>
              <a:ext uri="{FF2B5EF4-FFF2-40B4-BE49-F238E27FC236}">
                <a16:creationId xmlns:a16="http://schemas.microsoft.com/office/drawing/2014/main" id="{47461D70-B8A1-E090-1DBC-BC2FF94504E9}"/>
              </a:ext>
            </a:extLst>
          </p:cNvPr>
          <p:cNvPicPr>
            <a:picLocks noChangeAspect="1"/>
          </p:cNvPicPr>
          <p:nvPr/>
        </p:nvPicPr>
        <p:blipFill>
          <a:blip r:embed="rId2"/>
          <a:stretch>
            <a:fillRect/>
          </a:stretch>
        </p:blipFill>
        <p:spPr>
          <a:xfrm>
            <a:off x="2504573" y="3762752"/>
            <a:ext cx="7182852" cy="2543530"/>
          </a:xfrm>
          <a:prstGeom prst="rect">
            <a:avLst/>
          </a:prstGeom>
        </p:spPr>
      </p:pic>
    </p:spTree>
    <p:extLst>
      <p:ext uri="{BB962C8B-B14F-4D97-AF65-F5344CB8AC3E}">
        <p14:creationId xmlns:p14="http://schemas.microsoft.com/office/powerpoint/2010/main" val="120874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C6536-3C19-070B-48E1-3374C6CD34A0}"/>
              </a:ext>
            </a:extLst>
          </p:cNvPr>
          <p:cNvSpPr>
            <a:spLocks noGrp="1"/>
          </p:cNvSpPr>
          <p:nvPr>
            <p:ph type="title"/>
          </p:nvPr>
        </p:nvSpPr>
        <p:spPr/>
        <p:txBody>
          <a:bodyPr/>
          <a:lstStyle/>
          <a:p>
            <a:r>
              <a:rPr lang="en-US" dirty="0" err="1"/>
              <a:t>Jparepository</a:t>
            </a:r>
            <a:r>
              <a:rPr lang="en-US" dirty="0"/>
              <a:t> – Optional&lt;T&gt;</a:t>
            </a:r>
          </a:p>
        </p:txBody>
      </p:sp>
      <p:sp>
        <p:nvSpPr>
          <p:cNvPr id="3" name="Content Placeholder 2">
            <a:extLst>
              <a:ext uri="{FF2B5EF4-FFF2-40B4-BE49-F238E27FC236}">
                <a16:creationId xmlns:a16="http://schemas.microsoft.com/office/drawing/2014/main" id="{23A7AB55-C113-B99A-FE9E-9D2688C97C3E}"/>
              </a:ext>
            </a:extLst>
          </p:cNvPr>
          <p:cNvSpPr>
            <a:spLocks noGrp="1"/>
          </p:cNvSpPr>
          <p:nvPr>
            <p:ph idx="1"/>
          </p:nvPr>
        </p:nvSpPr>
        <p:spPr>
          <a:xfrm>
            <a:off x="581193" y="2148598"/>
            <a:ext cx="4905207" cy="4007245"/>
          </a:xfrm>
        </p:spPr>
        <p:txBody>
          <a:bodyPr/>
          <a:lstStyle/>
          <a:p>
            <a:r>
              <a:rPr lang="en-US" dirty="0"/>
              <a:t>The following shows our service layer, now calling a </a:t>
            </a:r>
            <a:r>
              <a:rPr lang="en-US" dirty="0" err="1"/>
              <a:t>JpaRepository</a:t>
            </a:r>
            <a:r>
              <a:rPr lang="en-US" dirty="0"/>
              <a:t> </a:t>
            </a:r>
          </a:p>
          <a:p>
            <a:r>
              <a:rPr lang="en-US" dirty="0"/>
              <a:t>Not that some OOB methods return a type of Optional&lt;T&gt; </a:t>
            </a:r>
          </a:p>
          <a:p>
            <a:r>
              <a:rPr lang="en-US" dirty="0"/>
              <a:t>That’s because it may or may not find the record</a:t>
            </a:r>
          </a:p>
          <a:p>
            <a:r>
              <a:rPr lang="en-US" dirty="0"/>
              <a:t>We commonly handle this with: </a:t>
            </a:r>
            <a:r>
              <a:rPr lang="en-US" dirty="0" err="1"/>
              <a:t>orElseThrow</a:t>
            </a:r>
            <a:r>
              <a:rPr lang="en-US" dirty="0"/>
              <a:t>()</a:t>
            </a:r>
          </a:p>
          <a:p>
            <a:r>
              <a:rPr lang="en-US" dirty="0"/>
              <a:t>We could throw a </a:t>
            </a:r>
            <a:r>
              <a:rPr lang="en-US" dirty="0" err="1"/>
              <a:t>RuntimeException</a:t>
            </a:r>
            <a:r>
              <a:rPr lang="en-US" dirty="0"/>
              <a:t>, or a custom one!</a:t>
            </a:r>
          </a:p>
        </p:txBody>
      </p:sp>
      <p:pic>
        <p:nvPicPr>
          <p:cNvPr id="5" name="Picture 4">
            <a:extLst>
              <a:ext uri="{FF2B5EF4-FFF2-40B4-BE49-F238E27FC236}">
                <a16:creationId xmlns:a16="http://schemas.microsoft.com/office/drawing/2014/main" id="{A38884F3-2208-4720-DCEF-4DDCBC277F3A}"/>
              </a:ext>
            </a:extLst>
          </p:cNvPr>
          <p:cNvPicPr>
            <a:picLocks noChangeAspect="1"/>
          </p:cNvPicPr>
          <p:nvPr/>
        </p:nvPicPr>
        <p:blipFill>
          <a:blip r:embed="rId2"/>
          <a:stretch>
            <a:fillRect/>
          </a:stretch>
        </p:blipFill>
        <p:spPr>
          <a:xfrm>
            <a:off x="5877617" y="2175180"/>
            <a:ext cx="5275936" cy="4303608"/>
          </a:xfrm>
          <a:prstGeom prst="rect">
            <a:avLst/>
          </a:prstGeom>
        </p:spPr>
      </p:pic>
    </p:spTree>
    <p:extLst>
      <p:ext uri="{BB962C8B-B14F-4D97-AF65-F5344CB8AC3E}">
        <p14:creationId xmlns:p14="http://schemas.microsoft.com/office/powerpoint/2010/main" val="858683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5CAB-E80B-E170-5AFC-D84E87CB424B}"/>
              </a:ext>
            </a:extLst>
          </p:cNvPr>
          <p:cNvSpPr>
            <a:spLocks noGrp="1"/>
          </p:cNvSpPr>
          <p:nvPr>
            <p:ph type="title"/>
          </p:nvPr>
        </p:nvSpPr>
        <p:spPr/>
        <p:txBody>
          <a:bodyPr/>
          <a:lstStyle/>
          <a:p>
            <a:r>
              <a:rPr lang="en-US" dirty="0" err="1"/>
              <a:t>Jparepository</a:t>
            </a:r>
            <a:r>
              <a:rPr lang="en-US" dirty="0"/>
              <a:t> – derived query methods</a:t>
            </a:r>
          </a:p>
        </p:txBody>
      </p:sp>
      <p:sp>
        <p:nvSpPr>
          <p:cNvPr id="3" name="Content Placeholder 2">
            <a:extLst>
              <a:ext uri="{FF2B5EF4-FFF2-40B4-BE49-F238E27FC236}">
                <a16:creationId xmlns:a16="http://schemas.microsoft.com/office/drawing/2014/main" id="{64F4F643-3BA9-6360-566F-4715DB61D0A4}"/>
              </a:ext>
            </a:extLst>
          </p:cNvPr>
          <p:cNvSpPr>
            <a:spLocks noGrp="1"/>
          </p:cNvSpPr>
          <p:nvPr>
            <p:ph idx="1"/>
          </p:nvPr>
        </p:nvSpPr>
        <p:spPr>
          <a:xfrm>
            <a:off x="581192" y="2180497"/>
            <a:ext cx="11029615" cy="1248503"/>
          </a:xfrm>
        </p:spPr>
        <p:txBody>
          <a:bodyPr/>
          <a:lstStyle/>
          <a:p>
            <a:r>
              <a:rPr lang="en-US" dirty="0">
                <a:solidFill>
                  <a:srgbClr val="92D050"/>
                </a:solidFill>
              </a:rPr>
              <a:t>Derived Query Methods </a:t>
            </a:r>
            <a:r>
              <a:rPr lang="en-US" dirty="0"/>
              <a:t>- Spring Data JPA parses the method name according to strict naming conventions and automatically generates the underlying JPQL (Java Persistence Query Language) and SQL at runtime.</a:t>
            </a:r>
          </a:p>
          <a:p>
            <a:r>
              <a:rPr lang="en-US" dirty="0"/>
              <a:t>We simply need to create the method in our Repo interface:</a:t>
            </a:r>
          </a:p>
        </p:txBody>
      </p:sp>
      <p:pic>
        <p:nvPicPr>
          <p:cNvPr id="5" name="Picture 4">
            <a:extLst>
              <a:ext uri="{FF2B5EF4-FFF2-40B4-BE49-F238E27FC236}">
                <a16:creationId xmlns:a16="http://schemas.microsoft.com/office/drawing/2014/main" id="{4C0C3C59-EE6A-1D49-CA01-34830DD17ADD}"/>
              </a:ext>
            </a:extLst>
          </p:cNvPr>
          <p:cNvPicPr>
            <a:picLocks noChangeAspect="1"/>
          </p:cNvPicPr>
          <p:nvPr/>
        </p:nvPicPr>
        <p:blipFill>
          <a:blip r:embed="rId2"/>
          <a:stretch>
            <a:fillRect/>
          </a:stretch>
        </p:blipFill>
        <p:spPr>
          <a:xfrm>
            <a:off x="2758622" y="3429000"/>
            <a:ext cx="6674754" cy="3075186"/>
          </a:xfrm>
          <a:prstGeom prst="rect">
            <a:avLst/>
          </a:prstGeom>
        </p:spPr>
      </p:pic>
    </p:spTree>
    <p:extLst>
      <p:ext uri="{BB962C8B-B14F-4D97-AF65-F5344CB8AC3E}">
        <p14:creationId xmlns:p14="http://schemas.microsoft.com/office/powerpoint/2010/main" val="2092199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CAF72-B79C-8500-2B6D-DAB53D5BE76D}"/>
              </a:ext>
            </a:extLst>
          </p:cNvPr>
          <p:cNvSpPr>
            <a:spLocks noGrp="1"/>
          </p:cNvSpPr>
          <p:nvPr>
            <p:ph type="title"/>
          </p:nvPr>
        </p:nvSpPr>
        <p:spPr/>
        <p:txBody>
          <a:bodyPr/>
          <a:lstStyle/>
          <a:p>
            <a:r>
              <a:rPr lang="en-US" dirty="0" err="1"/>
              <a:t>Jparepository</a:t>
            </a:r>
            <a:r>
              <a:rPr lang="en-US" dirty="0"/>
              <a:t> – derived query methods</a:t>
            </a:r>
          </a:p>
        </p:txBody>
      </p:sp>
      <p:sp>
        <p:nvSpPr>
          <p:cNvPr id="3" name="Content Placeholder 2">
            <a:extLst>
              <a:ext uri="{FF2B5EF4-FFF2-40B4-BE49-F238E27FC236}">
                <a16:creationId xmlns:a16="http://schemas.microsoft.com/office/drawing/2014/main" id="{C5A7BA42-E203-9CE9-FACA-E03062F60A5A}"/>
              </a:ext>
            </a:extLst>
          </p:cNvPr>
          <p:cNvSpPr>
            <a:spLocks noGrp="1"/>
          </p:cNvSpPr>
          <p:nvPr>
            <p:ph idx="1"/>
          </p:nvPr>
        </p:nvSpPr>
        <p:spPr>
          <a:xfrm>
            <a:off x="581193" y="2685543"/>
            <a:ext cx="11029615" cy="743457"/>
          </a:xfrm>
        </p:spPr>
        <p:txBody>
          <a:bodyPr/>
          <a:lstStyle/>
          <a:p>
            <a:r>
              <a:rPr lang="en-US" dirty="0"/>
              <a:t>Every derived query method is split into two major parts: the </a:t>
            </a:r>
            <a:r>
              <a:rPr lang="en-US" b="1" dirty="0"/>
              <a:t>Subject</a:t>
            </a:r>
            <a:r>
              <a:rPr lang="en-US" dirty="0"/>
              <a:t> (what the query does) and the </a:t>
            </a:r>
            <a:r>
              <a:rPr lang="en-US" b="1" dirty="0"/>
              <a:t>Predicate</a:t>
            </a:r>
            <a:r>
              <a:rPr lang="en-US" dirty="0"/>
              <a:t> (the criteria/filters)</a:t>
            </a:r>
          </a:p>
        </p:txBody>
      </p:sp>
      <p:pic>
        <p:nvPicPr>
          <p:cNvPr id="5" name="Picture 4">
            <a:extLst>
              <a:ext uri="{FF2B5EF4-FFF2-40B4-BE49-F238E27FC236}">
                <a16:creationId xmlns:a16="http://schemas.microsoft.com/office/drawing/2014/main" id="{0D5A52F3-6B3D-A73C-C23F-26ACEDEB55ED}"/>
              </a:ext>
            </a:extLst>
          </p:cNvPr>
          <p:cNvPicPr>
            <a:picLocks noChangeAspect="1"/>
          </p:cNvPicPr>
          <p:nvPr/>
        </p:nvPicPr>
        <p:blipFill>
          <a:blip r:embed="rId2"/>
          <a:stretch>
            <a:fillRect/>
          </a:stretch>
        </p:blipFill>
        <p:spPr>
          <a:xfrm>
            <a:off x="2061598" y="4212088"/>
            <a:ext cx="8068801" cy="943107"/>
          </a:xfrm>
          <a:prstGeom prst="rect">
            <a:avLst/>
          </a:prstGeom>
        </p:spPr>
      </p:pic>
    </p:spTree>
    <p:extLst>
      <p:ext uri="{BB962C8B-B14F-4D97-AF65-F5344CB8AC3E}">
        <p14:creationId xmlns:p14="http://schemas.microsoft.com/office/powerpoint/2010/main" val="2780343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D8757-575A-A915-86E5-D725BA017F16}"/>
              </a:ext>
            </a:extLst>
          </p:cNvPr>
          <p:cNvSpPr>
            <a:spLocks noGrp="1"/>
          </p:cNvSpPr>
          <p:nvPr>
            <p:ph type="title"/>
          </p:nvPr>
        </p:nvSpPr>
        <p:spPr/>
        <p:txBody>
          <a:bodyPr/>
          <a:lstStyle/>
          <a:p>
            <a:r>
              <a:rPr lang="en-US" dirty="0" err="1"/>
              <a:t>Jparepository</a:t>
            </a:r>
            <a:r>
              <a:rPr lang="en-US" dirty="0"/>
              <a:t> – derived query methods</a:t>
            </a:r>
          </a:p>
        </p:txBody>
      </p:sp>
      <p:sp>
        <p:nvSpPr>
          <p:cNvPr id="5" name="Content Placeholder 4">
            <a:extLst>
              <a:ext uri="{FF2B5EF4-FFF2-40B4-BE49-F238E27FC236}">
                <a16:creationId xmlns:a16="http://schemas.microsoft.com/office/drawing/2014/main" id="{DF0FBB46-61C8-55CB-3F4C-22E477873F56}"/>
              </a:ext>
            </a:extLst>
          </p:cNvPr>
          <p:cNvSpPr txBox="1">
            <a:spLocks noGrp="1"/>
          </p:cNvSpPr>
          <p:nvPr>
            <p:ph idx="1"/>
          </p:nvPr>
        </p:nvSpPr>
        <p:spPr>
          <a:xfrm>
            <a:off x="581193" y="2163736"/>
            <a:ext cx="11029615" cy="2308324"/>
          </a:xfrm>
          <a:prstGeom prst="rect">
            <a:avLst/>
          </a:prstGeom>
          <a:noFill/>
        </p:spPr>
        <p:txBody>
          <a:bodyPr wrap="square">
            <a:spAutoFit/>
          </a:bodyPr>
          <a:lstStyle/>
          <a:p>
            <a:pPr marL="342900" marR="0" lvl="0" indent="-342900">
              <a:spcBef>
                <a:spcPts val="900"/>
              </a:spcBef>
              <a:spcAft>
                <a:spcPts val="900"/>
              </a:spcAft>
              <a:buFont typeface="Arial" panose="020B0604020202020204" pitchFamily="34" charset="0"/>
              <a:buChar char="•"/>
            </a:pPr>
            <a:r>
              <a:rPr lang="en-US" sz="1800" b="1" u="none" strike="noStrike" dirty="0">
                <a:effectLst/>
                <a:latin typeface="+mn-lt"/>
              </a:rPr>
              <a:t>Introducer modifiers:</a:t>
            </a:r>
          </a:p>
          <a:p>
            <a:pPr marL="666900" lvl="1" indent="-342900">
              <a:spcBef>
                <a:spcPts val="900"/>
              </a:spcBef>
              <a:spcAft>
                <a:spcPts val="900"/>
              </a:spcAft>
              <a:buFont typeface="Arial" panose="020B0604020202020204" pitchFamily="34" charset="0"/>
              <a:buChar char="•"/>
            </a:pPr>
            <a:r>
              <a:rPr lang="en-US" b="1" u="none" strike="noStrike" dirty="0">
                <a:effectLst/>
                <a:latin typeface="+mn-lt"/>
              </a:rPr>
              <a:t>Data Retrieval:</a:t>
            </a:r>
            <a:r>
              <a:rPr lang="en-US" b="0" u="none" strike="noStrike" dirty="0">
                <a:effectLst/>
                <a:latin typeface="+mn-lt"/>
              </a:rPr>
              <a:t> find...By, read...By, query...By, get...By</a:t>
            </a:r>
          </a:p>
          <a:p>
            <a:pPr marL="666900" lvl="1" indent="-342900">
              <a:spcBef>
                <a:spcPts val="900"/>
              </a:spcBef>
              <a:spcAft>
                <a:spcPts val="900"/>
              </a:spcAft>
              <a:buFont typeface="Arial" panose="020B0604020202020204" pitchFamily="34" charset="0"/>
              <a:buChar char="•"/>
            </a:pPr>
            <a:r>
              <a:rPr lang="en-US" b="1" u="none" strike="noStrike" dirty="0">
                <a:effectLst/>
                <a:latin typeface="+mn-lt"/>
              </a:rPr>
              <a:t>Counting:</a:t>
            </a:r>
            <a:r>
              <a:rPr lang="en-US" b="0" u="none" strike="noStrike" dirty="0">
                <a:effectLst/>
                <a:latin typeface="+mn-lt"/>
              </a:rPr>
              <a:t> count...By (returns a long)</a:t>
            </a:r>
          </a:p>
          <a:p>
            <a:pPr marL="666900" lvl="1" indent="-342900">
              <a:spcBef>
                <a:spcPts val="900"/>
              </a:spcBef>
              <a:spcAft>
                <a:spcPts val="900"/>
              </a:spcAft>
              <a:buFont typeface="Arial" panose="020B0604020202020204" pitchFamily="34" charset="0"/>
              <a:buChar char="•"/>
            </a:pPr>
            <a:r>
              <a:rPr lang="en-US" b="1" u="none" strike="noStrike" dirty="0">
                <a:effectLst/>
                <a:latin typeface="+mn-lt"/>
              </a:rPr>
              <a:t>Existence Checks:</a:t>
            </a:r>
            <a:r>
              <a:rPr lang="en-US" b="0" u="none" strike="noStrike" dirty="0">
                <a:effectLst/>
                <a:latin typeface="+mn-lt"/>
              </a:rPr>
              <a:t> exists...By (returns a </a:t>
            </a:r>
            <a:r>
              <a:rPr lang="en-US" b="0" u="none" strike="noStrike" dirty="0" err="1">
                <a:effectLst/>
                <a:latin typeface="+mn-lt"/>
              </a:rPr>
              <a:t>boolean</a:t>
            </a:r>
            <a:r>
              <a:rPr lang="en-US" b="0" u="none" strike="noStrike" dirty="0">
                <a:effectLst/>
                <a:latin typeface="+mn-lt"/>
              </a:rPr>
              <a:t>)</a:t>
            </a:r>
          </a:p>
          <a:p>
            <a:pPr marL="666900" lvl="1" indent="-342900">
              <a:spcBef>
                <a:spcPts val="900"/>
              </a:spcBef>
              <a:spcAft>
                <a:spcPts val="900"/>
              </a:spcAft>
              <a:buFont typeface="Arial" panose="020B0604020202020204" pitchFamily="34" charset="0"/>
              <a:buChar char="•"/>
            </a:pPr>
            <a:r>
              <a:rPr lang="en-US" b="1" u="none" strike="noStrike" dirty="0">
                <a:effectLst/>
                <a:latin typeface="+mn-lt"/>
              </a:rPr>
              <a:t>Result Limiting Modifiers:</a:t>
            </a:r>
            <a:r>
              <a:rPr lang="en-US" b="0" u="none" strike="noStrike" dirty="0">
                <a:effectLst/>
                <a:latin typeface="+mn-lt"/>
              </a:rPr>
              <a:t> You can inject First or Top to limit records</a:t>
            </a:r>
            <a:endParaRPr lang="en-US" sz="1000" b="0" u="none" strike="noStrike" dirty="0">
              <a:effectLst/>
              <a:latin typeface="Google Sans"/>
            </a:endParaRPr>
          </a:p>
        </p:txBody>
      </p:sp>
      <p:sp>
        <p:nvSpPr>
          <p:cNvPr id="7" name="TextBox 6">
            <a:extLst>
              <a:ext uri="{FF2B5EF4-FFF2-40B4-BE49-F238E27FC236}">
                <a16:creationId xmlns:a16="http://schemas.microsoft.com/office/drawing/2014/main" id="{1A3BCE50-A94D-9D05-5DEF-91B504CA83C7}"/>
              </a:ext>
            </a:extLst>
          </p:cNvPr>
          <p:cNvSpPr txBox="1"/>
          <p:nvPr/>
        </p:nvSpPr>
        <p:spPr>
          <a:xfrm>
            <a:off x="3047114" y="5147286"/>
            <a:ext cx="6097772" cy="646331"/>
          </a:xfrm>
          <a:prstGeom prst="rect">
            <a:avLst/>
          </a:prstGeom>
          <a:noFill/>
        </p:spPr>
        <p:txBody>
          <a:bodyPr wrap="square">
            <a:spAutoFit/>
          </a:bodyPr>
          <a:lstStyle/>
          <a:p>
            <a:r>
              <a:rPr lang="en-US" dirty="0"/>
              <a:t>User </a:t>
            </a:r>
            <a:r>
              <a:rPr lang="en-US" dirty="0" err="1"/>
              <a:t>findFirstByOrderByRegistrationDateDesc</a:t>
            </a:r>
            <a:r>
              <a:rPr lang="en-US" dirty="0"/>
              <a:t>(); </a:t>
            </a:r>
          </a:p>
          <a:p>
            <a:r>
              <a:rPr lang="en-US" dirty="0"/>
              <a:t>List&lt;User&gt; findTop5ByStatus(String status);</a:t>
            </a:r>
          </a:p>
        </p:txBody>
      </p:sp>
    </p:spTree>
    <p:extLst>
      <p:ext uri="{BB962C8B-B14F-4D97-AF65-F5344CB8AC3E}">
        <p14:creationId xmlns:p14="http://schemas.microsoft.com/office/powerpoint/2010/main" val="2040570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A39C-881B-9846-CDA6-07DAB32A2262}"/>
              </a:ext>
            </a:extLst>
          </p:cNvPr>
          <p:cNvSpPr>
            <a:spLocks noGrp="1"/>
          </p:cNvSpPr>
          <p:nvPr>
            <p:ph type="title"/>
          </p:nvPr>
        </p:nvSpPr>
        <p:spPr/>
        <p:txBody>
          <a:bodyPr/>
          <a:lstStyle/>
          <a:p>
            <a:r>
              <a:rPr lang="en-US" dirty="0" err="1"/>
              <a:t>Jparepository</a:t>
            </a:r>
            <a:r>
              <a:rPr lang="en-US" dirty="0"/>
              <a:t> – derived query methods</a:t>
            </a:r>
          </a:p>
        </p:txBody>
      </p:sp>
      <p:sp>
        <p:nvSpPr>
          <p:cNvPr id="3" name="Content Placeholder 2">
            <a:extLst>
              <a:ext uri="{FF2B5EF4-FFF2-40B4-BE49-F238E27FC236}">
                <a16:creationId xmlns:a16="http://schemas.microsoft.com/office/drawing/2014/main" id="{A33F0A92-7421-69EF-EE75-789791E6C9AE}"/>
              </a:ext>
            </a:extLst>
          </p:cNvPr>
          <p:cNvSpPr>
            <a:spLocks noGrp="1"/>
          </p:cNvSpPr>
          <p:nvPr>
            <p:ph idx="1"/>
          </p:nvPr>
        </p:nvSpPr>
        <p:spPr/>
        <p:txBody>
          <a:bodyPr/>
          <a:lstStyle/>
          <a:p>
            <a:r>
              <a:rPr lang="en-US" dirty="0"/>
              <a:t>Everything after the keyword </a:t>
            </a:r>
            <a:r>
              <a:rPr lang="en-US" b="1" dirty="0"/>
              <a:t>By</a:t>
            </a:r>
            <a:r>
              <a:rPr lang="en-US" dirty="0"/>
              <a:t> maps directly to the entity's properties and filtering criteria. </a:t>
            </a:r>
          </a:p>
          <a:p>
            <a:pPr lvl="1"/>
            <a:r>
              <a:rPr lang="en-US" b="1" dirty="0"/>
              <a:t>Equality (Default):</a:t>
            </a:r>
            <a:r>
              <a:rPr lang="en-US" dirty="0"/>
              <a:t> If you just name a field, Spring assumes an exact match comparison.</a:t>
            </a:r>
          </a:p>
          <a:p>
            <a:pPr lvl="1"/>
            <a:r>
              <a:rPr lang="en-US" b="1" dirty="0"/>
              <a:t>Logical Operators:</a:t>
            </a:r>
            <a:r>
              <a:rPr lang="en-US" dirty="0"/>
              <a:t> Combine multiple fields using And or </a:t>
            </a:r>
            <a:r>
              <a:rPr lang="en-US" dirty="0" err="1"/>
              <a:t>Or</a:t>
            </a:r>
            <a:r>
              <a:rPr lang="en-US" dirty="0"/>
              <a:t>.</a:t>
            </a:r>
          </a:p>
          <a:p>
            <a:pPr lvl="1"/>
            <a:r>
              <a:rPr lang="en-US" b="1" dirty="0"/>
              <a:t>Property Expressions:</a:t>
            </a:r>
            <a:r>
              <a:rPr lang="en-US" dirty="0"/>
              <a:t> Keywords that change the comparison type (e.g., </a:t>
            </a:r>
            <a:r>
              <a:rPr lang="en-US" dirty="0" err="1"/>
              <a:t>LessThan</a:t>
            </a:r>
            <a:r>
              <a:rPr lang="en-US" dirty="0"/>
              <a:t>, Like, Containing).</a:t>
            </a:r>
          </a:p>
        </p:txBody>
      </p:sp>
    </p:spTree>
    <p:extLst>
      <p:ext uri="{BB962C8B-B14F-4D97-AF65-F5344CB8AC3E}">
        <p14:creationId xmlns:p14="http://schemas.microsoft.com/office/powerpoint/2010/main" val="642515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F4552-598E-8F2A-5499-FC3C754EEE6D}"/>
              </a:ext>
            </a:extLst>
          </p:cNvPr>
          <p:cNvSpPr>
            <a:spLocks noGrp="1"/>
          </p:cNvSpPr>
          <p:nvPr>
            <p:ph type="title"/>
          </p:nvPr>
        </p:nvSpPr>
        <p:spPr/>
        <p:txBody>
          <a:bodyPr/>
          <a:lstStyle/>
          <a:p>
            <a:r>
              <a:rPr lang="en-US" dirty="0" err="1"/>
              <a:t>Jparepository</a:t>
            </a:r>
            <a:r>
              <a:rPr lang="en-US" dirty="0"/>
              <a:t> – derived query methods</a:t>
            </a:r>
          </a:p>
        </p:txBody>
      </p:sp>
      <p:graphicFrame>
        <p:nvGraphicFramePr>
          <p:cNvPr id="6" name="Table 5">
            <a:extLst>
              <a:ext uri="{FF2B5EF4-FFF2-40B4-BE49-F238E27FC236}">
                <a16:creationId xmlns:a16="http://schemas.microsoft.com/office/drawing/2014/main" id="{20A4EBB9-BE4D-0D68-6A0F-B7DEFB8C5057}"/>
              </a:ext>
            </a:extLst>
          </p:cNvPr>
          <p:cNvGraphicFramePr>
            <a:graphicFrameLocks noGrp="1"/>
          </p:cNvGraphicFramePr>
          <p:nvPr>
            <p:extLst>
              <p:ext uri="{D42A27DB-BD31-4B8C-83A1-F6EECF244321}">
                <p14:modId xmlns:p14="http://schemas.microsoft.com/office/powerpoint/2010/main" val="598996642"/>
              </p:ext>
            </p:extLst>
          </p:nvPr>
        </p:nvGraphicFramePr>
        <p:xfrm>
          <a:off x="1798647" y="2156624"/>
          <a:ext cx="8594706" cy="3999220"/>
        </p:xfrm>
        <a:graphic>
          <a:graphicData uri="http://schemas.openxmlformats.org/drawingml/2006/table">
            <a:tbl>
              <a:tblPr>
                <a:tableStyleId>{5C22544A-7EE6-4342-B048-85BDC9FD1C3A}</a:tableStyleId>
              </a:tblPr>
              <a:tblGrid>
                <a:gridCol w="4297353">
                  <a:extLst>
                    <a:ext uri="{9D8B030D-6E8A-4147-A177-3AD203B41FA5}">
                      <a16:colId xmlns:a16="http://schemas.microsoft.com/office/drawing/2014/main" val="3800346186"/>
                    </a:ext>
                  </a:extLst>
                </a:gridCol>
                <a:gridCol w="4297353">
                  <a:extLst>
                    <a:ext uri="{9D8B030D-6E8A-4147-A177-3AD203B41FA5}">
                      <a16:colId xmlns:a16="http://schemas.microsoft.com/office/drawing/2014/main" val="1906749517"/>
                    </a:ext>
                  </a:extLst>
                </a:gridCol>
              </a:tblGrid>
              <a:tr h="399922">
                <a:tc>
                  <a:txBody>
                    <a:bodyPr/>
                    <a:lstStyle/>
                    <a:p>
                      <a:pPr marL="0" marR="0" algn="l">
                        <a:buNone/>
                      </a:pPr>
                      <a:r>
                        <a:rPr lang="en-US" sz="1600" b="1" dirty="0">
                          <a:effectLst/>
                        </a:rPr>
                        <a:t>Keyword / Condition</a:t>
                      </a:r>
                      <a:endParaRPr lang="en-US" sz="1600" b="1" i="0" dirty="0">
                        <a:solidFill>
                          <a:srgbClr val="FFFFFF"/>
                        </a:solidFill>
                        <a:effectLst/>
                        <a:latin typeface="-apple-system-body"/>
                      </a:endParaRPr>
                    </a:p>
                  </a:txBody>
                  <a:tcPr anchor="ctr"/>
                </a:tc>
                <a:tc>
                  <a:txBody>
                    <a:bodyPr/>
                    <a:lstStyle/>
                    <a:p>
                      <a:pPr marL="0" marR="0" algn="l">
                        <a:buNone/>
                      </a:pPr>
                      <a:r>
                        <a:rPr lang="en-US" sz="1600" b="1" dirty="0">
                          <a:effectLst/>
                        </a:rPr>
                        <a:t>Method Example</a:t>
                      </a:r>
                      <a:endParaRPr lang="en-US" sz="1600" b="1" i="0" dirty="0">
                        <a:solidFill>
                          <a:srgbClr val="FFFFFF"/>
                        </a:solidFill>
                        <a:effectLst/>
                        <a:latin typeface="-apple-system-body"/>
                      </a:endParaRPr>
                    </a:p>
                  </a:txBody>
                  <a:tcPr anchor="ctr"/>
                </a:tc>
                <a:extLst>
                  <a:ext uri="{0D108BD9-81ED-4DB2-BD59-A6C34878D82A}">
                    <a16:rowId xmlns:a16="http://schemas.microsoft.com/office/drawing/2014/main" val="2522902549"/>
                  </a:ext>
                </a:extLst>
              </a:tr>
              <a:tr h="399922">
                <a:tc>
                  <a:txBody>
                    <a:bodyPr/>
                    <a:lstStyle/>
                    <a:p>
                      <a:pPr marL="0" marR="0" algn="l">
                        <a:buNone/>
                      </a:pPr>
                      <a:r>
                        <a:rPr lang="en-US" sz="1600">
                          <a:effectLst/>
                        </a:rPr>
                        <a:t>Equality</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findByEmail(String email)</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872420302"/>
                  </a:ext>
                </a:extLst>
              </a:tr>
              <a:tr h="399922">
                <a:tc>
                  <a:txBody>
                    <a:bodyPr/>
                    <a:lstStyle/>
                    <a:p>
                      <a:pPr marL="0" marR="0" algn="l">
                        <a:buNone/>
                      </a:pPr>
                      <a:r>
                        <a:rPr lang="en-US" sz="1600">
                          <a:effectLst/>
                        </a:rPr>
                        <a:t>And</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findByFirstNameAndLastName(String f, String l)</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416762696"/>
                  </a:ext>
                </a:extLst>
              </a:tr>
              <a:tr h="399922">
                <a:tc>
                  <a:txBody>
                    <a:bodyPr/>
                    <a:lstStyle/>
                    <a:p>
                      <a:pPr marL="0" marR="0" algn="l">
                        <a:buNone/>
                      </a:pPr>
                      <a:r>
                        <a:rPr lang="en-US" sz="1600">
                          <a:effectLst/>
                        </a:rPr>
                        <a:t>Or</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findByStatusOrRole(String s, String r)</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221828974"/>
                  </a:ext>
                </a:extLst>
              </a:tr>
              <a:tr h="399922">
                <a:tc>
                  <a:txBody>
                    <a:bodyPr/>
                    <a:lstStyle/>
                    <a:p>
                      <a:pPr marL="0" marR="0" algn="l">
                        <a:buNone/>
                      </a:pPr>
                      <a:r>
                        <a:rPr lang="en-US" sz="1600">
                          <a:effectLst/>
                        </a:rPr>
                        <a:t>Between</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findByAgeBetween(int start, int end)</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73934656"/>
                  </a:ext>
                </a:extLst>
              </a:tr>
              <a:tr h="399922">
                <a:tc>
                  <a:txBody>
                    <a:bodyPr/>
                    <a:lstStyle/>
                    <a:p>
                      <a:pPr marL="0" marR="0" algn="l">
                        <a:buNone/>
                      </a:pPr>
                      <a:r>
                        <a:rPr lang="en-US" sz="1600">
                          <a:effectLst/>
                        </a:rPr>
                        <a:t>LessThan / GreaterThan</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findByPriceLessThan(double price)</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1127594058"/>
                  </a:ext>
                </a:extLst>
              </a:tr>
              <a:tr h="399922">
                <a:tc>
                  <a:txBody>
                    <a:bodyPr/>
                    <a:lstStyle/>
                    <a:p>
                      <a:pPr marL="0" marR="0" algn="l">
                        <a:buNone/>
                      </a:pPr>
                      <a:r>
                        <a:rPr lang="en-US" sz="1600">
                          <a:effectLst/>
                        </a:rPr>
                        <a:t>Like / Containing / In</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findByTitleContaining(String keyword)</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2666326254"/>
                  </a:ext>
                </a:extLst>
              </a:tr>
              <a:tr h="399922">
                <a:tc>
                  <a:txBody>
                    <a:bodyPr/>
                    <a:lstStyle/>
                    <a:p>
                      <a:pPr marL="0" marR="0" algn="l">
                        <a:buNone/>
                      </a:pPr>
                      <a:r>
                        <a:rPr lang="en-US" sz="1600">
                          <a:effectLst/>
                        </a:rPr>
                        <a:t>Null Checks</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findByDeletedAtIsNull()</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3630076533"/>
                  </a:ext>
                </a:extLst>
              </a:tr>
              <a:tr h="399922">
                <a:tc>
                  <a:txBody>
                    <a:bodyPr/>
                    <a:lstStyle/>
                    <a:p>
                      <a:pPr marL="0" marR="0" algn="l">
                        <a:buNone/>
                      </a:pPr>
                      <a:r>
                        <a:rPr lang="en-US" sz="1600">
                          <a:effectLst/>
                        </a:rPr>
                        <a:t>IgnoreCase</a:t>
                      </a:r>
                      <a:endParaRPr lang="en-US" sz="1600" b="0" i="0">
                        <a:solidFill>
                          <a:srgbClr val="FFFFFF"/>
                        </a:solidFill>
                        <a:effectLst/>
                        <a:latin typeface="-apple-system-body"/>
                      </a:endParaRPr>
                    </a:p>
                  </a:txBody>
                  <a:tcPr anchor="ctr"/>
                </a:tc>
                <a:tc>
                  <a:txBody>
                    <a:bodyPr/>
                    <a:lstStyle/>
                    <a:p>
                      <a:pPr marL="0" marR="0" algn="l">
                        <a:buNone/>
                      </a:pPr>
                      <a:r>
                        <a:rPr lang="en-US" sz="1600">
                          <a:effectLst/>
                        </a:rPr>
                        <a:t>findByUsernameIgnoreCase(String user)</a:t>
                      </a:r>
                      <a:endParaRPr lang="en-US" sz="1600" b="0" i="0">
                        <a:solidFill>
                          <a:srgbClr val="FFFFFF"/>
                        </a:solidFill>
                        <a:effectLst/>
                        <a:latin typeface="-apple-system-body"/>
                      </a:endParaRPr>
                    </a:p>
                  </a:txBody>
                  <a:tcPr anchor="ctr"/>
                </a:tc>
                <a:extLst>
                  <a:ext uri="{0D108BD9-81ED-4DB2-BD59-A6C34878D82A}">
                    <a16:rowId xmlns:a16="http://schemas.microsoft.com/office/drawing/2014/main" val="959836801"/>
                  </a:ext>
                </a:extLst>
              </a:tr>
              <a:tr h="399922">
                <a:tc>
                  <a:txBody>
                    <a:bodyPr/>
                    <a:lstStyle/>
                    <a:p>
                      <a:pPr marL="0" marR="0" algn="l">
                        <a:buNone/>
                      </a:pPr>
                      <a:r>
                        <a:rPr lang="en-US" sz="1600">
                          <a:effectLst/>
                        </a:rPr>
                        <a:t>Sorting</a:t>
                      </a:r>
                      <a:endParaRPr lang="en-US" sz="1600" b="0" i="0">
                        <a:solidFill>
                          <a:srgbClr val="FFFFFF"/>
                        </a:solidFill>
                        <a:effectLst/>
                        <a:latin typeface="-apple-system-body"/>
                      </a:endParaRPr>
                    </a:p>
                  </a:txBody>
                  <a:tcPr anchor="ctr"/>
                </a:tc>
                <a:tc>
                  <a:txBody>
                    <a:bodyPr/>
                    <a:lstStyle/>
                    <a:p>
                      <a:pPr marL="0" marR="0" algn="l">
                        <a:buNone/>
                      </a:pPr>
                      <a:r>
                        <a:rPr lang="en-US" sz="1600" dirty="0" err="1">
                          <a:effectLst/>
                        </a:rPr>
                        <a:t>findByStatusOrderByLastNameAsc</a:t>
                      </a:r>
                      <a:r>
                        <a:rPr lang="en-US" sz="1600" dirty="0">
                          <a:effectLst/>
                        </a:rPr>
                        <a:t>(String s)</a:t>
                      </a:r>
                      <a:endParaRPr lang="en-US" sz="1600" b="0" i="0" dirty="0">
                        <a:solidFill>
                          <a:srgbClr val="FFFFFF"/>
                        </a:solidFill>
                        <a:effectLst/>
                        <a:latin typeface="-apple-system-body"/>
                      </a:endParaRPr>
                    </a:p>
                  </a:txBody>
                  <a:tcPr anchor="ctr"/>
                </a:tc>
                <a:extLst>
                  <a:ext uri="{0D108BD9-81ED-4DB2-BD59-A6C34878D82A}">
                    <a16:rowId xmlns:a16="http://schemas.microsoft.com/office/drawing/2014/main" val="4177346045"/>
                  </a:ext>
                </a:extLst>
              </a:tr>
            </a:tbl>
          </a:graphicData>
        </a:graphic>
      </p:graphicFrame>
    </p:spTree>
    <p:extLst>
      <p:ext uri="{BB962C8B-B14F-4D97-AF65-F5344CB8AC3E}">
        <p14:creationId xmlns:p14="http://schemas.microsoft.com/office/powerpoint/2010/main" val="3005442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C515-2606-6CE2-FF29-D4F22C1CE375}"/>
              </a:ext>
            </a:extLst>
          </p:cNvPr>
          <p:cNvSpPr>
            <a:spLocks noGrp="1"/>
          </p:cNvSpPr>
          <p:nvPr>
            <p:ph type="title"/>
          </p:nvPr>
        </p:nvSpPr>
        <p:spPr/>
        <p:txBody>
          <a:bodyPr/>
          <a:lstStyle/>
          <a:p>
            <a:r>
              <a:rPr lang="en-US" dirty="0"/>
              <a:t>Pitfalls of Derived Query methods</a:t>
            </a:r>
          </a:p>
        </p:txBody>
      </p:sp>
      <p:sp>
        <p:nvSpPr>
          <p:cNvPr id="3" name="Content Placeholder 2">
            <a:extLst>
              <a:ext uri="{FF2B5EF4-FFF2-40B4-BE49-F238E27FC236}">
                <a16:creationId xmlns:a16="http://schemas.microsoft.com/office/drawing/2014/main" id="{63EDFDF8-7F02-093C-8DEB-39290696C378}"/>
              </a:ext>
            </a:extLst>
          </p:cNvPr>
          <p:cNvSpPr>
            <a:spLocks noGrp="1"/>
          </p:cNvSpPr>
          <p:nvPr>
            <p:ph idx="1"/>
          </p:nvPr>
        </p:nvSpPr>
        <p:spPr>
          <a:xfrm>
            <a:off x="581192" y="1869926"/>
            <a:ext cx="11029615" cy="3552679"/>
          </a:xfrm>
        </p:spPr>
        <p:txBody>
          <a:bodyPr>
            <a:normAutofit lnSpcReduction="10000"/>
          </a:bodyPr>
          <a:lstStyle/>
          <a:p>
            <a:r>
              <a:rPr lang="en-US" dirty="0"/>
              <a:t>Avoid complex relationship traversal</a:t>
            </a:r>
          </a:p>
          <a:p>
            <a:r>
              <a:rPr lang="en-US" dirty="0"/>
              <a:t>Avoid long method names:</a:t>
            </a:r>
          </a:p>
          <a:p>
            <a:pPr lvl="1"/>
            <a:r>
              <a:rPr lang="en-US" dirty="0"/>
              <a:t>Instead of this (in repo):</a:t>
            </a:r>
          </a:p>
          <a:p>
            <a:pPr marL="324000" lvl="1" indent="0">
              <a:buNone/>
            </a:pPr>
            <a:endParaRPr lang="en-US" dirty="0"/>
          </a:p>
          <a:p>
            <a:pPr marL="324000" lvl="1" indent="0">
              <a:buNone/>
            </a:pPr>
            <a:endParaRPr lang="en-US" dirty="0"/>
          </a:p>
          <a:p>
            <a:pPr lvl="1"/>
            <a:r>
              <a:rPr lang="en-US" dirty="0"/>
              <a:t>We could do this (in repo):</a:t>
            </a:r>
          </a:p>
          <a:p>
            <a:pPr lvl="1"/>
            <a:endParaRPr lang="en-US" dirty="0"/>
          </a:p>
          <a:p>
            <a:pPr lvl="1"/>
            <a:endParaRPr lang="en-US" dirty="0"/>
          </a:p>
          <a:p>
            <a:pPr lvl="1"/>
            <a:endParaRPr lang="en-US" dirty="0"/>
          </a:p>
          <a:p>
            <a:pPr lvl="1"/>
            <a:r>
              <a:rPr lang="en-US" dirty="0"/>
              <a:t>Then our service can:</a:t>
            </a:r>
          </a:p>
        </p:txBody>
      </p:sp>
      <p:sp>
        <p:nvSpPr>
          <p:cNvPr id="5" name="TextBox 4">
            <a:extLst>
              <a:ext uri="{FF2B5EF4-FFF2-40B4-BE49-F238E27FC236}">
                <a16:creationId xmlns:a16="http://schemas.microsoft.com/office/drawing/2014/main" id="{6D868B76-CA5F-8226-7DF0-245E153A851B}"/>
              </a:ext>
            </a:extLst>
          </p:cNvPr>
          <p:cNvSpPr txBox="1"/>
          <p:nvPr/>
        </p:nvSpPr>
        <p:spPr>
          <a:xfrm>
            <a:off x="2400301" y="3029130"/>
            <a:ext cx="6097772" cy="369332"/>
          </a:xfrm>
          <a:prstGeom prst="rect">
            <a:avLst/>
          </a:prstGeom>
          <a:noFill/>
        </p:spPr>
        <p:txBody>
          <a:bodyPr wrap="square">
            <a:spAutoFit/>
          </a:bodyPr>
          <a:lstStyle/>
          <a:p>
            <a:r>
              <a:rPr lang="en-US" dirty="0"/>
              <a:t>List&lt;Student&gt; </a:t>
            </a:r>
            <a:r>
              <a:rPr lang="en-US" dirty="0" err="1"/>
              <a:t>findByLastNameOrderByFirstNameAsc</a:t>
            </a:r>
            <a:r>
              <a:rPr lang="en-US" dirty="0"/>
              <a:t>();</a:t>
            </a:r>
          </a:p>
        </p:txBody>
      </p:sp>
      <p:sp>
        <p:nvSpPr>
          <p:cNvPr id="7" name="TextBox 6">
            <a:extLst>
              <a:ext uri="{FF2B5EF4-FFF2-40B4-BE49-F238E27FC236}">
                <a16:creationId xmlns:a16="http://schemas.microsoft.com/office/drawing/2014/main" id="{6DB5B9AA-7714-16D1-DB39-58521C9A7484}"/>
              </a:ext>
            </a:extLst>
          </p:cNvPr>
          <p:cNvSpPr txBox="1"/>
          <p:nvPr/>
        </p:nvSpPr>
        <p:spPr>
          <a:xfrm>
            <a:off x="2400301" y="3957501"/>
            <a:ext cx="6097772" cy="1200329"/>
          </a:xfrm>
          <a:prstGeom prst="rect">
            <a:avLst/>
          </a:prstGeom>
          <a:noFill/>
        </p:spPr>
        <p:txBody>
          <a:bodyPr wrap="square">
            <a:spAutoFit/>
          </a:bodyPr>
          <a:lstStyle/>
          <a:p>
            <a:r>
              <a:rPr lang="en-US" dirty="0"/>
              <a:t>List&lt;Student&gt; </a:t>
            </a:r>
            <a:r>
              <a:rPr lang="en-US" dirty="0" err="1"/>
              <a:t>findByLastName</a:t>
            </a:r>
            <a:r>
              <a:rPr lang="en-US" dirty="0"/>
              <a:t>(</a:t>
            </a:r>
          </a:p>
          <a:p>
            <a:r>
              <a:rPr lang="en-US" dirty="0"/>
              <a:t>    String </a:t>
            </a:r>
            <a:r>
              <a:rPr lang="en-US" dirty="0" err="1"/>
              <a:t>lastName</a:t>
            </a:r>
            <a:r>
              <a:rPr lang="en-US" dirty="0"/>
              <a:t>,</a:t>
            </a:r>
          </a:p>
          <a:p>
            <a:r>
              <a:rPr lang="en-US" dirty="0"/>
              <a:t>    Sort </a:t>
            </a:r>
            <a:r>
              <a:rPr lang="en-US" dirty="0" err="1"/>
              <a:t>sort</a:t>
            </a:r>
            <a:endParaRPr lang="en-US" dirty="0"/>
          </a:p>
          <a:p>
            <a:r>
              <a:rPr lang="en-US" dirty="0"/>
              <a:t>);</a:t>
            </a:r>
          </a:p>
        </p:txBody>
      </p:sp>
      <p:sp>
        <p:nvSpPr>
          <p:cNvPr id="9" name="TextBox 8">
            <a:extLst>
              <a:ext uri="{FF2B5EF4-FFF2-40B4-BE49-F238E27FC236}">
                <a16:creationId xmlns:a16="http://schemas.microsoft.com/office/drawing/2014/main" id="{6C223FF4-22E7-0B5F-3103-16860ACD5A16}"/>
              </a:ext>
            </a:extLst>
          </p:cNvPr>
          <p:cNvSpPr txBox="1"/>
          <p:nvPr/>
        </p:nvSpPr>
        <p:spPr>
          <a:xfrm>
            <a:off x="2400301" y="5422605"/>
            <a:ext cx="6097772" cy="1200329"/>
          </a:xfrm>
          <a:prstGeom prst="rect">
            <a:avLst/>
          </a:prstGeom>
          <a:noFill/>
        </p:spPr>
        <p:txBody>
          <a:bodyPr wrap="square">
            <a:spAutoFit/>
          </a:bodyPr>
          <a:lstStyle/>
          <a:p>
            <a:r>
              <a:rPr lang="en-US" dirty="0" err="1"/>
              <a:t>studentRepository.findByLastName</a:t>
            </a:r>
            <a:r>
              <a:rPr lang="en-US" dirty="0"/>
              <a:t>(</a:t>
            </a:r>
          </a:p>
          <a:p>
            <a:r>
              <a:rPr lang="en-US" dirty="0"/>
              <a:t>    "Smith",</a:t>
            </a:r>
          </a:p>
          <a:p>
            <a:r>
              <a:rPr lang="en-US" dirty="0"/>
              <a:t>    Sort.by("</a:t>
            </a:r>
            <a:r>
              <a:rPr lang="en-US" dirty="0" err="1"/>
              <a:t>firstName</a:t>
            </a:r>
            <a:r>
              <a:rPr lang="en-US" dirty="0"/>
              <a:t>").ascending()</a:t>
            </a:r>
          </a:p>
          <a:p>
            <a:r>
              <a:rPr lang="en-US" dirty="0"/>
              <a:t>);</a:t>
            </a:r>
          </a:p>
        </p:txBody>
      </p:sp>
    </p:spTree>
    <p:extLst>
      <p:ext uri="{BB962C8B-B14F-4D97-AF65-F5344CB8AC3E}">
        <p14:creationId xmlns:p14="http://schemas.microsoft.com/office/powerpoint/2010/main" val="22424503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6A8ED-86B2-9064-A873-C69510159503}"/>
              </a:ext>
            </a:extLst>
          </p:cNvPr>
          <p:cNvSpPr>
            <a:spLocks noGrp="1"/>
          </p:cNvSpPr>
          <p:nvPr>
            <p:ph type="title"/>
          </p:nvPr>
        </p:nvSpPr>
        <p:spPr/>
        <p:txBody>
          <a:bodyPr/>
          <a:lstStyle/>
          <a:p>
            <a:r>
              <a:rPr lang="en-US" dirty="0"/>
              <a:t>@query</a:t>
            </a:r>
          </a:p>
        </p:txBody>
      </p:sp>
      <p:sp>
        <p:nvSpPr>
          <p:cNvPr id="3" name="Content Placeholder 2">
            <a:extLst>
              <a:ext uri="{FF2B5EF4-FFF2-40B4-BE49-F238E27FC236}">
                <a16:creationId xmlns:a16="http://schemas.microsoft.com/office/drawing/2014/main" id="{B912218D-C0F2-DF6F-0637-747A3320794D}"/>
              </a:ext>
            </a:extLst>
          </p:cNvPr>
          <p:cNvSpPr>
            <a:spLocks noGrp="1"/>
          </p:cNvSpPr>
          <p:nvPr>
            <p:ph idx="1"/>
          </p:nvPr>
        </p:nvSpPr>
        <p:spPr>
          <a:xfrm>
            <a:off x="581192" y="2180497"/>
            <a:ext cx="11029615" cy="1013800"/>
          </a:xfrm>
        </p:spPr>
        <p:txBody>
          <a:bodyPr/>
          <a:lstStyle/>
          <a:p>
            <a:r>
              <a:rPr lang="en-US" dirty="0"/>
              <a:t>When derived query methods aren’t enough, we can always use @Query to write JPQL</a:t>
            </a:r>
          </a:p>
          <a:p>
            <a:r>
              <a:rPr lang="en-US" dirty="0"/>
              <a:t>This is great for more complex queries</a:t>
            </a:r>
          </a:p>
        </p:txBody>
      </p:sp>
      <p:pic>
        <p:nvPicPr>
          <p:cNvPr id="7" name="Picture 6">
            <a:extLst>
              <a:ext uri="{FF2B5EF4-FFF2-40B4-BE49-F238E27FC236}">
                <a16:creationId xmlns:a16="http://schemas.microsoft.com/office/drawing/2014/main" id="{EBB29642-FA19-9307-B40A-E185ECA80D8E}"/>
              </a:ext>
            </a:extLst>
          </p:cNvPr>
          <p:cNvPicPr>
            <a:picLocks noChangeAspect="1"/>
          </p:cNvPicPr>
          <p:nvPr/>
        </p:nvPicPr>
        <p:blipFill>
          <a:blip r:embed="rId2"/>
          <a:stretch>
            <a:fillRect/>
          </a:stretch>
        </p:blipFill>
        <p:spPr>
          <a:xfrm>
            <a:off x="2599836" y="3476060"/>
            <a:ext cx="6992326" cy="2429214"/>
          </a:xfrm>
          <a:prstGeom prst="rect">
            <a:avLst/>
          </a:prstGeom>
        </p:spPr>
      </p:pic>
    </p:spTree>
    <p:extLst>
      <p:ext uri="{BB962C8B-B14F-4D97-AF65-F5344CB8AC3E}">
        <p14:creationId xmlns:p14="http://schemas.microsoft.com/office/powerpoint/2010/main" val="3892297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CDC7B-9684-F29E-D68A-31D02B63B820}"/>
              </a:ext>
            </a:extLst>
          </p:cNvPr>
          <p:cNvSpPr>
            <a:spLocks noGrp="1"/>
          </p:cNvSpPr>
          <p:nvPr>
            <p:ph type="title"/>
          </p:nvPr>
        </p:nvSpPr>
        <p:spPr/>
        <p:txBody>
          <a:bodyPr/>
          <a:lstStyle/>
          <a:p>
            <a:r>
              <a:rPr lang="en-US" dirty="0"/>
              <a:t>Pagination</a:t>
            </a:r>
          </a:p>
        </p:txBody>
      </p:sp>
      <p:sp>
        <p:nvSpPr>
          <p:cNvPr id="3" name="Content Placeholder 2">
            <a:extLst>
              <a:ext uri="{FF2B5EF4-FFF2-40B4-BE49-F238E27FC236}">
                <a16:creationId xmlns:a16="http://schemas.microsoft.com/office/drawing/2014/main" id="{CC9715A5-7941-E64D-5F8E-EDF0DAC1AC3F}"/>
              </a:ext>
            </a:extLst>
          </p:cNvPr>
          <p:cNvSpPr>
            <a:spLocks noGrp="1"/>
          </p:cNvSpPr>
          <p:nvPr>
            <p:ph idx="1"/>
          </p:nvPr>
        </p:nvSpPr>
        <p:spPr>
          <a:xfrm>
            <a:off x="751313" y="1984856"/>
            <a:ext cx="11029615" cy="4554167"/>
          </a:xfrm>
        </p:spPr>
        <p:txBody>
          <a:bodyPr anchor="t">
            <a:normAutofit/>
          </a:bodyPr>
          <a:lstStyle/>
          <a:p>
            <a:r>
              <a:rPr lang="en-US" dirty="0"/>
              <a:t>Imports:</a:t>
            </a:r>
          </a:p>
          <a:p>
            <a:endParaRPr lang="en-US" dirty="0"/>
          </a:p>
          <a:p>
            <a:endParaRPr lang="en-US" dirty="0"/>
          </a:p>
          <a:p>
            <a:r>
              <a:rPr lang="en-US" dirty="0"/>
              <a:t>In our controller:</a:t>
            </a:r>
          </a:p>
          <a:p>
            <a:pPr marL="0" indent="0">
              <a:buNone/>
            </a:pPr>
            <a:endParaRPr lang="en-US" dirty="0"/>
          </a:p>
          <a:p>
            <a:endParaRPr lang="en-US" dirty="0"/>
          </a:p>
          <a:p>
            <a:r>
              <a:rPr lang="en-US" dirty="0"/>
              <a:t>In our service:</a:t>
            </a:r>
          </a:p>
          <a:p>
            <a:pPr marL="0" indent="0">
              <a:buNone/>
            </a:pPr>
            <a:endParaRPr lang="en-US" dirty="0"/>
          </a:p>
          <a:p>
            <a:pPr marL="0" indent="0">
              <a:buNone/>
            </a:pPr>
            <a:endParaRPr lang="en-US" dirty="0"/>
          </a:p>
          <a:p>
            <a:r>
              <a:rPr lang="en-US" dirty="0"/>
              <a:t>Query Params example:</a:t>
            </a:r>
          </a:p>
        </p:txBody>
      </p:sp>
      <p:pic>
        <p:nvPicPr>
          <p:cNvPr id="9" name="Picture 8">
            <a:extLst>
              <a:ext uri="{FF2B5EF4-FFF2-40B4-BE49-F238E27FC236}">
                <a16:creationId xmlns:a16="http://schemas.microsoft.com/office/drawing/2014/main" id="{5E0994A5-DE36-DDE4-58F6-8F7B019ED6B3}"/>
              </a:ext>
            </a:extLst>
          </p:cNvPr>
          <p:cNvPicPr>
            <a:picLocks noChangeAspect="1"/>
          </p:cNvPicPr>
          <p:nvPr/>
        </p:nvPicPr>
        <p:blipFill>
          <a:blip r:embed="rId2"/>
          <a:stretch>
            <a:fillRect/>
          </a:stretch>
        </p:blipFill>
        <p:spPr>
          <a:xfrm>
            <a:off x="2207201" y="1984856"/>
            <a:ext cx="4763165" cy="724001"/>
          </a:xfrm>
          <a:prstGeom prst="rect">
            <a:avLst/>
          </a:prstGeom>
        </p:spPr>
      </p:pic>
      <p:pic>
        <p:nvPicPr>
          <p:cNvPr id="7" name="Picture 6">
            <a:extLst>
              <a:ext uri="{FF2B5EF4-FFF2-40B4-BE49-F238E27FC236}">
                <a16:creationId xmlns:a16="http://schemas.microsoft.com/office/drawing/2014/main" id="{60AA4BC3-5FF9-6C9E-6A46-414B7452BEB3}"/>
              </a:ext>
            </a:extLst>
          </p:cNvPr>
          <p:cNvPicPr>
            <a:picLocks noChangeAspect="1"/>
          </p:cNvPicPr>
          <p:nvPr/>
        </p:nvPicPr>
        <p:blipFill>
          <a:blip r:embed="rId3"/>
          <a:stretch>
            <a:fillRect/>
          </a:stretch>
        </p:blipFill>
        <p:spPr>
          <a:xfrm>
            <a:off x="2816273" y="2881236"/>
            <a:ext cx="5134692" cy="1095528"/>
          </a:xfrm>
          <a:prstGeom prst="rect">
            <a:avLst/>
          </a:prstGeom>
        </p:spPr>
      </p:pic>
      <p:pic>
        <p:nvPicPr>
          <p:cNvPr id="10" name="Picture 9">
            <a:extLst>
              <a:ext uri="{FF2B5EF4-FFF2-40B4-BE49-F238E27FC236}">
                <a16:creationId xmlns:a16="http://schemas.microsoft.com/office/drawing/2014/main" id="{A8C83676-8DAC-ED66-7355-9FEC06F44B38}"/>
              </a:ext>
            </a:extLst>
          </p:cNvPr>
          <p:cNvPicPr>
            <a:picLocks noChangeAspect="1"/>
          </p:cNvPicPr>
          <p:nvPr/>
        </p:nvPicPr>
        <p:blipFill>
          <a:blip r:embed="rId4"/>
          <a:stretch>
            <a:fillRect/>
          </a:stretch>
        </p:blipFill>
        <p:spPr>
          <a:xfrm>
            <a:off x="2816273" y="4127849"/>
            <a:ext cx="5249008" cy="1095528"/>
          </a:xfrm>
          <a:prstGeom prst="rect">
            <a:avLst/>
          </a:prstGeom>
        </p:spPr>
      </p:pic>
      <p:pic>
        <p:nvPicPr>
          <p:cNvPr id="12" name="Picture 11">
            <a:extLst>
              <a:ext uri="{FF2B5EF4-FFF2-40B4-BE49-F238E27FC236}">
                <a16:creationId xmlns:a16="http://schemas.microsoft.com/office/drawing/2014/main" id="{5018EE62-E00B-B900-A90C-1D9253C86960}"/>
              </a:ext>
            </a:extLst>
          </p:cNvPr>
          <p:cNvPicPr>
            <a:picLocks noChangeAspect="1"/>
          </p:cNvPicPr>
          <p:nvPr/>
        </p:nvPicPr>
        <p:blipFill>
          <a:blip r:embed="rId5"/>
          <a:stretch>
            <a:fillRect/>
          </a:stretch>
        </p:blipFill>
        <p:spPr>
          <a:xfrm>
            <a:off x="3574932" y="5492277"/>
            <a:ext cx="5382376" cy="457264"/>
          </a:xfrm>
          <a:prstGeom prst="rect">
            <a:avLst/>
          </a:prstGeom>
        </p:spPr>
      </p:pic>
    </p:spTree>
    <p:extLst>
      <p:ext uri="{BB962C8B-B14F-4D97-AF65-F5344CB8AC3E}">
        <p14:creationId xmlns:p14="http://schemas.microsoft.com/office/powerpoint/2010/main" val="21596201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B609F-15E4-7135-F66D-C5F2FEDCFA4C}"/>
              </a:ext>
            </a:extLst>
          </p:cNvPr>
          <p:cNvSpPr>
            <a:spLocks noGrp="1"/>
          </p:cNvSpPr>
          <p:nvPr>
            <p:ph type="title"/>
          </p:nvPr>
        </p:nvSpPr>
        <p:spPr/>
        <p:txBody>
          <a:bodyPr/>
          <a:lstStyle/>
          <a:p>
            <a:r>
              <a:rPr lang="en-US" dirty="0"/>
              <a:t>DTO – data transfer objects</a:t>
            </a:r>
          </a:p>
        </p:txBody>
      </p:sp>
      <p:sp>
        <p:nvSpPr>
          <p:cNvPr id="3" name="Content Placeholder 2">
            <a:extLst>
              <a:ext uri="{FF2B5EF4-FFF2-40B4-BE49-F238E27FC236}">
                <a16:creationId xmlns:a16="http://schemas.microsoft.com/office/drawing/2014/main" id="{89F24D4D-8499-5A69-05D7-C720494738EC}"/>
              </a:ext>
            </a:extLst>
          </p:cNvPr>
          <p:cNvSpPr>
            <a:spLocks noGrp="1"/>
          </p:cNvSpPr>
          <p:nvPr>
            <p:ph idx="1"/>
          </p:nvPr>
        </p:nvSpPr>
        <p:spPr>
          <a:xfrm>
            <a:off x="581192" y="2180496"/>
            <a:ext cx="3852263" cy="3975347"/>
          </a:xfrm>
        </p:spPr>
        <p:txBody>
          <a:bodyPr/>
          <a:lstStyle/>
          <a:p>
            <a:r>
              <a:rPr lang="en-US" dirty="0"/>
              <a:t>DTOs allow us to format the requests and response as they enter/leave our web service </a:t>
            </a:r>
          </a:p>
          <a:p>
            <a:r>
              <a:rPr lang="en-US" dirty="0"/>
              <a:t>Example: Student Enrollments</a:t>
            </a:r>
          </a:p>
          <a:p>
            <a:pPr lvl="1"/>
            <a:r>
              <a:rPr lang="en-US" dirty="0"/>
              <a:t>We need to assign a course + a student to an enrollment record</a:t>
            </a:r>
          </a:p>
          <a:p>
            <a:pPr lvl="1"/>
            <a:r>
              <a:rPr lang="en-US" dirty="0"/>
              <a:t>We shouldn’t send an entire course or student record nested inside an enrollment insert</a:t>
            </a:r>
          </a:p>
          <a:p>
            <a:pPr lvl="1"/>
            <a:r>
              <a:rPr lang="en-US" dirty="0"/>
              <a:t>Instead, our DTO formats the request, and we can use the provided IDs to retrieve and persist the records dynamically</a:t>
            </a:r>
          </a:p>
        </p:txBody>
      </p:sp>
      <p:pic>
        <p:nvPicPr>
          <p:cNvPr id="5" name="Picture 4">
            <a:extLst>
              <a:ext uri="{FF2B5EF4-FFF2-40B4-BE49-F238E27FC236}">
                <a16:creationId xmlns:a16="http://schemas.microsoft.com/office/drawing/2014/main" id="{A2CE75CB-CF91-56B2-244C-EBA478BC64A4}"/>
              </a:ext>
            </a:extLst>
          </p:cNvPr>
          <p:cNvPicPr>
            <a:picLocks noChangeAspect="1"/>
          </p:cNvPicPr>
          <p:nvPr/>
        </p:nvPicPr>
        <p:blipFill>
          <a:blip r:embed="rId2"/>
          <a:stretch>
            <a:fillRect/>
          </a:stretch>
        </p:blipFill>
        <p:spPr>
          <a:xfrm>
            <a:off x="4668982" y="2356504"/>
            <a:ext cx="7149643" cy="3542999"/>
          </a:xfrm>
          <a:prstGeom prst="rect">
            <a:avLst/>
          </a:prstGeom>
        </p:spPr>
      </p:pic>
    </p:spTree>
    <p:extLst>
      <p:ext uri="{BB962C8B-B14F-4D97-AF65-F5344CB8AC3E}">
        <p14:creationId xmlns:p14="http://schemas.microsoft.com/office/powerpoint/2010/main" val="1119056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CDE26-79DF-4039-A4ED-DCD5176B38EE}"/>
              </a:ext>
            </a:extLst>
          </p:cNvPr>
          <p:cNvSpPr>
            <a:spLocks noGrp="1"/>
          </p:cNvSpPr>
          <p:nvPr>
            <p:ph type="title"/>
          </p:nvPr>
        </p:nvSpPr>
        <p:spPr/>
        <p:txBody>
          <a:bodyPr/>
          <a:lstStyle/>
          <a:p>
            <a:r>
              <a:rPr lang="en-US" dirty="0"/>
              <a:t>Using </a:t>
            </a:r>
            <a:r>
              <a:rPr lang="en-US" dirty="0" err="1"/>
              <a:t>jparepository</a:t>
            </a:r>
            <a:r>
              <a:rPr lang="en-US" dirty="0"/>
              <a:t> to traverse relationships</a:t>
            </a:r>
          </a:p>
        </p:txBody>
      </p:sp>
      <p:sp>
        <p:nvSpPr>
          <p:cNvPr id="3" name="Content Placeholder 2">
            <a:extLst>
              <a:ext uri="{FF2B5EF4-FFF2-40B4-BE49-F238E27FC236}">
                <a16:creationId xmlns:a16="http://schemas.microsoft.com/office/drawing/2014/main" id="{46656ED8-D42F-642B-F6A3-19EC53ED85CF}"/>
              </a:ext>
            </a:extLst>
          </p:cNvPr>
          <p:cNvSpPr>
            <a:spLocks noGrp="1"/>
          </p:cNvSpPr>
          <p:nvPr>
            <p:ph idx="1"/>
          </p:nvPr>
        </p:nvSpPr>
        <p:spPr>
          <a:xfrm>
            <a:off x="581192" y="3042699"/>
            <a:ext cx="4641972" cy="3113145"/>
          </a:xfrm>
        </p:spPr>
        <p:txBody>
          <a:bodyPr/>
          <a:lstStyle/>
          <a:p>
            <a:r>
              <a:rPr lang="en-US" dirty="0"/>
              <a:t>Underscores allow us to traverse relationships</a:t>
            </a:r>
          </a:p>
          <a:p>
            <a:r>
              <a:rPr lang="en-US" dirty="0"/>
              <a:t>You can traverse through multiple levels of relationships</a:t>
            </a:r>
          </a:p>
          <a:p>
            <a:r>
              <a:rPr lang="en-US" dirty="0"/>
              <a:t>Remember, we can always use @Query to create custom solutions when relationship traversal gets too complicated via derived query methods</a:t>
            </a:r>
          </a:p>
          <a:p>
            <a:endParaRPr lang="en-US" dirty="0"/>
          </a:p>
        </p:txBody>
      </p:sp>
      <p:pic>
        <p:nvPicPr>
          <p:cNvPr id="5" name="Picture 4">
            <a:extLst>
              <a:ext uri="{FF2B5EF4-FFF2-40B4-BE49-F238E27FC236}">
                <a16:creationId xmlns:a16="http://schemas.microsoft.com/office/drawing/2014/main" id="{C731FCA0-A496-6EBF-B567-053E888AEB43}"/>
              </a:ext>
            </a:extLst>
          </p:cNvPr>
          <p:cNvPicPr>
            <a:picLocks noChangeAspect="1"/>
          </p:cNvPicPr>
          <p:nvPr/>
        </p:nvPicPr>
        <p:blipFill>
          <a:blip r:embed="rId2"/>
          <a:stretch>
            <a:fillRect/>
          </a:stretch>
        </p:blipFill>
        <p:spPr>
          <a:xfrm>
            <a:off x="4494639" y="5481573"/>
            <a:ext cx="7116168" cy="924054"/>
          </a:xfrm>
          <a:prstGeom prst="rect">
            <a:avLst/>
          </a:prstGeom>
        </p:spPr>
      </p:pic>
      <p:pic>
        <p:nvPicPr>
          <p:cNvPr id="7" name="Picture 6">
            <a:extLst>
              <a:ext uri="{FF2B5EF4-FFF2-40B4-BE49-F238E27FC236}">
                <a16:creationId xmlns:a16="http://schemas.microsoft.com/office/drawing/2014/main" id="{73806EC4-2E7C-6792-9278-6366B484BF3F}"/>
              </a:ext>
            </a:extLst>
          </p:cNvPr>
          <p:cNvPicPr>
            <a:picLocks noChangeAspect="1"/>
          </p:cNvPicPr>
          <p:nvPr/>
        </p:nvPicPr>
        <p:blipFill>
          <a:blip r:embed="rId3"/>
          <a:stretch>
            <a:fillRect/>
          </a:stretch>
        </p:blipFill>
        <p:spPr>
          <a:xfrm>
            <a:off x="5875957" y="3944847"/>
            <a:ext cx="5734850" cy="1076475"/>
          </a:xfrm>
          <a:prstGeom prst="rect">
            <a:avLst/>
          </a:prstGeom>
        </p:spPr>
      </p:pic>
      <p:sp>
        <p:nvSpPr>
          <p:cNvPr id="8" name="TextBox 7">
            <a:extLst>
              <a:ext uri="{FF2B5EF4-FFF2-40B4-BE49-F238E27FC236}">
                <a16:creationId xmlns:a16="http://schemas.microsoft.com/office/drawing/2014/main" id="{3BF4BB9A-66E3-7586-8430-24597A288740}"/>
              </a:ext>
            </a:extLst>
          </p:cNvPr>
          <p:cNvSpPr txBox="1"/>
          <p:nvPr/>
        </p:nvSpPr>
        <p:spPr>
          <a:xfrm>
            <a:off x="5875957" y="3522541"/>
            <a:ext cx="1907317" cy="369332"/>
          </a:xfrm>
          <a:prstGeom prst="rect">
            <a:avLst/>
          </a:prstGeom>
          <a:noFill/>
        </p:spPr>
        <p:txBody>
          <a:bodyPr wrap="none" rtlCol="0">
            <a:spAutoFit/>
          </a:bodyPr>
          <a:lstStyle/>
          <a:p>
            <a:r>
              <a:rPr lang="en-US" dirty="0"/>
              <a:t>Service layer class:</a:t>
            </a:r>
          </a:p>
        </p:txBody>
      </p:sp>
      <p:sp>
        <p:nvSpPr>
          <p:cNvPr id="9" name="TextBox 8">
            <a:extLst>
              <a:ext uri="{FF2B5EF4-FFF2-40B4-BE49-F238E27FC236}">
                <a16:creationId xmlns:a16="http://schemas.microsoft.com/office/drawing/2014/main" id="{50F39B0F-FE76-669B-8DF9-95B8E0EEE329}"/>
              </a:ext>
            </a:extLst>
          </p:cNvPr>
          <p:cNvSpPr txBox="1"/>
          <p:nvPr/>
        </p:nvSpPr>
        <p:spPr>
          <a:xfrm>
            <a:off x="5613294" y="5066781"/>
            <a:ext cx="2073773" cy="369332"/>
          </a:xfrm>
          <a:prstGeom prst="rect">
            <a:avLst/>
          </a:prstGeom>
          <a:noFill/>
        </p:spPr>
        <p:txBody>
          <a:bodyPr wrap="none" rtlCol="0">
            <a:spAutoFit/>
          </a:bodyPr>
          <a:lstStyle/>
          <a:p>
            <a:r>
              <a:rPr lang="en-US" dirty="0"/>
              <a:t>dao/repo layer class:</a:t>
            </a:r>
          </a:p>
        </p:txBody>
      </p:sp>
      <p:pic>
        <p:nvPicPr>
          <p:cNvPr id="11" name="Picture 10">
            <a:extLst>
              <a:ext uri="{FF2B5EF4-FFF2-40B4-BE49-F238E27FC236}">
                <a16:creationId xmlns:a16="http://schemas.microsoft.com/office/drawing/2014/main" id="{CD4546CC-64D9-7615-1E56-6ADCF29E796D}"/>
              </a:ext>
            </a:extLst>
          </p:cNvPr>
          <p:cNvPicPr>
            <a:picLocks noChangeAspect="1"/>
          </p:cNvPicPr>
          <p:nvPr/>
        </p:nvPicPr>
        <p:blipFill>
          <a:blip r:embed="rId4"/>
          <a:stretch>
            <a:fillRect/>
          </a:stretch>
        </p:blipFill>
        <p:spPr>
          <a:xfrm>
            <a:off x="4361270" y="2286758"/>
            <a:ext cx="7382905" cy="1038370"/>
          </a:xfrm>
          <a:prstGeom prst="rect">
            <a:avLst/>
          </a:prstGeom>
        </p:spPr>
      </p:pic>
      <p:sp>
        <p:nvSpPr>
          <p:cNvPr id="12" name="TextBox 11">
            <a:extLst>
              <a:ext uri="{FF2B5EF4-FFF2-40B4-BE49-F238E27FC236}">
                <a16:creationId xmlns:a16="http://schemas.microsoft.com/office/drawing/2014/main" id="{392874CE-37A7-87AC-695F-ECF9F03FE67D}"/>
              </a:ext>
            </a:extLst>
          </p:cNvPr>
          <p:cNvSpPr txBox="1"/>
          <p:nvPr/>
        </p:nvSpPr>
        <p:spPr>
          <a:xfrm>
            <a:off x="4781656" y="1890321"/>
            <a:ext cx="1663276" cy="369332"/>
          </a:xfrm>
          <a:prstGeom prst="rect">
            <a:avLst/>
          </a:prstGeom>
          <a:noFill/>
        </p:spPr>
        <p:txBody>
          <a:bodyPr wrap="none" rtlCol="0">
            <a:spAutoFit/>
          </a:bodyPr>
          <a:lstStyle/>
          <a:p>
            <a:r>
              <a:rPr lang="en-US" dirty="0"/>
              <a:t>controller class:</a:t>
            </a:r>
          </a:p>
        </p:txBody>
      </p:sp>
    </p:spTree>
    <p:extLst>
      <p:ext uri="{BB962C8B-B14F-4D97-AF65-F5344CB8AC3E}">
        <p14:creationId xmlns:p14="http://schemas.microsoft.com/office/powerpoint/2010/main" val="3440213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0382C-EA62-7C8D-62AD-7CAE8E8CE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01B5B-810B-232B-4D0F-82D6CC0C32C9}"/>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69135469-9722-9AD0-B065-911208CA7FE9}"/>
              </a:ext>
            </a:extLst>
          </p:cNvPr>
          <p:cNvSpPr>
            <a:spLocks noGrp="1"/>
          </p:cNvSpPr>
          <p:nvPr>
            <p:ph idx="1"/>
          </p:nvPr>
        </p:nvSpPr>
        <p:spPr/>
        <p:txBody>
          <a:bodyPr/>
          <a:lstStyle/>
          <a:p>
            <a:r>
              <a:rPr lang="en-US" dirty="0"/>
              <a:t>Let’s put theory into practice with a code-along</a:t>
            </a:r>
          </a:p>
          <a:p>
            <a:r>
              <a:rPr lang="en-US" dirty="0"/>
              <a:t>Please see the completed CRUD app “</a:t>
            </a:r>
            <a:r>
              <a:rPr lang="en-US" dirty="0" err="1"/>
              <a:t>JpaRepoApp</a:t>
            </a:r>
            <a:r>
              <a:rPr lang="en-US" dirty="0"/>
              <a:t>” with code comments in your course materials</a:t>
            </a:r>
          </a:p>
        </p:txBody>
      </p:sp>
    </p:spTree>
    <p:extLst>
      <p:ext uri="{BB962C8B-B14F-4D97-AF65-F5344CB8AC3E}">
        <p14:creationId xmlns:p14="http://schemas.microsoft.com/office/powerpoint/2010/main" val="4051011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2AE20-87C3-8AE1-9FC4-F9455219B508}"/>
              </a:ext>
            </a:extLst>
          </p:cNvPr>
          <p:cNvSpPr>
            <a:spLocks noGrp="1"/>
          </p:cNvSpPr>
          <p:nvPr>
            <p:ph type="title"/>
          </p:nvPr>
        </p:nvSpPr>
        <p:spPr/>
        <p:txBody>
          <a:bodyPr/>
          <a:lstStyle/>
          <a:p>
            <a:r>
              <a:rPr lang="en-US" dirty="0"/>
              <a:t>Overview/recap on database interactions </a:t>
            </a:r>
          </a:p>
        </p:txBody>
      </p:sp>
      <p:graphicFrame>
        <p:nvGraphicFramePr>
          <p:cNvPr id="6" name="Table 5">
            <a:extLst>
              <a:ext uri="{FF2B5EF4-FFF2-40B4-BE49-F238E27FC236}">
                <a16:creationId xmlns:a16="http://schemas.microsoft.com/office/drawing/2014/main" id="{830A4196-9CBC-0998-9483-0374CECE6DB6}"/>
              </a:ext>
            </a:extLst>
          </p:cNvPr>
          <p:cNvGraphicFramePr>
            <a:graphicFrameLocks noGrp="1"/>
          </p:cNvGraphicFramePr>
          <p:nvPr>
            <p:extLst>
              <p:ext uri="{D42A27DB-BD31-4B8C-83A1-F6EECF244321}">
                <p14:modId xmlns:p14="http://schemas.microsoft.com/office/powerpoint/2010/main" val="2320013769"/>
              </p:ext>
            </p:extLst>
          </p:nvPr>
        </p:nvGraphicFramePr>
        <p:xfrm>
          <a:off x="402238" y="2073350"/>
          <a:ext cx="11387524" cy="3944271"/>
        </p:xfrm>
        <a:graphic>
          <a:graphicData uri="http://schemas.openxmlformats.org/drawingml/2006/table">
            <a:tbl>
              <a:tblPr>
                <a:tableStyleId>{5C22544A-7EE6-4342-B048-85BDC9FD1C3A}</a:tableStyleId>
              </a:tblPr>
              <a:tblGrid>
                <a:gridCol w="2846881">
                  <a:extLst>
                    <a:ext uri="{9D8B030D-6E8A-4147-A177-3AD203B41FA5}">
                      <a16:colId xmlns:a16="http://schemas.microsoft.com/office/drawing/2014/main" val="1607982294"/>
                    </a:ext>
                  </a:extLst>
                </a:gridCol>
                <a:gridCol w="2846881">
                  <a:extLst>
                    <a:ext uri="{9D8B030D-6E8A-4147-A177-3AD203B41FA5}">
                      <a16:colId xmlns:a16="http://schemas.microsoft.com/office/drawing/2014/main" val="344748459"/>
                    </a:ext>
                  </a:extLst>
                </a:gridCol>
                <a:gridCol w="2846881">
                  <a:extLst>
                    <a:ext uri="{9D8B030D-6E8A-4147-A177-3AD203B41FA5}">
                      <a16:colId xmlns:a16="http://schemas.microsoft.com/office/drawing/2014/main" val="2071245589"/>
                    </a:ext>
                  </a:extLst>
                </a:gridCol>
                <a:gridCol w="2846881">
                  <a:extLst>
                    <a:ext uri="{9D8B030D-6E8A-4147-A177-3AD203B41FA5}">
                      <a16:colId xmlns:a16="http://schemas.microsoft.com/office/drawing/2014/main" val="4283276085"/>
                    </a:ext>
                  </a:extLst>
                </a:gridCol>
              </a:tblGrid>
              <a:tr h="627497">
                <a:tc>
                  <a:txBody>
                    <a:bodyPr/>
                    <a:lstStyle/>
                    <a:p>
                      <a:pPr marL="0" marR="0" algn="l" fontAlgn="t">
                        <a:buNone/>
                      </a:pPr>
                      <a:r>
                        <a:rPr lang="en-US" sz="1400" b="1" spc="0" dirty="0">
                          <a:effectLst/>
                        </a:rPr>
                        <a:t>Approach</a:t>
                      </a:r>
                      <a:endParaRPr lang="en-US" sz="1400" b="1" i="0" spc="0" dirty="0">
                        <a:solidFill>
                          <a:srgbClr val="FFFFFF"/>
                        </a:solidFill>
                        <a:effectLst/>
                        <a:latin typeface="-apple-system-body"/>
                      </a:endParaRPr>
                    </a:p>
                  </a:txBody>
                  <a:tcPr marT="50800" marB="50800"/>
                </a:tc>
                <a:tc>
                  <a:txBody>
                    <a:bodyPr/>
                    <a:lstStyle/>
                    <a:p>
                      <a:pPr marL="0" marR="0" algn="l" fontAlgn="t">
                        <a:buNone/>
                      </a:pPr>
                      <a:r>
                        <a:rPr lang="en-US" sz="1400" b="1" spc="0">
                          <a:effectLst/>
                        </a:rPr>
                        <a:t>Definition</a:t>
                      </a:r>
                      <a:endParaRPr lang="en-US" sz="1400" b="1" i="0" spc="0">
                        <a:solidFill>
                          <a:srgbClr val="FFFFFF"/>
                        </a:solidFill>
                        <a:effectLst/>
                        <a:latin typeface="-apple-system-body"/>
                      </a:endParaRPr>
                    </a:p>
                  </a:txBody>
                  <a:tcPr marT="50800" marB="50800"/>
                </a:tc>
                <a:tc>
                  <a:txBody>
                    <a:bodyPr/>
                    <a:lstStyle/>
                    <a:p>
                      <a:pPr marL="0" marR="0" algn="l" fontAlgn="t">
                        <a:buNone/>
                      </a:pPr>
                      <a:r>
                        <a:rPr lang="en-US" sz="1400" b="1" spc="0">
                          <a:effectLst/>
                        </a:rPr>
                        <a:t>Common APIs in Spring</a:t>
                      </a:r>
                      <a:endParaRPr lang="en-US" sz="1400" b="1" i="0" spc="0">
                        <a:solidFill>
                          <a:srgbClr val="FFFFFF"/>
                        </a:solidFill>
                        <a:effectLst/>
                        <a:latin typeface="-apple-system-body"/>
                      </a:endParaRPr>
                    </a:p>
                  </a:txBody>
                  <a:tcPr marT="50800" marB="50800"/>
                </a:tc>
                <a:tc>
                  <a:txBody>
                    <a:bodyPr/>
                    <a:lstStyle/>
                    <a:p>
                      <a:pPr marL="0" marR="0" algn="l" fontAlgn="t">
                        <a:buNone/>
                      </a:pPr>
                      <a:r>
                        <a:rPr lang="en-US" sz="1400" b="1" spc="0" dirty="0">
                          <a:effectLst/>
                        </a:rPr>
                        <a:t>Queries against</a:t>
                      </a:r>
                      <a:endParaRPr lang="en-US" sz="1400" b="1" i="0" spc="0" dirty="0">
                        <a:solidFill>
                          <a:srgbClr val="FFFFFF"/>
                        </a:solidFill>
                        <a:effectLst/>
                        <a:latin typeface="-apple-system-body"/>
                      </a:endParaRPr>
                    </a:p>
                  </a:txBody>
                  <a:tcPr marT="50800" marB="50800"/>
                </a:tc>
                <a:extLst>
                  <a:ext uri="{0D108BD9-81ED-4DB2-BD59-A6C34878D82A}">
                    <a16:rowId xmlns:a16="http://schemas.microsoft.com/office/drawing/2014/main" val="3882636343"/>
                  </a:ext>
                </a:extLst>
              </a:tr>
              <a:tr h="627497">
                <a:tc>
                  <a:txBody>
                    <a:bodyPr/>
                    <a:lstStyle/>
                    <a:p>
                      <a:pPr marL="0" marR="0" algn="l" fontAlgn="t">
                        <a:buNone/>
                      </a:pPr>
                      <a:r>
                        <a:rPr lang="en-US" sz="1400" spc="0">
                          <a:effectLst/>
                        </a:rPr>
                        <a:t>HQL</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Hibernate Query Language</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Session, EntityManager, @Query</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Entity classes and their properties</a:t>
                      </a:r>
                      <a:endParaRPr lang="en-US" sz="1400" b="0" i="0" spc="0">
                        <a:solidFill>
                          <a:srgbClr val="FFFFFF"/>
                        </a:solidFill>
                        <a:effectLst/>
                        <a:latin typeface="-apple-system-body"/>
                      </a:endParaRPr>
                    </a:p>
                  </a:txBody>
                  <a:tcPr marT="50800" marB="50800"/>
                </a:tc>
                <a:extLst>
                  <a:ext uri="{0D108BD9-81ED-4DB2-BD59-A6C34878D82A}">
                    <a16:rowId xmlns:a16="http://schemas.microsoft.com/office/drawing/2014/main" val="1269669461"/>
                  </a:ext>
                </a:extLst>
              </a:tr>
              <a:tr h="627497">
                <a:tc>
                  <a:txBody>
                    <a:bodyPr/>
                    <a:lstStyle/>
                    <a:p>
                      <a:pPr marL="0" marR="0" algn="l" fontAlgn="t">
                        <a:buNone/>
                      </a:pPr>
                      <a:r>
                        <a:rPr lang="en-US" sz="1400" spc="0">
                          <a:effectLst/>
                        </a:rPr>
                        <a:t>JPQL</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Jakarta Persistence Query Language</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EntityManager, @Query</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Entity classes and their properties</a:t>
                      </a:r>
                      <a:endParaRPr lang="en-US" sz="1400" b="0" i="0" spc="0">
                        <a:solidFill>
                          <a:srgbClr val="FFFFFF"/>
                        </a:solidFill>
                        <a:effectLst/>
                        <a:latin typeface="-apple-system-body"/>
                      </a:endParaRPr>
                    </a:p>
                  </a:txBody>
                  <a:tcPr marT="50800" marB="50800"/>
                </a:tc>
                <a:extLst>
                  <a:ext uri="{0D108BD9-81ED-4DB2-BD59-A6C34878D82A}">
                    <a16:rowId xmlns:a16="http://schemas.microsoft.com/office/drawing/2014/main" val="3480527985"/>
                  </a:ext>
                </a:extLst>
              </a:tr>
              <a:tr h="1030890">
                <a:tc>
                  <a:txBody>
                    <a:bodyPr/>
                    <a:lstStyle/>
                    <a:p>
                      <a:pPr marL="0" marR="0" algn="l" fontAlgn="t">
                        <a:buNone/>
                      </a:pPr>
                      <a:r>
                        <a:rPr lang="en-US" sz="1400" spc="0">
                          <a:effectLst/>
                        </a:rPr>
                        <a:t>Native SQL</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a:effectLst/>
                        </a:rPr>
                        <a:t>Database's actual SQL dialect</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dirty="0" err="1">
                          <a:effectLst/>
                        </a:rPr>
                        <a:t>EntityManager</a:t>
                      </a:r>
                      <a:r>
                        <a:rPr lang="en-US" sz="1400" spc="0" dirty="0">
                          <a:effectLst/>
                        </a:rPr>
                        <a:t>, Session, </a:t>
                      </a:r>
                    </a:p>
                    <a:p>
                      <a:pPr marL="0" marR="0" algn="l" fontAlgn="t">
                        <a:buNone/>
                      </a:pPr>
                      <a:r>
                        <a:rPr lang="en-US" sz="1400" spc="0" dirty="0">
                          <a:effectLst/>
                        </a:rPr>
                        <a:t>@Query(nativeQuery = true)</a:t>
                      </a:r>
                      <a:endParaRPr lang="en-US" sz="1400" b="0" i="0" spc="0" dirty="0">
                        <a:solidFill>
                          <a:srgbClr val="FFFFFF"/>
                        </a:solidFill>
                        <a:effectLst/>
                        <a:latin typeface="-apple-system-body"/>
                      </a:endParaRPr>
                    </a:p>
                  </a:txBody>
                  <a:tcPr marT="50800" marB="50800"/>
                </a:tc>
                <a:tc>
                  <a:txBody>
                    <a:bodyPr/>
                    <a:lstStyle/>
                    <a:p>
                      <a:pPr marL="0" marR="0" algn="l" fontAlgn="t">
                        <a:buNone/>
                      </a:pPr>
                      <a:r>
                        <a:rPr lang="en-US" sz="1400" spc="0">
                          <a:effectLst/>
                        </a:rPr>
                        <a:t>Database tables and columns</a:t>
                      </a:r>
                      <a:endParaRPr lang="en-US" sz="1400" b="0" i="0" spc="0">
                        <a:solidFill>
                          <a:srgbClr val="FFFFFF"/>
                        </a:solidFill>
                        <a:effectLst/>
                        <a:latin typeface="-apple-system-body"/>
                      </a:endParaRPr>
                    </a:p>
                  </a:txBody>
                  <a:tcPr marT="50800" marB="50800"/>
                </a:tc>
                <a:extLst>
                  <a:ext uri="{0D108BD9-81ED-4DB2-BD59-A6C34878D82A}">
                    <a16:rowId xmlns:a16="http://schemas.microsoft.com/office/drawing/2014/main" val="699523948"/>
                  </a:ext>
                </a:extLst>
              </a:tr>
              <a:tr h="1030890">
                <a:tc>
                  <a:txBody>
                    <a:bodyPr/>
                    <a:lstStyle/>
                    <a:p>
                      <a:pPr marL="0" marR="0" algn="l" fontAlgn="t">
                        <a:buNone/>
                      </a:pPr>
                      <a:r>
                        <a:rPr lang="en-US" sz="1400" spc="0">
                          <a:effectLst/>
                        </a:rPr>
                        <a:t>Criteria API</a:t>
                      </a:r>
                      <a:endParaRPr lang="en-US" sz="1400" b="0" i="0" spc="0">
                        <a:solidFill>
                          <a:srgbClr val="FFFFFF"/>
                        </a:solidFill>
                        <a:effectLst/>
                        <a:latin typeface="-apple-system-body"/>
                      </a:endParaRPr>
                    </a:p>
                  </a:txBody>
                  <a:tcPr marT="50800" marB="50800"/>
                </a:tc>
                <a:tc>
                  <a:txBody>
                    <a:bodyPr/>
                    <a:lstStyle/>
                    <a:p>
                      <a:pPr marL="0" marR="0" algn="l" fontAlgn="t">
                        <a:buNone/>
                      </a:pPr>
                      <a:r>
                        <a:rPr lang="en-US" sz="1400" spc="0" dirty="0">
                          <a:effectLst/>
                        </a:rPr>
                        <a:t>Java API for building queries </a:t>
                      </a:r>
                    </a:p>
                    <a:p>
                      <a:pPr marL="0" marR="0" algn="l" fontAlgn="t">
                        <a:buNone/>
                      </a:pPr>
                      <a:r>
                        <a:rPr lang="en-US" sz="1400" spc="0" dirty="0">
                          <a:effectLst/>
                        </a:rPr>
                        <a:t>programmatically</a:t>
                      </a:r>
                      <a:endParaRPr lang="en-US" sz="1400" b="0" i="0" spc="0" dirty="0">
                        <a:solidFill>
                          <a:srgbClr val="FFFFFF"/>
                        </a:solidFill>
                        <a:effectLst/>
                        <a:latin typeface="-apple-system-body"/>
                      </a:endParaRPr>
                    </a:p>
                  </a:txBody>
                  <a:tcPr marT="50800" marB="50800"/>
                </a:tc>
                <a:tc>
                  <a:txBody>
                    <a:bodyPr/>
                    <a:lstStyle/>
                    <a:p>
                      <a:pPr marL="0" marR="0" algn="l" fontAlgn="t">
                        <a:buNone/>
                      </a:pPr>
                      <a:r>
                        <a:rPr lang="en-US" sz="1400" spc="0" dirty="0" err="1">
                          <a:effectLst/>
                        </a:rPr>
                        <a:t>EntityManager</a:t>
                      </a:r>
                      <a:r>
                        <a:rPr lang="en-US" sz="1400" spc="0" dirty="0">
                          <a:effectLst/>
                        </a:rPr>
                        <a:t>, </a:t>
                      </a:r>
                      <a:r>
                        <a:rPr lang="en-US" sz="1400" spc="0" dirty="0" err="1">
                          <a:effectLst/>
                        </a:rPr>
                        <a:t>CriteriaBuilder</a:t>
                      </a:r>
                      <a:r>
                        <a:rPr lang="en-US" sz="1400" spc="0" dirty="0">
                          <a:effectLst/>
                        </a:rPr>
                        <a:t>, </a:t>
                      </a:r>
                    </a:p>
                    <a:p>
                      <a:pPr marL="0" marR="0" algn="l" fontAlgn="t">
                        <a:buNone/>
                      </a:pPr>
                      <a:r>
                        <a:rPr lang="en-US" sz="1400" spc="0" dirty="0" err="1">
                          <a:effectLst/>
                        </a:rPr>
                        <a:t>CriteriaQuery</a:t>
                      </a:r>
                      <a:endParaRPr lang="en-US" sz="1400" b="0" i="0" spc="0" dirty="0">
                        <a:solidFill>
                          <a:srgbClr val="FFFFFF"/>
                        </a:solidFill>
                        <a:effectLst/>
                        <a:latin typeface="-apple-system-body"/>
                      </a:endParaRPr>
                    </a:p>
                  </a:txBody>
                  <a:tcPr marT="50800" marB="50800"/>
                </a:tc>
                <a:tc>
                  <a:txBody>
                    <a:bodyPr/>
                    <a:lstStyle/>
                    <a:p>
                      <a:pPr marL="0" marR="0" algn="l" fontAlgn="t">
                        <a:buNone/>
                      </a:pPr>
                      <a:r>
                        <a:rPr lang="en-US" sz="1400" spc="0" dirty="0">
                          <a:effectLst/>
                        </a:rPr>
                        <a:t>Entity classes and their properties</a:t>
                      </a:r>
                      <a:endParaRPr lang="en-US" sz="1400" b="0" i="0" spc="0" dirty="0">
                        <a:solidFill>
                          <a:srgbClr val="FFFFFF"/>
                        </a:solidFill>
                        <a:effectLst/>
                        <a:latin typeface="-apple-system-body"/>
                      </a:endParaRPr>
                    </a:p>
                  </a:txBody>
                  <a:tcPr marT="50800" marB="50800"/>
                </a:tc>
                <a:extLst>
                  <a:ext uri="{0D108BD9-81ED-4DB2-BD59-A6C34878D82A}">
                    <a16:rowId xmlns:a16="http://schemas.microsoft.com/office/drawing/2014/main" val="3203570840"/>
                  </a:ext>
                </a:extLst>
              </a:tr>
            </a:tbl>
          </a:graphicData>
        </a:graphic>
      </p:graphicFrame>
    </p:spTree>
    <p:extLst>
      <p:ext uri="{BB962C8B-B14F-4D97-AF65-F5344CB8AC3E}">
        <p14:creationId xmlns:p14="http://schemas.microsoft.com/office/powerpoint/2010/main" val="2516311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30C4-2FB6-E923-2381-88C581132883}"/>
              </a:ext>
            </a:extLst>
          </p:cNvPr>
          <p:cNvSpPr>
            <a:spLocks noGrp="1"/>
          </p:cNvSpPr>
          <p:nvPr>
            <p:ph type="title"/>
          </p:nvPr>
        </p:nvSpPr>
        <p:spPr/>
        <p:txBody>
          <a:bodyPr/>
          <a:lstStyle/>
          <a:p>
            <a:r>
              <a:rPr lang="en-US" dirty="0"/>
              <a:t>Native SQL</a:t>
            </a:r>
          </a:p>
        </p:txBody>
      </p:sp>
      <p:sp>
        <p:nvSpPr>
          <p:cNvPr id="5" name="TextBox 4">
            <a:extLst>
              <a:ext uri="{FF2B5EF4-FFF2-40B4-BE49-F238E27FC236}">
                <a16:creationId xmlns:a16="http://schemas.microsoft.com/office/drawing/2014/main" id="{90DD531C-FE1F-03CA-F4CF-B2CFAD24C07A}"/>
              </a:ext>
            </a:extLst>
          </p:cNvPr>
          <p:cNvSpPr txBox="1"/>
          <p:nvPr/>
        </p:nvSpPr>
        <p:spPr>
          <a:xfrm>
            <a:off x="762886" y="2906071"/>
            <a:ext cx="4734147" cy="2862322"/>
          </a:xfrm>
          <a:prstGeom prst="rect">
            <a:avLst/>
          </a:prstGeom>
          <a:noFill/>
        </p:spPr>
        <p:txBody>
          <a:bodyPr wrap="square">
            <a:spAutoFit/>
          </a:bodyPr>
          <a:lstStyle/>
          <a:p>
            <a:pPr indent="0" algn="l">
              <a:buNone/>
            </a:pPr>
            <a:r>
              <a:rPr lang="en-US" sz="1800" b="0" i="0" dirty="0">
                <a:solidFill>
                  <a:schemeClr val="tx1"/>
                </a:solidFill>
                <a:effectLst/>
                <a:latin typeface="+mn-lt"/>
              </a:rPr>
              <a:t>String </a:t>
            </a:r>
            <a:r>
              <a:rPr lang="en-US" sz="1800" b="0" i="0" dirty="0" err="1">
                <a:solidFill>
                  <a:schemeClr val="tx1"/>
                </a:solidFill>
                <a:effectLst/>
                <a:latin typeface="+mn-lt"/>
              </a:rPr>
              <a:t>sql</a:t>
            </a:r>
            <a:r>
              <a:rPr lang="en-US" sz="1800" b="0" i="0" dirty="0">
                <a:solidFill>
                  <a:schemeClr val="tx1"/>
                </a:solidFill>
                <a:effectLst/>
                <a:latin typeface="+mn-lt"/>
              </a:rPr>
              <a:t> = """</a:t>
            </a:r>
          </a:p>
          <a:p>
            <a:pPr indent="0" algn="l">
              <a:buNone/>
            </a:pPr>
            <a:r>
              <a:rPr lang="en-US" sz="1800" b="0" i="0" dirty="0">
                <a:solidFill>
                  <a:schemeClr val="tx1"/>
                </a:solidFill>
                <a:effectLst/>
                <a:latin typeface="+mn-lt"/>
              </a:rPr>
              <a:t>    SELECT *</a:t>
            </a:r>
          </a:p>
          <a:p>
            <a:pPr indent="0" algn="l">
              <a:buNone/>
            </a:pPr>
            <a:r>
              <a:rPr lang="en-US" sz="1800" b="0" i="0" dirty="0">
                <a:solidFill>
                  <a:schemeClr val="tx1"/>
                </a:solidFill>
                <a:effectLst/>
                <a:latin typeface="+mn-lt"/>
              </a:rPr>
              <a:t>    FROM employees</a:t>
            </a:r>
          </a:p>
          <a:p>
            <a:pPr indent="0" algn="l">
              <a:buNone/>
            </a:pPr>
            <a:r>
              <a:rPr lang="en-US" sz="1800" b="0" i="0" dirty="0">
                <a:solidFill>
                  <a:schemeClr val="tx1"/>
                </a:solidFill>
                <a:effectLst/>
                <a:latin typeface="+mn-lt"/>
              </a:rPr>
              <a:t>    WHERE salary &gt; :salary</a:t>
            </a:r>
          </a:p>
          <a:p>
            <a:pPr indent="0" algn="l">
              <a:buNone/>
            </a:pPr>
            <a:r>
              <a:rPr lang="en-US" sz="1800" b="0" i="0" dirty="0">
                <a:solidFill>
                  <a:schemeClr val="tx1"/>
                </a:solidFill>
                <a:effectLst/>
                <a:latin typeface="+mn-lt"/>
              </a:rPr>
              <a:t>    """;</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List&lt;Employee&gt; employees = </a:t>
            </a:r>
            <a:r>
              <a:rPr lang="en-US" sz="1800" b="0" i="0" dirty="0" err="1">
                <a:solidFill>
                  <a:schemeClr val="tx1"/>
                </a:solidFill>
                <a:effectLst/>
                <a:latin typeface="+mn-lt"/>
              </a:rPr>
              <a:t>entityManager</a:t>
            </a: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createNativeQuery</a:t>
            </a:r>
            <a:r>
              <a:rPr lang="en-US" sz="1800" b="0" i="0" dirty="0">
                <a:solidFill>
                  <a:schemeClr val="tx1"/>
                </a:solidFill>
                <a:effectLst/>
                <a:latin typeface="+mn-lt"/>
              </a:rPr>
              <a:t>(</a:t>
            </a:r>
            <a:r>
              <a:rPr lang="en-US" sz="1800" b="0" i="0" dirty="0" err="1">
                <a:solidFill>
                  <a:schemeClr val="tx1"/>
                </a:solidFill>
                <a:effectLst/>
                <a:latin typeface="+mn-lt"/>
              </a:rPr>
              <a:t>sql</a:t>
            </a:r>
            <a:r>
              <a:rPr lang="en-US" sz="1800" b="0" i="0" dirty="0">
                <a:solidFill>
                  <a:schemeClr val="tx1"/>
                </a:solidFill>
                <a:effectLst/>
                <a:latin typeface="+mn-lt"/>
              </a:rPr>
              <a:t>, </a:t>
            </a:r>
            <a:r>
              <a:rPr lang="en-US" sz="1800" b="0" i="0" dirty="0" err="1">
                <a:solidFill>
                  <a:schemeClr val="tx1"/>
                </a:solidFill>
                <a:effectLst/>
                <a:latin typeface="+mn-lt"/>
              </a:rPr>
              <a:t>Employee.class</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setParameter</a:t>
            </a:r>
            <a:r>
              <a:rPr lang="en-US" sz="1800" b="0" i="0" dirty="0">
                <a:solidFill>
                  <a:schemeClr val="tx1"/>
                </a:solidFill>
                <a:effectLst/>
                <a:latin typeface="+mn-lt"/>
              </a:rPr>
              <a:t>("salary", 50000)</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getResultList</a:t>
            </a: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
        <p:nvSpPr>
          <p:cNvPr id="7" name="TextBox 6">
            <a:extLst>
              <a:ext uri="{FF2B5EF4-FFF2-40B4-BE49-F238E27FC236}">
                <a16:creationId xmlns:a16="http://schemas.microsoft.com/office/drawing/2014/main" id="{62CDC5E5-D944-2B1D-6178-B19B2E7CD89E}"/>
              </a:ext>
            </a:extLst>
          </p:cNvPr>
          <p:cNvSpPr txBox="1"/>
          <p:nvPr/>
        </p:nvSpPr>
        <p:spPr>
          <a:xfrm>
            <a:off x="5513036" y="2906071"/>
            <a:ext cx="6678964" cy="3139321"/>
          </a:xfrm>
          <a:prstGeom prst="rect">
            <a:avLst/>
          </a:prstGeom>
          <a:noFill/>
        </p:spPr>
        <p:txBody>
          <a:bodyPr wrap="square">
            <a:spAutoFit/>
          </a:bodyPr>
          <a:lstStyle/>
          <a:p>
            <a:pPr indent="0" algn="l">
              <a:buNone/>
            </a:pPr>
            <a:r>
              <a:rPr lang="en-US" sz="1800" b="0" i="0" dirty="0">
                <a:solidFill>
                  <a:schemeClr val="tx1"/>
                </a:solidFill>
                <a:effectLst/>
                <a:latin typeface="+mn-lt"/>
              </a:rPr>
              <a:t>public interface </a:t>
            </a:r>
            <a:r>
              <a:rPr lang="en-US" sz="1800" b="0" i="0" dirty="0" err="1">
                <a:solidFill>
                  <a:schemeClr val="tx1"/>
                </a:solidFill>
                <a:effectLst/>
                <a:latin typeface="+mn-lt"/>
              </a:rPr>
              <a:t>EmployeeRepository</a:t>
            </a: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extends </a:t>
            </a:r>
            <a:r>
              <a:rPr lang="en-US" sz="1800" b="0" i="0" dirty="0" err="1">
                <a:solidFill>
                  <a:schemeClr val="tx1"/>
                </a:solidFill>
                <a:effectLst/>
                <a:latin typeface="+mn-lt"/>
              </a:rPr>
              <a:t>JpaRepository</a:t>
            </a:r>
            <a:r>
              <a:rPr lang="en-US" sz="1800" b="0" i="0" dirty="0">
                <a:solidFill>
                  <a:schemeClr val="tx1"/>
                </a:solidFill>
                <a:effectLst/>
                <a:latin typeface="+mn-lt"/>
              </a:rPr>
              <a:t>&lt;Employee, Long&gt; {</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@Query(</a:t>
            </a:r>
          </a:p>
          <a:p>
            <a:pPr indent="0" algn="l">
              <a:buNone/>
            </a:pPr>
            <a:r>
              <a:rPr lang="en-US" sz="1800" b="0" i="0" dirty="0">
                <a:solidFill>
                  <a:schemeClr val="tx1"/>
                </a:solidFill>
                <a:effectLst/>
                <a:latin typeface="+mn-lt"/>
              </a:rPr>
              <a:t>        value = "SELECT * FROM employees WHERE salary &gt; :salary",</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nativeQuery</a:t>
            </a:r>
            <a:r>
              <a:rPr lang="en-US" sz="1800" b="0" i="0" dirty="0">
                <a:solidFill>
                  <a:schemeClr val="tx1"/>
                </a:solidFill>
                <a:effectLst/>
                <a:latin typeface="+mn-lt"/>
              </a:rPr>
              <a:t> = true</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    List&lt;Employee&gt; </a:t>
            </a:r>
            <a:r>
              <a:rPr lang="en-US" sz="1800" b="0" i="0" dirty="0" err="1">
                <a:solidFill>
                  <a:schemeClr val="tx1"/>
                </a:solidFill>
                <a:effectLst/>
                <a:latin typeface="+mn-lt"/>
              </a:rPr>
              <a:t>findHighEarners</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        @Param("salary") </a:t>
            </a:r>
            <a:r>
              <a:rPr lang="en-US" sz="1800" b="0" i="0" dirty="0" err="1">
                <a:solidFill>
                  <a:schemeClr val="tx1"/>
                </a:solidFill>
                <a:effectLst/>
                <a:latin typeface="+mn-lt"/>
              </a:rPr>
              <a:t>BigDecimal</a:t>
            </a:r>
            <a:r>
              <a:rPr lang="en-US" sz="1800" b="0" i="0" dirty="0">
                <a:solidFill>
                  <a:schemeClr val="tx1"/>
                </a:solidFill>
                <a:effectLst/>
                <a:latin typeface="+mn-lt"/>
              </a:rPr>
              <a:t> salary</a:t>
            </a:r>
          </a:p>
          <a:p>
            <a:pPr indent="0" algn="l">
              <a:buNone/>
            </a:pPr>
            <a:r>
              <a:rPr lang="en-US" sz="1800" b="0" i="0" dirty="0">
                <a:solidFill>
                  <a:schemeClr val="tx1"/>
                </a:solidFill>
                <a:effectLst/>
                <a:latin typeface="+mn-lt"/>
              </a:rPr>
              <a:t>    );</a:t>
            </a:r>
          </a:p>
          <a:p>
            <a:pPr indent="0" algn="l">
              <a:buNone/>
            </a:pP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
        <p:nvSpPr>
          <p:cNvPr id="8" name="TextBox 7">
            <a:extLst>
              <a:ext uri="{FF2B5EF4-FFF2-40B4-BE49-F238E27FC236}">
                <a16:creationId xmlns:a16="http://schemas.microsoft.com/office/drawing/2014/main" id="{82926CE7-D12A-C523-91DF-F96A6CF6E47A}"/>
              </a:ext>
            </a:extLst>
          </p:cNvPr>
          <p:cNvSpPr txBox="1"/>
          <p:nvPr/>
        </p:nvSpPr>
        <p:spPr>
          <a:xfrm>
            <a:off x="967563" y="2339163"/>
            <a:ext cx="2894960" cy="369332"/>
          </a:xfrm>
          <a:prstGeom prst="rect">
            <a:avLst/>
          </a:prstGeom>
          <a:noFill/>
        </p:spPr>
        <p:txBody>
          <a:bodyPr wrap="none" rtlCol="0">
            <a:spAutoFit/>
          </a:bodyPr>
          <a:lstStyle/>
          <a:p>
            <a:r>
              <a:rPr lang="en-US" dirty="0"/>
              <a:t>Example with </a:t>
            </a:r>
            <a:r>
              <a:rPr lang="en-US" dirty="0" err="1"/>
              <a:t>EntityManager</a:t>
            </a:r>
            <a:r>
              <a:rPr lang="en-US" dirty="0"/>
              <a:t>:</a:t>
            </a:r>
          </a:p>
        </p:txBody>
      </p:sp>
      <p:sp>
        <p:nvSpPr>
          <p:cNvPr id="9" name="TextBox 8">
            <a:extLst>
              <a:ext uri="{FF2B5EF4-FFF2-40B4-BE49-F238E27FC236}">
                <a16:creationId xmlns:a16="http://schemas.microsoft.com/office/drawing/2014/main" id="{E3AE2135-F6C8-46E3-8C27-BB825F541F71}"/>
              </a:ext>
            </a:extLst>
          </p:cNvPr>
          <p:cNvSpPr txBox="1"/>
          <p:nvPr/>
        </p:nvSpPr>
        <p:spPr>
          <a:xfrm>
            <a:off x="5521842" y="2349796"/>
            <a:ext cx="3019545" cy="369332"/>
          </a:xfrm>
          <a:prstGeom prst="rect">
            <a:avLst/>
          </a:prstGeom>
          <a:noFill/>
        </p:spPr>
        <p:txBody>
          <a:bodyPr wrap="none" rtlCol="0">
            <a:spAutoFit/>
          </a:bodyPr>
          <a:lstStyle/>
          <a:p>
            <a:r>
              <a:rPr lang="en-US" dirty="0"/>
              <a:t>Example with Spring Data JPA:</a:t>
            </a:r>
          </a:p>
        </p:txBody>
      </p:sp>
    </p:spTree>
    <p:extLst>
      <p:ext uri="{BB962C8B-B14F-4D97-AF65-F5344CB8AC3E}">
        <p14:creationId xmlns:p14="http://schemas.microsoft.com/office/powerpoint/2010/main" val="2260849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9E7E-32E9-CA21-8A3D-55FCF70E8146}"/>
              </a:ext>
            </a:extLst>
          </p:cNvPr>
          <p:cNvSpPr>
            <a:spLocks noGrp="1"/>
          </p:cNvSpPr>
          <p:nvPr>
            <p:ph type="title"/>
          </p:nvPr>
        </p:nvSpPr>
        <p:spPr/>
        <p:txBody>
          <a:bodyPr/>
          <a:lstStyle/>
          <a:p>
            <a:r>
              <a:rPr lang="en-US" dirty="0"/>
              <a:t>Criteria API</a:t>
            </a:r>
          </a:p>
        </p:txBody>
      </p:sp>
      <p:sp>
        <p:nvSpPr>
          <p:cNvPr id="5" name="TextBox 4">
            <a:extLst>
              <a:ext uri="{FF2B5EF4-FFF2-40B4-BE49-F238E27FC236}">
                <a16:creationId xmlns:a16="http://schemas.microsoft.com/office/drawing/2014/main" id="{11F7504D-6C4E-BBE1-4796-4589558B7299}"/>
              </a:ext>
            </a:extLst>
          </p:cNvPr>
          <p:cNvSpPr txBox="1"/>
          <p:nvPr/>
        </p:nvSpPr>
        <p:spPr>
          <a:xfrm>
            <a:off x="3377555" y="2095057"/>
            <a:ext cx="6097772" cy="3046988"/>
          </a:xfrm>
          <a:prstGeom prst="rect">
            <a:avLst/>
          </a:prstGeom>
          <a:noFill/>
        </p:spPr>
        <p:txBody>
          <a:bodyPr wrap="square">
            <a:spAutoFit/>
          </a:bodyPr>
          <a:lstStyle/>
          <a:p>
            <a:pPr indent="0" algn="l">
              <a:buNone/>
            </a:pPr>
            <a:r>
              <a:rPr lang="en-US" sz="1800" b="0" i="0" dirty="0" err="1">
                <a:solidFill>
                  <a:schemeClr val="tx1"/>
                </a:solidFill>
                <a:effectLst/>
                <a:latin typeface="+mn-lt"/>
              </a:rPr>
              <a:t>CriteriaBuilder</a:t>
            </a:r>
            <a:r>
              <a:rPr lang="en-US" sz="1800" b="0" i="0" dirty="0">
                <a:solidFill>
                  <a:schemeClr val="tx1"/>
                </a:solidFill>
                <a:effectLst/>
                <a:latin typeface="+mn-lt"/>
              </a:rPr>
              <a:t> </a:t>
            </a:r>
            <a:r>
              <a:rPr lang="en-US" sz="1800" b="0" i="0" dirty="0" err="1">
                <a:solidFill>
                  <a:schemeClr val="tx1"/>
                </a:solidFill>
                <a:effectLst/>
                <a:latin typeface="+mn-lt"/>
              </a:rPr>
              <a:t>cb</a:t>
            </a:r>
            <a:r>
              <a:rPr lang="en-US" sz="1800" b="0" i="0" dirty="0">
                <a:solidFill>
                  <a:schemeClr val="tx1"/>
                </a:solidFill>
                <a:effectLst/>
                <a:latin typeface="+mn-lt"/>
              </a:rPr>
              <a:t> = </a:t>
            </a:r>
            <a:r>
              <a:rPr lang="en-US" sz="1800" b="0" i="0" dirty="0" err="1">
                <a:solidFill>
                  <a:schemeClr val="tx1"/>
                </a:solidFill>
                <a:effectLst/>
                <a:latin typeface="+mn-lt"/>
              </a:rPr>
              <a:t>entityManager.getCriteriaBuilder</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err="1">
                <a:solidFill>
                  <a:schemeClr val="tx1"/>
                </a:solidFill>
                <a:effectLst/>
                <a:latin typeface="+mn-lt"/>
              </a:rPr>
              <a:t>CriteriaQuery</a:t>
            </a:r>
            <a:r>
              <a:rPr lang="en-US" sz="1800" b="0" i="0" dirty="0">
                <a:solidFill>
                  <a:schemeClr val="tx1"/>
                </a:solidFill>
                <a:effectLst/>
                <a:latin typeface="+mn-lt"/>
              </a:rPr>
              <a:t>&lt;Employee&gt; </a:t>
            </a:r>
            <a:r>
              <a:rPr lang="en-US" sz="1800" b="0" i="0" dirty="0" err="1">
                <a:solidFill>
                  <a:schemeClr val="tx1"/>
                </a:solidFill>
                <a:effectLst/>
                <a:latin typeface="+mn-lt"/>
              </a:rPr>
              <a:t>cq</a:t>
            </a:r>
            <a:r>
              <a:rPr lang="en-US" sz="1800" b="0" i="0" dirty="0">
                <a:solidFill>
                  <a:schemeClr val="tx1"/>
                </a:solidFill>
                <a:effectLst/>
                <a:latin typeface="+mn-lt"/>
              </a:rPr>
              <a:t> =</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cb.createQuery</a:t>
            </a:r>
            <a:r>
              <a:rPr lang="en-US" sz="1800" b="0" i="0" dirty="0">
                <a:solidFill>
                  <a:schemeClr val="tx1"/>
                </a:solidFill>
                <a:effectLst/>
                <a:latin typeface="+mn-lt"/>
              </a:rPr>
              <a:t>(</a:t>
            </a:r>
            <a:r>
              <a:rPr lang="en-US" sz="1800" b="0" i="0" dirty="0" err="1">
                <a:solidFill>
                  <a:schemeClr val="tx1"/>
                </a:solidFill>
                <a:effectLst/>
                <a:latin typeface="+mn-lt"/>
              </a:rPr>
              <a:t>Employee.class</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Root&lt;Employee&gt; employee = </a:t>
            </a:r>
            <a:r>
              <a:rPr lang="en-US" sz="1800" b="0" i="0" dirty="0" err="1">
                <a:solidFill>
                  <a:schemeClr val="tx1"/>
                </a:solidFill>
                <a:effectLst/>
                <a:latin typeface="+mn-lt"/>
              </a:rPr>
              <a:t>cq.from</a:t>
            </a:r>
            <a:r>
              <a:rPr lang="en-US" sz="1800" b="0" i="0" dirty="0">
                <a:solidFill>
                  <a:schemeClr val="tx1"/>
                </a:solidFill>
                <a:effectLst/>
                <a:latin typeface="+mn-lt"/>
              </a:rPr>
              <a:t>(</a:t>
            </a:r>
            <a:r>
              <a:rPr lang="en-US" sz="1800" b="0" i="0" dirty="0" err="1">
                <a:solidFill>
                  <a:schemeClr val="tx1"/>
                </a:solidFill>
                <a:effectLst/>
                <a:latin typeface="+mn-lt"/>
              </a:rPr>
              <a:t>Employee.class</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Predicate </a:t>
            </a:r>
            <a:r>
              <a:rPr lang="en-US" sz="1800" b="0" i="0" dirty="0" err="1">
                <a:solidFill>
                  <a:schemeClr val="tx1"/>
                </a:solidFill>
                <a:effectLst/>
                <a:latin typeface="+mn-lt"/>
              </a:rPr>
              <a:t>salaryCondition</a:t>
            </a:r>
            <a:r>
              <a:rPr lang="en-US" sz="1800" b="0" i="0" dirty="0">
                <a:solidFill>
                  <a:schemeClr val="tx1"/>
                </a:solidFill>
                <a:effectLst/>
                <a:latin typeface="+mn-lt"/>
              </a:rPr>
              <a:t> =</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cb.greaterThan</a:t>
            </a:r>
            <a:r>
              <a:rPr lang="en-US" sz="1800" b="0" i="0" dirty="0">
                <a:solidFill>
                  <a:schemeClr val="tx1"/>
                </a:solidFill>
                <a:effectLst/>
                <a:latin typeface="+mn-lt"/>
              </a:rPr>
              <a:t>(</a:t>
            </a:r>
            <a:r>
              <a:rPr lang="en-US" sz="1800" b="0" i="0" dirty="0" err="1">
                <a:solidFill>
                  <a:schemeClr val="tx1"/>
                </a:solidFill>
                <a:effectLst/>
                <a:latin typeface="+mn-lt"/>
              </a:rPr>
              <a:t>employee.get</a:t>
            </a:r>
            <a:r>
              <a:rPr lang="en-US" sz="1800" b="0" i="0" dirty="0">
                <a:solidFill>
                  <a:schemeClr val="tx1"/>
                </a:solidFill>
                <a:effectLst/>
                <a:latin typeface="+mn-lt"/>
              </a:rPr>
              <a:t>("salary"), new </a:t>
            </a:r>
            <a:r>
              <a:rPr lang="en-US" sz="1800" b="0" i="0" dirty="0" err="1">
                <a:solidFill>
                  <a:schemeClr val="tx1"/>
                </a:solidFill>
                <a:effectLst/>
                <a:latin typeface="+mn-lt"/>
              </a:rPr>
              <a:t>BigDecimal</a:t>
            </a:r>
            <a:r>
              <a:rPr lang="en-US" sz="1800" b="0" i="0" dirty="0">
                <a:solidFill>
                  <a:schemeClr val="tx1"/>
                </a:solidFill>
                <a:effectLst/>
                <a:latin typeface="+mn-lt"/>
              </a:rPr>
              <a:t>("50000"));</a:t>
            </a:r>
          </a:p>
          <a:p>
            <a:pPr indent="0" algn="l">
              <a:buNone/>
            </a:pPr>
            <a:endParaRPr lang="en-US" sz="1800" b="0" i="0" dirty="0">
              <a:solidFill>
                <a:schemeClr val="tx1"/>
              </a:solidFill>
              <a:effectLst/>
              <a:latin typeface="+mn-lt"/>
            </a:endParaRPr>
          </a:p>
          <a:p>
            <a:pPr indent="0" algn="l">
              <a:buNone/>
            </a:pPr>
            <a:r>
              <a:rPr lang="en-US" sz="1800" b="0" i="0" dirty="0" err="1">
                <a:solidFill>
                  <a:schemeClr val="tx1"/>
                </a:solidFill>
                <a:effectLst/>
                <a:latin typeface="+mn-lt"/>
              </a:rPr>
              <a:t>cq.select</a:t>
            </a:r>
            <a:r>
              <a:rPr lang="en-US" sz="1800" b="0" i="0" dirty="0">
                <a:solidFill>
                  <a:schemeClr val="tx1"/>
                </a:solidFill>
                <a:effectLst/>
                <a:latin typeface="+mn-lt"/>
              </a:rPr>
              <a:t>(employee).where(</a:t>
            </a:r>
            <a:r>
              <a:rPr lang="en-US" sz="1800" b="0" i="0" dirty="0" err="1">
                <a:solidFill>
                  <a:schemeClr val="tx1"/>
                </a:solidFill>
                <a:effectLst/>
                <a:latin typeface="+mn-lt"/>
              </a:rPr>
              <a:t>salaryCondition</a:t>
            </a:r>
            <a:r>
              <a:rPr lang="en-US" sz="1800" b="0" i="0" dirty="0">
                <a:solidFill>
                  <a:schemeClr val="tx1"/>
                </a:solidFill>
                <a:effectLst/>
                <a:latin typeface="+mn-lt"/>
              </a:rPr>
              <a:t>);</a:t>
            </a:r>
          </a:p>
          <a:p>
            <a:pPr indent="0" algn="l">
              <a:buNone/>
            </a:pPr>
            <a:endParaRPr lang="en-US" sz="1800" b="0" i="0" dirty="0">
              <a:solidFill>
                <a:schemeClr val="tx1"/>
              </a:solidFill>
              <a:effectLst/>
              <a:latin typeface="+mn-lt"/>
            </a:endParaRPr>
          </a:p>
          <a:p>
            <a:pPr indent="0" algn="l">
              <a:buNone/>
            </a:pPr>
            <a:r>
              <a:rPr lang="en-US" sz="1800" b="0" i="0" dirty="0">
                <a:solidFill>
                  <a:schemeClr val="tx1"/>
                </a:solidFill>
                <a:effectLst/>
                <a:latin typeface="+mn-lt"/>
              </a:rPr>
              <a:t>List&lt;Employee&gt; employees = </a:t>
            </a:r>
            <a:r>
              <a:rPr lang="en-US" sz="1800" b="0" i="0" dirty="0" err="1">
                <a:solidFill>
                  <a:schemeClr val="tx1"/>
                </a:solidFill>
                <a:effectLst/>
                <a:latin typeface="+mn-lt"/>
              </a:rPr>
              <a:t>entityManager</a:t>
            </a:r>
            <a:endParaRPr lang="en-US" sz="1800" b="0" i="0" dirty="0">
              <a:solidFill>
                <a:schemeClr val="tx1"/>
              </a:solidFill>
              <a:effectLst/>
              <a:latin typeface="+mn-lt"/>
            </a:endParaRP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createQuery</a:t>
            </a:r>
            <a:r>
              <a:rPr lang="en-US" sz="1800" b="0" i="0" dirty="0">
                <a:solidFill>
                  <a:schemeClr val="tx1"/>
                </a:solidFill>
                <a:effectLst/>
                <a:latin typeface="+mn-lt"/>
              </a:rPr>
              <a:t>(</a:t>
            </a:r>
            <a:r>
              <a:rPr lang="en-US" sz="1800" b="0" i="0" dirty="0" err="1">
                <a:solidFill>
                  <a:schemeClr val="tx1"/>
                </a:solidFill>
                <a:effectLst/>
                <a:latin typeface="+mn-lt"/>
              </a:rPr>
              <a:t>cq</a:t>
            </a:r>
            <a:r>
              <a:rPr lang="en-US" sz="1800" b="0" i="0" dirty="0">
                <a:solidFill>
                  <a:schemeClr val="tx1"/>
                </a:solidFill>
                <a:effectLst/>
                <a:latin typeface="+mn-lt"/>
              </a:rPr>
              <a:t>)</a:t>
            </a:r>
          </a:p>
          <a:p>
            <a:pPr indent="0" algn="l">
              <a:buNone/>
            </a:pPr>
            <a:r>
              <a:rPr lang="en-US" sz="1800" b="0" i="0" dirty="0">
                <a:solidFill>
                  <a:schemeClr val="tx1"/>
                </a:solidFill>
                <a:effectLst/>
                <a:latin typeface="+mn-lt"/>
              </a:rPr>
              <a:t>    .</a:t>
            </a:r>
            <a:r>
              <a:rPr lang="en-US" sz="1800" b="0" i="0" dirty="0" err="1">
                <a:solidFill>
                  <a:schemeClr val="tx1"/>
                </a:solidFill>
                <a:effectLst/>
                <a:latin typeface="+mn-lt"/>
              </a:rPr>
              <a:t>getResultList</a:t>
            </a:r>
            <a:r>
              <a:rPr lang="en-US" sz="1800" b="0" i="0" dirty="0">
                <a:solidFill>
                  <a:schemeClr val="tx1"/>
                </a:solidFill>
                <a:effectLst/>
                <a:latin typeface="+mn-lt"/>
              </a:rPr>
              <a:t>();</a:t>
            </a:r>
            <a:endParaRPr lang="en-US" sz="1200" b="0" i="0" dirty="0">
              <a:solidFill>
                <a:srgbClr val="FFFFFF"/>
              </a:solidFill>
              <a:effectLst/>
              <a:latin typeface="Courier New" panose="02070309020205020404" pitchFamily="49" charset="0"/>
            </a:endParaRPr>
          </a:p>
        </p:txBody>
      </p:sp>
    </p:spTree>
    <p:extLst>
      <p:ext uri="{BB962C8B-B14F-4D97-AF65-F5344CB8AC3E}">
        <p14:creationId xmlns:p14="http://schemas.microsoft.com/office/powerpoint/2010/main" val="401493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95FB92-6A2A-D33A-9349-4B2FC8FB8D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3D84A-B2A2-70EA-E959-F4AF070FDADF}"/>
              </a:ext>
            </a:extLst>
          </p:cNvPr>
          <p:cNvSpPr>
            <a:spLocks noGrp="1"/>
          </p:cNvSpPr>
          <p:nvPr>
            <p:ph type="title"/>
          </p:nvPr>
        </p:nvSpPr>
        <p:spPr/>
        <p:txBody>
          <a:bodyPr/>
          <a:lstStyle/>
          <a:p>
            <a:r>
              <a:rPr lang="en-US" dirty="0"/>
              <a:t>Challenge – let’s check our understanding</a:t>
            </a:r>
          </a:p>
        </p:txBody>
      </p:sp>
      <p:sp>
        <p:nvSpPr>
          <p:cNvPr id="3" name="Content Placeholder 2">
            <a:extLst>
              <a:ext uri="{FF2B5EF4-FFF2-40B4-BE49-F238E27FC236}">
                <a16:creationId xmlns:a16="http://schemas.microsoft.com/office/drawing/2014/main" id="{D13E1DF8-36E0-1D6D-D9DB-C73571F53862}"/>
              </a:ext>
            </a:extLst>
          </p:cNvPr>
          <p:cNvSpPr>
            <a:spLocks noGrp="1"/>
          </p:cNvSpPr>
          <p:nvPr>
            <p:ph idx="1"/>
          </p:nvPr>
        </p:nvSpPr>
        <p:spPr>
          <a:xfrm>
            <a:off x="581192" y="2475925"/>
            <a:ext cx="5317584" cy="1681246"/>
          </a:xfrm>
        </p:spPr>
        <p:txBody>
          <a:bodyPr/>
          <a:lstStyle/>
          <a:p>
            <a:r>
              <a:rPr lang="en-US" dirty="0"/>
              <a:t>Create endpoints for different types of coaches</a:t>
            </a:r>
          </a:p>
        </p:txBody>
      </p:sp>
      <p:sp>
        <p:nvSpPr>
          <p:cNvPr id="6" name="TextBox 5">
            <a:extLst>
              <a:ext uri="{FF2B5EF4-FFF2-40B4-BE49-F238E27FC236}">
                <a16:creationId xmlns:a16="http://schemas.microsoft.com/office/drawing/2014/main" id="{4711C103-16B8-599E-5739-2FDF5191F349}"/>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5AB5C3A-C77B-4B2B-5C19-A80BEA882757}"/>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3861BE59-BFB8-9E75-6062-CCB3C6CEB3D5}"/>
              </a:ext>
            </a:extLst>
          </p:cNvPr>
          <p:cNvSpPr txBox="1">
            <a:spLocks/>
          </p:cNvSpPr>
          <p:nvPr/>
        </p:nvSpPr>
        <p:spPr>
          <a:xfrm>
            <a:off x="6545749" y="2772078"/>
            <a:ext cx="4661642" cy="248040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Example: One endpoint uses a ‘</a:t>
            </a:r>
            <a:r>
              <a:rPr lang="en-US" dirty="0" err="1"/>
              <a:t>baseBallCoach</a:t>
            </a:r>
            <a:r>
              <a:rPr lang="en-US" dirty="0"/>
              <a:t>’ and prints ‘Practice Baseball’ </a:t>
            </a:r>
          </a:p>
          <a:p>
            <a:r>
              <a:rPr lang="en-US" dirty="0"/>
              <a:t>Another endpoint uses a ‘</a:t>
            </a:r>
            <a:r>
              <a:rPr lang="en-US" dirty="0" err="1"/>
              <a:t>basketballCoach</a:t>
            </a:r>
            <a:r>
              <a:rPr lang="en-US" dirty="0"/>
              <a:t>’ and prints ‘Practice Basketball’</a:t>
            </a:r>
          </a:p>
          <a:p>
            <a:r>
              <a:rPr lang="en-US" dirty="0"/>
              <a:t>Hint: You can inject more than one item, with multiple @Qualifier(s)!</a:t>
            </a:r>
          </a:p>
        </p:txBody>
      </p:sp>
    </p:spTree>
    <p:extLst>
      <p:ext uri="{BB962C8B-B14F-4D97-AF65-F5344CB8AC3E}">
        <p14:creationId xmlns:p14="http://schemas.microsoft.com/office/powerpoint/2010/main" val="253201416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6635</TotalTime>
  <Words>2949</Words>
  <Application>Microsoft Office PowerPoint</Application>
  <PresentationFormat>Widescreen</PresentationFormat>
  <Paragraphs>424</Paragraphs>
  <Slides>40</Slides>
  <Notes>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-apple-system-body</vt:lpstr>
      <vt:lpstr>Arial</vt:lpstr>
      <vt:lpstr>Consolas</vt:lpstr>
      <vt:lpstr>Courier New</vt:lpstr>
      <vt:lpstr>Gill Sans MT</vt:lpstr>
      <vt:lpstr>Google Sans</vt:lpstr>
      <vt:lpstr>Wingdings</vt:lpstr>
      <vt:lpstr>Wingdings 2</vt:lpstr>
      <vt:lpstr>Dividend</vt:lpstr>
      <vt:lpstr>Hibernate, JPA, &amp; REST</vt:lpstr>
      <vt:lpstr>What is hibernate?</vt:lpstr>
      <vt:lpstr>What is JPA?</vt:lpstr>
      <vt:lpstr>Hibernate/JPA – concrete benefit</vt:lpstr>
      <vt:lpstr>Setup Overview</vt:lpstr>
      <vt:lpstr>EntityManager vs JpaRepository</vt:lpstr>
      <vt:lpstr>Typical stack</vt:lpstr>
      <vt:lpstr>JQPL</vt:lpstr>
      <vt:lpstr>Stereotype annotations</vt:lpstr>
      <vt:lpstr>Jackson</vt:lpstr>
      <vt:lpstr>Request Validation &amp; schema enforcement</vt:lpstr>
      <vt:lpstr>Exception handling</vt:lpstr>
      <vt:lpstr>Exception Handling</vt:lpstr>
      <vt:lpstr>@transactional</vt:lpstr>
      <vt:lpstr>@transactional propagation strategies</vt:lpstr>
      <vt:lpstr>@transactional </vt:lpstr>
      <vt:lpstr>STOP</vt:lpstr>
      <vt:lpstr>Mapping JPA relationships</vt:lpstr>
      <vt:lpstr>1-n relationship</vt:lpstr>
      <vt:lpstr>N-M</vt:lpstr>
      <vt:lpstr>Using entitymanager to traverse relationships</vt:lpstr>
      <vt:lpstr>JpaRepository</vt:lpstr>
      <vt:lpstr>Jparepository – out-of-the-box methods</vt:lpstr>
      <vt:lpstr>Creating a jparepository</vt:lpstr>
      <vt:lpstr>Jparepository – Optional&lt;T&gt;</vt:lpstr>
      <vt:lpstr>Jparepository – derived query methods</vt:lpstr>
      <vt:lpstr>Jparepository – derived query methods</vt:lpstr>
      <vt:lpstr>Jparepository – derived query methods</vt:lpstr>
      <vt:lpstr>Jparepository – derived query methods</vt:lpstr>
      <vt:lpstr>Jparepository – derived query methods</vt:lpstr>
      <vt:lpstr>Pitfalls of Derived Query methods</vt:lpstr>
      <vt:lpstr>@query</vt:lpstr>
      <vt:lpstr>Pagination</vt:lpstr>
      <vt:lpstr>DTO – data transfer objects</vt:lpstr>
      <vt:lpstr>Using jparepository to traverse relationships</vt:lpstr>
      <vt:lpstr>STOP</vt:lpstr>
      <vt:lpstr>Overview/recap on database interactions </vt:lpstr>
      <vt:lpstr>Native SQL</vt:lpstr>
      <vt:lpstr>Criteria API</vt:lpstr>
      <vt:lpstr>Challenge – let’s check our understanding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618</cp:revision>
  <dcterms:created xsi:type="dcterms:W3CDTF">2025-02-12T19:53:45Z</dcterms:created>
  <dcterms:modified xsi:type="dcterms:W3CDTF">2026-10-11T21:19:13Z</dcterms:modified>
</cp:coreProperties>
</file>