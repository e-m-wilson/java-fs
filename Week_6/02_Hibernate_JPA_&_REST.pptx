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314" r:id="rId3"/>
    <p:sldId id="315" r:id="rId4"/>
    <p:sldId id="316" r:id="rId5"/>
    <p:sldId id="317" r:id="rId6"/>
    <p:sldId id="318" r:id="rId7"/>
    <p:sldId id="321" r:id="rId8"/>
    <p:sldId id="319" r:id="rId9"/>
    <p:sldId id="320" r:id="rId10"/>
    <p:sldId id="322" r:id="rId11"/>
    <p:sldId id="313"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D3D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8EF453-3095-AE8A-2F6D-B0378CA79EC1}" v="28" dt="2025-06-02T16:07:27.587"/>
    <p1510:client id="{DEF17522-F9FC-8578-697D-16CF15692E13}" v="5" dt="2025-06-03T14:51:56.4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2" autoAdjust="0"/>
    <p:restoredTop sz="94660"/>
  </p:normalViewPr>
  <p:slideViewPr>
    <p:cSldViewPr snapToGrid="0">
      <p:cViewPr varScale="1">
        <p:scale>
          <a:sx n="153" d="100"/>
          <a:sy n="153" d="100"/>
        </p:scale>
        <p:origin x="16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dirty="0"/>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dirty="0"/>
              <a:pPr/>
              <a:t>9/29/2026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1588113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Content Placeholder 2"/>
          <p:cNvSpPr>
            <a:spLocks noGrp="1"/>
          </p:cNvSpPr>
          <p:nvPr>
            <p:ph idx="1"/>
          </p:nvPr>
        </p:nvSpPr>
        <p:spPr>
          <a:xfrm>
            <a:off x="581192" y="2180496"/>
            <a:ext cx="11029615" cy="367830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9/29/2026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8158775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9/29/2026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547375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9/29/2026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7265091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9/29/2026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4922488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9/29/2026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159988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9/29/2026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98299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dirty="0"/>
              <a:t>Click to edit Master title style</a:t>
            </a:r>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9/29/2026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213710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dirty="0"/>
              <a:t>Click to edit Master title style</a:t>
            </a:r>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9/29/2026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797160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9/29/2026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090617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dirty="0"/>
              <a:pPr/>
              <a:t>9/29/2026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79855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a:t>
            </a:r>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dirty="0"/>
              <a:pPr/>
              <a:t>9/29/2026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dirty="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07661564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Hibernate, JPA, &amp; REST</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12A36-4588-5F59-79E8-D52E4D63C35F}"/>
              </a:ext>
            </a:extLst>
          </p:cNvPr>
          <p:cNvSpPr>
            <a:spLocks noGrp="1"/>
          </p:cNvSpPr>
          <p:nvPr>
            <p:ph type="title"/>
          </p:nvPr>
        </p:nvSpPr>
        <p:spPr/>
        <p:txBody>
          <a:bodyPr/>
          <a:lstStyle/>
          <a:p>
            <a:r>
              <a:rPr lang="en-US" dirty="0"/>
              <a:t>What is hibernate?</a:t>
            </a:r>
          </a:p>
        </p:txBody>
      </p:sp>
      <p:sp>
        <p:nvSpPr>
          <p:cNvPr id="3" name="Content Placeholder 2">
            <a:extLst>
              <a:ext uri="{FF2B5EF4-FFF2-40B4-BE49-F238E27FC236}">
                <a16:creationId xmlns:a16="http://schemas.microsoft.com/office/drawing/2014/main" id="{27AFFFA9-069D-DDF5-94A0-23E98E258204}"/>
              </a:ext>
            </a:extLst>
          </p:cNvPr>
          <p:cNvSpPr>
            <a:spLocks noGrp="1"/>
          </p:cNvSpPr>
          <p:nvPr>
            <p:ph idx="1"/>
          </p:nvPr>
        </p:nvSpPr>
        <p:spPr>
          <a:xfrm>
            <a:off x="581192" y="2180496"/>
            <a:ext cx="11029615" cy="2859337"/>
          </a:xfrm>
        </p:spPr>
        <p:txBody>
          <a:bodyPr>
            <a:normAutofit fontScale="92500" lnSpcReduction="20000"/>
          </a:bodyPr>
          <a:lstStyle/>
          <a:p>
            <a:r>
              <a:rPr lang="en-US" dirty="0"/>
              <a:t>A framework for saving /persisting java objects in a database</a:t>
            </a:r>
          </a:p>
          <a:p>
            <a:r>
              <a:rPr lang="en-US" b="1" dirty="0"/>
              <a:t>Object-Relational Mapping (ORM):</a:t>
            </a:r>
            <a:r>
              <a:rPr lang="en-US" dirty="0"/>
              <a:t> Bridges the gap between the object-oriented world of Java and the relational world of SQL databases. It allows developers to store and retrieve Java objects directly as database tables and rows without writing complex, boilerplate SQL queries.</a:t>
            </a:r>
          </a:p>
          <a:p>
            <a:pPr lvl="1"/>
            <a:r>
              <a:rPr lang="en-US" b="1" dirty="0"/>
              <a:t>Productivity Boost:</a:t>
            </a:r>
            <a:r>
              <a:rPr lang="en-US" dirty="0"/>
              <a:t> Eliminates massive amounts of tedious JDBC code, connection management, and manual result-set mapping.</a:t>
            </a:r>
          </a:p>
          <a:p>
            <a:pPr lvl="1"/>
            <a:r>
              <a:rPr lang="en-US" b="1" dirty="0"/>
              <a:t>Database Independence:</a:t>
            </a:r>
            <a:r>
              <a:rPr lang="en-US" dirty="0"/>
              <a:t> By abstracting SQL dialects, Hibernate allows your application to switch underlying databases with minimal configuration changes.</a:t>
            </a:r>
          </a:p>
          <a:p>
            <a:pPr lvl="1"/>
            <a:r>
              <a:rPr lang="en-US" b="1" dirty="0"/>
              <a:t>Built-in Caching:</a:t>
            </a:r>
            <a:r>
              <a:rPr lang="en-US" dirty="0"/>
              <a:t> Features a first-level cache (associated with the Session) and an optional second-level cache (shared across sessions) to significantly reduce database round-trips and improve performance.</a:t>
            </a:r>
          </a:p>
          <a:p>
            <a:pPr lvl="1"/>
            <a:r>
              <a:rPr lang="en-US" b="1" dirty="0"/>
              <a:t>Automatic Transaction Management:</a:t>
            </a:r>
            <a:r>
              <a:rPr lang="en-US" dirty="0"/>
              <a:t> Handles database transactions and connection pooling efficiently, ensuring data integrity.</a:t>
            </a:r>
          </a:p>
          <a:p>
            <a:endParaRPr lang="en-US" dirty="0"/>
          </a:p>
        </p:txBody>
      </p:sp>
      <p:pic>
        <p:nvPicPr>
          <p:cNvPr id="7" name="Picture 6">
            <a:extLst>
              <a:ext uri="{FF2B5EF4-FFF2-40B4-BE49-F238E27FC236}">
                <a16:creationId xmlns:a16="http://schemas.microsoft.com/office/drawing/2014/main" id="{DA5C0503-D2A8-4E1B-DA9A-63E949012BEB}"/>
              </a:ext>
            </a:extLst>
          </p:cNvPr>
          <p:cNvPicPr>
            <a:picLocks noChangeAspect="1"/>
          </p:cNvPicPr>
          <p:nvPr/>
        </p:nvPicPr>
        <p:blipFill>
          <a:blip r:embed="rId2"/>
          <a:stretch>
            <a:fillRect/>
          </a:stretch>
        </p:blipFill>
        <p:spPr>
          <a:xfrm>
            <a:off x="2375967" y="4868462"/>
            <a:ext cx="7440063" cy="1609950"/>
          </a:xfrm>
          <a:prstGeom prst="rect">
            <a:avLst/>
          </a:prstGeom>
        </p:spPr>
      </p:pic>
    </p:spTree>
    <p:extLst>
      <p:ext uri="{BB962C8B-B14F-4D97-AF65-F5344CB8AC3E}">
        <p14:creationId xmlns:p14="http://schemas.microsoft.com/office/powerpoint/2010/main" val="15088374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07699-A587-AD13-366E-8CC5FF4CEEF7}"/>
              </a:ext>
            </a:extLst>
          </p:cNvPr>
          <p:cNvSpPr>
            <a:spLocks noGrp="1"/>
          </p:cNvSpPr>
          <p:nvPr>
            <p:ph type="title"/>
          </p:nvPr>
        </p:nvSpPr>
        <p:spPr/>
        <p:txBody>
          <a:bodyPr/>
          <a:lstStyle/>
          <a:p>
            <a:r>
              <a:rPr lang="en-US" dirty="0"/>
              <a:t>What is JPA?</a:t>
            </a:r>
          </a:p>
        </p:txBody>
      </p:sp>
      <p:sp>
        <p:nvSpPr>
          <p:cNvPr id="3" name="Content Placeholder 2">
            <a:extLst>
              <a:ext uri="{FF2B5EF4-FFF2-40B4-BE49-F238E27FC236}">
                <a16:creationId xmlns:a16="http://schemas.microsoft.com/office/drawing/2014/main" id="{D64CCE71-301C-D88A-5A4C-8AD9189506E6}"/>
              </a:ext>
            </a:extLst>
          </p:cNvPr>
          <p:cNvSpPr>
            <a:spLocks noGrp="1"/>
          </p:cNvSpPr>
          <p:nvPr>
            <p:ph idx="1"/>
          </p:nvPr>
        </p:nvSpPr>
        <p:spPr>
          <a:xfrm>
            <a:off x="581193" y="2180496"/>
            <a:ext cx="5096586" cy="4092713"/>
          </a:xfrm>
        </p:spPr>
        <p:txBody>
          <a:bodyPr/>
          <a:lstStyle/>
          <a:p>
            <a:r>
              <a:rPr lang="en-US" dirty="0"/>
              <a:t>Jakarta Persistence API (JPA) – previously known as Java Persistence API</a:t>
            </a:r>
          </a:p>
          <a:p>
            <a:pPr lvl="1"/>
            <a:r>
              <a:rPr lang="en-US" dirty="0"/>
              <a:t>Standard API for Object Relational Mapping</a:t>
            </a:r>
          </a:p>
          <a:p>
            <a:pPr lvl="1"/>
            <a:r>
              <a:rPr lang="en-US" dirty="0"/>
              <a:t>Is a specification</a:t>
            </a:r>
          </a:p>
          <a:p>
            <a:pPr lvl="1"/>
            <a:r>
              <a:rPr lang="en-US" dirty="0"/>
              <a:t>Includes interfaces</a:t>
            </a:r>
          </a:p>
          <a:p>
            <a:pPr lvl="1"/>
            <a:r>
              <a:rPr lang="en-US" dirty="0"/>
              <a:t>Requires implementations to use</a:t>
            </a:r>
          </a:p>
          <a:p>
            <a:pPr lvl="1"/>
            <a:r>
              <a:rPr lang="en-US" dirty="0"/>
              <a:t>Hibernate is one way we can implement JPA </a:t>
            </a:r>
          </a:p>
        </p:txBody>
      </p:sp>
      <p:pic>
        <p:nvPicPr>
          <p:cNvPr id="5" name="Picture 4">
            <a:extLst>
              <a:ext uri="{FF2B5EF4-FFF2-40B4-BE49-F238E27FC236}">
                <a16:creationId xmlns:a16="http://schemas.microsoft.com/office/drawing/2014/main" id="{88D308B2-5C8A-3D8B-DC61-D9EEB618683C}"/>
              </a:ext>
            </a:extLst>
          </p:cNvPr>
          <p:cNvPicPr>
            <a:picLocks noChangeAspect="1"/>
          </p:cNvPicPr>
          <p:nvPr/>
        </p:nvPicPr>
        <p:blipFill>
          <a:blip r:embed="rId2"/>
          <a:stretch>
            <a:fillRect/>
          </a:stretch>
        </p:blipFill>
        <p:spPr>
          <a:xfrm>
            <a:off x="6096000" y="3212298"/>
            <a:ext cx="5096586" cy="2029108"/>
          </a:xfrm>
          <a:prstGeom prst="rect">
            <a:avLst/>
          </a:prstGeom>
        </p:spPr>
      </p:pic>
    </p:spTree>
    <p:extLst>
      <p:ext uri="{BB962C8B-B14F-4D97-AF65-F5344CB8AC3E}">
        <p14:creationId xmlns:p14="http://schemas.microsoft.com/office/powerpoint/2010/main" val="989935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21588-B4AB-0930-D937-3C5629B35CEC}"/>
              </a:ext>
            </a:extLst>
          </p:cNvPr>
          <p:cNvSpPr>
            <a:spLocks noGrp="1"/>
          </p:cNvSpPr>
          <p:nvPr>
            <p:ph type="title"/>
          </p:nvPr>
        </p:nvSpPr>
        <p:spPr/>
        <p:txBody>
          <a:bodyPr/>
          <a:lstStyle/>
          <a:p>
            <a:r>
              <a:rPr lang="en-US" dirty="0"/>
              <a:t>Hibernate/JPA – concrete benefit</a:t>
            </a:r>
          </a:p>
        </p:txBody>
      </p:sp>
      <p:pic>
        <p:nvPicPr>
          <p:cNvPr id="5" name="Content Placeholder 4">
            <a:extLst>
              <a:ext uri="{FF2B5EF4-FFF2-40B4-BE49-F238E27FC236}">
                <a16:creationId xmlns:a16="http://schemas.microsoft.com/office/drawing/2014/main" id="{DE53D90B-C52E-02C9-58EA-C1F6BA2852EA}"/>
              </a:ext>
            </a:extLst>
          </p:cNvPr>
          <p:cNvPicPr>
            <a:picLocks noGrp="1" noChangeAspect="1"/>
          </p:cNvPicPr>
          <p:nvPr>
            <p:ph idx="1"/>
          </p:nvPr>
        </p:nvPicPr>
        <p:blipFill>
          <a:blip r:embed="rId2"/>
          <a:stretch>
            <a:fillRect/>
          </a:stretch>
        </p:blipFill>
        <p:spPr>
          <a:xfrm>
            <a:off x="2821342" y="2707531"/>
            <a:ext cx="6549314" cy="1766871"/>
          </a:xfrm>
          <a:prstGeom prst="rect">
            <a:avLst/>
          </a:prstGeom>
        </p:spPr>
      </p:pic>
      <p:sp>
        <p:nvSpPr>
          <p:cNvPr id="6" name="TextBox 5">
            <a:extLst>
              <a:ext uri="{FF2B5EF4-FFF2-40B4-BE49-F238E27FC236}">
                <a16:creationId xmlns:a16="http://schemas.microsoft.com/office/drawing/2014/main" id="{19B55E4D-06A2-388D-C33A-D7610C995E8B}"/>
              </a:ext>
            </a:extLst>
          </p:cNvPr>
          <p:cNvSpPr txBox="1"/>
          <p:nvPr/>
        </p:nvSpPr>
        <p:spPr>
          <a:xfrm>
            <a:off x="3790047" y="2137558"/>
            <a:ext cx="4611904" cy="369332"/>
          </a:xfrm>
          <a:prstGeom prst="rect">
            <a:avLst/>
          </a:prstGeom>
          <a:noFill/>
        </p:spPr>
        <p:txBody>
          <a:bodyPr wrap="none" rtlCol="0">
            <a:spAutoFit/>
          </a:bodyPr>
          <a:lstStyle/>
          <a:p>
            <a:r>
              <a:rPr lang="en-US" dirty="0"/>
              <a:t>No JDBC required! It happens under the hood!</a:t>
            </a:r>
          </a:p>
        </p:txBody>
      </p:sp>
      <p:pic>
        <p:nvPicPr>
          <p:cNvPr id="8" name="Picture 7">
            <a:extLst>
              <a:ext uri="{FF2B5EF4-FFF2-40B4-BE49-F238E27FC236}">
                <a16:creationId xmlns:a16="http://schemas.microsoft.com/office/drawing/2014/main" id="{BB5D8FF5-ABF8-B1D9-FAD9-05F24D003391}"/>
              </a:ext>
            </a:extLst>
          </p:cNvPr>
          <p:cNvPicPr>
            <a:picLocks noChangeAspect="1"/>
          </p:cNvPicPr>
          <p:nvPr/>
        </p:nvPicPr>
        <p:blipFill>
          <a:blip r:embed="rId3"/>
          <a:stretch>
            <a:fillRect/>
          </a:stretch>
        </p:blipFill>
        <p:spPr>
          <a:xfrm>
            <a:off x="2821342" y="4675043"/>
            <a:ext cx="6549314" cy="1845789"/>
          </a:xfrm>
          <a:prstGeom prst="rect">
            <a:avLst/>
          </a:prstGeom>
        </p:spPr>
      </p:pic>
    </p:spTree>
    <p:extLst>
      <p:ext uri="{BB962C8B-B14F-4D97-AF65-F5344CB8AC3E}">
        <p14:creationId xmlns:p14="http://schemas.microsoft.com/office/powerpoint/2010/main" val="19050379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9A5A21-1B4E-0EC7-55B0-DC8F5336AE71}"/>
              </a:ext>
            </a:extLst>
          </p:cNvPr>
          <p:cNvSpPr>
            <a:spLocks noGrp="1"/>
          </p:cNvSpPr>
          <p:nvPr>
            <p:ph type="title"/>
          </p:nvPr>
        </p:nvSpPr>
        <p:spPr/>
        <p:txBody>
          <a:bodyPr/>
          <a:lstStyle/>
          <a:p>
            <a:r>
              <a:rPr lang="en-US" dirty="0"/>
              <a:t>Setup Overview</a:t>
            </a:r>
          </a:p>
        </p:txBody>
      </p:sp>
      <p:sp>
        <p:nvSpPr>
          <p:cNvPr id="3" name="Content Placeholder 2">
            <a:extLst>
              <a:ext uri="{FF2B5EF4-FFF2-40B4-BE49-F238E27FC236}">
                <a16:creationId xmlns:a16="http://schemas.microsoft.com/office/drawing/2014/main" id="{A04DAB88-973E-8175-D4A1-B7DD117195E3}"/>
              </a:ext>
            </a:extLst>
          </p:cNvPr>
          <p:cNvSpPr>
            <a:spLocks noGrp="1"/>
          </p:cNvSpPr>
          <p:nvPr>
            <p:ph idx="1"/>
          </p:nvPr>
        </p:nvSpPr>
        <p:spPr>
          <a:xfrm>
            <a:off x="581193" y="1948226"/>
            <a:ext cx="11029615" cy="2429214"/>
          </a:xfrm>
        </p:spPr>
        <p:txBody>
          <a:bodyPr>
            <a:normAutofit/>
          </a:bodyPr>
          <a:lstStyle/>
          <a:p>
            <a:r>
              <a:rPr lang="en-US" dirty="0"/>
              <a:t>In Spring Boot, Hibernate is the default implementation of JPA</a:t>
            </a:r>
          </a:p>
          <a:p>
            <a:r>
              <a:rPr lang="en-US" dirty="0"/>
              <a:t>With Spring </a:t>
            </a:r>
            <a:r>
              <a:rPr lang="en-US" dirty="0" err="1"/>
              <a:t>Initializr</a:t>
            </a:r>
            <a:r>
              <a:rPr lang="en-US" dirty="0"/>
              <a:t>:</a:t>
            </a:r>
          </a:p>
          <a:p>
            <a:pPr lvl="1"/>
            <a:r>
              <a:rPr lang="en-US" dirty="0"/>
              <a:t>Postgres Driver: </a:t>
            </a:r>
            <a:r>
              <a:rPr lang="en-US" dirty="0" err="1"/>
              <a:t>org.postgresql:postgresql</a:t>
            </a:r>
            <a:endParaRPr lang="en-US" dirty="0"/>
          </a:p>
          <a:p>
            <a:pPr lvl="1"/>
            <a:r>
              <a:rPr lang="en-US" dirty="0"/>
              <a:t>Spring Data JPA: spring-boot-starter-data-</a:t>
            </a:r>
            <a:r>
              <a:rPr lang="en-US" dirty="0" err="1"/>
              <a:t>jpa</a:t>
            </a:r>
            <a:endParaRPr lang="en-US" dirty="0"/>
          </a:p>
          <a:p>
            <a:r>
              <a:rPr lang="en-US" dirty="0"/>
              <a:t>Spring Boot will automatically configure our data source for us based on the above </a:t>
            </a:r>
          </a:p>
          <a:p>
            <a:pPr lvl="1"/>
            <a:r>
              <a:rPr lang="en-US" dirty="0"/>
              <a:t>Also, our connection details in ‘</a:t>
            </a:r>
            <a:r>
              <a:rPr lang="en-US" dirty="0" err="1"/>
              <a:t>application.properties</a:t>
            </a:r>
            <a:r>
              <a:rPr lang="en-US" dirty="0"/>
              <a:t>’</a:t>
            </a:r>
          </a:p>
        </p:txBody>
      </p:sp>
      <p:pic>
        <p:nvPicPr>
          <p:cNvPr id="7" name="Picture 6">
            <a:extLst>
              <a:ext uri="{FF2B5EF4-FFF2-40B4-BE49-F238E27FC236}">
                <a16:creationId xmlns:a16="http://schemas.microsoft.com/office/drawing/2014/main" id="{D0724A1C-52A6-C1A5-9C27-F26577C4EF92}"/>
              </a:ext>
            </a:extLst>
          </p:cNvPr>
          <p:cNvPicPr>
            <a:picLocks noChangeAspect="1"/>
          </p:cNvPicPr>
          <p:nvPr/>
        </p:nvPicPr>
        <p:blipFill>
          <a:blip r:embed="rId2"/>
          <a:stretch>
            <a:fillRect/>
          </a:stretch>
        </p:blipFill>
        <p:spPr>
          <a:xfrm>
            <a:off x="748920" y="4377440"/>
            <a:ext cx="7925906" cy="2429214"/>
          </a:xfrm>
          <a:prstGeom prst="rect">
            <a:avLst/>
          </a:prstGeom>
        </p:spPr>
      </p:pic>
      <p:pic>
        <p:nvPicPr>
          <p:cNvPr id="9" name="Picture 8">
            <a:extLst>
              <a:ext uri="{FF2B5EF4-FFF2-40B4-BE49-F238E27FC236}">
                <a16:creationId xmlns:a16="http://schemas.microsoft.com/office/drawing/2014/main" id="{C42DFC67-AB62-DB86-1B14-68969966D916}"/>
              </a:ext>
            </a:extLst>
          </p:cNvPr>
          <p:cNvPicPr>
            <a:picLocks noChangeAspect="1"/>
          </p:cNvPicPr>
          <p:nvPr/>
        </p:nvPicPr>
        <p:blipFill>
          <a:blip r:embed="rId3"/>
          <a:stretch>
            <a:fillRect/>
          </a:stretch>
        </p:blipFill>
        <p:spPr>
          <a:xfrm>
            <a:off x="6352274" y="5079453"/>
            <a:ext cx="5258534" cy="657317"/>
          </a:xfrm>
          <a:prstGeom prst="rect">
            <a:avLst/>
          </a:prstGeom>
        </p:spPr>
      </p:pic>
      <p:sp>
        <p:nvSpPr>
          <p:cNvPr id="10" name="TextBox 9">
            <a:extLst>
              <a:ext uri="{FF2B5EF4-FFF2-40B4-BE49-F238E27FC236}">
                <a16:creationId xmlns:a16="http://schemas.microsoft.com/office/drawing/2014/main" id="{4D81AB22-FD75-B44C-5790-86207A5D390D}"/>
              </a:ext>
            </a:extLst>
          </p:cNvPr>
          <p:cNvSpPr txBox="1"/>
          <p:nvPr/>
        </p:nvSpPr>
        <p:spPr>
          <a:xfrm>
            <a:off x="8610285" y="4556233"/>
            <a:ext cx="2940741" cy="523220"/>
          </a:xfrm>
          <a:prstGeom prst="rect">
            <a:avLst/>
          </a:prstGeom>
          <a:noFill/>
        </p:spPr>
        <p:txBody>
          <a:bodyPr wrap="none" rtlCol="0">
            <a:spAutoFit/>
          </a:bodyPr>
          <a:lstStyle/>
          <a:p>
            <a:r>
              <a:rPr lang="en-US" sz="2800" b="1" dirty="0">
                <a:solidFill>
                  <a:srgbClr val="FF0000"/>
                </a:solidFill>
              </a:rPr>
              <a:t>OR for </a:t>
            </a:r>
            <a:r>
              <a:rPr lang="en-US" sz="2800" b="1" dirty="0" err="1">
                <a:solidFill>
                  <a:srgbClr val="FF0000"/>
                </a:solidFill>
              </a:rPr>
              <a:t>postgres</a:t>
            </a:r>
            <a:r>
              <a:rPr lang="en-US" sz="2800" b="1" dirty="0">
                <a:solidFill>
                  <a:srgbClr val="FF0000"/>
                </a:solidFill>
              </a:rPr>
              <a:t>:</a:t>
            </a:r>
          </a:p>
        </p:txBody>
      </p:sp>
    </p:spTree>
    <p:extLst>
      <p:ext uri="{BB962C8B-B14F-4D97-AF65-F5344CB8AC3E}">
        <p14:creationId xmlns:p14="http://schemas.microsoft.com/office/powerpoint/2010/main" val="28604103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111FE-A749-109A-A58E-30AF8D865F9E}"/>
              </a:ext>
            </a:extLst>
          </p:cNvPr>
          <p:cNvSpPr>
            <a:spLocks noGrp="1"/>
          </p:cNvSpPr>
          <p:nvPr>
            <p:ph type="title"/>
          </p:nvPr>
        </p:nvSpPr>
        <p:spPr/>
        <p:txBody>
          <a:bodyPr/>
          <a:lstStyle/>
          <a:p>
            <a:r>
              <a:rPr lang="en-US" dirty="0" err="1"/>
              <a:t>EntityManager</a:t>
            </a:r>
            <a:r>
              <a:rPr lang="en-US" dirty="0"/>
              <a:t> vs </a:t>
            </a:r>
            <a:r>
              <a:rPr lang="en-US" dirty="0" err="1"/>
              <a:t>JpaRepository</a:t>
            </a:r>
            <a:endParaRPr lang="en-US" dirty="0"/>
          </a:p>
        </p:txBody>
      </p:sp>
      <p:sp>
        <p:nvSpPr>
          <p:cNvPr id="3" name="Content Placeholder 2">
            <a:extLst>
              <a:ext uri="{FF2B5EF4-FFF2-40B4-BE49-F238E27FC236}">
                <a16:creationId xmlns:a16="http://schemas.microsoft.com/office/drawing/2014/main" id="{CF664EAA-1D44-76F6-2F01-9982BB5CB94E}"/>
              </a:ext>
            </a:extLst>
          </p:cNvPr>
          <p:cNvSpPr>
            <a:spLocks noGrp="1"/>
          </p:cNvSpPr>
          <p:nvPr>
            <p:ph idx="1"/>
          </p:nvPr>
        </p:nvSpPr>
        <p:spPr>
          <a:xfrm>
            <a:off x="581193" y="2139989"/>
            <a:ext cx="11029615" cy="2110636"/>
          </a:xfrm>
        </p:spPr>
        <p:txBody>
          <a:bodyPr>
            <a:normAutofit fontScale="70000" lnSpcReduction="20000"/>
          </a:bodyPr>
          <a:lstStyle/>
          <a:p>
            <a:pPr lvl="0"/>
            <a:r>
              <a:rPr lang="en-US" dirty="0" err="1">
                <a:solidFill>
                  <a:srgbClr val="92D050"/>
                </a:solidFill>
              </a:rPr>
              <a:t>EntityManager</a:t>
            </a:r>
            <a:r>
              <a:rPr lang="en-US" dirty="0"/>
              <a:t> is the low-level JPA API for directly managing entities and interacting with the persistence context.</a:t>
            </a:r>
          </a:p>
          <a:p>
            <a:pPr lvl="0"/>
            <a:r>
              <a:rPr lang="en-US" dirty="0" err="1">
                <a:solidFill>
                  <a:srgbClr val="92D050"/>
                </a:solidFill>
              </a:rPr>
              <a:t>JpaRepository</a:t>
            </a:r>
            <a:r>
              <a:rPr lang="en-US" dirty="0"/>
              <a:t> is a Spring Data abstraction that gives you a ready-made repository with CRUD, pagination, sorting, and query methods—without writing most of the boilerplate yourself.</a:t>
            </a:r>
          </a:p>
          <a:p>
            <a:pPr lvl="0"/>
            <a:r>
              <a:rPr lang="en-US" dirty="0"/>
              <a:t>We will cover BOTH, starting with </a:t>
            </a:r>
            <a:r>
              <a:rPr lang="en-US" dirty="0" err="1"/>
              <a:t>EntityManager</a:t>
            </a:r>
            <a:endParaRPr lang="en-US" dirty="0"/>
          </a:p>
          <a:p>
            <a:pPr lvl="0"/>
            <a:r>
              <a:rPr lang="en-US" dirty="0">
                <a:solidFill>
                  <a:srgbClr val="92D050"/>
                </a:solidFill>
              </a:rPr>
              <a:t>Java Persistence Query Language (JPQL) </a:t>
            </a:r>
            <a:r>
              <a:rPr lang="en-US" dirty="0"/>
              <a:t>– used for querying entities and their fields, rather than database tables and columns, part of JPA standard and can be used by any JPA provider, i.e. Hibernate, </a:t>
            </a:r>
            <a:r>
              <a:rPr lang="en-US" dirty="0" err="1"/>
              <a:t>EclipseLink</a:t>
            </a:r>
            <a:r>
              <a:rPr lang="en-US" dirty="0"/>
              <a:t>, etc. </a:t>
            </a:r>
          </a:p>
          <a:p>
            <a:pPr lvl="0"/>
            <a:r>
              <a:rPr lang="en-US" dirty="0">
                <a:solidFill>
                  <a:srgbClr val="92D050"/>
                </a:solidFill>
              </a:rPr>
              <a:t>Hibernate Query Language (HQL) </a:t>
            </a:r>
            <a:r>
              <a:rPr lang="en-US" dirty="0"/>
              <a:t>– Operates similar as above, but is Hibernate specific and thus may come with features unique to Hibernate  </a:t>
            </a:r>
          </a:p>
          <a:p>
            <a:pPr lvl="0"/>
            <a:r>
              <a:rPr lang="en-US" dirty="0"/>
              <a:t>We will cover BOTH, starting with JPQL…. And… BOTH are accessible from </a:t>
            </a:r>
            <a:r>
              <a:rPr lang="en-US" dirty="0" err="1"/>
              <a:t>EntityManager</a:t>
            </a:r>
            <a:r>
              <a:rPr lang="en-US" dirty="0"/>
              <a:t> OR </a:t>
            </a:r>
            <a:r>
              <a:rPr lang="en-US" dirty="0" err="1"/>
              <a:t>JpaRepository</a:t>
            </a:r>
            <a:endParaRPr lang="en-US" dirty="0"/>
          </a:p>
          <a:p>
            <a:pPr lvl="0"/>
            <a:endParaRPr lang="en-US" dirty="0"/>
          </a:p>
          <a:p>
            <a:endParaRPr lang="en-US" dirty="0"/>
          </a:p>
        </p:txBody>
      </p:sp>
      <p:graphicFrame>
        <p:nvGraphicFramePr>
          <p:cNvPr id="4" name="Table 3">
            <a:extLst>
              <a:ext uri="{FF2B5EF4-FFF2-40B4-BE49-F238E27FC236}">
                <a16:creationId xmlns:a16="http://schemas.microsoft.com/office/drawing/2014/main" id="{8C362A85-186A-115C-1EF5-8A0206339B13}"/>
              </a:ext>
            </a:extLst>
          </p:cNvPr>
          <p:cNvGraphicFramePr>
            <a:graphicFrameLocks noGrp="1"/>
          </p:cNvGraphicFramePr>
          <p:nvPr>
            <p:extLst>
              <p:ext uri="{D42A27DB-BD31-4B8C-83A1-F6EECF244321}">
                <p14:modId xmlns:p14="http://schemas.microsoft.com/office/powerpoint/2010/main" val="1523063154"/>
              </p:ext>
            </p:extLst>
          </p:nvPr>
        </p:nvGraphicFramePr>
        <p:xfrm>
          <a:off x="581192" y="4094050"/>
          <a:ext cx="11029950" cy="2567940"/>
        </p:xfrm>
        <a:graphic>
          <a:graphicData uri="http://schemas.openxmlformats.org/drawingml/2006/table">
            <a:tbl>
              <a:tblPr>
                <a:tableStyleId>{5C22544A-7EE6-4342-B048-85BDC9FD1C3A}</a:tableStyleId>
              </a:tblPr>
              <a:tblGrid>
                <a:gridCol w="3676650">
                  <a:extLst>
                    <a:ext uri="{9D8B030D-6E8A-4147-A177-3AD203B41FA5}">
                      <a16:colId xmlns:a16="http://schemas.microsoft.com/office/drawing/2014/main" val="2155962822"/>
                    </a:ext>
                  </a:extLst>
                </a:gridCol>
                <a:gridCol w="3676650">
                  <a:extLst>
                    <a:ext uri="{9D8B030D-6E8A-4147-A177-3AD203B41FA5}">
                      <a16:colId xmlns:a16="http://schemas.microsoft.com/office/drawing/2014/main" val="1810830742"/>
                    </a:ext>
                  </a:extLst>
                </a:gridCol>
                <a:gridCol w="3676650">
                  <a:extLst>
                    <a:ext uri="{9D8B030D-6E8A-4147-A177-3AD203B41FA5}">
                      <a16:colId xmlns:a16="http://schemas.microsoft.com/office/drawing/2014/main" val="3309991933"/>
                    </a:ext>
                  </a:extLst>
                </a:gridCol>
              </a:tblGrid>
              <a:tr h="0">
                <a:tc>
                  <a:txBody>
                    <a:bodyPr/>
                    <a:lstStyle/>
                    <a:p>
                      <a:pPr marL="0" marR="0" algn="l">
                        <a:buNone/>
                      </a:pPr>
                      <a:endParaRPr lang="en-US" sz="1400" b="1" i="0" dirty="0">
                        <a:solidFill>
                          <a:srgbClr val="FFFFFF"/>
                        </a:solidFill>
                        <a:effectLst/>
                        <a:latin typeface="-apple-system-body"/>
                      </a:endParaRPr>
                    </a:p>
                  </a:txBody>
                  <a:tcPr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err="1">
                          <a:effectLst/>
                        </a:rPr>
                        <a:t>EntityManager</a:t>
                      </a:r>
                      <a:endParaRPr lang="en-US" sz="1400" b="1" i="0" dirty="0">
                        <a:solidFill>
                          <a:srgbClr val="FFFFFF"/>
                        </a:solidFill>
                        <a:effectLst/>
                        <a:latin typeface="-apple-system-body"/>
                      </a:endParaRPr>
                    </a:p>
                  </a:txBody>
                  <a:tcPr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err="1">
                          <a:effectLst/>
                        </a:rPr>
                        <a:t>JpaRepository</a:t>
                      </a:r>
                      <a:endParaRPr lang="en-US" sz="1400" b="1" i="0" dirty="0">
                        <a:solidFill>
                          <a:srgbClr val="FFFFFF"/>
                        </a:solidFill>
                        <a:effectLst/>
                        <a:latin typeface="-apple-system-body"/>
                      </a:endParaRPr>
                    </a:p>
                  </a:txBody>
                  <a:tcPr anchor="ctr"/>
                </a:tc>
                <a:extLst>
                  <a:ext uri="{0D108BD9-81ED-4DB2-BD59-A6C34878D82A}">
                    <a16:rowId xmlns:a16="http://schemas.microsoft.com/office/drawing/2014/main" val="609020007"/>
                  </a:ext>
                </a:extLst>
              </a:tr>
              <a:tr h="0">
                <a:tc>
                  <a:txBody>
                    <a:bodyPr/>
                    <a:lstStyle/>
                    <a:p>
                      <a:pPr marL="0" marR="0" algn="l">
                        <a:buNone/>
                      </a:pPr>
                      <a:r>
                        <a:rPr lang="en-US" sz="1050" b="1" dirty="0">
                          <a:effectLst/>
                        </a:rPr>
                        <a:t>Comes from</a:t>
                      </a:r>
                      <a:endParaRPr lang="en-US" sz="1050" b="1" i="0" dirty="0">
                        <a:solidFill>
                          <a:srgbClr val="FFFFFF"/>
                        </a:solidFill>
                        <a:effectLst/>
                        <a:latin typeface="-apple-system-body"/>
                      </a:endParaRPr>
                    </a:p>
                  </a:txBody>
                  <a:tcPr anchor="ctr"/>
                </a:tc>
                <a:tc>
                  <a:txBody>
                    <a:bodyPr/>
                    <a:lstStyle/>
                    <a:p>
                      <a:pPr marL="0" marR="0" algn="l">
                        <a:buNone/>
                      </a:pPr>
                      <a:r>
                        <a:rPr lang="en-US" sz="1050" dirty="0">
                          <a:effectLst/>
                        </a:rPr>
                        <a:t>JPA</a:t>
                      </a:r>
                      <a:endParaRPr lang="en-US" sz="1050" b="0" i="0" dirty="0">
                        <a:solidFill>
                          <a:srgbClr val="FFFFFF"/>
                        </a:solidFill>
                        <a:effectLst/>
                        <a:latin typeface="-apple-system-body"/>
                      </a:endParaRPr>
                    </a:p>
                  </a:txBody>
                  <a:tcPr anchor="ctr"/>
                </a:tc>
                <a:tc>
                  <a:txBody>
                    <a:bodyPr/>
                    <a:lstStyle/>
                    <a:p>
                      <a:pPr marL="0" marR="0" algn="l">
                        <a:buNone/>
                      </a:pPr>
                      <a:r>
                        <a:rPr lang="en-US" sz="1050">
                          <a:effectLst/>
                        </a:rPr>
                        <a:t>Spring Data JPA</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870512413"/>
                  </a:ext>
                </a:extLst>
              </a:tr>
              <a:tr h="0">
                <a:tc>
                  <a:txBody>
                    <a:bodyPr/>
                    <a:lstStyle/>
                    <a:p>
                      <a:pPr marL="0" marR="0" algn="l">
                        <a:buNone/>
                      </a:pPr>
                      <a:r>
                        <a:rPr lang="en-US" sz="1050" b="1" dirty="0">
                          <a:effectLst/>
                        </a:rPr>
                        <a:t>Abstraction level</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Low</a:t>
                      </a:r>
                      <a:endParaRPr lang="en-US" sz="1050" b="0" i="0">
                        <a:solidFill>
                          <a:srgbClr val="FFFFFF"/>
                        </a:solidFill>
                        <a:effectLst/>
                        <a:latin typeface="-apple-system-body"/>
                      </a:endParaRPr>
                    </a:p>
                  </a:txBody>
                  <a:tcPr anchor="ctr"/>
                </a:tc>
                <a:tc>
                  <a:txBody>
                    <a:bodyPr/>
                    <a:lstStyle/>
                    <a:p>
                      <a:pPr marL="0" marR="0" algn="l">
                        <a:buNone/>
                      </a:pPr>
                      <a:r>
                        <a:rPr lang="en-US" sz="1050">
                          <a:effectLst/>
                        </a:rPr>
                        <a:t>High</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511902263"/>
                  </a:ext>
                </a:extLst>
              </a:tr>
              <a:tr h="0">
                <a:tc>
                  <a:txBody>
                    <a:bodyPr/>
                    <a:lstStyle/>
                    <a:p>
                      <a:pPr marL="0" marR="0" algn="l">
                        <a:buNone/>
                      </a:pPr>
                      <a:r>
                        <a:rPr lang="en-US" sz="1050" b="1" dirty="0">
                          <a:effectLst/>
                        </a:rPr>
                        <a:t>CRUD boilerplate</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You write it</a:t>
                      </a:r>
                      <a:endParaRPr lang="en-US" sz="1050" b="0" i="0">
                        <a:solidFill>
                          <a:srgbClr val="FFFFFF"/>
                        </a:solidFill>
                        <a:effectLst/>
                        <a:latin typeface="-apple-system-body"/>
                      </a:endParaRPr>
                    </a:p>
                  </a:txBody>
                  <a:tcPr anchor="ctr"/>
                </a:tc>
                <a:tc>
                  <a:txBody>
                    <a:bodyPr/>
                    <a:lstStyle/>
                    <a:p>
                      <a:pPr marL="0" marR="0" algn="l">
                        <a:buNone/>
                      </a:pPr>
                      <a:r>
                        <a:rPr lang="en-US" sz="1050">
                          <a:effectLst/>
                        </a:rPr>
                        <a:t>Mostly provided</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2112053371"/>
                  </a:ext>
                </a:extLst>
              </a:tr>
              <a:tr h="0">
                <a:tc>
                  <a:txBody>
                    <a:bodyPr/>
                    <a:lstStyle/>
                    <a:p>
                      <a:pPr marL="0" marR="0" algn="l">
                        <a:buNone/>
                      </a:pPr>
                      <a:r>
                        <a:rPr lang="en-US" sz="1050" b="1" dirty="0">
                          <a:effectLst/>
                        </a:rPr>
                        <a:t>Custom JPQL</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Directly</a:t>
                      </a:r>
                      <a:endParaRPr lang="en-US" sz="1050" b="0" i="0">
                        <a:solidFill>
                          <a:srgbClr val="FFFFFF"/>
                        </a:solidFill>
                        <a:effectLst/>
                        <a:latin typeface="-apple-system-body"/>
                      </a:endParaRPr>
                    </a:p>
                  </a:txBody>
                  <a:tcPr anchor="ctr"/>
                </a:tc>
                <a:tc>
                  <a:txBody>
                    <a:bodyPr/>
                    <a:lstStyle/>
                    <a:p>
                      <a:pPr marL="0" marR="0" algn="l">
                        <a:buNone/>
                      </a:pPr>
                      <a:r>
                        <a:rPr lang="en-US" sz="1050">
                          <a:effectLst/>
                        </a:rPr>
                        <a:t>@Query, specifications, etc.</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785226202"/>
                  </a:ext>
                </a:extLst>
              </a:tr>
              <a:tr h="0">
                <a:tc>
                  <a:txBody>
                    <a:bodyPr/>
                    <a:lstStyle/>
                    <a:p>
                      <a:pPr marL="0" marR="0" algn="l">
                        <a:buNone/>
                      </a:pPr>
                      <a:r>
                        <a:rPr lang="en-US" sz="1050" b="1" dirty="0">
                          <a:effectLst/>
                        </a:rPr>
                        <a:t>Persistence-context control</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Excellent</a:t>
                      </a:r>
                      <a:endParaRPr lang="en-US" sz="1050" b="0" i="0">
                        <a:solidFill>
                          <a:srgbClr val="FFFFFF"/>
                        </a:solidFill>
                        <a:effectLst/>
                        <a:latin typeface="-apple-system-body"/>
                      </a:endParaRPr>
                    </a:p>
                  </a:txBody>
                  <a:tcPr anchor="ctr"/>
                </a:tc>
                <a:tc>
                  <a:txBody>
                    <a:bodyPr/>
                    <a:lstStyle/>
                    <a:p>
                      <a:pPr marL="0" marR="0" algn="l">
                        <a:buNone/>
                      </a:pPr>
                      <a:r>
                        <a:rPr lang="en-US" sz="1050">
                          <a:effectLst/>
                        </a:rPr>
                        <a:t>Limited/direct access not its purpose</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3624453493"/>
                  </a:ext>
                </a:extLst>
              </a:tr>
              <a:tr h="0">
                <a:tc>
                  <a:txBody>
                    <a:bodyPr/>
                    <a:lstStyle/>
                    <a:p>
                      <a:pPr marL="0" marR="0" algn="l">
                        <a:buNone/>
                      </a:pPr>
                      <a:r>
                        <a:rPr lang="en-US" sz="1050" b="1" dirty="0">
                          <a:effectLst/>
                        </a:rPr>
                        <a:t>Pagination/sorting</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Manual</a:t>
                      </a:r>
                      <a:endParaRPr lang="en-US" sz="1050" b="0" i="0">
                        <a:solidFill>
                          <a:srgbClr val="FFFFFF"/>
                        </a:solidFill>
                        <a:effectLst/>
                        <a:latin typeface="-apple-system-body"/>
                      </a:endParaRPr>
                    </a:p>
                  </a:txBody>
                  <a:tcPr anchor="ctr"/>
                </a:tc>
                <a:tc>
                  <a:txBody>
                    <a:bodyPr/>
                    <a:lstStyle/>
                    <a:p>
                      <a:pPr marL="0" marR="0" algn="l">
                        <a:buNone/>
                      </a:pPr>
                      <a:r>
                        <a:rPr lang="en-US" sz="1050">
                          <a:effectLst/>
                        </a:rPr>
                        <a:t>Built in</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4046422720"/>
                  </a:ext>
                </a:extLst>
              </a:tr>
              <a:tr h="0">
                <a:tc>
                  <a:txBody>
                    <a:bodyPr/>
                    <a:lstStyle/>
                    <a:p>
                      <a:pPr marL="0" marR="0" algn="l">
                        <a:buNone/>
                      </a:pPr>
                      <a:r>
                        <a:rPr lang="en-US" sz="1050" b="1" dirty="0">
                          <a:effectLst/>
                        </a:rPr>
                        <a:t>Derived queries</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No</a:t>
                      </a:r>
                      <a:endParaRPr lang="en-US" sz="1050" b="0" i="0">
                        <a:solidFill>
                          <a:srgbClr val="FFFFFF"/>
                        </a:solidFill>
                        <a:effectLst/>
                        <a:latin typeface="-apple-system-body"/>
                      </a:endParaRPr>
                    </a:p>
                  </a:txBody>
                  <a:tcPr anchor="ctr"/>
                </a:tc>
                <a:tc>
                  <a:txBody>
                    <a:bodyPr/>
                    <a:lstStyle/>
                    <a:p>
                      <a:pPr marL="0" marR="0" algn="l">
                        <a:buNone/>
                      </a:pPr>
                      <a:r>
                        <a:rPr lang="en-US" sz="1050">
                          <a:effectLst/>
                        </a:rPr>
                        <a:t>Yes</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1752053743"/>
                  </a:ext>
                </a:extLst>
              </a:tr>
              <a:tr h="0">
                <a:tc>
                  <a:txBody>
                    <a:bodyPr/>
                    <a:lstStyle/>
                    <a:p>
                      <a:pPr marL="0" marR="0" algn="l">
                        <a:buNone/>
                      </a:pPr>
                      <a:r>
                        <a:rPr lang="en-US" sz="1050" b="1" dirty="0">
                          <a:effectLst/>
                        </a:rPr>
                        <a:t>JPA portability</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Yes</a:t>
                      </a:r>
                      <a:endParaRPr lang="en-US" sz="1050" b="0" i="0">
                        <a:solidFill>
                          <a:srgbClr val="FFFFFF"/>
                        </a:solidFill>
                        <a:effectLst/>
                        <a:latin typeface="-apple-system-body"/>
                      </a:endParaRPr>
                    </a:p>
                  </a:txBody>
                  <a:tcPr anchor="ctr"/>
                </a:tc>
                <a:tc>
                  <a:txBody>
                    <a:bodyPr/>
                    <a:lstStyle/>
                    <a:p>
                      <a:pPr marL="0" marR="0" algn="l">
                        <a:buNone/>
                      </a:pPr>
                      <a:r>
                        <a:rPr lang="en-US" sz="1050">
                          <a:effectLst/>
                        </a:rPr>
                        <a:t>Tied to Spring Data</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3687287676"/>
                  </a:ext>
                </a:extLst>
              </a:tr>
              <a:tr h="0">
                <a:tc>
                  <a:txBody>
                    <a:bodyPr/>
                    <a:lstStyle/>
                    <a:p>
                      <a:pPr marL="0" marR="0" algn="l">
                        <a:buNone/>
                      </a:pPr>
                      <a:r>
                        <a:rPr lang="en-US" sz="1050" b="1" dirty="0">
                          <a:effectLst/>
                        </a:rPr>
                        <a:t>Best for</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Complex/custom persistence logic</a:t>
                      </a:r>
                      <a:endParaRPr lang="en-US" sz="1050" b="0" i="0">
                        <a:solidFill>
                          <a:srgbClr val="FFFFFF"/>
                        </a:solidFill>
                        <a:effectLst/>
                        <a:latin typeface="-apple-system-body"/>
                      </a:endParaRPr>
                    </a:p>
                  </a:txBody>
                  <a:tcPr anchor="ctr"/>
                </a:tc>
                <a:tc>
                  <a:txBody>
                    <a:bodyPr/>
                    <a:lstStyle/>
                    <a:p>
                      <a:pPr marL="0" marR="0" algn="l">
                        <a:buNone/>
                      </a:pPr>
                      <a:r>
                        <a:rPr lang="en-US" sz="1050" dirty="0">
                          <a:effectLst/>
                        </a:rPr>
                        <a:t>Typical application CRUD</a:t>
                      </a:r>
                      <a:endParaRPr lang="en-US" sz="1050" b="0" i="0" dirty="0">
                        <a:solidFill>
                          <a:srgbClr val="FFFFFF"/>
                        </a:solidFill>
                        <a:effectLst/>
                        <a:latin typeface="-apple-system-body"/>
                      </a:endParaRPr>
                    </a:p>
                  </a:txBody>
                  <a:tcPr anchor="ctr"/>
                </a:tc>
                <a:extLst>
                  <a:ext uri="{0D108BD9-81ED-4DB2-BD59-A6C34878D82A}">
                    <a16:rowId xmlns:a16="http://schemas.microsoft.com/office/drawing/2014/main" val="3217419162"/>
                  </a:ext>
                </a:extLst>
              </a:tr>
            </a:tbl>
          </a:graphicData>
        </a:graphic>
      </p:graphicFrame>
    </p:spTree>
    <p:extLst>
      <p:ext uri="{BB962C8B-B14F-4D97-AF65-F5344CB8AC3E}">
        <p14:creationId xmlns:p14="http://schemas.microsoft.com/office/powerpoint/2010/main" val="17258101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BDCBF-5D78-C5BA-D809-7F7F3FC0A4AA}"/>
              </a:ext>
            </a:extLst>
          </p:cNvPr>
          <p:cNvSpPr>
            <a:spLocks noGrp="1"/>
          </p:cNvSpPr>
          <p:nvPr>
            <p:ph type="title"/>
          </p:nvPr>
        </p:nvSpPr>
        <p:spPr/>
        <p:txBody>
          <a:bodyPr/>
          <a:lstStyle/>
          <a:p>
            <a:r>
              <a:rPr lang="en-US" dirty="0"/>
              <a:t>Typical stack</a:t>
            </a:r>
          </a:p>
        </p:txBody>
      </p:sp>
      <p:sp>
        <p:nvSpPr>
          <p:cNvPr id="5" name="TextBox 4">
            <a:extLst>
              <a:ext uri="{FF2B5EF4-FFF2-40B4-BE49-F238E27FC236}">
                <a16:creationId xmlns:a16="http://schemas.microsoft.com/office/drawing/2014/main" id="{88CFE19A-50B1-8913-AE67-1C9B68684A46}"/>
              </a:ext>
            </a:extLst>
          </p:cNvPr>
          <p:cNvSpPr txBox="1"/>
          <p:nvPr/>
        </p:nvSpPr>
        <p:spPr>
          <a:xfrm>
            <a:off x="3336620" y="2623428"/>
            <a:ext cx="2212410" cy="3139321"/>
          </a:xfrm>
          <a:prstGeom prst="rect">
            <a:avLst/>
          </a:prstGeom>
          <a:noFill/>
        </p:spPr>
        <p:txBody>
          <a:bodyPr wrap="square">
            <a:spAutoFit/>
          </a:bodyPr>
          <a:lstStyle/>
          <a:p>
            <a:pPr algn="ctr"/>
            <a:r>
              <a:rPr lang="en-US" dirty="0"/>
              <a:t>Spring Data JPA</a:t>
            </a:r>
          </a:p>
          <a:p>
            <a:pPr algn="ctr"/>
            <a:r>
              <a:rPr lang="en-US" dirty="0"/>
              <a:t>      ↓</a:t>
            </a:r>
          </a:p>
          <a:p>
            <a:pPr algn="ctr"/>
            <a:r>
              <a:rPr lang="en-US" dirty="0"/>
              <a:t>  </a:t>
            </a:r>
            <a:r>
              <a:rPr lang="en-US" dirty="0" err="1"/>
              <a:t>JpaRepository</a:t>
            </a:r>
            <a:endParaRPr lang="en-US" dirty="0"/>
          </a:p>
          <a:p>
            <a:pPr algn="ctr"/>
            <a:r>
              <a:rPr lang="en-US" dirty="0"/>
              <a:t>      ↓</a:t>
            </a:r>
          </a:p>
          <a:p>
            <a:pPr algn="ctr"/>
            <a:r>
              <a:rPr lang="en-US" dirty="0"/>
              <a:t> </a:t>
            </a:r>
            <a:r>
              <a:rPr lang="en-US" dirty="0" err="1"/>
              <a:t>EntityManager</a:t>
            </a:r>
            <a:endParaRPr lang="en-US" dirty="0"/>
          </a:p>
          <a:p>
            <a:pPr algn="ctr"/>
            <a:r>
              <a:rPr lang="en-US" dirty="0"/>
              <a:t>      ↓</a:t>
            </a:r>
          </a:p>
          <a:p>
            <a:pPr algn="ctr"/>
            <a:r>
              <a:rPr lang="en-US" dirty="0"/>
              <a:t>   Hibernate</a:t>
            </a:r>
          </a:p>
          <a:p>
            <a:pPr algn="ctr"/>
            <a:r>
              <a:rPr lang="en-US" dirty="0"/>
              <a:t>      ↓</a:t>
            </a:r>
          </a:p>
          <a:p>
            <a:pPr algn="ctr"/>
            <a:r>
              <a:rPr lang="en-US" dirty="0"/>
              <a:t>    Session</a:t>
            </a:r>
          </a:p>
          <a:p>
            <a:pPr algn="ctr"/>
            <a:r>
              <a:rPr lang="en-US" dirty="0"/>
              <a:t>      ↓</a:t>
            </a:r>
          </a:p>
          <a:p>
            <a:pPr algn="ctr"/>
            <a:r>
              <a:rPr lang="en-US" dirty="0"/>
              <a:t>   Database</a:t>
            </a:r>
          </a:p>
        </p:txBody>
      </p:sp>
      <p:sp>
        <p:nvSpPr>
          <p:cNvPr id="6" name="TextBox 5">
            <a:extLst>
              <a:ext uri="{FF2B5EF4-FFF2-40B4-BE49-F238E27FC236}">
                <a16:creationId xmlns:a16="http://schemas.microsoft.com/office/drawing/2014/main" id="{D2A814FD-D449-EC97-F6A1-90B628648FEE}"/>
              </a:ext>
            </a:extLst>
          </p:cNvPr>
          <p:cNvSpPr txBox="1"/>
          <p:nvPr/>
        </p:nvSpPr>
        <p:spPr>
          <a:xfrm>
            <a:off x="6200383" y="2623428"/>
            <a:ext cx="2013885" cy="3139321"/>
          </a:xfrm>
          <a:prstGeom prst="rect">
            <a:avLst/>
          </a:prstGeom>
          <a:noFill/>
        </p:spPr>
        <p:txBody>
          <a:bodyPr wrap="none" rtlCol="0">
            <a:spAutoFit/>
          </a:bodyPr>
          <a:lstStyle/>
          <a:p>
            <a:pPr marL="285750" indent="-285750">
              <a:buFont typeface="Wingdings" panose="05000000000000000000" pitchFamily="2" charset="2"/>
              <a:buChar char="ß"/>
            </a:pPr>
            <a:r>
              <a:rPr lang="en-US" dirty="0">
                <a:sym typeface="Wingdings" panose="05000000000000000000" pitchFamily="2" charset="2"/>
              </a:rPr>
              <a:t>More abstracted</a:t>
            </a: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r>
              <a:rPr lang="en-US" dirty="0">
                <a:sym typeface="Wingdings" panose="05000000000000000000" pitchFamily="2" charset="2"/>
              </a:rPr>
              <a:t>Less </a:t>
            </a:r>
            <a:r>
              <a:rPr lang="en-US" dirty="0" err="1">
                <a:sym typeface="Wingdings" panose="05000000000000000000" pitchFamily="2" charset="2"/>
              </a:rPr>
              <a:t>absracted</a:t>
            </a:r>
            <a:endParaRPr lang="en-US" dirty="0">
              <a:sym typeface="Wingdings" panose="05000000000000000000" pitchFamily="2" charset="2"/>
            </a:endParaRPr>
          </a:p>
        </p:txBody>
      </p:sp>
    </p:spTree>
    <p:extLst>
      <p:ext uri="{BB962C8B-B14F-4D97-AF65-F5344CB8AC3E}">
        <p14:creationId xmlns:p14="http://schemas.microsoft.com/office/powerpoint/2010/main" val="1194197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BD6DA-8438-DEEE-713D-05684037D5CB}"/>
              </a:ext>
            </a:extLst>
          </p:cNvPr>
          <p:cNvSpPr>
            <a:spLocks noGrp="1"/>
          </p:cNvSpPr>
          <p:nvPr>
            <p:ph type="title"/>
          </p:nvPr>
        </p:nvSpPr>
        <p:spPr/>
        <p:txBody>
          <a:bodyPr/>
          <a:lstStyle/>
          <a:p>
            <a:r>
              <a:rPr lang="en-US" dirty="0"/>
              <a:t>JQPL</a:t>
            </a:r>
          </a:p>
        </p:txBody>
      </p:sp>
      <p:sp>
        <p:nvSpPr>
          <p:cNvPr id="3" name="Content Placeholder 2">
            <a:extLst>
              <a:ext uri="{FF2B5EF4-FFF2-40B4-BE49-F238E27FC236}">
                <a16:creationId xmlns:a16="http://schemas.microsoft.com/office/drawing/2014/main" id="{97FCE9EA-5AF7-3060-E641-8BBD651AA4E5}"/>
              </a:ext>
            </a:extLst>
          </p:cNvPr>
          <p:cNvSpPr>
            <a:spLocks noGrp="1"/>
          </p:cNvSpPr>
          <p:nvPr>
            <p:ph idx="1"/>
          </p:nvPr>
        </p:nvSpPr>
        <p:spPr>
          <a:xfrm>
            <a:off x="474721" y="1967553"/>
            <a:ext cx="11029615" cy="3678303"/>
          </a:xfrm>
        </p:spPr>
        <p:txBody>
          <a:bodyPr/>
          <a:lstStyle/>
          <a:p>
            <a:r>
              <a:rPr lang="en-US" dirty="0"/>
              <a:t>In SQL you may write:</a:t>
            </a:r>
          </a:p>
          <a:p>
            <a:endParaRPr lang="en-US" dirty="0"/>
          </a:p>
          <a:p>
            <a:endParaRPr lang="en-US" dirty="0"/>
          </a:p>
          <a:p>
            <a:endParaRPr lang="en-US" dirty="0"/>
          </a:p>
          <a:p>
            <a:r>
              <a:rPr lang="en-US" dirty="0"/>
              <a:t>In JPQL you may write:</a:t>
            </a:r>
          </a:p>
        </p:txBody>
      </p:sp>
      <p:sp>
        <p:nvSpPr>
          <p:cNvPr id="5" name="TextBox 4">
            <a:extLst>
              <a:ext uri="{FF2B5EF4-FFF2-40B4-BE49-F238E27FC236}">
                <a16:creationId xmlns:a16="http://schemas.microsoft.com/office/drawing/2014/main" id="{D5D44907-75B4-15C1-A760-D181236EFB25}"/>
              </a:ext>
            </a:extLst>
          </p:cNvPr>
          <p:cNvSpPr txBox="1"/>
          <p:nvPr/>
        </p:nvSpPr>
        <p:spPr>
          <a:xfrm>
            <a:off x="1144566" y="3280486"/>
            <a:ext cx="6097044" cy="923330"/>
          </a:xfrm>
          <a:prstGeom prst="rect">
            <a:avLst/>
          </a:prstGeom>
          <a:noFill/>
        </p:spPr>
        <p:txBody>
          <a:bodyPr wrap="square">
            <a:spAutoFit/>
          </a:bodyPr>
          <a:lstStyle/>
          <a:p>
            <a:r>
              <a:rPr lang="en-US" dirty="0"/>
              <a:t>SELECT *</a:t>
            </a:r>
          </a:p>
          <a:p>
            <a:r>
              <a:rPr lang="en-US" dirty="0"/>
              <a:t>FROM students</a:t>
            </a:r>
          </a:p>
          <a:p>
            <a:r>
              <a:rPr lang="en-US" dirty="0"/>
              <a:t>ORDER BY id;</a:t>
            </a:r>
          </a:p>
        </p:txBody>
      </p:sp>
      <p:sp>
        <p:nvSpPr>
          <p:cNvPr id="7" name="TextBox 6">
            <a:extLst>
              <a:ext uri="{FF2B5EF4-FFF2-40B4-BE49-F238E27FC236}">
                <a16:creationId xmlns:a16="http://schemas.microsoft.com/office/drawing/2014/main" id="{BA6259CB-D72D-2B51-4143-5A4681E7F3BC}"/>
              </a:ext>
            </a:extLst>
          </p:cNvPr>
          <p:cNvSpPr txBox="1"/>
          <p:nvPr/>
        </p:nvSpPr>
        <p:spPr>
          <a:xfrm>
            <a:off x="1144566" y="4858764"/>
            <a:ext cx="6097044" cy="923330"/>
          </a:xfrm>
          <a:prstGeom prst="rect">
            <a:avLst/>
          </a:prstGeom>
          <a:noFill/>
        </p:spPr>
        <p:txBody>
          <a:bodyPr wrap="square">
            <a:spAutoFit/>
          </a:bodyPr>
          <a:lstStyle/>
          <a:p>
            <a:r>
              <a:rPr lang="en-US" dirty="0"/>
              <a:t>SELECT student</a:t>
            </a:r>
          </a:p>
          <a:p>
            <a:r>
              <a:rPr lang="en-US" dirty="0"/>
              <a:t>FROM Student </a:t>
            </a:r>
            <a:r>
              <a:rPr lang="en-US" dirty="0" err="1"/>
              <a:t>student</a:t>
            </a:r>
            <a:endParaRPr lang="en-US" dirty="0"/>
          </a:p>
          <a:p>
            <a:r>
              <a:rPr lang="en-US" dirty="0"/>
              <a:t>ORDER BY student.id</a:t>
            </a:r>
          </a:p>
        </p:txBody>
      </p:sp>
      <p:sp>
        <p:nvSpPr>
          <p:cNvPr id="9" name="TextBox 8">
            <a:extLst>
              <a:ext uri="{FF2B5EF4-FFF2-40B4-BE49-F238E27FC236}">
                <a16:creationId xmlns:a16="http://schemas.microsoft.com/office/drawing/2014/main" id="{E2AFC972-57DD-770B-89BF-DC0404323E02}"/>
              </a:ext>
            </a:extLst>
          </p:cNvPr>
          <p:cNvSpPr txBox="1"/>
          <p:nvPr/>
        </p:nvSpPr>
        <p:spPr>
          <a:xfrm>
            <a:off x="6096000" y="2998776"/>
            <a:ext cx="4817824" cy="2585323"/>
          </a:xfrm>
          <a:prstGeom prst="rect">
            <a:avLst/>
          </a:prstGeom>
          <a:noFill/>
        </p:spPr>
        <p:txBody>
          <a:bodyPr wrap="square">
            <a:spAutoFit/>
          </a:bodyPr>
          <a:lstStyle/>
          <a:p>
            <a:r>
              <a:rPr lang="en-US" dirty="0"/>
              <a:t>Because we are querying against our entity!</a:t>
            </a:r>
          </a:p>
          <a:p>
            <a:endParaRPr lang="en-US" dirty="0"/>
          </a:p>
          <a:p>
            <a:r>
              <a:rPr lang="en-US" dirty="0"/>
              <a:t>@Entity</a:t>
            </a:r>
          </a:p>
          <a:p>
            <a:r>
              <a:rPr lang="en-US" dirty="0"/>
              <a:t>public class Student {</a:t>
            </a:r>
          </a:p>
          <a:p>
            <a:r>
              <a:rPr lang="en-US" dirty="0"/>
              <a:t>    private int id;</a:t>
            </a:r>
          </a:p>
          <a:p>
            <a:r>
              <a:rPr lang="en-US" dirty="0"/>
              <a:t>    private String </a:t>
            </a:r>
            <a:r>
              <a:rPr lang="en-US" dirty="0" err="1"/>
              <a:t>firstName</a:t>
            </a:r>
            <a:r>
              <a:rPr lang="en-US" dirty="0"/>
              <a:t>;</a:t>
            </a:r>
          </a:p>
          <a:p>
            <a:r>
              <a:rPr lang="en-US" dirty="0"/>
              <a:t>    private String </a:t>
            </a:r>
            <a:r>
              <a:rPr lang="en-US" dirty="0" err="1"/>
              <a:t>lastName</a:t>
            </a:r>
            <a:r>
              <a:rPr lang="en-US" dirty="0"/>
              <a:t>;</a:t>
            </a:r>
          </a:p>
          <a:p>
            <a:r>
              <a:rPr lang="en-US" dirty="0"/>
              <a:t>    private String email;</a:t>
            </a:r>
          </a:p>
          <a:p>
            <a:r>
              <a:rPr lang="en-US" dirty="0"/>
              <a:t>}</a:t>
            </a:r>
          </a:p>
        </p:txBody>
      </p:sp>
      <p:sp>
        <p:nvSpPr>
          <p:cNvPr id="10" name="TextBox 9">
            <a:extLst>
              <a:ext uri="{FF2B5EF4-FFF2-40B4-BE49-F238E27FC236}">
                <a16:creationId xmlns:a16="http://schemas.microsoft.com/office/drawing/2014/main" id="{F2E60F99-8A55-89C3-00F9-C8298C4F6C28}"/>
              </a:ext>
            </a:extLst>
          </p:cNvPr>
          <p:cNvSpPr txBox="1"/>
          <p:nvPr/>
        </p:nvSpPr>
        <p:spPr>
          <a:xfrm>
            <a:off x="4343083" y="1974496"/>
            <a:ext cx="3292889" cy="369332"/>
          </a:xfrm>
          <a:prstGeom prst="rect">
            <a:avLst/>
          </a:prstGeom>
          <a:noFill/>
        </p:spPr>
        <p:txBody>
          <a:bodyPr wrap="none" rtlCol="0">
            <a:spAutoFit/>
          </a:bodyPr>
          <a:lstStyle/>
          <a:p>
            <a:r>
              <a:rPr lang="en-US" dirty="0">
                <a:solidFill>
                  <a:schemeClr val="accent2"/>
                </a:solidFill>
              </a:rPr>
              <a:t>HQL is very similar conceptually!</a:t>
            </a:r>
          </a:p>
        </p:txBody>
      </p:sp>
    </p:spTree>
    <p:extLst>
      <p:ext uri="{BB962C8B-B14F-4D97-AF65-F5344CB8AC3E}">
        <p14:creationId xmlns:p14="http://schemas.microsoft.com/office/powerpoint/2010/main" val="13982465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C7421-26D0-C64F-F603-15F692B983E1}"/>
              </a:ext>
            </a:extLst>
          </p:cNvPr>
          <p:cNvSpPr>
            <a:spLocks noGrp="1"/>
          </p:cNvSpPr>
          <p:nvPr>
            <p:ph type="title"/>
          </p:nvPr>
        </p:nvSpPr>
        <p:spPr/>
        <p:txBody>
          <a:bodyPr/>
          <a:lstStyle/>
          <a:p>
            <a:r>
              <a:rPr lang="en-US" dirty="0"/>
              <a:t>Stereotype annotations</a:t>
            </a:r>
          </a:p>
        </p:txBody>
      </p:sp>
      <p:sp>
        <p:nvSpPr>
          <p:cNvPr id="3" name="Content Placeholder 2">
            <a:extLst>
              <a:ext uri="{FF2B5EF4-FFF2-40B4-BE49-F238E27FC236}">
                <a16:creationId xmlns:a16="http://schemas.microsoft.com/office/drawing/2014/main" id="{F6F5AB61-17F7-093B-D3FC-5E6D4784FA35}"/>
              </a:ext>
            </a:extLst>
          </p:cNvPr>
          <p:cNvSpPr>
            <a:spLocks noGrp="1"/>
          </p:cNvSpPr>
          <p:nvPr>
            <p:ph idx="1"/>
          </p:nvPr>
        </p:nvSpPr>
        <p:spPr>
          <a:xfrm>
            <a:off x="581192" y="2180496"/>
            <a:ext cx="11029615" cy="4157674"/>
          </a:xfrm>
        </p:spPr>
        <p:txBody>
          <a:bodyPr>
            <a:normAutofit fontScale="92500" lnSpcReduction="10000"/>
          </a:bodyPr>
          <a:lstStyle/>
          <a:p>
            <a:r>
              <a:rPr lang="en-US" b="1" dirty="0"/>
              <a:t>@Component</a:t>
            </a:r>
            <a:endParaRPr lang="en-US" dirty="0"/>
          </a:p>
          <a:p>
            <a:pPr lvl="1"/>
            <a:r>
              <a:rPr lang="en-US" dirty="0"/>
              <a:t>@Component is the main stereotype annotation. It is a class-level annotation. @Component is used across the application to mark the beans as Spring's managed components.</a:t>
            </a:r>
          </a:p>
          <a:p>
            <a:r>
              <a:rPr lang="en-US" b="1" dirty="0"/>
              <a:t>@Service</a:t>
            </a:r>
            <a:endParaRPr lang="en-US" dirty="0"/>
          </a:p>
          <a:p>
            <a:pPr lvl="1"/>
            <a:r>
              <a:rPr lang="en-US" dirty="0"/>
              <a:t>It is a specialization of @Component. The business logic of an application exists in the service layer, and the @Service annotation is used to indicate that a class belongs to the service layer.</a:t>
            </a:r>
          </a:p>
          <a:p>
            <a:r>
              <a:rPr lang="en-US" b="1" dirty="0"/>
              <a:t>@Repository</a:t>
            </a:r>
            <a:endParaRPr lang="en-US" dirty="0"/>
          </a:p>
          <a:p>
            <a:pPr lvl="1"/>
            <a:r>
              <a:rPr lang="en-US" dirty="0"/>
              <a:t>It is a specialization of @Component and is very similar to the DAO pattern. DAO classes provide CRUD operations for database tables.</a:t>
            </a:r>
          </a:p>
          <a:p>
            <a:r>
              <a:rPr lang="en-US" b="1" dirty="0"/>
              <a:t>@RestController</a:t>
            </a:r>
            <a:endParaRPr lang="en-US" dirty="0"/>
          </a:p>
          <a:p>
            <a:pPr lvl="1"/>
            <a:r>
              <a:rPr lang="en-US" dirty="0"/>
              <a:t>It is a specialization of @Component. The @RestController annotation (which inherits @Controller) indicates that a particular class is a web service controller that returns data. It is mostly used with Spring MVC applications and is used in combination with @RequestMapping annotation. The dispatcher scans the class and detects methods with HTTP annotations:</a:t>
            </a:r>
          </a:p>
          <a:p>
            <a:pPr lvl="2"/>
            <a:r>
              <a:rPr lang="en-US" dirty="0"/>
              <a:t>@GetMapping, @PostMapping, @PutMapping, &amp; @DeleteMapping</a:t>
            </a:r>
          </a:p>
          <a:p>
            <a:endParaRPr lang="en-US" dirty="0"/>
          </a:p>
        </p:txBody>
      </p:sp>
    </p:spTree>
    <p:extLst>
      <p:ext uri="{BB962C8B-B14F-4D97-AF65-F5344CB8AC3E}">
        <p14:creationId xmlns:p14="http://schemas.microsoft.com/office/powerpoint/2010/main" val="13273871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23CB1D-38E9-88B1-4DE6-3E50454DB880}"/>
              </a:ext>
            </a:extLst>
          </p:cNvPr>
          <p:cNvSpPr>
            <a:spLocks noGrp="1"/>
          </p:cNvSpPr>
          <p:nvPr>
            <p:ph type="title"/>
          </p:nvPr>
        </p:nvSpPr>
        <p:spPr/>
        <p:txBody>
          <a:bodyPr/>
          <a:lstStyle/>
          <a:p>
            <a:r>
              <a:rPr lang="en-US" dirty="0"/>
              <a:t>STOP</a:t>
            </a:r>
          </a:p>
        </p:txBody>
      </p:sp>
      <p:sp>
        <p:nvSpPr>
          <p:cNvPr id="3" name="Content Placeholder 2">
            <a:extLst>
              <a:ext uri="{FF2B5EF4-FFF2-40B4-BE49-F238E27FC236}">
                <a16:creationId xmlns:a16="http://schemas.microsoft.com/office/drawing/2014/main" id="{CF5BF0EC-9B89-4A87-A203-4B32191C1C9C}"/>
              </a:ext>
            </a:extLst>
          </p:cNvPr>
          <p:cNvSpPr>
            <a:spLocks noGrp="1"/>
          </p:cNvSpPr>
          <p:nvPr>
            <p:ph idx="1"/>
          </p:nvPr>
        </p:nvSpPr>
        <p:spPr/>
        <p:txBody>
          <a:bodyPr/>
          <a:lstStyle/>
          <a:p>
            <a:r>
              <a:rPr lang="en-US" dirty="0"/>
              <a:t>Let’s put theory into practice with a code-along</a:t>
            </a:r>
          </a:p>
          <a:p>
            <a:r>
              <a:rPr lang="en-US" dirty="0"/>
              <a:t>After, you will see the completed CRUD app with code comments in your course materials</a:t>
            </a:r>
          </a:p>
          <a:p>
            <a:r>
              <a:rPr lang="en-US" dirty="0"/>
              <a:t>We will stick with </a:t>
            </a:r>
            <a:r>
              <a:rPr lang="en-US" dirty="0" err="1"/>
              <a:t>EntityManager</a:t>
            </a:r>
            <a:r>
              <a:rPr lang="en-US" dirty="0"/>
              <a:t> for now, and later create another concretion for our repo/DAO layer that uses </a:t>
            </a:r>
            <a:r>
              <a:rPr lang="en-US" dirty="0" err="1"/>
              <a:t>JpaRepository</a:t>
            </a:r>
            <a:endParaRPr lang="en-US" dirty="0"/>
          </a:p>
        </p:txBody>
      </p:sp>
    </p:spTree>
    <p:extLst>
      <p:ext uri="{BB962C8B-B14F-4D97-AF65-F5344CB8AC3E}">
        <p14:creationId xmlns:p14="http://schemas.microsoft.com/office/powerpoint/2010/main" val="41189494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695FB92-6A2A-D33A-9349-4B2FC8FB8D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F3D84A-B2A2-70EA-E959-F4AF070FDADF}"/>
              </a:ext>
            </a:extLst>
          </p:cNvPr>
          <p:cNvSpPr>
            <a:spLocks noGrp="1"/>
          </p:cNvSpPr>
          <p:nvPr>
            <p:ph type="title"/>
          </p:nvPr>
        </p:nvSpPr>
        <p:spPr/>
        <p:txBody>
          <a:bodyPr/>
          <a:lstStyle/>
          <a:p>
            <a:r>
              <a:rPr lang="en-US" dirty="0"/>
              <a:t>Challenge – let’s check our understanding</a:t>
            </a:r>
          </a:p>
        </p:txBody>
      </p:sp>
      <p:sp>
        <p:nvSpPr>
          <p:cNvPr id="3" name="Content Placeholder 2">
            <a:extLst>
              <a:ext uri="{FF2B5EF4-FFF2-40B4-BE49-F238E27FC236}">
                <a16:creationId xmlns:a16="http://schemas.microsoft.com/office/drawing/2014/main" id="{D13E1DF8-36E0-1D6D-D9DB-C73571F53862}"/>
              </a:ext>
            </a:extLst>
          </p:cNvPr>
          <p:cNvSpPr>
            <a:spLocks noGrp="1"/>
          </p:cNvSpPr>
          <p:nvPr>
            <p:ph idx="1"/>
          </p:nvPr>
        </p:nvSpPr>
        <p:spPr>
          <a:xfrm>
            <a:off x="581192" y="2475925"/>
            <a:ext cx="5317584" cy="1681246"/>
          </a:xfrm>
        </p:spPr>
        <p:txBody>
          <a:bodyPr/>
          <a:lstStyle/>
          <a:p>
            <a:r>
              <a:rPr lang="en-US" dirty="0"/>
              <a:t>Create endpoints for different types of coaches</a:t>
            </a:r>
          </a:p>
        </p:txBody>
      </p:sp>
      <p:sp>
        <p:nvSpPr>
          <p:cNvPr id="6" name="TextBox 5">
            <a:extLst>
              <a:ext uri="{FF2B5EF4-FFF2-40B4-BE49-F238E27FC236}">
                <a16:creationId xmlns:a16="http://schemas.microsoft.com/office/drawing/2014/main" id="{4711C103-16B8-599E-5739-2FDF5191F349}"/>
              </a:ext>
            </a:extLst>
          </p:cNvPr>
          <p:cNvSpPr txBox="1"/>
          <p:nvPr/>
        </p:nvSpPr>
        <p:spPr>
          <a:xfrm>
            <a:off x="1228165" y="2402747"/>
            <a:ext cx="756938" cy="369332"/>
          </a:xfrm>
          <a:prstGeom prst="rect">
            <a:avLst/>
          </a:prstGeom>
          <a:noFill/>
        </p:spPr>
        <p:txBody>
          <a:bodyPr wrap="none" rtlCol="0">
            <a:spAutoFit/>
          </a:bodyPr>
          <a:lstStyle/>
          <a:p>
            <a:r>
              <a:rPr lang="en-US" b="1" dirty="0"/>
              <a:t>Goal:</a:t>
            </a:r>
          </a:p>
        </p:txBody>
      </p:sp>
      <p:sp>
        <p:nvSpPr>
          <p:cNvPr id="7" name="TextBox 6">
            <a:extLst>
              <a:ext uri="{FF2B5EF4-FFF2-40B4-BE49-F238E27FC236}">
                <a16:creationId xmlns:a16="http://schemas.microsoft.com/office/drawing/2014/main" id="{45AB5C3A-C77B-4B2B-5C19-A80BEA882757}"/>
              </a:ext>
            </a:extLst>
          </p:cNvPr>
          <p:cNvSpPr txBox="1"/>
          <p:nvPr/>
        </p:nvSpPr>
        <p:spPr>
          <a:xfrm>
            <a:off x="6949165" y="2402747"/>
            <a:ext cx="4661643" cy="369332"/>
          </a:xfrm>
          <a:prstGeom prst="rect">
            <a:avLst/>
          </a:prstGeom>
          <a:noFill/>
        </p:spPr>
        <p:txBody>
          <a:bodyPr wrap="square" rtlCol="0">
            <a:spAutoFit/>
          </a:bodyPr>
          <a:lstStyle/>
          <a:p>
            <a:r>
              <a:rPr lang="en-US" b="1" dirty="0"/>
              <a:t>Scenario:  			   5 min</a:t>
            </a:r>
          </a:p>
        </p:txBody>
      </p:sp>
      <p:sp>
        <p:nvSpPr>
          <p:cNvPr id="8" name="Content Placeholder 2">
            <a:extLst>
              <a:ext uri="{FF2B5EF4-FFF2-40B4-BE49-F238E27FC236}">
                <a16:creationId xmlns:a16="http://schemas.microsoft.com/office/drawing/2014/main" id="{3861BE59-BFB8-9E75-6062-CCB3C6CEB3D5}"/>
              </a:ext>
            </a:extLst>
          </p:cNvPr>
          <p:cNvSpPr txBox="1">
            <a:spLocks/>
          </p:cNvSpPr>
          <p:nvPr/>
        </p:nvSpPr>
        <p:spPr>
          <a:xfrm>
            <a:off x="6545749" y="2772078"/>
            <a:ext cx="4661642" cy="2480405"/>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t>Example: One endpoint uses a ‘</a:t>
            </a:r>
            <a:r>
              <a:rPr lang="en-US" dirty="0" err="1"/>
              <a:t>baseBallCoach</a:t>
            </a:r>
            <a:r>
              <a:rPr lang="en-US" dirty="0"/>
              <a:t>’ and prints ‘Practice Baseball’ </a:t>
            </a:r>
          </a:p>
          <a:p>
            <a:r>
              <a:rPr lang="en-US" dirty="0"/>
              <a:t>Another endpoint uses a ‘</a:t>
            </a:r>
            <a:r>
              <a:rPr lang="en-US" dirty="0" err="1"/>
              <a:t>basketballCoach</a:t>
            </a:r>
            <a:r>
              <a:rPr lang="en-US" dirty="0"/>
              <a:t>’ and prints ‘Practice Basketball’</a:t>
            </a:r>
          </a:p>
          <a:p>
            <a:r>
              <a:rPr lang="en-US" dirty="0"/>
              <a:t>Hint: You can inject more than one item, with multiple @Qualifier(s)!</a:t>
            </a:r>
          </a:p>
        </p:txBody>
      </p:sp>
    </p:spTree>
    <p:extLst>
      <p:ext uri="{BB962C8B-B14F-4D97-AF65-F5344CB8AC3E}">
        <p14:creationId xmlns:p14="http://schemas.microsoft.com/office/powerpoint/2010/main" val="2532014160"/>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docMetadata/LabelInfo.xml><?xml version="1.0" encoding="utf-8"?>
<clbl:labelList xmlns:clbl="http://schemas.microsoft.com/office/2020/mipLabelMetadata">
  <clbl:label id="{6b63e28a-a8f9-47b5-aa40-97e231215164}" enabled="0" method="" siteId="{6b63e28a-a8f9-47b5-aa40-97e231215164}" removed="1"/>
</clbl:labelList>
</file>

<file path=docProps/app.xml><?xml version="1.0" encoding="utf-8"?>
<Properties xmlns="http://schemas.openxmlformats.org/officeDocument/2006/extended-properties" xmlns:vt="http://schemas.openxmlformats.org/officeDocument/2006/docPropsVTypes">
  <Template>office theme</Template>
  <TotalTime>5622</TotalTime>
  <Words>876</Words>
  <Application>Microsoft Office PowerPoint</Application>
  <PresentationFormat>Widescreen</PresentationFormat>
  <Paragraphs>127</Paragraphs>
  <Slides>11</Slides>
  <Notes>0</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-apple-system-body</vt:lpstr>
      <vt:lpstr>Gill Sans MT</vt:lpstr>
      <vt:lpstr>Wingdings</vt:lpstr>
      <vt:lpstr>Wingdings 2</vt:lpstr>
      <vt:lpstr>Dividend</vt:lpstr>
      <vt:lpstr>Hibernate, JPA, &amp; REST</vt:lpstr>
      <vt:lpstr>What is hibernate?</vt:lpstr>
      <vt:lpstr>What is JPA?</vt:lpstr>
      <vt:lpstr>Hibernate/JPA – concrete benefit</vt:lpstr>
      <vt:lpstr>Setup Overview</vt:lpstr>
      <vt:lpstr>EntityManager vs JpaRepository</vt:lpstr>
      <vt:lpstr>Typical stack</vt:lpstr>
      <vt:lpstr>JQPL</vt:lpstr>
      <vt:lpstr>Stereotype annotations</vt:lpstr>
      <vt:lpstr>STOP</vt:lpstr>
      <vt:lpstr>Challenge – let’s check our understanding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Ethan Wilson</dc:creator>
  <cp:lastModifiedBy>Ethan Wilson</cp:lastModifiedBy>
  <cp:revision>610</cp:revision>
  <dcterms:created xsi:type="dcterms:W3CDTF">2025-02-12T19:53:45Z</dcterms:created>
  <dcterms:modified xsi:type="dcterms:W3CDTF">2026-09-30T02:21:32Z</dcterms:modified>
</cp:coreProperties>
</file>