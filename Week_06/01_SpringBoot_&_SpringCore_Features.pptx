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62"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3" r:id="rId52"/>
    <p:sldId id="311" r:id="rId53"/>
    <p:sldId id="312" r:id="rId54"/>
    <p:sldId id="314" r:id="rId55"/>
    <p:sldId id="315" r:id="rId56"/>
    <p:sldId id="316" r:id="rId57"/>
    <p:sldId id="317" r:id="rId58"/>
    <p:sldId id="318" r:id="rId59"/>
    <p:sldId id="319" r:id="rId60"/>
    <p:sldId id="320" r:id="rId61"/>
    <p:sldId id="321" r:id="rId62"/>
    <p:sldId id="322"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131" d="100"/>
          <a:sy n="131" d="100"/>
        </p:scale>
        <p:origin x="144" y="6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9/25/2026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9/25/2026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9/25/2026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9/25/2026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9/25/2026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localhost:8080/"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Spring boot &amp; Spring </a:t>
            </a:r>
            <a:r>
              <a:rPr lang="en-US"/>
              <a:t>core features</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7719E-E645-8748-5E36-48D1E5832248}"/>
              </a:ext>
            </a:extLst>
          </p:cNvPr>
          <p:cNvSpPr>
            <a:spLocks noGrp="1"/>
          </p:cNvSpPr>
          <p:nvPr>
            <p:ph type="title"/>
          </p:nvPr>
        </p:nvSpPr>
        <p:spPr/>
        <p:txBody>
          <a:bodyPr/>
          <a:lstStyle/>
          <a:p>
            <a:r>
              <a:rPr lang="en-US" dirty="0"/>
              <a:t>Spring</a:t>
            </a:r>
          </a:p>
        </p:txBody>
      </p:sp>
      <p:sp>
        <p:nvSpPr>
          <p:cNvPr id="3" name="Content Placeholder 2">
            <a:extLst>
              <a:ext uri="{FF2B5EF4-FFF2-40B4-BE49-F238E27FC236}">
                <a16:creationId xmlns:a16="http://schemas.microsoft.com/office/drawing/2014/main" id="{F641733E-B222-0F43-ED13-9BD4DB5759AD}"/>
              </a:ext>
            </a:extLst>
          </p:cNvPr>
          <p:cNvSpPr>
            <a:spLocks noGrp="1"/>
          </p:cNvSpPr>
          <p:nvPr>
            <p:ph idx="1"/>
          </p:nvPr>
        </p:nvSpPr>
        <p:spPr>
          <a:xfrm>
            <a:off x="581192" y="2180496"/>
            <a:ext cx="11029615" cy="4199039"/>
          </a:xfrm>
        </p:spPr>
        <p:txBody>
          <a:bodyPr>
            <a:normAutofit/>
          </a:bodyPr>
          <a:lstStyle/>
          <a:p>
            <a:r>
              <a:rPr lang="en-US" b="1" dirty="0"/>
              <a:t>Spring</a:t>
            </a:r>
            <a:r>
              <a:rPr lang="en-US" dirty="0"/>
              <a:t> is a Java framework used to build applications, especially </a:t>
            </a:r>
            <a:r>
              <a:rPr lang="en-US" b="1" dirty="0"/>
              <a:t>web applications, APIs, and enterprise applications</a:t>
            </a:r>
            <a:r>
              <a:rPr lang="en-US" dirty="0"/>
              <a:t>.</a:t>
            </a:r>
          </a:p>
          <a:p>
            <a:r>
              <a:rPr lang="en-US" dirty="0"/>
              <a:t>At its core, Spring helps you manage the complexity of a large Java application by providing features such as:</a:t>
            </a:r>
          </a:p>
          <a:p>
            <a:pPr lvl="1"/>
            <a:r>
              <a:rPr lang="en-US" b="1" dirty="0"/>
              <a:t>Dependency Injection (DI):</a:t>
            </a:r>
            <a:r>
              <a:rPr lang="en-US" dirty="0"/>
              <a:t> Spring creates and manages objects for you instead of you manually creating them everywhere.</a:t>
            </a:r>
          </a:p>
          <a:p>
            <a:pPr lvl="1"/>
            <a:r>
              <a:rPr lang="en-US" b="1" dirty="0"/>
              <a:t>Inversion of Control (IoC):</a:t>
            </a:r>
            <a:r>
              <a:rPr lang="en-US" dirty="0"/>
              <a:t> The framework controls how application components are created and connected.</a:t>
            </a:r>
          </a:p>
          <a:p>
            <a:pPr lvl="1"/>
            <a:r>
              <a:rPr lang="en-US" b="1" dirty="0"/>
              <a:t>Web development:</a:t>
            </a:r>
            <a:r>
              <a:rPr lang="en-US" dirty="0"/>
              <a:t> Spring MVC can be used to build REST APIs and web applications.</a:t>
            </a:r>
          </a:p>
          <a:p>
            <a:pPr lvl="1"/>
            <a:r>
              <a:rPr lang="en-US" b="1" dirty="0"/>
              <a:t>Database access:</a:t>
            </a:r>
            <a:r>
              <a:rPr lang="en-US" dirty="0"/>
              <a:t> Spring integrates with technologies such as JPA, Hibernate, and JDBC.</a:t>
            </a:r>
          </a:p>
          <a:p>
            <a:pPr lvl="1"/>
            <a:r>
              <a:rPr lang="en-US" b="1" dirty="0"/>
              <a:t>Security:</a:t>
            </a:r>
            <a:r>
              <a:rPr lang="en-US" dirty="0"/>
              <a:t> Spring Security provides authentication and authorization.</a:t>
            </a:r>
          </a:p>
          <a:p>
            <a:pPr lvl="1"/>
            <a:r>
              <a:rPr lang="en-US" b="1" dirty="0"/>
              <a:t>Transaction management:</a:t>
            </a:r>
            <a:r>
              <a:rPr lang="en-US" dirty="0"/>
              <a:t> Helps manage database transactions.</a:t>
            </a:r>
          </a:p>
          <a:p>
            <a:pPr lvl="1"/>
            <a:r>
              <a:rPr lang="en-US" b="1" dirty="0"/>
              <a:t>Modular architecture:</a:t>
            </a:r>
            <a:r>
              <a:rPr lang="en-US" dirty="0"/>
              <a:t> You can use only the Spring modules your application needs.</a:t>
            </a:r>
          </a:p>
          <a:p>
            <a:endParaRPr lang="en-US" dirty="0"/>
          </a:p>
        </p:txBody>
      </p:sp>
    </p:spTree>
    <p:extLst>
      <p:ext uri="{BB962C8B-B14F-4D97-AF65-F5344CB8AC3E}">
        <p14:creationId xmlns:p14="http://schemas.microsoft.com/office/powerpoint/2010/main" val="2415479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8CB47-4CC8-216D-5CCE-D29CB5F7FB93}"/>
              </a:ext>
            </a:extLst>
          </p:cNvPr>
          <p:cNvSpPr>
            <a:spLocks noGrp="1"/>
          </p:cNvSpPr>
          <p:nvPr>
            <p:ph type="title"/>
          </p:nvPr>
        </p:nvSpPr>
        <p:spPr/>
        <p:txBody>
          <a:bodyPr/>
          <a:lstStyle/>
          <a:p>
            <a:r>
              <a:rPr lang="en-US" dirty="0"/>
              <a:t>DI – Dependency Injection</a:t>
            </a:r>
          </a:p>
        </p:txBody>
      </p:sp>
      <p:sp>
        <p:nvSpPr>
          <p:cNvPr id="3" name="Content Placeholder 2">
            <a:extLst>
              <a:ext uri="{FF2B5EF4-FFF2-40B4-BE49-F238E27FC236}">
                <a16:creationId xmlns:a16="http://schemas.microsoft.com/office/drawing/2014/main" id="{3F50602F-EE8C-7D1A-31E6-E934BE30E7ED}"/>
              </a:ext>
            </a:extLst>
          </p:cNvPr>
          <p:cNvSpPr>
            <a:spLocks noGrp="1"/>
          </p:cNvSpPr>
          <p:nvPr>
            <p:ph idx="1"/>
          </p:nvPr>
        </p:nvSpPr>
        <p:spPr>
          <a:xfrm>
            <a:off x="581192" y="2180496"/>
            <a:ext cx="11029615" cy="615867"/>
          </a:xfrm>
        </p:spPr>
        <p:txBody>
          <a:bodyPr/>
          <a:lstStyle/>
          <a:p>
            <a:r>
              <a:rPr lang="en-US" dirty="0"/>
              <a:t>Without DI, we would likely make concretions ourselves, and need to carefully manage them: </a:t>
            </a:r>
          </a:p>
        </p:txBody>
      </p:sp>
      <p:sp>
        <p:nvSpPr>
          <p:cNvPr id="5" name="TextBox 4">
            <a:extLst>
              <a:ext uri="{FF2B5EF4-FFF2-40B4-BE49-F238E27FC236}">
                <a16:creationId xmlns:a16="http://schemas.microsoft.com/office/drawing/2014/main" id="{5756CBD6-89B7-8501-B35A-438A34DAF3EA}"/>
              </a:ext>
            </a:extLst>
          </p:cNvPr>
          <p:cNvSpPr txBox="1"/>
          <p:nvPr/>
        </p:nvSpPr>
        <p:spPr>
          <a:xfrm>
            <a:off x="3612412" y="2759047"/>
            <a:ext cx="4170620" cy="366823"/>
          </a:xfrm>
          <a:prstGeom prst="rect">
            <a:avLst/>
          </a:prstGeom>
          <a:noFill/>
        </p:spPr>
        <p:txBody>
          <a:bodyPr wrap="square">
            <a:spAutoFit/>
          </a:bodyPr>
          <a:lstStyle/>
          <a:p>
            <a:r>
              <a:rPr lang="en-US" dirty="0" err="1"/>
              <a:t>UserService</a:t>
            </a:r>
            <a:r>
              <a:rPr lang="en-US" dirty="0"/>
              <a:t> service = new </a:t>
            </a:r>
            <a:r>
              <a:rPr lang="en-US" dirty="0" err="1"/>
              <a:t>UserService</a:t>
            </a:r>
            <a:r>
              <a:rPr lang="en-US" dirty="0"/>
              <a:t>();</a:t>
            </a:r>
          </a:p>
        </p:txBody>
      </p:sp>
      <p:sp>
        <p:nvSpPr>
          <p:cNvPr id="7" name="TextBox 6">
            <a:extLst>
              <a:ext uri="{FF2B5EF4-FFF2-40B4-BE49-F238E27FC236}">
                <a16:creationId xmlns:a16="http://schemas.microsoft.com/office/drawing/2014/main" id="{3BECB69A-1C5C-C2E8-4BFC-41CE7CB374D1}"/>
              </a:ext>
            </a:extLst>
          </p:cNvPr>
          <p:cNvSpPr txBox="1"/>
          <p:nvPr/>
        </p:nvSpPr>
        <p:spPr>
          <a:xfrm>
            <a:off x="1282998" y="4905072"/>
            <a:ext cx="2639533" cy="923330"/>
          </a:xfrm>
          <a:prstGeom prst="rect">
            <a:avLst/>
          </a:prstGeom>
          <a:noFill/>
        </p:spPr>
        <p:txBody>
          <a:bodyPr wrap="square">
            <a:spAutoFit/>
          </a:bodyPr>
          <a:lstStyle/>
          <a:p>
            <a:r>
              <a:rPr lang="en-US" dirty="0"/>
              <a:t>@Service</a:t>
            </a:r>
          </a:p>
          <a:p>
            <a:r>
              <a:rPr lang="en-US" dirty="0"/>
              <a:t>public class </a:t>
            </a:r>
            <a:r>
              <a:rPr lang="en-US" dirty="0" err="1"/>
              <a:t>UserService</a:t>
            </a:r>
            <a:r>
              <a:rPr lang="en-US" dirty="0"/>
              <a:t> {</a:t>
            </a:r>
          </a:p>
          <a:p>
            <a:r>
              <a:rPr lang="en-US" dirty="0"/>
              <a:t>}</a:t>
            </a:r>
          </a:p>
        </p:txBody>
      </p:sp>
      <p:sp>
        <p:nvSpPr>
          <p:cNvPr id="9" name="TextBox 8">
            <a:extLst>
              <a:ext uri="{FF2B5EF4-FFF2-40B4-BE49-F238E27FC236}">
                <a16:creationId xmlns:a16="http://schemas.microsoft.com/office/drawing/2014/main" id="{05C82D0F-4B3D-FED2-249D-2CD556C8450A}"/>
              </a:ext>
            </a:extLst>
          </p:cNvPr>
          <p:cNvSpPr txBox="1"/>
          <p:nvPr/>
        </p:nvSpPr>
        <p:spPr>
          <a:xfrm>
            <a:off x="5842592" y="4191034"/>
            <a:ext cx="6097772" cy="2585323"/>
          </a:xfrm>
          <a:prstGeom prst="rect">
            <a:avLst/>
          </a:prstGeom>
          <a:noFill/>
        </p:spPr>
        <p:txBody>
          <a:bodyPr wrap="square">
            <a:spAutoFit/>
          </a:bodyPr>
          <a:lstStyle/>
          <a:p>
            <a:r>
              <a:rPr lang="en-US" dirty="0"/>
              <a:t>@RestController</a:t>
            </a:r>
          </a:p>
          <a:p>
            <a:r>
              <a:rPr lang="en-US" dirty="0"/>
              <a:t>public class </a:t>
            </a:r>
            <a:r>
              <a:rPr lang="en-US" dirty="0" err="1"/>
              <a:t>UserController</a:t>
            </a:r>
            <a:r>
              <a:rPr lang="en-US" dirty="0"/>
              <a:t> {</a:t>
            </a:r>
          </a:p>
          <a:p>
            <a:endParaRPr lang="en-US" dirty="0"/>
          </a:p>
          <a:p>
            <a:r>
              <a:rPr lang="en-US" dirty="0"/>
              <a:t>    private final </a:t>
            </a:r>
            <a:r>
              <a:rPr lang="en-US" dirty="0" err="1"/>
              <a:t>UserService</a:t>
            </a:r>
            <a:r>
              <a:rPr lang="en-US" dirty="0"/>
              <a:t> service;</a:t>
            </a:r>
          </a:p>
          <a:p>
            <a:endParaRPr lang="en-US" dirty="0"/>
          </a:p>
          <a:p>
            <a:r>
              <a:rPr lang="en-US" dirty="0"/>
              <a:t>    public </a:t>
            </a:r>
            <a:r>
              <a:rPr lang="en-US" dirty="0" err="1"/>
              <a:t>UserController</a:t>
            </a:r>
            <a:r>
              <a:rPr lang="en-US" dirty="0"/>
              <a:t>(</a:t>
            </a:r>
            <a:r>
              <a:rPr lang="en-US" dirty="0" err="1"/>
              <a:t>UserService</a:t>
            </a:r>
            <a:r>
              <a:rPr lang="en-US" dirty="0"/>
              <a:t> service) {</a:t>
            </a:r>
          </a:p>
          <a:p>
            <a:r>
              <a:rPr lang="en-US" dirty="0"/>
              <a:t>        </a:t>
            </a:r>
            <a:r>
              <a:rPr lang="en-US" dirty="0" err="1"/>
              <a:t>this.service</a:t>
            </a:r>
            <a:r>
              <a:rPr lang="en-US" dirty="0"/>
              <a:t> = service;</a:t>
            </a:r>
          </a:p>
          <a:p>
            <a:r>
              <a:rPr lang="en-US" dirty="0"/>
              <a:t>    }</a:t>
            </a:r>
          </a:p>
          <a:p>
            <a:r>
              <a:rPr lang="en-US" dirty="0"/>
              <a:t>}</a:t>
            </a:r>
          </a:p>
        </p:txBody>
      </p:sp>
      <p:sp>
        <p:nvSpPr>
          <p:cNvPr id="10" name="Content Placeholder 2">
            <a:extLst>
              <a:ext uri="{FF2B5EF4-FFF2-40B4-BE49-F238E27FC236}">
                <a16:creationId xmlns:a16="http://schemas.microsoft.com/office/drawing/2014/main" id="{7EFAFBE5-9CA7-A7CD-0BA9-76742725C53B}"/>
              </a:ext>
            </a:extLst>
          </p:cNvPr>
          <p:cNvSpPr txBox="1">
            <a:spLocks/>
          </p:cNvSpPr>
          <p:nvPr/>
        </p:nvSpPr>
        <p:spPr>
          <a:xfrm>
            <a:off x="581192" y="3369023"/>
            <a:ext cx="11029615" cy="61586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With DI, we can define annotations, and then have objects initialized only when needed:</a:t>
            </a:r>
          </a:p>
        </p:txBody>
      </p:sp>
    </p:spTree>
    <p:extLst>
      <p:ext uri="{BB962C8B-B14F-4D97-AF65-F5344CB8AC3E}">
        <p14:creationId xmlns:p14="http://schemas.microsoft.com/office/powerpoint/2010/main" val="3933025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75295-17D4-4BEE-546B-B3F0BDD6AA7B}"/>
              </a:ext>
            </a:extLst>
          </p:cNvPr>
          <p:cNvSpPr>
            <a:spLocks noGrp="1"/>
          </p:cNvSpPr>
          <p:nvPr>
            <p:ph type="title"/>
          </p:nvPr>
        </p:nvSpPr>
        <p:spPr/>
        <p:txBody>
          <a:bodyPr/>
          <a:lstStyle/>
          <a:p>
            <a:r>
              <a:rPr lang="en-US" dirty="0"/>
              <a:t>Spring vs Spring Boot</a:t>
            </a:r>
          </a:p>
        </p:txBody>
      </p:sp>
      <p:sp>
        <p:nvSpPr>
          <p:cNvPr id="3" name="Content Placeholder 2">
            <a:extLst>
              <a:ext uri="{FF2B5EF4-FFF2-40B4-BE49-F238E27FC236}">
                <a16:creationId xmlns:a16="http://schemas.microsoft.com/office/drawing/2014/main" id="{D61EE7D7-E621-A75C-408F-92D9022374B6}"/>
              </a:ext>
            </a:extLst>
          </p:cNvPr>
          <p:cNvSpPr>
            <a:spLocks noGrp="1"/>
          </p:cNvSpPr>
          <p:nvPr>
            <p:ph idx="1"/>
          </p:nvPr>
        </p:nvSpPr>
        <p:spPr>
          <a:xfrm>
            <a:off x="581192" y="2180496"/>
            <a:ext cx="11029615" cy="1753551"/>
          </a:xfrm>
        </p:spPr>
        <p:txBody>
          <a:bodyPr/>
          <a:lstStyle/>
          <a:p>
            <a:r>
              <a:rPr lang="en-US" dirty="0"/>
              <a:t>Both are Java frameworks, but Spring can be very difficult to setup on its own</a:t>
            </a:r>
          </a:p>
          <a:p>
            <a:r>
              <a:rPr lang="en-US" dirty="0"/>
              <a:t>Spring Boot is a framework built on top of Spring that makes it much easier and faster to create Spring applications.</a:t>
            </a:r>
          </a:p>
          <a:p>
            <a:r>
              <a:rPr lang="en-US" dirty="0"/>
              <a:t>Spring Boot provides </a:t>
            </a:r>
            <a:r>
              <a:rPr lang="en-US" b="1" dirty="0"/>
              <a:t>convention over configuration</a:t>
            </a:r>
            <a:r>
              <a:rPr lang="en-US" dirty="0"/>
              <a:t>, automatic configuration, embedded servers, and convenient project setup.</a:t>
            </a:r>
          </a:p>
        </p:txBody>
      </p:sp>
      <p:graphicFrame>
        <p:nvGraphicFramePr>
          <p:cNvPr id="4" name="Table 3">
            <a:extLst>
              <a:ext uri="{FF2B5EF4-FFF2-40B4-BE49-F238E27FC236}">
                <a16:creationId xmlns:a16="http://schemas.microsoft.com/office/drawing/2014/main" id="{E6571803-75A4-7FEE-47AD-B5C46ACE5A2D}"/>
              </a:ext>
            </a:extLst>
          </p:cNvPr>
          <p:cNvGraphicFramePr>
            <a:graphicFrameLocks noGrp="1"/>
          </p:cNvGraphicFramePr>
          <p:nvPr>
            <p:extLst>
              <p:ext uri="{D42A27DB-BD31-4B8C-83A1-F6EECF244321}">
                <p14:modId xmlns:p14="http://schemas.microsoft.com/office/powerpoint/2010/main" val="3649480120"/>
              </p:ext>
            </p:extLst>
          </p:nvPr>
        </p:nvGraphicFramePr>
        <p:xfrm>
          <a:off x="580857" y="4072270"/>
          <a:ext cx="11029950" cy="2346960"/>
        </p:xfrm>
        <a:graphic>
          <a:graphicData uri="http://schemas.openxmlformats.org/drawingml/2006/table">
            <a:tbl>
              <a:tblPr>
                <a:tableStyleId>{5C22544A-7EE6-4342-B048-85BDC9FD1C3A}</a:tableStyleId>
              </a:tblPr>
              <a:tblGrid>
                <a:gridCol w="5514975">
                  <a:extLst>
                    <a:ext uri="{9D8B030D-6E8A-4147-A177-3AD203B41FA5}">
                      <a16:colId xmlns:a16="http://schemas.microsoft.com/office/drawing/2014/main" val="4116827930"/>
                    </a:ext>
                  </a:extLst>
                </a:gridCol>
                <a:gridCol w="5514975">
                  <a:extLst>
                    <a:ext uri="{9D8B030D-6E8A-4147-A177-3AD203B41FA5}">
                      <a16:colId xmlns:a16="http://schemas.microsoft.com/office/drawing/2014/main" val="2885289592"/>
                    </a:ext>
                  </a:extLst>
                </a:gridCol>
              </a:tblGrid>
              <a:tr h="328090">
                <a:tc>
                  <a:txBody>
                    <a:bodyPr/>
                    <a:lstStyle/>
                    <a:p>
                      <a:pPr marL="0" marR="0" algn="l">
                        <a:buNone/>
                      </a:pPr>
                      <a:r>
                        <a:rPr lang="en-US" sz="1600" b="1" dirty="0">
                          <a:effectLst/>
                        </a:rPr>
                        <a:t>Spring</a:t>
                      </a:r>
                      <a:endParaRPr lang="en-US" sz="1600" b="1" i="0" dirty="0">
                        <a:solidFill>
                          <a:srgbClr val="FFFFFF"/>
                        </a:solidFill>
                        <a:effectLst/>
                        <a:latin typeface="-apple-system-body"/>
                      </a:endParaRPr>
                    </a:p>
                  </a:txBody>
                  <a:tcPr anchor="ctr"/>
                </a:tc>
                <a:tc>
                  <a:txBody>
                    <a:bodyPr/>
                    <a:lstStyle/>
                    <a:p>
                      <a:pPr marL="0" marR="0" algn="l">
                        <a:buNone/>
                      </a:pPr>
                      <a:r>
                        <a:rPr lang="en-US" sz="1600" b="1" dirty="0">
                          <a:effectLst/>
                        </a:rPr>
                        <a:t>Spring Boot</a:t>
                      </a:r>
                      <a:endParaRPr lang="en-US" sz="1600" b="1" i="0" dirty="0">
                        <a:solidFill>
                          <a:srgbClr val="FFFFFF"/>
                        </a:solidFill>
                        <a:effectLst/>
                        <a:latin typeface="-apple-system-body"/>
                      </a:endParaRPr>
                    </a:p>
                  </a:txBody>
                  <a:tcPr anchor="ctr"/>
                </a:tc>
                <a:extLst>
                  <a:ext uri="{0D108BD9-81ED-4DB2-BD59-A6C34878D82A}">
                    <a16:rowId xmlns:a16="http://schemas.microsoft.com/office/drawing/2014/main" val="2038501323"/>
                  </a:ext>
                </a:extLst>
              </a:tr>
              <a:tr h="328090">
                <a:tc>
                  <a:txBody>
                    <a:bodyPr/>
                    <a:lstStyle/>
                    <a:p>
                      <a:pPr marL="0" marR="0" algn="l">
                        <a:buNone/>
                      </a:pPr>
                      <a:r>
                        <a:rPr lang="en-US" sz="1600">
                          <a:effectLst/>
                        </a:rPr>
                        <a:t>The underlying ecosystem/framework</a:t>
                      </a:r>
                      <a:endParaRPr lang="en-US" sz="1600" b="0" i="0">
                        <a:solidFill>
                          <a:srgbClr val="FFFFFF"/>
                        </a:solidFill>
                        <a:effectLst/>
                        <a:latin typeface="-apple-system-body"/>
                      </a:endParaRPr>
                    </a:p>
                  </a:txBody>
                  <a:tcPr anchor="ctr"/>
                </a:tc>
                <a:tc>
                  <a:txBody>
                    <a:bodyPr/>
                    <a:lstStyle/>
                    <a:p>
                      <a:pPr marL="0" marR="0" algn="l">
                        <a:buNone/>
                      </a:pPr>
                      <a:r>
                        <a:rPr lang="en-US" sz="1600">
                          <a:effectLst/>
                        </a:rPr>
                        <a:t>Built on top of Spring</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4032336571"/>
                  </a:ext>
                </a:extLst>
              </a:tr>
              <a:tr h="328090">
                <a:tc>
                  <a:txBody>
                    <a:bodyPr/>
                    <a:lstStyle/>
                    <a:p>
                      <a:pPr marL="0" marR="0" algn="l">
                        <a:buNone/>
                      </a:pPr>
                      <a:r>
                        <a:rPr lang="en-US" sz="1600">
                          <a:effectLst/>
                        </a:rPr>
                        <a:t>More configuration may be required</a:t>
                      </a:r>
                      <a:endParaRPr lang="en-US" sz="1600" b="0" i="0">
                        <a:solidFill>
                          <a:srgbClr val="FFFFFF"/>
                        </a:solidFill>
                        <a:effectLst/>
                        <a:latin typeface="-apple-system-body"/>
                      </a:endParaRPr>
                    </a:p>
                  </a:txBody>
                  <a:tcPr anchor="ctr"/>
                </a:tc>
                <a:tc>
                  <a:txBody>
                    <a:bodyPr/>
                    <a:lstStyle/>
                    <a:p>
                      <a:pPr marL="0" marR="0" algn="l">
                        <a:buNone/>
                      </a:pPr>
                      <a:r>
                        <a:rPr lang="en-US" sz="1600">
                          <a:effectLst/>
                        </a:rPr>
                        <a:t>Provides automatic configuration</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3508687636"/>
                  </a:ext>
                </a:extLst>
              </a:tr>
              <a:tr h="328090">
                <a:tc>
                  <a:txBody>
                    <a:bodyPr/>
                    <a:lstStyle/>
                    <a:p>
                      <a:pPr marL="0" marR="0" algn="l">
                        <a:buNone/>
                      </a:pPr>
                      <a:r>
                        <a:rPr lang="en-US" sz="1600">
                          <a:effectLst/>
                        </a:rPr>
                        <a:t>You often configure components yourself</a:t>
                      </a:r>
                      <a:endParaRPr lang="en-US" sz="1600" b="0" i="0">
                        <a:solidFill>
                          <a:srgbClr val="FFFFFF"/>
                        </a:solidFill>
                        <a:effectLst/>
                        <a:latin typeface="-apple-system-body"/>
                      </a:endParaRPr>
                    </a:p>
                  </a:txBody>
                  <a:tcPr anchor="ctr"/>
                </a:tc>
                <a:tc>
                  <a:txBody>
                    <a:bodyPr/>
                    <a:lstStyle/>
                    <a:p>
                      <a:pPr marL="0" marR="0" algn="l">
                        <a:buNone/>
                      </a:pPr>
                      <a:r>
                        <a:rPr lang="en-US" sz="1600">
                          <a:effectLst/>
                        </a:rPr>
                        <a:t>Many things are configured automatically</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3158973175"/>
                  </a:ext>
                </a:extLst>
              </a:tr>
              <a:tr h="328090">
                <a:tc>
                  <a:txBody>
                    <a:bodyPr/>
                    <a:lstStyle/>
                    <a:p>
                      <a:pPr marL="0" marR="0" algn="l">
                        <a:buNone/>
                      </a:pPr>
                      <a:r>
                        <a:rPr lang="en-US" sz="1600">
                          <a:effectLst/>
                        </a:rPr>
                        <a:t>Can require external server setup</a:t>
                      </a:r>
                      <a:endParaRPr lang="en-US" sz="1600" b="0" i="0">
                        <a:solidFill>
                          <a:srgbClr val="FFFFFF"/>
                        </a:solidFill>
                        <a:effectLst/>
                        <a:latin typeface="-apple-system-body"/>
                      </a:endParaRPr>
                    </a:p>
                  </a:txBody>
                  <a:tcPr anchor="ctr"/>
                </a:tc>
                <a:tc>
                  <a:txBody>
                    <a:bodyPr/>
                    <a:lstStyle/>
                    <a:p>
                      <a:pPr marL="0" marR="0" algn="l">
                        <a:buNone/>
                      </a:pPr>
                      <a:r>
                        <a:rPr lang="en-US" sz="1600">
                          <a:effectLst/>
                        </a:rPr>
                        <a:t>Usually includes an embedded server</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2632929041"/>
                  </a:ext>
                </a:extLst>
              </a:tr>
              <a:tr h="328090">
                <a:tc>
                  <a:txBody>
                    <a:bodyPr/>
                    <a:lstStyle/>
                    <a:p>
                      <a:pPr marL="0" marR="0" algn="l">
                        <a:buNone/>
                      </a:pPr>
                      <a:r>
                        <a:rPr lang="en-US" sz="1600">
                          <a:effectLst/>
                        </a:rPr>
                        <a:t>More flexible/configurable</a:t>
                      </a:r>
                      <a:endParaRPr lang="en-US" sz="1600" b="0" i="0">
                        <a:solidFill>
                          <a:srgbClr val="FFFFFF"/>
                        </a:solidFill>
                        <a:effectLst/>
                        <a:latin typeface="-apple-system-body"/>
                      </a:endParaRPr>
                    </a:p>
                  </a:txBody>
                  <a:tcPr anchor="ctr"/>
                </a:tc>
                <a:tc>
                  <a:txBody>
                    <a:bodyPr/>
                    <a:lstStyle/>
                    <a:p>
                      <a:pPr marL="0" marR="0" algn="l">
                        <a:buNone/>
                      </a:pPr>
                      <a:r>
                        <a:rPr lang="en-US" sz="1600">
                          <a:effectLst/>
                        </a:rPr>
                        <a:t>Optimized for quickly building applications</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1850633349"/>
                  </a:ext>
                </a:extLst>
              </a:tr>
              <a:tr h="328090">
                <a:tc>
                  <a:txBody>
                    <a:bodyPr/>
                    <a:lstStyle/>
                    <a:p>
                      <a:pPr marL="0" marR="0" algn="l">
                        <a:buNone/>
                      </a:pPr>
                      <a:r>
                        <a:rPr lang="en-US" sz="1600">
                          <a:effectLst/>
                        </a:rPr>
                        <a:t>Foundation</a:t>
                      </a:r>
                      <a:endParaRPr lang="en-US" sz="1600" b="0" i="0">
                        <a:solidFill>
                          <a:srgbClr val="FFFFFF"/>
                        </a:solidFill>
                        <a:effectLst/>
                        <a:latin typeface="-apple-system-body"/>
                      </a:endParaRPr>
                    </a:p>
                  </a:txBody>
                  <a:tcPr anchor="ctr"/>
                </a:tc>
                <a:tc>
                  <a:txBody>
                    <a:bodyPr/>
                    <a:lstStyle/>
                    <a:p>
                      <a:pPr marL="0" marR="0" algn="l">
                        <a:buNone/>
                      </a:pPr>
                      <a:r>
                        <a:rPr lang="en-US" sz="1600" dirty="0">
                          <a:effectLst/>
                        </a:rPr>
                        <a:t>Simplified way to use Spring</a:t>
                      </a:r>
                      <a:endParaRPr lang="en-US" sz="1600" b="0" i="0" dirty="0">
                        <a:solidFill>
                          <a:srgbClr val="FFFFFF"/>
                        </a:solidFill>
                        <a:effectLst/>
                        <a:latin typeface="-apple-system-body"/>
                      </a:endParaRPr>
                    </a:p>
                  </a:txBody>
                  <a:tcPr anchor="ctr"/>
                </a:tc>
                <a:extLst>
                  <a:ext uri="{0D108BD9-81ED-4DB2-BD59-A6C34878D82A}">
                    <a16:rowId xmlns:a16="http://schemas.microsoft.com/office/drawing/2014/main" val="2571315407"/>
                  </a:ext>
                </a:extLst>
              </a:tr>
            </a:tbl>
          </a:graphicData>
        </a:graphic>
      </p:graphicFrame>
    </p:spTree>
    <p:extLst>
      <p:ext uri="{BB962C8B-B14F-4D97-AF65-F5344CB8AC3E}">
        <p14:creationId xmlns:p14="http://schemas.microsoft.com/office/powerpoint/2010/main" val="2615229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6A3B8-E4BF-86E2-4123-D50B5D79BEEE}"/>
              </a:ext>
            </a:extLst>
          </p:cNvPr>
          <p:cNvSpPr>
            <a:spLocks noGrp="1"/>
          </p:cNvSpPr>
          <p:nvPr>
            <p:ph type="title"/>
          </p:nvPr>
        </p:nvSpPr>
        <p:spPr/>
        <p:txBody>
          <a:bodyPr/>
          <a:lstStyle/>
          <a:p>
            <a:r>
              <a:rPr lang="en-US" dirty="0"/>
              <a:t>Spring </a:t>
            </a:r>
            <a:r>
              <a:rPr lang="en-US" dirty="0" err="1"/>
              <a:t>Initializr</a:t>
            </a:r>
            <a:r>
              <a:rPr lang="en-US" dirty="0"/>
              <a:t> - Start.pring.io</a:t>
            </a:r>
          </a:p>
        </p:txBody>
      </p:sp>
      <p:sp>
        <p:nvSpPr>
          <p:cNvPr id="3" name="Content Placeholder 2">
            <a:extLst>
              <a:ext uri="{FF2B5EF4-FFF2-40B4-BE49-F238E27FC236}">
                <a16:creationId xmlns:a16="http://schemas.microsoft.com/office/drawing/2014/main" id="{AD6FA903-743F-E284-6ACD-3FE2A76F1102}"/>
              </a:ext>
            </a:extLst>
          </p:cNvPr>
          <p:cNvSpPr>
            <a:spLocks noGrp="1"/>
          </p:cNvSpPr>
          <p:nvPr>
            <p:ph idx="1"/>
          </p:nvPr>
        </p:nvSpPr>
        <p:spPr>
          <a:xfrm>
            <a:off x="405769" y="2180497"/>
            <a:ext cx="5080632" cy="4175770"/>
          </a:xfrm>
        </p:spPr>
        <p:txBody>
          <a:bodyPr>
            <a:normAutofit/>
          </a:bodyPr>
          <a:lstStyle/>
          <a:p>
            <a:r>
              <a:rPr lang="en-US" b="1" dirty="0"/>
              <a:t>Spring </a:t>
            </a:r>
            <a:r>
              <a:rPr lang="en-US" b="1" dirty="0" err="1"/>
              <a:t>Initializr</a:t>
            </a:r>
            <a:r>
              <a:rPr lang="en-US" dirty="0"/>
              <a:t> is a web-based tool from the </a:t>
            </a:r>
            <a:r>
              <a:rPr lang="en-US" b="1" dirty="0"/>
              <a:t>Spring ecosystem</a:t>
            </a:r>
            <a:r>
              <a:rPr lang="en-US" dirty="0"/>
              <a:t> that helps you quickly create the basic structure of a </a:t>
            </a:r>
            <a:r>
              <a:rPr lang="en-US" b="1" dirty="0"/>
              <a:t>Spring Boot</a:t>
            </a:r>
            <a:r>
              <a:rPr lang="en-US" dirty="0"/>
              <a:t> application.</a:t>
            </a:r>
          </a:p>
          <a:p>
            <a:r>
              <a:rPr lang="en-US" dirty="0"/>
              <a:t>It generates a ready-to-use project with:</a:t>
            </a:r>
          </a:p>
          <a:p>
            <a:pPr lvl="1"/>
            <a:r>
              <a:rPr lang="en-US" dirty="0"/>
              <a:t>Project structure and configuration files</a:t>
            </a:r>
          </a:p>
          <a:p>
            <a:pPr lvl="1"/>
            <a:r>
              <a:rPr lang="en-US" dirty="0"/>
              <a:t>Build tool setup (</a:t>
            </a:r>
            <a:r>
              <a:rPr lang="en-US" b="1" dirty="0"/>
              <a:t>Maven</a:t>
            </a:r>
            <a:r>
              <a:rPr lang="en-US" dirty="0"/>
              <a:t> or </a:t>
            </a:r>
            <a:r>
              <a:rPr lang="en-US" b="1" dirty="0"/>
              <a:t>Gradle</a:t>
            </a:r>
            <a:r>
              <a:rPr lang="en-US" dirty="0"/>
              <a:t>)</a:t>
            </a:r>
          </a:p>
          <a:p>
            <a:pPr lvl="1"/>
            <a:r>
              <a:rPr lang="en-US" dirty="0"/>
              <a:t>Java version selection</a:t>
            </a:r>
          </a:p>
          <a:p>
            <a:pPr lvl="1"/>
            <a:r>
              <a:rPr lang="en-US" dirty="0"/>
              <a:t>Spring Boot dependencies (such as Spring Web, Spring Data JPA, Spring Security)</a:t>
            </a:r>
          </a:p>
          <a:p>
            <a:pPr lvl="1"/>
            <a:r>
              <a:rPr lang="en-US" dirty="0"/>
              <a:t>Basic application entry point</a:t>
            </a:r>
          </a:p>
        </p:txBody>
      </p:sp>
      <p:pic>
        <p:nvPicPr>
          <p:cNvPr id="5" name="Picture 4">
            <a:extLst>
              <a:ext uri="{FF2B5EF4-FFF2-40B4-BE49-F238E27FC236}">
                <a16:creationId xmlns:a16="http://schemas.microsoft.com/office/drawing/2014/main" id="{52CCBC9F-98FD-44A9-4EF3-729F5ABCA324}"/>
              </a:ext>
            </a:extLst>
          </p:cNvPr>
          <p:cNvPicPr>
            <a:picLocks noChangeAspect="1"/>
          </p:cNvPicPr>
          <p:nvPr/>
        </p:nvPicPr>
        <p:blipFill>
          <a:blip r:embed="rId2"/>
          <a:stretch>
            <a:fillRect/>
          </a:stretch>
        </p:blipFill>
        <p:spPr>
          <a:xfrm>
            <a:off x="5310978" y="2940313"/>
            <a:ext cx="6299830" cy="2486016"/>
          </a:xfrm>
          <a:prstGeom prst="rect">
            <a:avLst/>
          </a:prstGeom>
        </p:spPr>
      </p:pic>
    </p:spTree>
    <p:extLst>
      <p:ext uri="{BB962C8B-B14F-4D97-AF65-F5344CB8AC3E}">
        <p14:creationId xmlns:p14="http://schemas.microsoft.com/office/powerpoint/2010/main" val="3549722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0CE9C-A649-7EED-4C5B-4C05FA1AC53B}"/>
              </a:ext>
            </a:extLst>
          </p:cNvPr>
          <p:cNvSpPr>
            <a:spLocks noGrp="1"/>
          </p:cNvSpPr>
          <p:nvPr>
            <p:ph type="title"/>
          </p:nvPr>
        </p:nvSpPr>
        <p:spPr/>
        <p:txBody>
          <a:bodyPr/>
          <a:lstStyle/>
          <a:p>
            <a:r>
              <a:rPr lang="en-US" dirty="0"/>
              <a:t>Spring tools suite - spring.io/tools</a:t>
            </a:r>
          </a:p>
        </p:txBody>
      </p:sp>
      <p:sp>
        <p:nvSpPr>
          <p:cNvPr id="3" name="Content Placeholder 2">
            <a:extLst>
              <a:ext uri="{FF2B5EF4-FFF2-40B4-BE49-F238E27FC236}">
                <a16:creationId xmlns:a16="http://schemas.microsoft.com/office/drawing/2014/main" id="{97BACA3E-4607-CFD3-C713-B35B5B28A778}"/>
              </a:ext>
            </a:extLst>
          </p:cNvPr>
          <p:cNvSpPr>
            <a:spLocks noGrp="1"/>
          </p:cNvSpPr>
          <p:nvPr>
            <p:ph idx="1"/>
          </p:nvPr>
        </p:nvSpPr>
        <p:spPr>
          <a:xfrm>
            <a:off x="581192" y="2180497"/>
            <a:ext cx="11029615" cy="1248504"/>
          </a:xfrm>
        </p:spPr>
        <p:txBody>
          <a:bodyPr/>
          <a:lstStyle/>
          <a:p>
            <a:r>
              <a:rPr lang="en-US" dirty="0"/>
              <a:t>STS is traditionally an IDE based on Eclipse that makes Spring configuration easier</a:t>
            </a:r>
          </a:p>
          <a:p>
            <a:r>
              <a:rPr lang="en-US" dirty="0"/>
              <a:t>Spring Tools now support VS Code, Cursor, and more </a:t>
            </a:r>
          </a:p>
        </p:txBody>
      </p:sp>
      <p:pic>
        <p:nvPicPr>
          <p:cNvPr id="5" name="Picture 4">
            <a:extLst>
              <a:ext uri="{FF2B5EF4-FFF2-40B4-BE49-F238E27FC236}">
                <a16:creationId xmlns:a16="http://schemas.microsoft.com/office/drawing/2014/main" id="{595F6CCC-5E5B-6689-66E6-E70E56F62D26}"/>
              </a:ext>
            </a:extLst>
          </p:cNvPr>
          <p:cNvPicPr>
            <a:picLocks noChangeAspect="1"/>
          </p:cNvPicPr>
          <p:nvPr/>
        </p:nvPicPr>
        <p:blipFill>
          <a:blip r:embed="rId2"/>
          <a:stretch>
            <a:fillRect/>
          </a:stretch>
        </p:blipFill>
        <p:spPr>
          <a:xfrm>
            <a:off x="2617354" y="3893542"/>
            <a:ext cx="6957291" cy="2338709"/>
          </a:xfrm>
          <a:prstGeom prst="rect">
            <a:avLst/>
          </a:prstGeom>
        </p:spPr>
      </p:pic>
    </p:spTree>
    <p:extLst>
      <p:ext uri="{BB962C8B-B14F-4D97-AF65-F5344CB8AC3E}">
        <p14:creationId xmlns:p14="http://schemas.microsoft.com/office/powerpoint/2010/main" val="3345633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800AA-3664-2C3C-3086-0A71CA4D4E33}"/>
              </a:ext>
            </a:extLst>
          </p:cNvPr>
          <p:cNvSpPr>
            <a:spLocks noGrp="1"/>
          </p:cNvSpPr>
          <p:nvPr>
            <p:ph type="title"/>
          </p:nvPr>
        </p:nvSpPr>
        <p:spPr/>
        <p:txBody>
          <a:bodyPr/>
          <a:lstStyle/>
          <a:p>
            <a:r>
              <a:rPr lang="en-US" dirty="0"/>
              <a:t>Spring tools - vs code extension</a:t>
            </a:r>
          </a:p>
        </p:txBody>
      </p:sp>
      <p:pic>
        <p:nvPicPr>
          <p:cNvPr id="5" name="Picture 4">
            <a:extLst>
              <a:ext uri="{FF2B5EF4-FFF2-40B4-BE49-F238E27FC236}">
                <a16:creationId xmlns:a16="http://schemas.microsoft.com/office/drawing/2014/main" id="{2A1851E8-AB26-69C8-35EB-1454EDA893C0}"/>
              </a:ext>
            </a:extLst>
          </p:cNvPr>
          <p:cNvPicPr>
            <a:picLocks noChangeAspect="1"/>
          </p:cNvPicPr>
          <p:nvPr/>
        </p:nvPicPr>
        <p:blipFill>
          <a:blip r:embed="rId2"/>
          <a:stretch>
            <a:fillRect/>
          </a:stretch>
        </p:blipFill>
        <p:spPr>
          <a:xfrm>
            <a:off x="1704362" y="2808094"/>
            <a:ext cx="8783276" cy="2333951"/>
          </a:xfrm>
          <a:prstGeom prst="rect">
            <a:avLst/>
          </a:prstGeom>
        </p:spPr>
      </p:pic>
    </p:spTree>
    <p:extLst>
      <p:ext uri="{BB962C8B-B14F-4D97-AF65-F5344CB8AC3E}">
        <p14:creationId xmlns:p14="http://schemas.microsoft.com/office/powerpoint/2010/main" val="598893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6EDC7-33B3-FE02-D9C7-FE366480D4BA}"/>
              </a:ext>
            </a:extLst>
          </p:cNvPr>
          <p:cNvSpPr>
            <a:spLocks noGrp="1"/>
          </p:cNvSpPr>
          <p:nvPr>
            <p:ph type="title"/>
          </p:nvPr>
        </p:nvSpPr>
        <p:spPr/>
        <p:txBody>
          <a:bodyPr/>
          <a:lstStyle/>
          <a:p>
            <a:r>
              <a:rPr lang="en-US" dirty="0"/>
              <a:t>Creating a Spring boot app – vs code</a:t>
            </a:r>
          </a:p>
        </p:txBody>
      </p:sp>
      <p:sp>
        <p:nvSpPr>
          <p:cNvPr id="3" name="Content Placeholder 2">
            <a:extLst>
              <a:ext uri="{FF2B5EF4-FFF2-40B4-BE49-F238E27FC236}">
                <a16:creationId xmlns:a16="http://schemas.microsoft.com/office/drawing/2014/main" id="{B0789519-94E1-0AED-0377-5C0FDF9CADB1}"/>
              </a:ext>
            </a:extLst>
          </p:cNvPr>
          <p:cNvSpPr>
            <a:spLocks noGrp="1"/>
          </p:cNvSpPr>
          <p:nvPr>
            <p:ph idx="1"/>
          </p:nvPr>
        </p:nvSpPr>
        <p:spPr>
          <a:xfrm>
            <a:off x="581192" y="2180496"/>
            <a:ext cx="4841413" cy="3975348"/>
          </a:xfrm>
        </p:spPr>
        <p:txBody>
          <a:bodyPr>
            <a:normAutofit/>
          </a:bodyPr>
          <a:lstStyle/>
          <a:p>
            <a:r>
              <a:rPr lang="en-US" dirty="0"/>
              <a:t>With the extensions installed, you can open the command palette to use Spring </a:t>
            </a:r>
            <a:r>
              <a:rPr lang="en-US" dirty="0" err="1"/>
              <a:t>Initializr</a:t>
            </a:r>
            <a:r>
              <a:rPr lang="en-US" dirty="0"/>
              <a:t>, and create a Maven project</a:t>
            </a:r>
          </a:p>
          <a:p>
            <a:r>
              <a:rPr lang="en-US" dirty="0"/>
              <a:t>Walk through the options, choosing java version, coordinates, project name, etc. </a:t>
            </a:r>
          </a:p>
          <a:p>
            <a:r>
              <a:rPr lang="en-US" dirty="0"/>
              <a:t>JAR/WAR – WAR (Web Application Archive) is the traditional(old) way to setup a web app. </a:t>
            </a:r>
          </a:p>
          <a:p>
            <a:pPr lvl="1"/>
            <a:r>
              <a:rPr lang="en-US" dirty="0"/>
              <a:t>For WAR, we would need to configure a web server ourself and then deploy the WAR to it.</a:t>
            </a:r>
          </a:p>
          <a:p>
            <a:pPr lvl="1"/>
            <a:r>
              <a:rPr lang="en-US" dirty="0"/>
              <a:t>JAR (Java </a:t>
            </a:r>
            <a:r>
              <a:rPr lang="en-US" dirty="0" err="1"/>
              <a:t>ARchive</a:t>
            </a:r>
            <a:r>
              <a:rPr lang="en-US" dirty="0"/>
              <a:t>) – the modern choice   </a:t>
            </a:r>
          </a:p>
          <a:p>
            <a:r>
              <a:rPr lang="en-US" dirty="0"/>
              <a:t>Choose the Spring Web dependency so we can create a RESTful application </a:t>
            </a:r>
          </a:p>
        </p:txBody>
      </p:sp>
      <p:pic>
        <p:nvPicPr>
          <p:cNvPr id="5" name="Picture 4">
            <a:extLst>
              <a:ext uri="{FF2B5EF4-FFF2-40B4-BE49-F238E27FC236}">
                <a16:creationId xmlns:a16="http://schemas.microsoft.com/office/drawing/2014/main" id="{BB53822B-D95F-1988-BC47-10F7C02565F5}"/>
              </a:ext>
            </a:extLst>
          </p:cNvPr>
          <p:cNvPicPr>
            <a:picLocks noChangeAspect="1"/>
          </p:cNvPicPr>
          <p:nvPr/>
        </p:nvPicPr>
        <p:blipFill>
          <a:blip r:embed="rId2"/>
          <a:stretch>
            <a:fillRect/>
          </a:stretch>
        </p:blipFill>
        <p:spPr>
          <a:xfrm>
            <a:off x="7227193" y="2415200"/>
            <a:ext cx="2543530" cy="581106"/>
          </a:xfrm>
          <a:prstGeom prst="rect">
            <a:avLst/>
          </a:prstGeom>
        </p:spPr>
      </p:pic>
      <p:pic>
        <p:nvPicPr>
          <p:cNvPr id="7" name="Picture 6">
            <a:extLst>
              <a:ext uri="{FF2B5EF4-FFF2-40B4-BE49-F238E27FC236}">
                <a16:creationId xmlns:a16="http://schemas.microsoft.com/office/drawing/2014/main" id="{F01278AB-170E-FCA6-34F7-AC8713943290}"/>
              </a:ext>
            </a:extLst>
          </p:cNvPr>
          <p:cNvPicPr>
            <a:picLocks noChangeAspect="1"/>
          </p:cNvPicPr>
          <p:nvPr/>
        </p:nvPicPr>
        <p:blipFill>
          <a:blip r:embed="rId3"/>
          <a:stretch>
            <a:fillRect/>
          </a:stretch>
        </p:blipFill>
        <p:spPr>
          <a:xfrm>
            <a:off x="5745849" y="3861695"/>
            <a:ext cx="5506218" cy="1000265"/>
          </a:xfrm>
          <a:prstGeom prst="rect">
            <a:avLst/>
          </a:prstGeom>
        </p:spPr>
      </p:pic>
    </p:spTree>
    <p:extLst>
      <p:ext uri="{BB962C8B-B14F-4D97-AF65-F5344CB8AC3E}">
        <p14:creationId xmlns:p14="http://schemas.microsoft.com/office/powerpoint/2010/main" val="3386170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0F598-B6EA-3E31-216F-9B8C5176A386}"/>
              </a:ext>
            </a:extLst>
          </p:cNvPr>
          <p:cNvSpPr>
            <a:spLocks noGrp="1"/>
          </p:cNvSpPr>
          <p:nvPr>
            <p:ph type="title"/>
          </p:nvPr>
        </p:nvSpPr>
        <p:spPr/>
        <p:txBody>
          <a:bodyPr/>
          <a:lstStyle/>
          <a:p>
            <a:r>
              <a:rPr lang="en-US" dirty="0"/>
              <a:t>Hello world setup</a:t>
            </a:r>
          </a:p>
        </p:txBody>
      </p:sp>
      <p:sp>
        <p:nvSpPr>
          <p:cNvPr id="3" name="Content Placeholder 2">
            <a:extLst>
              <a:ext uri="{FF2B5EF4-FFF2-40B4-BE49-F238E27FC236}">
                <a16:creationId xmlns:a16="http://schemas.microsoft.com/office/drawing/2014/main" id="{BA1E9386-808C-B321-E24B-9F298F29EB2B}"/>
              </a:ext>
            </a:extLst>
          </p:cNvPr>
          <p:cNvSpPr>
            <a:spLocks noGrp="1"/>
          </p:cNvSpPr>
          <p:nvPr>
            <p:ph idx="1"/>
          </p:nvPr>
        </p:nvSpPr>
        <p:spPr>
          <a:xfrm>
            <a:off x="581193" y="2180496"/>
            <a:ext cx="4881456" cy="3678303"/>
          </a:xfrm>
        </p:spPr>
        <p:txBody>
          <a:bodyPr/>
          <a:lstStyle/>
          <a:p>
            <a:r>
              <a:rPr lang="en-US" dirty="0"/>
              <a:t>Let’s create a new package ‘REST’ &amp; our first controller </a:t>
            </a:r>
          </a:p>
          <a:p>
            <a:r>
              <a:rPr lang="en-US" dirty="0"/>
              <a:t>Run the project with ‘</a:t>
            </a:r>
            <a:r>
              <a:rPr lang="en-US" dirty="0" err="1"/>
              <a:t>mvn</a:t>
            </a:r>
            <a:r>
              <a:rPr lang="en-US" dirty="0"/>
              <a:t> </a:t>
            </a:r>
            <a:r>
              <a:rPr lang="en-US" dirty="0" err="1"/>
              <a:t>spring-boot:run</a:t>
            </a:r>
            <a:r>
              <a:rPr lang="en-US" dirty="0"/>
              <a:t>’</a:t>
            </a:r>
          </a:p>
          <a:p>
            <a:pPr lvl="1"/>
            <a:r>
              <a:rPr lang="en-US" dirty="0"/>
              <a:t>‘CTRL + C’ to close the running application </a:t>
            </a:r>
          </a:p>
          <a:p>
            <a:r>
              <a:rPr lang="en-US" dirty="0"/>
              <a:t>Navigate to </a:t>
            </a:r>
            <a:r>
              <a:rPr lang="en-US" dirty="0">
                <a:hlinkClick r:id="rId2"/>
              </a:rPr>
              <a:t>http://localhost:8080</a:t>
            </a:r>
            <a:r>
              <a:rPr lang="en-US" dirty="0"/>
              <a:t> to see the output</a:t>
            </a:r>
          </a:p>
        </p:txBody>
      </p:sp>
      <p:pic>
        <p:nvPicPr>
          <p:cNvPr id="5" name="Picture 4">
            <a:extLst>
              <a:ext uri="{FF2B5EF4-FFF2-40B4-BE49-F238E27FC236}">
                <a16:creationId xmlns:a16="http://schemas.microsoft.com/office/drawing/2014/main" id="{D74AE664-A5C6-4531-2D45-C60DC1B6C51B}"/>
              </a:ext>
            </a:extLst>
          </p:cNvPr>
          <p:cNvPicPr>
            <a:picLocks noChangeAspect="1"/>
          </p:cNvPicPr>
          <p:nvPr/>
        </p:nvPicPr>
        <p:blipFill>
          <a:blip r:embed="rId3"/>
          <a:stretch>
            <a:fillRect/>
          </a:stretch>
        </p:blipFill>
        <p:spPr>
          <a:xfrm>
            <a:off x="6095999" y="4201188"/>
            <a:ext cx="4078818" cy="2285472"/>
          </a:xfrm>
          <a:prstGeom prst="rect">
            <a:avLst/>
          </a:prstGeom>
        </p:spPr>
      </p:pic>
      <p:pic>
        <p:nvPicPr>
          <p:cNvPr id="7" name="Picture 6">
            <a:extLst>
              <a:ext uri="{FF2B5EF4-FFF2-40B4-BE49-F238E27FC236}">
                <a16:creationId xmlns:a16="http://schemas.microsoft.com/office/drawing/2014/main" id="{3BFF6D09-D4FC-4ECE-E5CE-AE6868EDFB65}"/>
              </a:ext>
            </a:extLst>
          </p:cNvPr>
          <p:cNvPicPr>
            <a:picLocks noChangeAspect="1"/>
          </p:cNvPicPr>
          <p:nvPr/>
        </p:nvPicPr>
        <p:blipFill>
          <a:blip r:embed="rId4"/>
          <a:stretch>
            <a:fillRect/>
          </a:stretch>
        </p:blipFill>
        <p:spPr>
          <a:xfrm>
            <a:off x="7144669" y="2104855"/>
            <a:ext cx="1981477" cy="1914792"/>
          </a:xfrm>
          <a:prstGeom prst="rect">
            <a:avLst/>
          </a:prstGeom>
        </p:spPr>
      </p:pic>
    </p:spTree>
    <p:extLst>
      <p:ext uri="{BB962C8B-B14F-4D97-AF65-F5344CB8AC3E}">
        <p14:creationId xmlns:p14="http://schemas.microsoft.com/office/powerpoint/2010/main" val="1343121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53A52-9555-243D-2F5F-3FC9459ECD91}"/>
              </a:ext>
            </a:extLst>
          </p:cNvPr>
          <p:cNvSpPr>
            <a:spLocks noGrp="1"/>
          </p:cNvSpPr>
          <p:nvPr>
            <p:ph type="title"/>
          </p:nvPr>
        </p:nvSpPr>
        <p:spPr/>
        <p:txBody>
          <a:bodyPr/>
          <a:lstStyle/>
          <a:p>
            <a:r>
              <a:rPr lang="en-US" dirty="0"/>
              <a:t>Spring projects</a:t>
            </a:r>
          </a:p>
        </p:txBody>
      </p:sp>
      <p:sp>
        <p:nvSpPr>
          <p:cNvPr id="3" name="Content Placeholder 2">
            <a:extLst>
              <a:ext uri="{FF2B5EF4-FFF2-40B4-BE49-F238E27FC236}">
                <a16:creationId xmlns:a16="http://schemas.microsoft.com/office/drawing/2014/main" id="{4549D61E-A2D4-02EE-D0A0-3889FFD462F5}"/>
              </a:ext>
            </a:extLst>
          </p:cNvPr>
          <p:cNvSpPr>
            <a:spLocks noGrp="1"/>
          </p:cNvSpPr>
          <p:nvPr>
            <p:ph idx="1"/>
          </p:nvPr>
        </p:nvSpPr>
        <p:spPr>
          <a:xfrm>
            <a:off x="581192" y="1955032"/>
            <a:ext cx="11029615" cy="1285296"/>
          </a:xfrm>
        </p:spPr>
        <p:txBody>
          <a:bodyPr>
            <a:normAutofit/>
          </a:bodyPr>
          <a:lstStyle/>
          <a:p>
            <a:r>
              <a:rPr lang="en-US" dirty="0"/>
              <a:t>Spring Projects are additional Spring modules built on top of the Spring Framework </a:t>
            </a:r>
          </a:p>
          <a:p>
            <a:r>
              <a:rPr lang="en-US" dirty="0"/>
              <a:t>We can pick and choose only what we need </a:t>
            </a:r>
          </a:p>
          <a:p>
            <a:r>
              <a:rPr lang="en-US" dirty="0"/>
              <a:t>Find information &amp; docs at ‘spring.io/projects’</a:t>
            </a:r>
          </a:p>
        </p:txBody>
      </p:sp>
      <p:pic>
        <p:nvPicPr>
          <p:cNvPr id="7" name="Picture 6">
            <a:extLst>
              <a:ext uri="{FF2B5EF4-FFF2-40B4-BE49-F238E27FC236}">
                <a16:creationId xmlns:a16="http://schemas.microsoft.com/office/drawing/2014/main" id="{8F35F99B-C447-CA91-8664-B596F1E5EE64}"/>
              </a:ext>
            </a:extLst>
          </p:cNvPr>
          <p:cNvPicPr>
            <a:picLocks noChangeAspect="1"/>
          </p:cNvPicPr>
          <p:nvPr/>
        </p:nvPicPr>
        <p:blipFill>
          <a:blip r:embed="rId2"/>
          <a:stretch>
            <a:fillRect/>
          </a:stretch>
        </p:blipFill>
        <p:spPr>
          <a:xfrm>
            <a:off x="2726437" y="3479404"/>
            <a:ext cx="6739126" cy="3048745"/>
          </a:xfrm>
          <a:prstGeom prst="rect">
            <a:avLst/>
          </a:prstGeom>
        </p:spPr>
      </p:pic>
    </p:spTree>
    <p:extLst>
      <p:ext uri="{BB962C8B-B14F-4D97-AF65-F5344CB8AC3E}">
        <p14:creationId xmlns:p14="http://schemas.microsoft.com/office/powerpoint/2010/main" val="2268879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6486B-045B-B862-6A96-8BEDE577CC00}"/>
              </a:ext>
            </a:extLst>
          </p:cNvPr>
          <p:cNvSpPr>
            <a:spLocks noGrp="1"/>
          </p:cNvSpPr>
          <p:nvPr>
            <p:ph type="title"/>
          </p:nvPr>
        </p:nvSpPr>
        <p:spPr/>
        <p:txBody>
          <a:bodyPr/>
          <a:lstStyle/>
          <a:p>
            <a:r>
              <a:rPr lang="en-US" dirty="0"/>
              <a:t>Spring project structure - maven</a:t>
            </a:r>
          </a:p>
        </p:txBody>
      </p:sp>
      <p:sp>
        <p:nvSpPr>
          <p:cNvPr id="3" name="Content Placeholder 2">
            <a:extLst>
              <a:ext uri="{FF2B5EF4-FFF2-40B4-BE49-F238E27FC236}">
                <a16:creationId xmlns:a16="http://schemas.microsoft.com/office/drawing/2014/main" id="{4FC02662-465E-9895-B38C-82CBEBC01BD8}"/>
              </a:ext>
            </a:extLst>
          </p:cNvPr>
          <p:cNvSpPr>
            <a:spLocks noGrp="1"/>
          </p:cNvSpPr>
          <p:nvPr>
            <p:ph idx="1"/>
          </p:nvPr>
        </p:nvSpPr>
        <p:spPr>
          <a:xfrm>
            <a:off x="581191" y="4999512"/>
            <a:ext cx="11029616" cy="1543792"/>
          </a:xfrm>
        </p:spPr>
        <p:txBody>
          <a:bodyPr/>
          <a:lstStyle/>
          <a:p>
            <a:r>
              <a:rPr lang="en-US" dirty="0"/>
              <a:t>Uses the standard Maven project structure, with some additions…</a:t>
            </a:r>
          </a:p>
        </p:txBody>
      </p:sp>
      <p:pic>
        <p:nvPicPr>
          <p:cNvPr id="5" name="Picture 4">
            <a:extLst>
              <a:ext uri="{FF2B5EF4-FFF2-40B4-BE49-F238E27FC236}">
                <a16:creationId xmlns:a16="http://schemas.microsoft.com/office/drawing/2014/main" id="{FF65AAF4-834C-E5A4-2983-488FFC1D714E}"/>
              </a:ext>
            </a:extLst>
          </p:cNvPr>
          <p:cNvPicPr>
            <a:picLocks noChangeAspect="1"/>
          </p:cNvPicPr>
          <p:nvPr/>
        </p:nvPicPr>
        <p:blipFill>
          <a:blip r:embed="rId2"/>
          <a:stretch>
            <a:fillRect/>
          </a:stretch>
        </p:blipFill>
        <p:spPr>
          <a:xfrm>
            <a:off x="2318810" y="2004813"/>
            <a:ext cx="7554379" cy="2848373"/>
          </a:xfrm>
          <a:prstGeom prst="rect">
            <a:avLst/>
          </a:prstGeom>
        </p:spPr>
      </p:pic>
    </p:spTree>
    <p:extLst>
      <p:ext uri="{BB962C8B-B14F-4D97-AF65-F5344CB8AC3E}">
        <p14:creationId xmlns:p14="http://schemas.microsoft.com/office/powerpoint/2010/main" val="1455610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668A0-E758-0A9F-6E21-56356A0FCF5D}"/>
              </a:ext>
            </a:extLst>
          </p:cNvPr>
          <p:cNvSpPr>
            <a:spLocks noGrp="1"/>
          </p:cNvSpPr>
          <p:nvPr>
            <p:ph type="title"/>
          </p:nvPr>
        </p:nvSpPr>
        <p:spPr/>
        <p:txBody>
          <a:bodyPr/>
          <a:lstStyle/>
          <a:p>
            <a:r>
              <a:rPr lang="en-US" dirty="0"/>
              <a:t>Spring project structure - maven</a:t>
            </a:r>
          </a:p>
        </p:txBody>
      </p:sp>
      <p:sp>
        <p:nvSpPr>
          <p:cNvPr id="3" name="Content Placeholder 2">
            <a:extLst>
              <a:ext uri="{FF2B5EF4-FFF2-40B4-BE49-F238E27FC236}">
                <a16:creationId xmlns:a16="http://schemas.microsoft.com/office/drawing/2014/main" id="{B43150C2-6BB5-5417-43A9-AEAC722E920E}"/>
              </a:ext>
            </a:extLst>
          </p:cNvPr>
          <p:cNvSpPr>
            <a:spLocks noGrp="1"/>
          </p:cNvSpPr>
          <p:nvPr>
            <p:ph idx="1"/>
          </p:nvPr>
        </p:nvSpPr>
        <p:spPr>
          <a:xfrm>
            <a:off x="581193" y="2180496"/>
            <a:ext cx="6342122" cy="4350933"/>
          </a:xfrm>
        </p:spPr>
        <p:txBody>
          <a:bodyPr/>
          <a:lstStyle/>
          <a:p>
            <a:r>
              <a:rPr lang="en-US" dirty="0"/>
              <a:t>These two files are Maven wrapper files</a:t>
            </a:r>
          </a:p>
          <a:p>
            <a:r>
              <a:rPr lang="en-US" dirty="0"/>
              <a:t>These allows us to run maven commands against our project even if we don’t have the correct version of Maven installed (or if we don’t have it installed at all!)</a:t>
            </a:r>
          </a:p>
          <a:p>
            <a:r>
              <a:rPr lang="en-US" dirty="0"/>
              <a:t>For example, we could run: </a:t>
            </a:r>
          </a:p>
          <a:p>
            <a:pPr lvl="1"/>
            <a:r>
              <a:rPr lang="en-US" dirty="0" err="1"/>
              <a:t>mvnw</a:t>
            </a:r>
            <a:r>
              <a:rPr lang="en-US" dirty="0"/>
              <a:t> </a:t>
            </a:r>
            <a:r>
              <a:rPr lang="en-US" dirty="0" err="1"/>
              <a:t>spring-boot:run</a:t>
            </a:r>
            <a:r>
              <a:rPr lang="en-US" dirty="0"/>
              <a:t> </a:t>
            </a:r>
          </a:p>
          <a:p>
            <a:r>
              <a:rPr lang="en-US" dirty="0"/>
              <a:t>Since we likely have Maven installed, we can just run: </a:t>
            </a:r>
          </a:p>
          <a:p>
            <a:pPr lvl="1"/>
            <a:r>
              <a:rPr lang="en-US" dirty="0" err="1"/>
              <a:t>mvn</a:t>
            </a:r>
            <a:r>
              <a:rPr lang="en-US" dirty="0"/>
              <a:t> </a:t>
            </a:r>
            <a:r>
              <a:rPr lang="en-US" dirty="0" err="1"/>
              <a:t>spring-boot:run</a:t>
            </a:r>
            <a:endParaRPr lang="en-US" dirty="0"/>
          </a:p>
          <a:p>
            <a:r>
              <a:rPr lang="en-US" dirty="0"/>
              <a:t>One is for windows, the other is for </a:t>
            </a:r>
            <a:r>
              <a:rPr lang="en-US" dirty="0" err="1"/>
              <a:t>linux</a:t>
            </a:r>
            <a:r>
              <a:rPr lang="en-US" dirty="0"/>
              <a:t>/mac systems</a:t>
            </a:r>
          </a:p>
        </p:txBody>
      </p:sp>
      <p:pic>
        <p:nvPicPr>
          <p:cNvPr id="5" name="Picture 4">
            <a:extLst>
              <a:ext uri="{FF2B5EF4-FFF2-40B4-BE49-F238E27FC236}">
                <a16:creationId xmlns:a16="http://schemas.microsoft.com/office/drawing/2014/main" id="{7FCA8801-D2F1-73C6-1FF0-B13710550A24}"/>
              </a:ext>
            </a:extLst>
          </p:cNvPr>
          <p:cNvPicPr>
            <a:picLocks noChangeAspect="1"/>
          </p:cNvPicPr>
          <p:nvPr/>
        </p:nvPicPr>
        <p:blipFill>
          <a:blip r:embed="rId2"/>
          <a:stretch>
            <a:fillRect/>
          </a:stretch>
        </p:blipFill>
        <p:spPr>
          <a:xfrm>
            <a:off x="7567728" y="3253531"/>
            <a:ext cx="3263263" cy="1488505"/>
          </a:xfrm>
          <a:prstGeom prst="rect">
            <a:avLst/>
          </a:prstGeom>
        </p:spPr>
      </p:pic>
    </p:spTree>
    <p:extLst>
      <p:ext uri="{BB962C8B-B14F-4D97-AF65-F5344CB8AC3E}">
        <p14:creationId xmlns:p14="http://schemas.microsoft.com/office/powerpoint/2010/main" val="2883639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10A6-D648-EA7F-9ED7-2DFCA767E06E}"/>
              </a:ext>
            </a:extLst>
          </p:cNvPr>
          <p:cNvSpPr>
            <a:spLocks noGrp="1"/>
          </p:cNvSpPr>
          <p:nvPr>
            <p:ph type="title"/>
          </p:nvPr>
        </p:nvSpPr>
        <p:spPr>
          <a:xfrm>
            <a:off x="581192" y="676366"/>
            <a:ext cx="11029616" cy="1013800"/>
          </a:xfrm>
        </p:spPr>
        <p:txBody>
          <a:bodyPr/>
          <a:lstStyle/>
          <a:p>
            <a:r>
              <a:rPr lang="en-US" dirty="0"/>
              <a:t>Spring project structure - Pom file</a:t>
            </a:r>
          </a:p>
        </p:txBody>
      </p:sp>
      <p:sp>
        <p:nvSpPr>
          <p:cNvPr id="3" name="Content Placeholder 2">
            <a:extLst>
              <a:ext uri="{FF2B5EF4-FFF2-40B4-BE49-F238E27FC236}">
                <a16:creationId xmlns:a16="http://schemas.microsoft.com/office/drawing/2014/main" id="{8E353D8D-CAD6-DE4F-004B-22A0CF8C78D9}"/>
              </a:ext>
            </a:extLst>
          </p:cNvPr>
          <p:cNvSpPr>
            <a:spLocks noGrp="1"/>
          </p:cNvSpPr>
          <p:nvPr>
            <p:ph idx="1"/>
          </p:nvPr>
        </p:nvSpPr>
        <p:spPr>
          <a:xfrm>
            <a:off x="581192" y="2180496"/>
            <a:ext cx="4560823" cy="3678303"/>
          </a:xfrm>
        </p:spPr>
        <p:txBody>
          <a:bodyPr/>
          <a:lstStyle/>
          <a:p>
            <a:r>
              <a:rPr lang="en-US" dirty="0"/>
              <a:t>The starter dependencies are bundles of other dependencies</a:t>
            </a:r>
          </a:p>
          <a:p>
            <a:r>
              <a:rPr lang="en-US" dirty="0"/>
              <a:t>This helps us get started quickly with a lower dependency footprint in the pom file</a:t>
            </a:r>
          </a:p>
          <a:p>
            <a:r>
              <a:rPr lang="en-US" dirty="0"/>
              <a:t>The provided plugin is what we are using when we run our app or compile it to JAR/WAR</a:t>
            </a:r>
          </a:p>
        </p:txBody>
      </p:sp>
      <p:pic>
        <p:nvPicPr>
          <p:cNvPr id="5" name="Picture 4">
            <a:extLst>
              <a:ext uri="{FF2B5EF4-FFF2-40B4-BE49-F238E27FC236}">
                <a16:creationId xmlns:a16="http://schemas.microsoft.com/office/drawing/2014/main" id="{D8FA55BB-1BF7-B836-7882-695FB9A65320}"/>
              </a:ext>
            </a:extLst>
          </p:cNvPr>
          <p:cNvPicPr>
            <a:picLocks noChangeAspect="1"/>
          </p:cNvPicPr>
          <p:nvPr/>
        </p:nvPicPr>
        <p:blipFill>
          <a:blip r:embed="rId2"/>
          <a:stretch>
            <a:fillRect/>
          </a:stretch>
        </p:blipFill>
        <p:spPr>
          <a:xfrm>
            <a:off x="5701773" y="2333472"/>
            <a:ext cx="5182323" cy="2191056"/>
          </a:xfrm>
          <a:prstGeom prst="rect">
            <a:avLst/>
          </a:prstGeom>
        </p:spPr>
      </p:pic>
      <p:pic>
        <p:nvPicPr>
          <p:cNvPr id="7" name="Picture 6">
            <a:extLst>
              <a:ext uri="{FF2B5EF4-FFF2-40B4-BE49-F238E27FC236}">
                <a16:creationId xmlns:a16="http://schemas.microsoft.com/office/drawing/2014/main" id="{79053214-C4B6-846A-61DE-D459E0E8790F}"/>
              </a:ext>
            </a:extLst>
          </p:cNvPr>
          <p:cNvPicPr>
            <a:picLocks noChangeAspect="1"/>
          </p:cNvPicPr>
          <p:nvPr/>
        </p:nvPicPr>
        <p:blipFill>
          <a:blip r:embed="rId3"/>
          <a:stretch>
            <a:fillRect/>
          </a:stretch>
        </p:blipFill>
        <p:spPr>
          <a:xfrm>
            <a:off x="5954220" y="4797340"/>
            <a:ext cx="4677428" cy="1514686"/>
          </a:xfrm>
          <a:prstGeom prst="rect">
            <a:avLst/>
          </a:prstGeom>
        </p:spPr>
      </p:pic>
    </p:spTree>
    <p:extLst>
      <p:ext uri="{BB962C8B-B14F-4D97-AF65-F5344CB8AC3E}">
        <p14:creationId xmlns:p14="http://schemas.microsoft.com/office/powerpoint/2010/main" val="787874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5BBE6-9566-8516-58CC-602188BF1A51}"/>
              </a:ext>
            </a:extLst>
          </p:cNvPr>
          <p:cNvSpPr>
            <a:spLocks noGrp="1"/>
          </p:cNvSpPr>
          <p:nvPr>
            <p:ph type="title"/>
          </p:nvPr>
        </p:nvSpPr>
        <p:spPr/>
        <p:txBody>
          <a:bodyPr/>
          <a:lstStyle/>
          <a:p>
            <a:r>
              <a:rPr lang="en-US" dirty="0"/>
              <a:t>Spring project structure - </a:t>
            </a:r>
            <a:r>
              <a:rPr lang="en-US" dirty="0" err="1"/>
              <a:t>Application.properties</a:t>
            </a:r>
            <a:endParaRPr lang="en-US" dirty="0"/>
          </a:p>
        </p:txBody>
      </p:sp>
      <p:pic>
        <p:nvPicPr>
          <p:cNvPr id="5" name="Picture 4">
            <a:extLst>
              <a:ext uri="{FF2B5EF4-FFF2-40B4-BE49-F238E27FC236}">
                <a16:creationId xmlns:a16="http://schemas.microsoft.com/office/drawing/2014/main" id="{F493B5EE-E646-BF9E-3CF4-24C89D05B58D}"/>
              </a:ext>
            </a:extLst>
          </p:cNvPr>
          <p:cNvPicPr>
            <a:picLocks noChangeAspect="1"/>
          </p:cNvPicPr>
          <p:nvPr/>
        </p:nvPicPr>
        <p:blipFill>
          <a:blip r:embed="rId2"/>
          <a:stretch>
            <a:fillRect/>
          </a:stretch>
        </p:blipFill>
        <p:spPr>
          <a:xfrm>
            <a:off x="1252255" y="2082876"/>
            <a:ext cx="9687490" cy="3385083"/>
          </a:xfrm>
          <a:prstGeom prst="rect">
            <a:avLst/>
          </a:prstGeom>
        </p:spPr>
      </p:pic>
      <p:sp>
        <p:nvSpPr>
          <p:cNvPr id="8" name="TextBox 7">
            <a:extLst>
              <a:ext uri="{FF2B5EF4-FFF2-40B4-BE49-F238E27FC236}">
                <a16:creationId xmlns:a16="http://schemas.microsoft.com/office/drawing/2014/main" id="{0072287B-4D75-5E32-AF17-49B1015D5B13}"/>
              </a:ext>
            </a:extLst>
          </p:cNvPr>
          <p:cNvSpPr txBox="1"/>
          <p:nvPr/>
        </p:nvSpPr>
        <p:spPr>
          <a:xfrm>
            <a:off x="2324543" y="5742710"/>
            <a:ext cx="7542914" cy="646331"/>
          </a:xfrm>
          <a:prstGeom prst="rect">
            <a:avLst/>
          </a:prstGeom>
          <a:noFill/>
        </p:spPr>
        <p:txBody>
          <a:bodyPr wrap="square">
            <a:spAutoFit/>
          </a:bodyPr>
          <a:lstStyle/>
          <a:p>
            <a:pPr marL="285750" indent="-285750">
              <a:buClr>
                <a:schemeClr val="accent2"/>
              </a:buClr>
              <a:buFont typeface="Wingdings" panose="05000000000000000000" pitchFamily="2" charset="2"/>
              <a:buChar char="§"/>
            </a:pPr>
            <a:r>
              <a:rPr lang="en-US" dirty="0"/>
              <a:t>There are over 1000 properties! You can find the docs for them here:</a:t>
            </a:r>
          </a:p>
          <a:p>
            <a:pPr marL="285750" indent="-285750">
              <a:buClr>
                <a:schemeClr val="accent2"/>
              </a:buClr>
              <a:buFont typeface="Wingdings" panose="05000000000000000000" pitchFamily="2" charset="2"/>
              <a:buChar char="§"/>
            </a:pPr>
            <a:r>
              <a:rPr lang="en-US" dirty="0"/>
              <a:t>https://docs.spring.io/spring-boot/appendix/application-properties/index.html</a:t>
            </a:r>
          </a:p>
        </p:txBody>
      </p:sp>
    </p:spTree>
    <p:extLst>
      <p:ext uri="{BB962C8B-B14F-4D97-AF65-F5344CB8AC3E}">
        <p14:creationId xmlns:p14="http://schemas.microsoft.com/office/powerpoint/2010/main" val="2253862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C3553-7B2C-A271-0978-7E85EDD4B24B}"/>
              </a:ext>
            </a:extLst>
          </p:cNvPr>
          <p:cNvSpPr>
            <a:spLocks noGrp="1"/>
          </p:cNvSpPr>
          <p:nvPr>
            <p:ph type="title"/>
          </p:nvPr>
        </p:nvSpPr>
        <p:spPr/>
        <p:txBody>
          <a:bodyPr/>
          <a:lstStyle/>
          <a:p>
            <a:r>
              <a:rPr lang="en-US" dirty="0"/>
              <a:t>Spring project structure - using custom properties</a:t>
            </a:r>
          </a:p>
        </p:txBody>
      </p:sp>
      <p:pic>
        <p:nvPicPr>
          <p:cNvPr id="5" name="Content Placeholder 4">
            <a:extLst>
              <a:ext uri="{FF2B5EF4-FFF2-40B4-BE49-F238E27FC236}">
                <a16:creationId xmlns:a16="http://schemas.microsoft.com/office/drawing/2014/main" id="{FE66761F-5AA0-B81D-7836-3A2722DB04D2}"/>
              </a:ext>
            </a:extLst>
          </p:cNvPr>
          <p:cNvPicPr>
            <a:picLocks noGrp="1" noChangeAspect="1"/>
          </p:cNvPicPr>
          <p:nvPr>
            <p:ph idx="1"/>
          </p:nvPr>
        </p:nvPicPr>
        <p:blipFill>
          <a:blip r:embed="rId2"/>
          <a:stretch>
            <a:fillRect/>
          </a:stretch>
        </p:blipFill>
        <p:spPr>
          <a:xfrm>
            <a:off x="1002149" y="2398816"/>
            <a:ext cx="10187702" cy="3478060"/>
          </a:xfrm>
          <a:prstGeom prst="rect">
            <a:avLst/>
          </a:prstGeom>
        </p:spPr>
      </p:pic>
    </p:spTree>
    <p:extLst>
      <p:ext uri="{BB962C8B-B14F-4D97-AF65-F5344CB8AC3E}">
        <p14:creationId xmlns:p14="http://schemas.microsoft.com/office/powerpoint/2010/main" val="3973369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4C886-B45B-2B26-6FBD-8AC141D5EB50}"/>
              </a:ext>
            </a:extLst>
          </p:cNvPr>
          <p:cNvSpPr>
            <a:spLocks noGrp="1"/>
          </p:cNvSpPr>
          <p:nvPr>
            <p:ph type="title"/>
          </p:nvPr>
        </p:nvSpPr>
        <p:spPr/>
        <p:txBody>
          <a:bodyPr/>
          <a:lstStyle/>
          <a:p>
            <a:r>
              <a:rPr lang="en-US" dirty="0"/>
              <a:t>Spring project structure - Static content</a:t>
            </a:r>
          </a:p>
        </p:txBody>
      </p:sp>
      <p:pic>
        <p:nvPicPr>
          <p:cNvPr id="5" name="Picture 4">
            <a:extLst>
              <a:ext uri="{FF2B5EF4-FFF2-40B4-BE49-F238E27FC236}">
                <a16:creationId xmlns:a16="http://schemas.microsoft.com/office/drawing/2014/main" id="{7FB5A0DA-5609-3567-7E47-29F7EAFDF41E}"/>
              </a:ext>
            </a:extLst>
          </p:cNvPr>
          <p:cNvPicPr>
            <a:picLocks noChangeAspect="1"/>
          </p:cNvPicPr>
          <p:nvPr/>
        </p:nvPicPr>
        <p:blipFill>
          <a:blip r:embed="rId2"/>
          <a:stretch>
            <a:fillRect/>
          </a:stretch>
        </p:blipFill>
        <p:spPr>
          <a:xfrm>
            <a:off x="1124292" y="2375066"/>
            <a:ext cx="9943415" cy="3613490"/>
          </a:xfrm>
          <a:prstGeom prst="rect">
            <a:avLst/>
          </a:prstGeom>
        </p:spPr>
      </p:pic>
    </p:spTree>
    <p:extLst>
      <p:ext uri="{BB962C8B-B14F-4D97-AF65-F5344CB8AC3E}">
        <p14:creationId xmlns:p14="http://schemas.microsoft.com/office/powerpoint/2010/main" val="1323965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B4482-B6A8-59EF-5B4F-9A744195E626}"/>
              </a:ext>
            </a:extLst>
          </p:cNvPr>
          <p:cNvSpPr>
            <a:spLocks noGrp="1"/>
          </p:cNvSpPr>
          <p:nvPr>
            <p:ph type="title"/>
          </p:nvPr>
        </p:nvSpPr>
        <p:spPr/>
        <p:txBody>
          <a:bodyPr/>
          <a:lstStyle/>
          <a:p>
            <a:r>
              <a:rPr lang="en-US" dirty="0"/>
              <a:t>Spring project structure - webapp standard location</a:t>
            </a:r>
          </a:p>
        </p:txBody>
      </p:sp>
      <p:pic>
        <p:nvPicPr>
          <p:cNvPr id="5" name="Content Placeholder 4">
            <a:extLst>
              <a:ext uri="{FF2B5EF4-FFF2-40B4-BE49-F238E27FC236}">
                <a16:creationId xmlns:a16="http://schemas.microsoft.com/office/drawing/2014/main" id="{1701C981-9CC9-619F-B430-0C81BF874214}"/>
              </a:ext>
            </a:extLst>
          </p:cNvPr>
          <p:cNvPicPr>
            <a:picLocks noGrp="1" noChangeAspect="1"/>
          </p:cNvPicPr>
          <p:nvPr>
            <p:ph idx="1"/>
          </p:nvPr>
        </p:nvPicPr>
        <p:blipFill>
          <a:blip r:embed="rId2"/>
          <a:stretch>
            <a:fillRect/>
          </a:stretch>
        </p:blipFill>
        <p:spPr>
          <a:xfrm>
            <a:off x="1268979" y="3401609"/>
            <a:ext cx="9654042" cy="1399550"/>
          </a:xfrm>
          <a:prstGeom prst="rect">
            <a:avLst/>
          </a:prstGeom>
        </p:spPr>
      </p:pic>
    </p:spTree>
    <p:extLst>
      <p:ext uri="{BB962C8B-B14F-4D97-AF65-F5344CB8AC3E}">
        <p14:creationId xmlns:p14="http://schemas.microsoft.com/office/powerpoint/2010/main" val="2243462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0ADA-9283-88EA-04D4-97C4432FF9DE}"/>
              </a:ext>
            </a:extLst>
          </p:cNvPr>
          <p:cNvSpPr>
            <a:spLocks noGrp="1"/>
          </p:cNvSpPr>
          <p:nvPr>
            <p:ph type="title"/>
          </p:nvPr>
        </p:nvSpPr>
        <p:spPr/>
        <p:txBody>
          <a:bodyPr/>
          <a:lstStyle/>
          <a:p>
            <a:r>
              <a:rPr lang="en-US" dirty="0"/>
              <a:t>Spring project structure - Template engines</a:t>
            </a:r>
          </a:p>
        </p:txBody>
      </p:sp>
      <p:sp>
        <p:nvSpPr>
          <p:cNvPr id="6" name="TextBox 5">
            <a:extLst>
              <a:ext uri="{FF2B5EF4-FFF2-40B4-BE49-F238E27FC236}">
                <a16:creationId xmlns:a16="http://schemas.microsoft.com/office/drawing/2014/main" id="{C8DA761A-A257-82CD-201A-0026E1E58C29}"/>
              </a:ext>
            </a:extLst>
          </p:cNvPr>
          <p:cNvSpPr txBox="1"/>
          <p:nvPr/>
        </p:nvSpPr>
        <p:spPr>
          <a:xfrm>
            <a:off x="2065697" y="2142050"/>
            <a:ext cx="8060605" cy="369332"/>
          </a:xfrm>
          <a:prstGeom prst="rect">
            <a:avLst/>
          </a:prstGeom>
          <a:noFill/>
        </p:spPr>
        <p:txBody>
          <a:bodyPr wrap="none" rtlCol="0">
            <a:spAutoFit/>
          </a:bodyPr>
          <a:lstStyle/>
          <a:p>
            <a:r>
              <a:rPr lang="en-US" dirty="0"/>
              <a:t>Template engines return views (markup) from server-side, instead of JSON responses</a:t>
            </a:r>
          </a:p>
        </p:txBody>
      </p:sp>
      <p:pic>
        <p:nvPicPr>
          <p:cNvPr id="10" name="Picture 9">
            <a:extLst>
              <a:ext uri="{FF2B5EF4-FFF2-40B4-BE49-F238E27FC236}">
                <a16:creationId xmlns:a16="http://schemas.microsoft.com/office/drawing/2014/main" id="{C861AE1D-008D-769F-557E-D7B694E7616E}"/>
              </a:ext>
            </a:extLst>
          </p:cNvPr>
          <p:cNvPicPr>
            <a:picLocks noChangeAspect="1"/>
          </p:cNvPicPr>
          <p:nvPr/>
        </p:nvPicPr>
        <p:blipFill>
          <a:blip r:embed="rId2"/>
          <a:stretch>
            <a:fillRect/>
          </a:stretch>
        </p:blipFill>
        <p:spPr>
          <a:xfrm>
            <a:off x="1486393" y="3029405"/>
            <a:ext cx="9219214" cy="2715560"/>
          </a:xfrm>
          <a:prstGeom prst="rect">
            <a:avLst/>
          </a:prstGeom>
        </p:spPr>
      </p:pic>
    </p:spTree>
    <p:extLst>
      <p:ext uri="{BB962C8B-B14F-4D97-AF65-F5344CB8AC3E}">
        <p14:creationId xmlns:p14="http://schemas.microsoft.com/office/powerpoint/2010/main" val="3166396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EF8AB-DB6D-56C3-EFAF-8EDC7BED2F4D}"/>
              </a:ext>
            </a:extLst>
          </p:cNvPr>
          <p:cNvSpPr>
            <a:spLocks noGrp="1"/>
          </p:cNvSpPr>
          <p:nvPr>
            <p:ph type="title"/>
          </p:nvPr>
        </p:nvSpPr>
        <p:spPr/>
        <p:txBody>
          <a:bodyPr/>
          <a:lstStyle/>
          <a:p>
            <a:r>
              <a:rPr lang="en-US" dirty="0"/>
              <a:t>Spring project structure – unit tests</a:t>
            </a:r>
          </a:p>
        </p:txBody>
      </p:sp>
      <p:pic>
        <p:nvPicPr>
          <p:cNvPr id="5" name="Content Placeholder 4">
            <a:extLst>
              <a:ext uri="{FF2B5EF4-FFF2-40B4-BE49-F238E27FC236}">
                <a16:creationId xmlns:a16="http://schemas.microsoft.com/office/drawing/2014/main" id="{5A263CAB-C058-B806-5C1F-0C71302F6467}"/>
              </a:ext>
            </a:extLst>
          </p:cNvPr>
          <p:cNvPicPr>
            <a:picLocks noGrp="1" noChangeAspect="1"/>
          </p:cNvPicPr>
          <p:nvPr>
            <p:ph idx="1"/>
          </p:nvPr>
        </p:nvPicPr>
        <p:blipFill>
          <a:blip r:embed="rId2"/>
          <a:stretch>
            <a:fillRect/>
          </a:stretch>
        </p:blipFill>
        <p:spPr>
          <a:xfrm>
            <a:off x="3530714" y="2432263"/>
            <a:ext cx="5130571" cy="3364614"/>
          </a:xfrm>
          <a:prstGeom prst="rect">
            <a:avLst/>
          </a:prstGeom>
        </p:spPr>
      </p:pic>
    </p:spTree>
    <p:extLst>
      <p:ext uri="{BB962C8B-B14F-4D97-AF65-F5344CB8AC3E}">
        <p14:creationId xmlns:p14="http://schemas.microsoft.com/office/powerpoint/2010/main" val="2892089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3A7A3-5F88-6AD7-C5C0-F28381073B41}"/>
              </a:ext>
            </a:extLst>
          </p:cNvPr>
          <p:cNvSpPr>
            <a:spLocks noGrp="1"/>
          </p:cNvSpPr>
          <p:nvPr>
            <p:ph type="title"/>
          </p:nvPr>
        </p:nvSpPr>
        <p:spPr/>
        <p:txBody>
          <a:bodyPr/>
          <a:lstStyle/>
          <a:p>
            <a:r>
              <a:rPr lang="en-US" dirty="0"/>
              <a:t>Spring boot starters - review</a:t>
            </a:r>
          </a:p>
        </p:txBody>
      </p:sp>
      <p:pic>
        <p:nvPicPr>
          <p:cNvPr id="5" name="Content Placeholder 4">
            <a:extLst>
              <a:ext uri="{FF2B5EF4-FFF2-40B4-BE49-F238E27FC236}">
                <a16:creationId xmlns:a16="http://schemas.microsoft.com/office/drawing/2014/main" id="{9A8AF3E0-351C-A7F1-C919-339493C20398}"/>
              </a:ext>
            </a:extLst>
          </p:cNvPr>
          <p:cNvPicPr>
            <a:picLocks noGrp="1" noChangeAspect="1"/>
          </p:cNvPicPr>
          <p:nvPr>
            <p:ph idx="1"/>
          </p:nvPr>
        </p:nvPicPr>
        <p:blipFill>
          <a:blip r:embed="rId2"/>
          <a:stretch>
            <a:fillRect/>
          </a:stretch>
        </p:blipFill>
        <p:spPr>
          <a:xfrm>
            <a:off x="1151029" y="2280062"/>
            <a:ext cx="9889941" cy="3592045"/>
          </a:xfrm>
          <a:prstGeom prst="rect">
            <a:avLst/>
          </a:prstGeom>
        </p:spPr>
      </p:pic>
    </p:spTree>
    <p:extLst>
      <p:ext uri="{BB962C8B-B14F-4D97-AF65-F5344CB8AC3E}">
        <p14:creationId xmlns:p14="http://schemas.microsoft.com/office/powerpoint/2010/main" val="642153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A416A-8BA0-488F-94C4-F88D7AE18102}"/>
              </a:ext>
            </a:extLst>
          </p:cNvPr>
          <p:cNvSpPr>
            <a:spLocks noGrp="1"/>
          </p:cNvSpPr>
          <p:nvPr>
            <p:ph type="title"/>
          </p:nvPr>
        </p:nvSpPr>
        <p:spPr/>
        <p:txBody>
          <a:bodyPr/>
          <a:lstStyle/>
          <a:p>
            <a:r>
              <a:rPr lang="en-US" dirty="0"/>
              <a:t>Spring boot starters – review – common starters</a:t>
            </a:r>
          </a:p>
        </p:txBody>
      </p:sp>
      <p:sp>
        <p:nvSpPr>
          <p:cNvPr id="3" name="Content Placeholder 2">
            <a:extLst>
              <a:ext uri="{FF2B5EF4-FFF2-40B4-BE49-F238E27FC236}">
                <a16:creationId xmlns:a16="http://schemas.microsoft.com/office/drawing/2014/main" id="{D77E8A22-1866-2D24-708F-967DD9F33B6F}"/>
              </a:ext>
            </a:extLst>
          </p:cNvPr>
          <p:cNvSpPr>
            <a:spLocks noGrp="1"/>
          </p:cNvSpPr>
          <p:nvPr>
            <p:ph idx="1"/>
          </p:nvPr>
        </p:nvSpPr>
        <p:spPr>
          <a:xfrm>
            <a:off x="581192" y="1967024"/>
            <a:ext cx="11029615" cy="4572000"/>
          </a:xfrm>
        </p:spPr>
        <p:txBody>
          <a:bodyPr/>
          <a:lstStyle/>
          <a:p>
            <a:pPr lvl="0"/>
            <a:r>
              <a:rPr lang="en-US" dirty="0">
                <a:solidFill>
                  <a:schemeClr val="accent2"/>
                </a:solidFill>
              </a:rPr>
              <a:t>spring-boot-starter-web: </a:t>
            </a:r>
            <a:r>
              <a:rPr lang="en-US" dirty="0"/>
              <a:t>Includes everything needed to build a web application, including an embedded Tomcat or Jetty server, Spring MVC, and other web-related dependencies.</a:t>
            </a:r>
          </a:p>
          <a:p>
            <a:pPr lvl="0"/>
            <a:r>
              <a:rPr lang="en-US" dirty="0">
                <a:solidFill>
                  <a:schemeClr val="accent2"/>
                </a:solidFill>
              </a:rPr>
              <a:t>spring-boot-starter-data-</a:t>
            </a:r>
            <a:r>
              <a:rPr lang="en-US" dirty="0" err="1">
                <a:solidFill>
                  <a:schemeClr val="accent2"/>
                </a:solidFill>
              </a:rPr>
              <a:t>jpa</a:t>
            </a:r>
            <a:r>
              <a:rPr lang="en-US" dirty="0">
                <a:solidFill>
                  <a:schemeClr val="accent2"/>
                </a:solidFill>
              </a:rPr>
              <a:t>: </a:t>
            </a:r>
            <a:r>
              <a:rPr lang="en-US" dirty="0"/>
              <a:t>Provides support for using Spring Data JPA for database access, including Hibernate as the default JPA implementation.</a:t>
            </a:r>
          </a:p>
          <a:p>
            <a:pPr lvl="0"/>
            <a:r>
              <a:rPr lang="en-US" dirty="0">
                <a:solidFill>
                  <a:schemeClr val="accent2"/>
                </a:solidFill>
              </a:rPr>
              <a:t>spring-boot-starter-security: </a:t>
            </a:r>
            <a:r>
              <a:rPr lang="en-US" dirty="0"/>
              <a:t>Offers Spring Security configurations for securing applications, including authentication, authorization, and common security features.</a:t>
            </a:r>
          </a:p>
          <a:p>
            <a:pPr lvl="0"/>
            <a:r>
              <a:rPr lang="en-US" dirty="0">
                <a:solidFill>
                  <a:schemeClr val="accent2"/>
                </a:solidFill>
              </a:rPr>
              <a:t>spring-boot-starter-test: </a:t>
            </a:r>
            <a:r>
              <a:rPr lang="en-US" dirty="0"/>
              <a:t>Includes dependencies and configurations for writing tests in a Spring Boot application, such as JUnit, Mockito, and Spring Test.</a:t>
            </a:r>
          </a:p>
          <a:p>
            <a:r>
              <a:rPr lang="en-US" dirty="0"/>
              <a:t>There are 70+ starters! You can find them on the docs! </a:t>
            </a:r>
          </a:p>
          <a:p>
            <a:r>
              <a:rPr lang="en-US" dirty="0"/>
              <a:t>https://docs.spring.io/spring-boot/reference/using/build-systems.html#using.build-systems.starters</a:t>
            </a:r>
          </a:p>
        </p:txBody>
      </p:sp>
    </p:spTree>
    <p:extLst>
      <p:ext uri="{BB962C8B-B14F-4D97-AF65-F5344CB8AC3E}">
        <p14:creationId xmlns:p14="http://schemas.microsoft.com/office/powerpoint/2010/main" val="3608094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6171D-5732-4A5C-35BF-4D13E36F011C}"/>
              </a:ext>
            </a:extLst>
          </p:cNvPr>
          <p:cNvSpPr>
            <a:spLocks noGrp="1"/>
          </p:cNvSpPr>
          <p:nvPr>
            <p:ph type="title"/>
          </p:nvPr>
        </p:nvSpPr>
        <p:spPr/>
        <p:txBody>
          <a:bodyPr/>
          <a:lstStyle/>
          <a:p>
            <a:r>
              <a:rPr lang="en-US" dirty="0"/>
              <a:t>View starter dependencies – vs code</a:t>
            </a:r>
          </a:p>
        </p:txBody>
      </p:sp>
      <p:sp>
        <p:nvSpPr>
          <p:cNvPr id="3" name="Content Placeholder 2">
            <a:extLst>
              <a:ext uri="{FF2B5EF4-FFF2-40B4-BE49-F238E27FC236}">
                <a16:creationId xmlns:a16="http://schemas.microsoft.com/office/drawing/2014/main" id="{B71A2433-0E75-18FE-7764-6180656ABA5F}"/>
              </a:ext>
            </a:extLst>
          </p:cNvPr>
          <p:cNvSpPr>
            <a:spLocks noGrp="1"/>
          </p:cNvSpPr>
          <p:nvPr>
            <p:ph idx="1"/>
          </p:nvPr>
        </p:nvSpPr>
        <p:spPr>
          <a:xfrm>
            <a:off x="581192" y="2180496"/>
            <a:ext cx="5032799" cy="3678303"/>
          </a:xfrm>
        </p:spPr>
        <p:txBody>
          <a:bodyPr/>
          <a:lstStyle/>
          <a:p>
            <a:r>
              <a:rPr lang="en-US" dirty="0"/>
              <a:t>With the ‘Extension pack for Java’ extension, you get access to the ‘Maven for Java’ extension</a:t>
            </a:r>
          </a:p>
          <a:p>
            <a:r>
              <a:rPr lang="en-US" dirty="0"/>
              <a:t>With this you can view Maven dependencies in the bottom left of the VS Code UI </a:t>
            </a:r>
          </a:p>
        </p:txBody>
      </p:sp>
      <p:pic>
        <p:nvPicPr>
          <p:cNvPr id="5" name="Picture 4">
            <a:extLst>
              <a:ext uri="{FF2B5EF4-FFF2-40B4-BE49-F238E27FC236}">
                <a16:creationId xmlns:a16="http://schemas.microsoft.com/office/drawing/2014/main" id="{7DA4E91F-4A36-2E43-A86D-348B49BEBCDD}"/>
              </a:ext>
            </a:extLst>
          </p:cNvPr>
          <p:cNvPicPr>
            <a:picLocks noChangeAspect="1"/>
          </p:cNvPicPr>
          <p:nvPr/>
        </p:nvPicPr>
        <p:blipFill>
          <a:blip r:embed="rId2"/>
          <a:stretch>
            <a:fillRect/>
          </a:stretch>
        </p:blipFill>
        <p:spPr>
          <a:xfrm>
            <a:off x="5988861" y="2306457"/>
            <a:ext cx="5296639" cy="3648584"/>
          </a:xfrm>
          <a:prstGeom prst="rect">
            <a:avLst/>
          </a:prstGeom>
        </p:spPr>
      </p:pic>
    </p:spTree>
    <p:extLst>
      <p:ext uri="{BB962C8B-B14F-4D97-AF65-F5344CB8AC3E}">
        <p14:creationId xmlns:p14="http://schemas.microsoft.com/office/powerpoint/2010/main" val="2115306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87EB2-1152-6FDB-0C30-2780DF0379A6}"/>
              </a:ext>
            </a:extLst>
          </p:cNvPr>
          <p:cNvSpPr>
            <a:spLocks noGrp="1"/>
          </p:cNvSpPr>
          <p:nvPr>
            <p:ph type="title"/>
          </p:nvPr>
        </p:nvSpPr>
        <p:spPr/>
        <p:txBody>
          <a:bodyPr/>
          <a:lstStyle/>
          <a:p>
            <a:r>
              <a:rPr lang="en-US" dirty="0"/>
              <a:t>Spring boot starter parent</a:t>
            </a:r>
          </a:p>
        </p:txBody>
      </p:sp>
      <p:sp>
        <p:nvSpPr>
          <p:cNvPr id="3" name="Content Placeholder 2">
            <a:extLst>
              <a:ext uri="{FF2B5EF4-FFF2-40B4-BE49-F238E27FC236}">
                <a16:creationId xmlns:a16="http://schemas.microsoft.com/office/drawing/2014/main" id="{561C708C-2749-0CE0-DFB2-7A6E7339CB38}"/>
              </a:ext>
            </a:extLst>
          </p:cNvPr>
          <p:cNvSpPr>
            <a:spLocks noGrp="1"/>
          </p:cNvSpPr>
          <p:nvPr>
            <p:ph idx="1"/>
          </p:nvPr>
        </p:nvSpPr>
        <p:spPr>
          <a:xfrm>
            <a:off x="581192" y="2180496"/>
            <a:ext cx="11029615" cy="1013801"/>
          </a:xfrm>
        </p:spPr>
        <p:txBody>
          <a:bodyPr>
            <a:normAutofit fontScale="92500" lnSpcReduction="20000"/>
          </a:bodyPr>
          <a:lstStyle/>
          <a:p>
            <a:r>
              <a:rPr lang="en-US" dirty="0"/>
              <a:t>Spring Boot provides a ‘starter parent’</a:t>
            </a:r>
          </a:p>
          <a:p>
            <a:r>
              <a:rPr lang="en-US" dirty="0"/>
              <a:t>This is a special starter that provides default configurations </a:t>
            </a:r>
          </a:p>
          <a:p>
            <a:r>
              <a:rPr lang="en-US" dirty="0"/>
              <a:t>Found in pom.xml </a:t>
            </a:r>
          </a:p>
        </p:txBody>
      </p:sp>
      <p:pic>
        <p:nvPicPr>
          <p:cNvPr id="5" name="Picture 4">
            <a:extLst>
              <a:ext uri="{FF2B5EF4-FFF2-40B4-BE49-F238E27FC236}">
                <a16:creationId xmlns:a16="http://schemas.microsoft.com/office/drawing/2014/main" id="{4DB9F62D-CBAF-B979-0BB3-D041C561D84C}"/>
              </a:ext>
            </a:extLst>
          </p:cNvPr>
          <p:cNvPicPr>
            <a:picLocks noChangeAspect="1"/>
          </p:cNvPicPr>
          <p:nvPr/>
        </p:nvPicPr>
        <p:blipFill>
          <a:blip r:embed="rId2"/>
          <a:stretch>
            <a:fillRect/>
          </a:stretch>
        </p:blipFill>
        <p:spPr>
          <a:xfrm>
            <a:off x="1035907" y="3658837"/>
            <a:ext cx="10120186" cy="2189900"/>
          </a:xfrm>
          <a:prstGeom prst="rect">
            <a:avLst/>
          </a:prstGeom>
        </p:spPr>
      </p:pic>
    </p:spTree>
    <p:extLst>
      <p:ext uri="{BB962C8B-B14F-4D97-AF65-F5344CB8AC3E}">
        <p14:creationId xmlns:p14="http://schemas.microsoft.com/office/powerpoint/2010/main" val="882437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130AD-36D4-F23C-F8BD-E166F25D37F7}"/>
              </a:ext>
            </a:extLst>
          </p:cNvPr>
          <p:cNvSpPr>
            <a:spLocks noGrp="1"/>
          </p:cNvSpPr>
          <p:nvPr>
            <p:ph type="title"/>
          </p:nvPr>
        </p:nvSpPr>
        <p:spPr/>
        <p:txBody>
          <a:bodyPr/>
          <a:lstStyle/>
          <a:p>
            <a:r>
              <a:rPr lang="en-US" dirty="0"/>
              <a:t>Spring boot starter parent</a:t>
            </a:r>
          </a:p>
        </p:txBody>
      </p:sp>
      <p:pic>
        <p:nvPicPr>
          <p:cNvPr id="5" name="Content Placeholder 4">
            <a:extLst>
              <a:ext uri="{FF2B5EF4-FFF2-40B4-BE49-F238E27FC236}">
                <a16:creationId xmlns:a16="http://schemas.microsoft.com/office/drawing/2014/main" id="{561382C6-E5E3-4DD3-8CB8-05C04FB518E9}"/>
              </a:ext>
            </a:extLst>
          </p:cNvPr>
          <p:cNvPicPr>
            <a:picLocks noGrp="1" noChangeAspect="1"/>
          </p:cNvPicPr>
          <p:nvPr>
            <p:ph idx="1"/>
          </p:nvPr>
        </p:nvPicPr>
        <p:blipFill>
          <a:blip r:embed="rId2"/>
          <a:stretch>
            <a:fillRect/>
          </a:stretch>
        </p:blipFill>
        <p:spPr>
          <a:xfrm>
            <a:off x="1974480" y="3026558"/>
            <a:ext cx="8243039" cy="3676522"/>
          </a:xfrm>
          <a:prstGeom prst="rect">
            <a:avLst/>
          </a:prstGeom>
        </p:spPr>
      </p:pic>
      <p:sp>
        <p:nvSpPr>
          <p:cNvPr id="6" name="TextBox 5">
            <a:extLst>
              <a:ext uri="{FF2B5EF4-FFF2-40B4-BE49-F238E27FC236}">
                <a16:creationId xmlns:a16="http://schemas.microsoft.com/office/drawing/2014/main" id="{4B66FDB1-0843-0FAA-0CFB-56FEAF1934D5}"/>
              </a:ext>
            </a:extLst>
          </p:cNvPr>
          <p:cNvSpPr txBox="1"/>
          <p:nvPr/>
        </p:nvSpPr>
        <p:spPr>
          <a:xfrm>
            <a:off x="1449544" y="2026550"/>
            <a:ext cx="9292910" cy="923330"/>
          </a:xfrm>
          <a:prstGeom prst="rect">
            <a:avLst/>
          </a:prstGeom>
          <a:noFill/>
        </p:spPr>
        <p:txBody>
          <a:bodyPr wrap="square" rtlCol="0">
            <a:spAutoFit/>
          </a:bodyPr>
          <a:lstStyle/>
          <a:p>
            <a:pPr algn="ctr"/>
            <a:r>
              <a:rPr lang="en-US" dirty="0"/>
              <a:t>We simply set the version of the parent, and all dependencies will be automatically versioned to ensure compatibility. The Maven plugin is the same. Configurations for dependencies and plugins will come from the parent!</a:t>
            </a:r>
          </a:p>
        </p:txBody>
      </p:sp>
    </p:spTree>
    <p:extLst>
      <p:ext uri="{BB962C8B-B14F-4D97-AF65-F5344CB8AC3E}">
        <p14:creationId xmlns:p14="http://schemas.microsoft.com/office/powerpoint/2010/main" val="3184510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1F68F-23A6-D5FA-5810-022DB3F014C6}"/>
              </a:ext>
            </a:extLst>
          </p:cNvPr>
          <p:cNvSpPr>
            <a:spLocks noGrp="1"/>
          </p:cNvSpPr>
          <p:nvPr>
            <p:ph type="title"/>
          </p:nvPr>
        </p:nvSpPr>
        <p:spPr/>
        <p:txBody>
          <a:bodyPr/>
          <a:lstStyle/>
          <a:p>
            <a:r>
              <a:rPr lang="en-US" dirty="0"/>
              <a:t>Spring boot dev tools – hot reload</a:t>
            </a:r>
          </a:p>
        </p:txBody>
      </p:sp>
      <p:sp>
        <p:nvSpPr>
          <p:cNvPr id="3" name="Content Placeholder 2">
            <a:extLst>
              <a:ext uri="{FF2B5EF4-FFF2-40B4-BE49-F238E27FC236}">
                <a16:creationId xmlns:a16="http://schemas.microsoft.com/office/drawing/2014/main" id="{9D4F7265-5547-D030-5E3C-E35920DF75CD}"/>
              </a:ext>
            </a:extLst>
          </p:cNvPr>
          <p:cNvSpPr>
            <a:spLocks noGrp="1"/>
          </p:cNvSpPr>
          <p:nvPr>
            <p:ph idx="1"/>
          </p:nvPr>
        </p:nvSpPr>
        <p:spPr>
          <a:xfrm>
            <a:off x="581192" y="2180496"/>
            <a:ext cx="11029615" cy="1013801"/>
          </a:xfrm>
        </p:spPr>
        <p:txBody>
          <a:bodyPr>
            <a:normAutofit fontScale="92500"/>
          </a:bodyPr>
          <a:lstStyle/>
          <a:p>
            <a:r>
              <a:rPr lang="en-US" dirty="0"/>
              <a:t>This feature will allow us to make changes to our code, and see the changes apply immediately without having to stop/start our application after each change</a:t>
            </a:r>
          </a:p>
          <a:p>
            <a:r>
              <a:rPr lang="en-US" dirty="0"/>
              <a:t>We can add it manually to our pom.xml, or we could have added it during project initialization with the Spring </a:t>
            </a:r>
            <a:r>
              <a:rPr lang="en-US" dirty="0" err="1"/>
              <a:t>Initializr</a:t>
            </a:r>
            <a:endParaRPr lang="en-US" dirty="0"/>
          </a:p>
        </p:txBody>
      </p:sp>
      <p:pic>
        <p:nvPicPr>
          <p:cNvPr id="5" name="Picture 4">
            <a:extLst>
              <a:ext uri="{FF2B5EF4-FFF2-40B4-BE49-F238E27FC236}">
                <a16:creationId xmlns:a16="http://schemas.microsoft.com/office/drawing/2014/main" id="{1DAB33EA-10E7-6ED1-269C-CF61678D8E96}"/>
              </a:ext>
            </a:extLst>
          </p:cNvPr>
          <p:cNvPicPr>
            <a:picLocks noChangeAspect="1"/>
          </p:cNvPicPr>
          <p:nvPr/>
        </p:nvPicPr>
        <p:blipFill>
          <a:blip r:embed="rId2"/>
          <a:stretch>
            <a:fillRect/>
          </a:stretch>
        </p:blipFill>
        <p:spPr>
          <a:xfrm>
            <a:off x="2032293" y="3429000"/>
            <a:ext cx="7509636" cy="2030667"/>
          </a:xfrm>
          <a:prstGeom prst="rect">
            <a:avLst/>
          </a:prstGeom>
        </p:spPr>
      </p:pic>
      <p:pic>
        <p:nvPicPr>
          <p:cNvPr id="7" name="Picture 6">
            <a:extLst>
              <a:ext uri="{FF2B5EF4-FFF2-40B4-BE49-F238E27FC236}">
                <a16:creationId xmlns:a16="http://schemas.microsoft.com/office/drawing/2014/main" id="{F2F1EC08-E45B-7D7A-160D-C3FCEC52AB72}"/>
              </a:ext>
            </a:extLst>
          </p:cNvPr>
          <p:cNvPicPr>
            <a:picLocks noChangeAspect="1"/>
          </p:cNvPicPr>
          <p:nvPr/>
        </p:nvPicPr>
        <p:blipFill>
          <a:blip r:embed="rId3"/>
          <a:stretch>
            <a:fillRect/>
          </a:stretch>
        </p:blipFill>
        <p:spPr>
          <a:xfrm>
            <a:off x="2929212" y="5587227"/>
            <a:ext cx="5715798" cy="1133633"/>
          </a:xfrm>
          <a:prstGeom prst="rect">
            <a:avLst/>
          </a:prstGeom>
        </p:spPr>
      </p:pic>
    </p:spTree>
    <p:extLst>
      <p:ext uri="{BB962C8B-B14F-4D97-AF65-F5344CB8AC3E}">
        <p14:creationId xmlns:p14="http://schemas.microsoft.com/office/powerpoint/2010/main" val="2279331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75299-F372-1149-6CB8-3B2F92ED65D3}"/>
              </a:ext>
            </a:extLst>
          </p:cNvPr>
          <p:cNvSpPr>
            <a:spLocks noGrp="1"/>
          </p:cNvSpPr>
          <p:nvPr>
            <p:ph type="title"/>
          </p:nvPr>
        </p:nvSpPr>
        <p:spPr/>
        <p:txBody>
          <a:bodyPr/>
          <a:lstStyle/>
          <a:p>
            <a:r>
              <a:rPr lang="en-US" dirty="0"/>
              <a:t>Testing hot reload</a:t>
            </a:r>
          </a:p>
        </p:txBody>
      </p:sp>
      <p:sp>
        <p:nvSpPr>
          <p:cNvPr id="3" name="Content Placeholder 2">
            <a:extLst>
              <a:ext uri="{FF2B5EF4-FFF2-40B4-BE49-F238E27FC236}">
                <a16:creationId xmlns:a16="http://schemas.microsoft.com/office/drawing/2014/main" id="{F1C8623E-43A3-8DC8-B001-3F386203D01C}"/>
              </a:ext>
            </a:extLst>
          </p:cNvPr>
          <p:cNvSpPr>
            <a:spLocks noGrp="1"/>
          </p:cNvSpPr>
          <p:nvPr>
            <p:ph idx="1"/>
          </p:nvPr>
        </p:nvSpPr>
        <p:spPr>
          <a:xfrm>
            <a:off x="581192" y="2180496"/>
            <a:ext cx="5130839" cy="3678303"/>
          </a:xfrm>
        </p:spPr>
        <p:txBody>
          <a:bodyPr/>
          <a:lstStyle/>
          <a:p>
            <a:r>
              <a:rPr lang="en-US" dirty="0"/>
              <a:t>We can add another endpoint to test that it works!</a:t>
            </a:r>
          </a:p>
        </p:txBody>
      </p:sp>
      <p:pic>
        <p:nvPicPr>
          <p:cNvPr id="5" name="Picture 4">
            <a:extLst>
              <a:ext uri="{FF2B5EF4-FFF2-40B4-BE49-F238E27FC236}">
                <a16:creationId xmlns:a16="http://schemas.microsoft.com/office/drawing/2014/main" id="{AF5E0051-667C-A0FA-5DF4-BF4E7FDBBBC7}"/>
              </a:ext>
            </a:extLst>
          </p:cNvPr>
          <p:cNvPicPr>
            <a:picLocks noChangeAspect="1"/>
          </p:cNvPicPr>
          <p:nvPr/>
        </p:nvPicPr>
        <p:blipFill>
          <a:blip r:embed="rId2"/>
          <a:stretch>
            <a:fillRect/>
          </a:stretch>
        </p:blipFill>
        <p:spPr>
          <a:xfrm>
            <a:off x="6194011" y="2459862"/>
            <a:ext cx="4744112" cy="3553321"/>
          </a:xfrm>
          <a:prstGeom prst="rect">
            <a:avLst/>
          </a:prstGeom>
        </p:spPr>
      </p:pic>
    </p:spTree>
    <p:extLst>
      <p:ext uri="{BB962C8B-B14F-4D97-AF65-F5344CB8AC3E}">
        <p14:creationId xmlns:p14="http://schemas.microsoft.com/office/powerpoint/2010/main" val="2180780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317F5-94A8-0A47-0F22-FA29A85FEAC5}"/>
              </a:ext>
            </a:extLst>
          </p:cNvPr>
          <p:cNvSpPr>
            <a:spLocks noGrp="1"/>
          </p:cNvSpPr>
          <p:nvPr>
            <p:ph type="title"/>
          </p:nvPr>
        </p:nvSpPr>
        <p:spPr/>
        <p:txBody>
          <a:bodyPr/>
          <a:lstStyle/>
          <a:p>
            <a:r>
              <a:rPr lang="en-US" dirty="0"/>
              <a:t>Spring boot actuator</a:t>
            </a:r>
          </a:p>
        </p:txBody>
      </p:sp>
      <p:sp>
        <p:nvSpPr>
          <p:cNvPr id="3" name="Content Placeholder 2">
            <a:extLst>
              <a:ext uri="{FF2B5EF4-FFF2-40B4-BE49-F238E27FC236}">
                <a16:creationId xmlns:a16="http://schemas.microsoft.com/office/drawing/2014/main" id="{FB1C2479-C5DB-53EE-1DDB-3C3C6C8000E7}"/>
              </a:ext>
            </a:extLst>
          </p:cNvPr>
          <p:cNvSpPr>
            <a:spLocks noGrp="1"/>
          </p:cNvSpPr>
          <p:nvPr>
            <p:ph idx="1"/>
          </p:nvPr>
        </p:nvSpPr>
        <p:spPr>
          <a:xfrm>
            <a:off x="581192" y="2180497"/>
            <a:ext cx="11029615" cy="1681930"/>
          </a:xfrm>
        </p:spPr>
        <p:txBody>
          <a:bodyPr>
            <a:normAutofit fontScale="92500" lnSpcReduction="20000"/>
          </a:bodyPr>
          <a:lstStyle/>
          <a:p>
            <a:r>
              <a:rPr lang="en-US" dirty="0"/>
              <a:t>Exposes endpoints to monitor the health of our application, as well as return other metrics/info</a:t>
            </a:r>
          </a:p>
          <a:p>
            <a:r>
              <a:rPr lang="en-US" dirty="0"/>
              <a:t>We simply need to add the dependency to our POM file</a:t>
            </a:r>
          </a:p>
          <a:p>
            <a:r>
              <a:rPr lang="en-US" dirty="0"/>
              <a:t>REST endpoints are then automatically added to our application </a:t>
            </a:r>
          </a:p>
          <a:p>
            <a:r>
              <a:rPr lang="en-US" dirty="0"/>
              <a:t>No need to write additional code! </a:t>
            </a:r>
          </a:p>
          <a:p>
            <a:r>
              <a:rPr lang="en-US" dirty="0"/>
              <a:t>We can secure these endpoints later with Spring Security!</a:t>
            </a:r>
          </a:p>
        </p:txBody>
      </p:sp>
      <p:pic>
        <p:nvPicPr>
          <p:cNvPr id="5" name="Picture 4">
            <a:extLst>
              <a:ext uri="{FF2B5EF4-FFF2-40B4-BE49-F238E27FC236}">
                <a16:creationId xmlns:a16="http://schemas.microsoft.com/office/drawing/2014/main" id="{74D1990E-8702-98C5-4030-140571EE5B5F}"/>
              </a:ext>
            </a:extLst>
          </p:cNvPr>
          <p:cNvPicPr>
            <a:picLocks noChangeAspect="1"/>
          </p:cNvPicPr>
          <p:nvPr/>
        </p:nvPicPr>
        <p:blipFill>
          <a:blip r:embed="rId2"/>
          <a:stretch>
            <a:fillRect/>
          </a:stretch>
        </p:blipFill>
        <p:spPr>
          <a:xfrm>
            <a:off x="2737968" y="3933981"/>
            <a:ext cx="6716062" cy="2676899"/>
          </a:xfrm>
          <a:prstGeom prst="rect">
            <a:avLst/>
          </a:prstGeom>
        </p:spPr>
      </p:pic>
    </p:spTree>
    <p:extLst>
      <p:ext uri="{BB962C8B-B14F-4D97-AF65-F5344CB8AC3E}">
        <p14:creationId xmlns:p14="http://schemas.microsoft.com/office/powerpoint/2010/main" val="55840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2430E-0CAE-651F-14A5-275BBEF47376}"/>
              </a:ext>
            </a:extLst>
          </p:cNvPr>
          <p:cNvSpPr>
            <a:spLocks noGrp="1"/>
          </p:cNvSpPr>
          <p:nvPr>
            <p:ph type="title"/>
          </p:nvPr>
        </p:nvSpPr>
        <p:spPr/>
        <p:txBody>
          <a:bodyPr/>
          <a:lstStyle/>
          <a:p>
            <a:r>
              <a:rPr lang="en-US" dirty="0"/>
              <a:t>Spring boot actuator - health</a:t>
            </a:r>
          </a:p>
        </p:txBody>
      </p:sp>
      <p:pic>
        <p:nvPicPr>
          <p:cNvPr id="5" name="Content Placeholder 4">
            <a:extLst>
              <a:ext uri="{FF2B5EF4-FFF2-40B4-BE49-F238E27FC236}">
                <a16:creationId xmlns:a16="http://schemas.microsoft.com/office/drawing/2014/main" id="{D697337E-7442-4959-4AAE-E5F536E813A4}"/>
              </a:ext>
            </a:extLst>
          </p:cNvPr>
          <p:cNvPicPr>
            <a:picLocks noGrp="1" noChangeAspect="1"/>
          </p:cNvPicPr>
          <p:nvPr>
            <p:ph idx="1"/>
          </p:nvPr>
        </p:nvPicPr>
        <p:blipFill>
          <a:blip r:embed="rId2"/>
          <a:stretch>
            <a:fillRect/>
          </a:stretch>
        </p:blipFill>
        <p:spPr>
          <a:xfrm>
            <a:off x="1114284" y="2099463"/>
            <a:ext cx="9963431" cy="4004790"/>
          </a:xfrm>
          <a:prstGeom prst="rect">
            <a:avLst/>
          </a:prstGeom>
        </p:spPr>
      </p:pic>
    </p:spTree>
    <p:extLst>
      <p:ext uri="{BB962C8B-B14F-4D97-AF65-F5344CB8AC3E}">
        <p14:creationId xmlns:p14="http://schemas.microsoft.com/office/powerpoint/2010/main" val="37714465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0E197-144C-14EE-B214-5459A56D41C8}"/>
              </a:ext>
            </a:extLst>
          </p:cNvPr>
          <p:cNvSpPr>
            <a:spLocks noGrp="1"/>
          </p:cNvSpPr>
          <p:nvPr>
            <p:ph type="title"/>
          </p:nvPr>
        </p:nvSpPr>
        <p:spPr/>
        <p:txBody>
          <a:bodyPr/>
          <a:lstStyle/>
          <a:p>
            <a:r>
              <a:rPr lang="en-US" dirty="0"/>
              <a:t>Spring boot actuator – exposing endpoints</a:t>
            </a:r>
          </a:p>
        </p:txBody>
      </p:sp>
      <p:sp>
        <p:nvSpPr>
          <p:cNvPr id="3" name="Content Placeholder 2">
            <a:extLst>
              <a:ext uri="{FF2B5EF4-FFF2-40B4-BE49-F238E27FC236}">
                <a16:creationId xmlns:a16="http://schemas.microsoft.com/office/drawing/2014/main" id="{E34CED9F-A980-B729-380E-F8C92B3F544C}"/>
              </a:ext>
            </a:extLst>
          </p:cNvPr>
          <p:cNvSpPr>
            <a:spLocks noGrp="1"/>
          </p:cNvSpPr>
          <p:nvPr>
            <p:ph idx="1"/>
          </p:nvPr>
        </p:nvSpPr>
        <p:spPr>
          <a:xfrm>
            <a:off x="581193" y="2105341"/>
            <a:ext cx="11029615" cy="943094"/>
          </a:xfrm>
        </p:spPr>
        <p:txBody>
          <a:bodyPr>
            <a:normAutofit fontScale="85000" lnSpcReduction="20000"/>
          </a:bodyPr>
          <a:lstStyle/>
          <a:p>
            <a:r>
              <a:rPr lang="en-US" dirty="0"/>
              <a:t>By default, only /health is exposed</a:t>
            </a:r>
          </a:p>
          <a:p>
            <a:r>
              <a:rPr lang="en-US" dirty="0"/>
              <a:t>/info can provide information about our app, but we need to include it first!</a:t>
            </a:r>
          </a:p>
          <a:p>
            <a:r>
              <a:rPr lang="en-US" dirty="0"/>
              <a:t>We can also expose ALL endpoints with: *</a:t>
            </a:r>
          </a:p>
        </p:txBody>
      </p:sp>
      <p:pic>
        <p:nvPicPr>
          <p:cNvPr id="5" name="Picture 4">
            <a:extLst>
              <a:ext uri="{FF2B5EF4-FFF2-40B4-BE49-F238E27FC236}">
                <a16:creationId xmlns:a16="http://schemas.microsoft.com/office/drawing/2014/main" id="{8DF58E06-C6A1-5CC3-6293-3EE48754B62B}"/>
              </a:ext>
            </a:extLst>
          </p:cNvPr>
          <p:cNvPicPr>
            <a:picLocks noChangeAspect="1"/>
          </p:cNvPicPr>
          <p:nvPr/>
        </p:nvPicPr>
        <p:blipFill>
          <a:blip r:embed="rId2"/>
          <a:stretch>
            <a:fillRect/>
          </a:stretch>
        </p:blipFill>
        <p:spPr>
          <a:xfrm>
            <a:off x="1129007" y="3123591"/>
            <a:ext cx="9933984" cy="1639981"/>
          </a:xfrm>
          <a:prstGeom prst="rect">
            <a:avLst/>
          </a:prstGeom>
        </p:spPr>
      </p:pic>
      <p:pic>
        <p:nvPicPr>
          <p:cNvPr id="7" name="Picture 6">
            <a:extLst>
              <a:ext uri="{FF2B5EF4-FFF2-40B4-BE49-F238E27FC236}">
                <a16:creationId xmlns:a16="http://schemas.microsoft.com/office/drawing/2014/main" id="{DEB0BA3B-DE61-76A1-2B76-B32D1AEBF45A}"/>
              </a:ext>
            </a:extLst>
          </p:cNvPr>
          <p:cNvPicPr>
            <a:picLocks noChangeAspect="1"/>
          </p:cNvPicPr>
          <p:nvPr/>
        </p:nvPicPr>
        <p:blipFill>
          <a:blip r:embed="rId3"/>
          <a:stretch>
            <a:fillRect/>
          </a:stretch>
        </p:blipFill>
        <p:spPr>
          <a:xfrm>
            <a:off x="3221010" y="4407059"/>
            <a:ext cx="5749978" cy="2280031"/>
          </a:xfrm>
          <a:prstGeom prst="rect">
            <a:avLst/>
          </a:prstGeom>
        </p:spPr>
      </p:pic>
    </p:spTree>
    <p:extLst>
      <p:ext uri="{BB962C8B-B14F-4D97-AF65-F5344CB8AC3E}">
        <p14:creationId xmlns:p14="http://schemas.microsoft.com/office/powerpoint/2010/main" val="25904376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E654-78DB-4FEC-112A-8CDEC6D4850B}"/>
              </a:ext>
            </a:extLst>
          </p:cNvPr>
          <p:cNvSpPr>
            <a:spLocks noGrp="1"/>
          </p:cNvSpPr>
          <p:nvPr>
            <p:ph type="title"/>
          </p:nvPr>
        </p:nvSpPr>
        <p:spPr/>
        <p:txBody>
          <a:bodyPr/>
          <a:lstStyle/>
          <a:p>
            <a:r>
              <a:rPr lang="en-US" dirty="0"/>
              <a:t>Spring boot actuator – available endpoints</a:t>
            </a:r>
          </a:p>
        </p:txBody>
      </p:sp>
      <p:sp>
        <p:nvSpPr>
          <p:cNvPr id="3" name="Content Placeholder 2">
            <a:extLst>
              <a:ext uri="{FF2B5EF4-FFF2-40B4-BE49-F238E27FC236}">
                <a16:creationId xmlns:a16="http://schemas.microsoft.com/office/drawing/2014/main" id="{D8D1B836-2760-00EF-E96F-427FDB6A0184}"/>
              </a:ext>
            </a:extLst>
          </p:cNvPr>
          <p:cNvSpPr>
            <a:spLocks noGrp="1"/>
          </p:cNvSpPr>
          <p:nvPr>
            <p:ph idx="1"/>
          </p:nvPr>
        </p:nvSpPr>
        <p:spPr>
          <a:xfrm>
            <a:off x="581192" y="2180497"/>
            <a:ext cx="11029615" cy="1674614"/>
          </a:xfrm>
        </p:spPr>
        <p:txBody>
          <a:bodyPr/>
          <a:lstStyle/>
          <a:p>
            <a:r>
              <a:rPr lang="en-US" dirty="0"/>
              <a:t>See the docs below for a complete list, there are many!</a:t>
            </a:r>
          </a:p>
          <a:p>
            <a:r>
              <a:rPr lang="en-US" dirty="0"/>
              <a:t>https://docs.spring.io/spring-boot/reference/actuator/endpoints.html#page-title</a:t>
            </a:r>
          </a:p>
        </p:txBody>
      </p:sp>
      <p:pic>
        <p:nvPicPr>
          <p:cNvPr id="5" name="Picture 4">
            <a:extLst>
              <a:ext uri="{FF2B5EF4-FFF2-40B4-BE49-F238E27FC236}">
                <a16:creationId xmlns:a16="http://schemas.microsoft.com/office/drawing/2014/main" id="{FA358F0A-16F3-7DC3-92C6-DD911FF8DE60}"/>
              </a:ext>
            </a:extLst>
          </p:cNvPr>
          <p:cNvPicPr>
            <a:picLocks noChangeAspect="1"/>
          </p:cNvPicPr>
          <p:nvPr/>
        </p:nvPicPr>
        <p:blipFill>
          <a:blip r:embed="rId2"/>
          <a:stretch>
            <a:fillRect/>
          </a:stretch>
        </p:blipFill>
        <p:spPr>
          <a:xfrm>
            <a:off x="2614125" y="4319652"/>
            <a:ext cx="6963747" cy="1495634"/>
          </a:xfrm>
          <a:prstGeom prst="rect">
            <a:avLst/>
          </a:prstGeom>
        </p:spPr>
      </p:pic>
    </p:spTree>
    <p:extLst>
      <p:ext uri="{BB962C8B-B14F-4D97-AF65-F5344CB8AC3E}">
        <p14:creationId xmlns:p14="http://schemas.microsoft.com/office/powerpoint/2010/main" val="4246225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FD162-98C4-7027-2E7B-12E82A43779E}"/>
              </a:ext>
            </a:extLst>
          </p:cNvPr>
          <p:cNvSpPr>
            <a:spLocks noGrp="1"/>
          </p:cNvSpPr>
          <p:nvPr>
            <p:ph type="title"/>
          </p:nvPr>
        </p:nvSpPr>
        <p:spPr/>
        <p:txBody>
          <a:bodyPr/>
          <a:lstStyle/>
          <a:p>
            <a:r>
              <a:rPr lang="en-US" dirty="0"/>
              <a:t>STOP</a:t>
            </a:r>
          </a:p>
        </p:txBody>
      </p:sp>
      <p:sp>
        <p:nvSpPr>
          <p:cNvPr id="3" name="Content Placeholder 2">
            <a:extLst>
              <a:ext uri="{FF2B5EF4-FFF2-40B4-BE49-F238E27FC236}">
                <a16:creationId xmlns:a16="http://schemas.microsoft.com/office/drawing/2014/main" id="{C3E3A1B7-4103-8C06-9E80-AE95269B9AAE}"/>
              </a:ext>
            </a:extLst>
          </p:cNvPr>
          <p:cNvSpPr>
            <a:spLocks noGrp="1"/>
          </p:cNvSpPr>
          <p:nvPr>
            <p:ph idx="1"/>
          </p:nvPr>
        </p:nvSpPr>
        <p:spPr/>
        <p:txBody>
          <a:bodyPr/>
          <a:lstStyle/>
          <a:p>
            <a:r>
              <a:rPr lang="en-US" dirty="0"/>
              <a:t>Let’s install actuator here and view some endpoints</a:t>
            </a:r>
          </a:p>
          <a:p>
            <a:r>
              <a:rPr lang="en-US" dirty="0"/>
              <a:t>Info, health, mappings, beans, etc. </a:t>
            </a:r>
          </a:p>
        </p:txBody>
      </p:sp>
    </p:spTree>
    <p:extLst>
      <p:ext uri="{BB962C8B-B14F-4D97-AF65-F5344CB8AC3E}">
        <p14:creationId xmlns:p14="http://schemas.microsoft.com/office/powerpoint/2010/main" val="4248799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BC0B0-6A48-9CE7-DF94-6197B180F116}"/>
              </a:ext>
            </a:extLst>
          </p:cNvPr>
          <p:cNvSpPr>
            <a:spLocks noGrp="1"/>
          </p:cNvSpPr>
          <p:nvPr>
            <p:ph type="title"/>
          </p:nvPr>
        </p:nvSpPr>
        <p:spPr/>
        <p:txBody>
          <a:bodyPr/>
          <a:lstStyle/>
          <a:p>
            <a:r>
              <a:rPr lang="en-US" dirty="0"/>
              <a:t>Securing Spring actuator endpoints</a:t>
            </a:r>
          </a:p>
        </p:txBody>
      </p:sp>
      <p:pic>
        <p:nvPicPr>
          <p:cNvPr id="5" name="Picture 4">
            <a:extLst>
              <a:ext uri="{FF2B5EF4-FFF2-40B4-BE49-F238E27FC236}">
                <a16:creationId xmlns:a16="http://schemas.microsoft.com/office/drawing/2014/main" id="{21476C97-EEE4-FFA4-D37D-13E1DA7864EA}"/>
              </a:ext>
            </a:extLst>
          </p:cNvPr>
          <p:cNvPicPr>
            <a:picLocks noChangeAspect="1"/>
          </p:cNvPicPr>
          <p:nvPr/>
        </p:nvPicPr>
        <p:blipFill>
          <a:blip r:embed="rId2"/>
          <a:stretch>
            <a:fillRect/>
          </a:stretch>
        </p:blipFill>
        <p:spPr>
          <a:xfrm>
            <a:off x="431473" y="1990921"/>
            <a:ext cx="5664528" cy="2309614"/>
          </a:xfrm>
          <a:prstGeom prst="rect">
            <a:avLst/>
          </a:prstGeom>
        </p:spPr>
      </p:pic>
      <p:pic>
        <p:nvPicPr>
          <p:cNvPr id="7" name="Picture 6">
            <a:extLst>
              <a:ext uri="{FF2B5EF4-FFF2-40B4-BE49-F238E27FC236}">
                <a16:creationId xmlns:a16="http://schemas.microsoft.com/office/drawing/2014/main" id="{BFEC4A95-2678-5C56-8F19-0E5AF3AC0D8C}"/>
              </a:ext>
            </a:extLst>
          </p:cNvPr>
          <p:cNvPicPr>
            <a:picLocks noChangeAspect="1"/>
          </p:cNvPicPr>
          <p:nvPr/>
        </p:nvPicPr>
        <p:blipFill>
          <a:blip r:embed="rId3"/>
          <a:stretch>
            <a:fillRect/>
          </a:stretch>
        </p:blipFill>
        <p:spPr>
          <a:xfrm>
            <a:off x="6096000" y="1990921"/>
            <a:ext cx="5617799" cy="2309615"/>
          </a:xfrm>
          <a:prstGeom prst="rect">
            <a:avLst/>
          </a:prstGeom>
        </p:spPr>
      </p:pic>
      <p:pic>
        <p:nvPicPr>
          <p:cNvPr id="9" name="Picture 8">
            <a:extLst>
              <a:ext uri="{FF2B5EF4-FFF2-40B4-BE49-F238E27FC236}">
                <a16:creationId xmlns:a16="http://schemas.microsoft.com/office/drawing/2014/main" id="{162B4B76-2818-6B45-CBDF-94285061C19F}"/>
              </a:ext>
            </a:extLst>
          </p:cNvPr>
          <p:cNvPicPr>
            <a:picLocks noChangeAspect="1"/>
          </p:cNvPicPr>
          <p:nvPr/>
        </p:nvPicPr>
        <p:blipFill>
          <a:blip r:embed="rId4"/>
          <a:stretch>
            <a:fillRect/>
          </a:stretch>
        </p:blipFill>
        <p:spPr>
          <a:xfrm>
            <a:off x="2861811" y="4575500"/>
            <a:ext cx="6468378" cy="1724266"/>
          </a:xfrm>
          <a:prstGeom prst="rect">
            <a:avLst/>
          </a:prstGeom>
        </p:spPr>
      </p:pic>
    </p:spTree>
    <p:extLst>
      <p:ext uri="{BB962C8B-B14F-4D97-AF65-F5344CB8AC3E}">
        <p14:creationId xmlns:p14="http://schemas.microsoft.com/office/powerpoint/2010/main" val="34016516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F0729-92B8-1B5E-EB9E-FF454917D2B7}"/>
              </a:ext>
            </a:extLst>
          </p:cNvPr>
          <p:cNvSpPr>
            <a:spLocks noGrp="1"/>
          </p:cNvSpPr>
          <p:nvPr>
            <p:ph type="title"/>
          </p:nvPr>
        </p:nvSpPr>
        <p:spPr/>
        <p:txBody>
          <a:bodyPr/>
          <a:lstStyle/>
          <a:p>
            <a:r>
              <a:rPr lang="en-US" dirty="0"/>
              <a:t>Securing Spring actuator endpoints</a:t>
            </a:r>
          </a:p>
        </p:txBody>
      </p:sp>
      <p:sp>
        <p:nvSpPr>
          <p:cNvPr id="3" name="Content Placeholder 2">
            <a:extLst>
              <a:ext uri="{FF2B5EF4-FFF2-40B4-BE49-F238E27FC236}">
                <a16:creationId xmlns:a16="http://schemas.microsoft.com/office/drawing/2014/main" id="{4E2024FE-8B43-B6DE-4303-EAB4F60BB0FF}"/>
              </a:ext>
            </a:extLst>
          </p:cNvPr>
          <p:cNvSpPr>
            <a:spLocks noGrp="1"/>
          </p:cNvSpPr>
          <p:nvPr>
            <p:ph idx="1"/>
          </p:nvPr>
        </p:nvSpPr>
        <p:spPr>
          <a:xfrm>
            <a:off x="581192" y="2180497"/>
            <a:ext cx="11029615" cy="869592"/>
          </a:xfrm>
        </p:spPr>
        <p:txBody>
          <a:bodyPr/>
          <a:lstStyle/>
          <a:p>
            <a:r>
              <a:rPr lang="en-US" dirty="0"/>
              <a:t>We can exclude endpoints so no one can access them!</a:t>
            </a:r>
          </a:p>
        </p:txBody>
      </p:sp>
      <p:pic>
        <p:nvPicPr>
          <p:cNvPr id="5" name="Picture 4">
            <a:extLst>
              <a:ext uri="{FF2B5EF4-FFF2-40B4-BE49-F238E27FC236}">
                <a16:creationId xmlns:a16="http://schemas.microsoft.com/office/drawing/2014/main" id="{C9FE1E49-3AB9-BF67-D58B-45C8858E8451}"/>
              </a:ext>
            </a:extLst>
          </p:cNvPr>
          <p:cNvPicPr>
            <a:picLocks noChangeAspect="1"/>
          </p:cNvPicPr>
          <p:nvPr/>
        </p:nvPicPr>
        <p:blipFill>
          <a:blip r:embed="rId2"/>
          <a:stretch>
            <a:fillRect/>
          </a:stretch>
        </p:blipFill>
        <p:spPr>
          <a:xfrm>
            <a:off x="2045342" y="3272696"/>
            <a:ext cx="8101315" cy="2883148"/>
          </a:xfrm>
          <a:prstGeom prst="rect">
            <a:avLst/>
          </a:prstGeom>
        </p:spPr>
      </p:pic>
    </p:spTree>
    <p:extLst>
      <p:ext uri="{BB962C8B-B14F-4D97-AF65-F5344CB8AC3E}">
        <p14:creationId xmlns:p14="http://schemas.microsoft.com/office/powerpoint/2010/main" val="33417088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5AA07-81E3-4C40-795C-CECFCA7436E7}"/>
              </a:ext>
            </a:extLst>
          </p:cNvPr>
          <p:cNvSpPr>
            <a:spLocks noGrp="1"/>
          </p:cNvSpPr>
          <p:nvPr>
            <p:ph type="title"/>
          </p:nvPr>
        </p:nvSpPr>
        <p:spPr/>
        <p:txBody>
          <a:bodyPr/>
          <a:lstStyle/>
          <a:p>
            <a:r>
              <a:rPr lang="en-US" dirty="0"/>
              <a:t>STOP</a:t>
            </a:r>
          </a:p>
        </p:txBody>
      </p:sp>
      <p:sp>
        <p:nvSpPr>
          <p:cNvPr id="3" name="Content Placeholder 2">
            <a:extLst>
              <a:ext uri="{FF2B5EF4-FFF2-40B4-BE49-F238E27FC236}">
                <a16:creationId xmlns:a16="http://schemas.microsoft.com/office/drawing/2014/main" id="{01089EF9-E825-2B23-8FC4-8D0DB0D4930F}"/>
              </a:ext>
            </a:extLst>
          </p:cNvPr>
          <p:cNvSpPr>
            <a:spLocks noGrp="1"/>
          </p:cNvSpPr>
          <p:nvPr>
            <p:ph idx="1"/>
          </p:nvPr>
        </p:nvSpPr>
        <p:spPr/>
        <p:txBody>
          <a:bodyPr/>
          <a:lstStyle/>
          <a:p>
            <a:r>
              <a:rPr lang="en-US" dirty="0"/>
              <a:t>Let’s add Spring Security</a:t>
            </a:r>
          </a:p>
          <a:p>
            <a:r>
              <a:rPr lang="en-US" dirty="0"/>
              <a:t>Set a custom username / password</a:t>
            </a:r>
          </a:p>
          <a:p>
            <a:r>
              <a:rPr lang="en-US" dirty="0"/>
              <a:t>Exclude the /health endpoint (recommended to re-enable after)</a:t>
            </a:r>
          </a:p>
          <a:p>
            <a:r>
              <a:rPr lang="en-US" dirty="0"/>
              <a:t>Test our secured endpoints</a:t>
            </a:r>
          </a:p>
          <a:p>
            <a:r>
              <a:rPr lang="en-US" dirty="0"/>
              <a:t>WE WILL COVER SECURITY MORE IN DEPTH LATER IN THE COURSE!!!</a:t>
            </a:r>
          </a:p>
          <a:p>
            <a:pPr lvl="1"/>
            <a:r>
              <a:rPr lang="en-US" dirty="0"/>
              <a:t>We can do things like use database roles to secure endpoints, setup encrypted passwords, and more!</a:t>
            </a:r>
          </a:p>
        </p:txBody>
      </p:sp>
    </p:spTree>
    <p:extLst>
      <p:ext uri="{BB962C8B-B14F-4D97-AF65-F5344CB8AC3E}">
        <p14:creationId xmlns:p14="http://schemas.microsoft.com/office/powerpoint/2010/main" val="12905307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038C-4B16-DC48-A12D-15EFF38F250C}"/>
              </a:ext>
            </a:extLst>
          </p:cNvPr>
          <p:cNvSpPr>
            <a:spLocks noGrp="1"/>
          </p:cNvSpPr>
          <p:nvPr>
            <p:ph type="title"/>
          </p:nvPr>
        </p:nvSpPr>
        <p:spPr/>
        <p:txBody>
          <a:bodyPr/>
          <a:lstStyle/>
          <a:p>
            <a:r>
              <a:rPr lang="en-US" dirty="0"/>
              <a:t>Packaging/running via CLI</a:t>
            </a:r>
          </a:p>
        </p:txBody>
      </p:sp>
      <p:sp>
        <p:nvSpPr>
          <p:cNvPr id="3" name="Content Placeholder 2">
            <a:extLst>
              <a:ext uri="{FF2B5EF4-FFF2-40B4-BE49-F238E27FC236}">
                <a16:creationId xmlns:a16="http://schemas.microsoft.com/office/drawing/2014/main" id="{D4159A60-6E88-D019-B8A1-2E2117D37140}"/>
              </a:ext>
            </a:extLst>
          </p:cNvPr>
          <p:cNvSpPr>
            <a:spLocks noGrp="1"/>
          </p:cNvSpPr>
          <p:nvPr>
            <p:ph idx="1"/>
          </p:nvPr>
        </p:nvSpPr>
        <p:spPr>
          <a:xfrm>
            <a:off x="1293575" y="2019195"/>
            <a:ext cx="1853664" cy="594602"/>
          </a:xfrm>
        </p:spPr>
        <p:txBody>
          <a:bodyPr/>
          <a:lstStyle/>
          <a:p>
            <a:r>
              <a:rPr lang="en-US" dirty="0"/>
              <a:t>Windows:</a:t>
            </a:r>
          </a:p>
        </p:txBody>
      </p:sp>
      <p:sp>
        <p:nvSpPr>
          <p:cNvPr id="4" name="Content Placeholder 2">
            <a:extLst>
              <a:ext uri="{FF2B5EF4-FFF2-40B4-BE49-F238E27FC236}">
                <a16:creationId xmlns:a16="http://schemas.microsoft.com/office/drawing/2014/main" id="{96D2912D-DAF1-DE6B-95E4-41C4B3109B90}"/>
              </a:ext>
            </a:extLst>
          </p:cNvPr>
          <p:cNvSpPr txBox="1">
            <a:spLocks/>
          </p:cNvSpPr>
          <p:nvPr/>
        </p:nvSpPr>
        <p:spPr>
          <a:xfrm>
            <a:off x="1293573" y="3333043"/>
            <a:ext cx="2151374" cy="59460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Linux/Bash shell:</a:t>
            </a:r>
          </a:p>
        </p:txBody>
      </p:sp>
      <p:pic>
        <p:nvPicPr>
          <p:cNvPr id="6" name="Picture 5">
            <a:extLst>
              <a:ext uri="{FF2B5EF4-FFF2-40B4-BE49-F238E27FC236}">
                <a16:creationId xmlns:a16="http://schemas.microsoft.com/office/drawing/2014/main" id="{E9C43F4D-09F5-6C04-E1CE-CD14524A9994}"/>
              </a:ext>
            </a:extLst>
          </p:cNvPr>
          <p:cNvPicPr>
            <a:picLocks noChangeAspect="1"/>
          </p:cNvPicPr>
          <p:nvPr/>
        </p:nvPicPr>
        <p:blipFill>
          <a:blip r:embed="rId2"/>
          <a:stretch>
            <a:fillRect/>
          </a:stretch>
        </p:blipFill>
        <p:spPr>
          <a:xfrm>
            <a:off x="1293574" y="2661644"/>
            <a:ext cx="4867954" cy="266737"/>
          </a:xfrm>
          <a:prstGeom prst="rect">
            <a:avLst/>
          </a:prstGeom>
        </p:spPr>
      </p:pic>
      <p:pic>
        <p:nvPicPr>
          <p:cNvPr id="8" name="Picture 7">
            <a:extLst>
              <a:ext uri="{FF2B5EF4-FFF2-40B4-BE49-F238E27FC236}">
                <a16:creationId xmlns:a16="http://schemas.microsoft.com/office/drawing/2014/main" id="{A1F0E246-89B1-9E2C-4467-BC7C4270D82C}"/>
              </a:ext>
            </a:extLst>
          </p:cNvPr>
          <p:cNvPicPr>
            <a:picLocks noChangeAspect="1"/>
          </p:cNvPicPr>
          <p:nvPr/>
        </p:nvPicPr>
        <p:blipFill>
          <a:blip r:embed="rId3"/>
          <a:stretch>
            <a:fillRect/>
          </a:stretch>
        </p:blipFill>
        <p:spPr>
          <a:xfrm>
            <a:off x="1293574" y="3105694"/>
            <a:ext cx="7506748" cy="228632"/>
          </a:xfrm>
          <a:prstGeom prst="rect">
            <a:avLst/>
          </a:prstGeom>
        </p:spPr>
      </p:pic>
      <p:pic>
        <p:nvPicPr>
          <p:cNvPr id="10" name="Picture 9">
            <a:extLst>
              <a:ext uri="{FF2B5EF4-FFF2-40B4-BE49-F238E27FC236}">
                <a16:creationId xmlns:a16="http://schemas.microsoft.com/office/drawing/2014/main" id="{C22930AC-4B5C-EC4C-757F-4C0EB7DD2235}"/>
              </a:ext>
            </a:extLst>
          </p:cNvPr>
          <p:cNvPicPr>
            <a:picLocks noChangeAspect="1"/>
          </p:cNvPicPr>
          <p:nvPr/>
        </p:nvPicPr>
        <p:blipFill>
          <a:blip r:embed="rId4"/>
          <a:stretch>
            <a:fillRect/>
          </a:stretch>
        </p:blipFill>
        <p:spPr>
          <a:xfrm>
            <a:off x="1368001" y="3926362"/>
            <a:ext cx="6754168" cy="523948"/>
          </a:xfrm>
          <a:prstGeom prst="rect">
            <a:avLst/>
          </a:prstGeom>
        </p:spPr>
      </p:pic>
      <p:pic>
        <p:nvPicPr>
          <p:cNvPr id="12" name="Picture 11">
            <a:extLst>
              <a:ext uri="{FF2B5EF4-FFF2-40B4-BE49-F238E27FC236}">
                <a16:creationId xmlns:a16="http://schemas.microsoft.com/office/drawing/2014/main" id="{E3EA27AB-BAC6-18E9-A4EE-7CB6EB3DEA97}"/>
              </a:ext>
            </a:extLst>
          </p:cNvPr>
          <p:cNvPicPr>
            <a:picLocks noChangeAspect="1"/>
          </p:cNvPicPr>
          <p:nvPr/>
        </p:nvPicPr>
        <p:blipFill>
          <a:blip r:embed="rId5"/>
          <a:stretch>
            <a:fillRect/>
          </a:stretch>
        </p:blipFill>
        <p:spPr>
          <a:xfrm>
            <a:off x="1368001" y="4627623"/>
            <a:ext cx="6820852" cy="514422"/>
          </a:xfrm>
          <a:prstGeom prst="rect">
            <a:avLst/>
          </a:prstGeom>
        </p:spPr>
      </p:pic>
      <p:sp>
        <p:nvSpPr>
          <p:cNvPr id="14" name="Content Placeholder 2">
            <a:extLst>
              <a:ext uri="{FF2B5EF4-FFF2-40B4-BE49-F238E27FC236}">
                <a16:creationId xmlns:a16="http://schemas.microsoft.com/office/drawing/2014/main" id="{71F7CFD3-B25C-51A5-2436-193D30BECB6C}"/>
              </a:ext>
            </a:extLst>
          </p:cNvPr>
          <p:cNvSpPr txBox="1">
            <a:spLocks/>
          </p:cNvSpPr>
          <p:nvPr/>
        </p:nvSpPr>
        <p:spPr>
          <a:xfrm>
            <a:off x="1293573" y="5247877"/>
            <a:ext cx="9955674" cy="132304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Since we have Maven installed (from earlier in our course), we could have used </a:t>
            </a:r>
            <a:r>
              <a:rPr lang="en-US" dirty="0" err="1"/>
              <a:t>mvn</a:t>
            </a:r>
            <a:r>
              <a:rPr lang="en-US" dirty="0"/>
              <a:t> instead of </a:t>
            </a:r>
            <a:r>
              <a:rPr lang="en-US" dirty="0" err="1"/>
              <a:t>mvnw</a:t>
            </a:r>
            <a:endParaRPr lang="en-US" dirty="0"/>
          </a:p>
          <a:p>
            <a:r>
              <a:rPr lang="en-US" dirty="0"/>
              <a:t> We could also start the app with either: ‘</a:t>
            </a:r>
            <a:r>
              <a:rPr lang="en-US" dirty="0" err="1"/>
              <a:t>mvn</a:t>
            </a:r>
            <a:r>
              <a:rPr lang="en-US" dirty="0"/>
              <a:t> </a:t>
            </a:r>
            <a:r>
              <a:rPr lang="en-US" dirty="0" err="1"/>
              <a:t>spring-boot:run</a:t>
            </a:r>
            <a:r>
              <a:rPr lang="en-US" dirty="0"/>
              <a:t>’ OR ‘</a:t>
            </a:r>
            <a:r>
              <a:rPr lang="en-US" dirty="0" err="1"/>
              <a:t>mvnw</a:t>
            </a:r>
            <a:r>
              <a:rPr lang="en-US" dirty="0"/>
              <a:t> </a:t>
            </a:r>
            <a:r>
              <a:rPr lang="en-US" dirty="0" err="1"/>
              <a:t>spring-boot:run</a:t>
            </a:r>
            <a:r>
              <a:rPr lang="en-US" dirty="0"/>
              <a:t>’</a:t>
            </a:r>
          </a:p>
          <a:p>
            <a:pPr lvl="1"/>
            <a:r>
              <a:rPr lang="en-US" dirty="0"/>
              <a:t>Instead of manually creating the jar and launching it</a:t>
            </a:r>
          </a:p>
        </p:txBody>
      </p:sp>
    </p:spTree>
    <p:extLst>
      <p:ext uri="{BB962C8B-B14F-4D97-AF65-F5344CB8AC3E}">
        <p14:creationId xmlns:p14="http://schemas.microsoft.com/office/powerpoint/2010/main" val="40399637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5244A-4786-1F7F-91AA-9BC32CF59F40}"/>
              </a:ext>
            </a:extLst>
          </p:cNvPr>
          <p:cNvSpPr>
            <a:spLocks noGrp="1"/>
          </p:cNvSpPr>
          <p:nvPr>
            <p:ph type="title"/>
          </p:nvPr>
        </p:nvSpPr>
        <p:spPr/>
        <p:txBody>
          <a:bodyPr/>
          <a:lstStyle/>
          <a:p>
            <a:r>
              <a:rPr lang="en-US" dirty="0"/>
              <a:t>Spring Logging</a:t>
            </a:r>
          </a:p>
        </p:txBody>
      </p:sp>
      <p:sp>
        <p:nvSpPr>
          <p:cNvPr id="3" name="Content Placeholder 2">
            <a:extLst>
              <a:ext uri="{FF2B5EF4-FFF2-40B4-BE49-F238E27FC236}">
                <a16:creationId xmlns:a16="http://schemas.microsoft.com/office/drawing/2014/main" id="{91E92798-073D-630E-DE59-98325F061CA0}"/>
              </a:ext>
            </a:extLst>
          </p:cNvPr>
          <p:cNvSpPr>
            <a:spLocks noGrp="1"/>
          </p:cNvSpPr>
          <p:nvPr>
            <p:ph idx="1"/>
          </p:nvPr>
        </p:nvSpPr>
        <p:spPr>
          <a:xfrm>
            <a:off x="506764" y="3676415"/>
            <a:ext cx="5277348" cy="2582482"/>
          </a:xfrm>
        </p:spPr>
        <p:txBody>
          <a:bodyPr>
            <a:normAutofit/>
          </a:bodyPr>
          <a:lstStyle/>
          <a:p>
            <a:r>
              <a:rPr lang="en-US" dirty="0"/>
              <a:t>Spring-boot-starter-</a:t>
            </a:r>
            <a:r>
              <a:rPr lang="en-US" dirty="0" err="1"/>
              <a:t>webmvc</a:t>
            </a:r>
            <a:r>
              <a:rPr lang="en-US" dirty="0"/>
              <a:t> already contains the logging dependencies we need</a:t>
            </a:r>
          </a:p>
          <a:p>
            <a:r>
              <a:rPr lang="en-US" dirty="0"/>
              <a:t>We can set properties in our ‘</a:t>
            </a:r>
            <a:r>
              <a:rPr lang="en-US" dirty="0" err="1"/>
              <a:t>application.properties</a:t>
            </a:r>
            <a:r>
              <a:rPr lang="en-US" dirty="0"/>
              <a:t>’ file to customize logging for Spring apps</a:t>
            </a:r>
          </a:p>
        </p:txBody>
      </p:sp>
      <p:pic>
        <p:nvPicPr>
          <p:cNvPr id="7" name="Picture 6">
            <a:extLst>
              <a:ext uri="{FF2B5EF4-FFF2-40B4-BE49-F238E27FC236}">
                <a16:creationId xmlns:a16="http://schemas.microsoft.com/office/drawing/2014/main" id="{6D8C2847-3894-D4B5-307D-BB25A3EE001A}"/>
              </a:ext>
            </a:extLst>
          </p:cNvPr>
          <p:cNvPicPr>
            <a:picLocks noChangeAspect="1"/>
          </p:cNvPicPr>
          <p:nvPr/>
        </p:nvPicPr>
        <p:blipFill>
          <a:blip r:embed="rId2"/>
          <a:stretch>
            <a:fillRect/>
          </a:stretch>
        </p:blipFill>
        <p:spPr>
          <a:xfrm>
            <a:off x="581192" y="1986195"/>
            <a:ext cx="7318799" cy="1242815"/>
          </a:xfrm>
          <a:prstGeom prst="rect">
            <a:avLst/>
          </a:prstGeom>
        </p:spPr>
      </p:pic>
      <p:pic>
        <p:nvPicPr>
          <p:cNvPr id="9" name="Picture 8">
            <a:extLst>
              <a:ext uri="{FF2B5EF4-FFF2-40B4-BE49-F238E27FC236}">
                <a16:creationId xmlns:a16="http://schemas.microsoft.com/office/drawing/2014/main" id="{AB32CC8A-1C49-CEA8-5542-1A56F5BE0257}"/>
              </a:ext>
            </a:extLst>
          </p:cNvPr>
          <p:cNvPicPr>
            <a:picLocks noChangeAspect="1"/>
          </p:cNvPicPr>
          <p:nvPr/>
        </p:nvPicPr>
        <p:blipFill>
          <a:blip r:embed="rId3"/>
          <a:stretch>
            <a:fillRect/>
          </a:stretch>
        </p:blipFill>
        <p:spPr>
          <a:xfrm>
            <a:off x="6096000" y="2961325"/>
            <a:ext cx="5943655" cy="3776875"/>
          </a:xfrm>
          <a:prstGeom prst="rect">
            <a:avLst/>
          </a:prstGeom>
        </p:spPr>
      </p:pic>
    </p:spTree>
    <p:extLst>
      <p:ext uri="{BB962C8B-B14F-4D97-AF65-F5344CB8AC3E}">
        <p14:creationId xmlns:p14="http://schemas.microsoft.com/office/powerpoint/2010/main" val="24788893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CA26-3453-93A8-54A5-5FAB19FBFE2C}"/>
              </a:ext>
            </a:extLst>
          </p:cNvPr>
          <p:cNvSpPr>
            <a:spLocks noGrp="1"/>
          </p:cNvSpPr>
          <p:nvPr>
            <p:ph type="title"/>
          </p:nvPr>
        </p:nvSpPr>
        <p:spPr/>
        <p:txBody>
          <a:bodyPr/>
          <a:lstStyle/>
          <a:p>
            <a:r>
              <a:rPr lang="en-US" dirty="0" err="1"/>
              <a:t>Application.properties</a:t>
            </a:r>
            <a:r>
              <a:rPr lang="en-US" dirty="0"/>
              <a:t> - config</a:t>
            </a:r>
          </a:p>
        </p:txBody>
      </p:sp>
      <p:pic>
        <p:nvPicPr>
          <p:cNvPr id="5" name="Content Placeholder 4">
            <a:extLst>
              <a:ext uri="{FF2B5EF4-FFF2-40B4-BE49-F238E27FC236}">
                <a16:creationId xmlns:a16="http://schemas.microsoft.com/office/drawing/2014/main" id="{6A629344-09C5-CFCB-2689-DA7944CE0784}"/>
              </a:ext>
            </a:extLst>
          </p:cNvPr>
          <p:cNvPicPr>
            <a:picLocks noGrp="1" noChangeAspect="1"/>
          </p:cNvPicPr>
          <p:nvPr>
            <p:ph idx="1"/>
          </p:nvPr>
        </p:nvPicPr>
        <p:blipFill>
          <a:blip r:embed="rId2"/>
          <a:stretch>
            <a:fillRect/>
          </a:stretch>
        </p:blipFill>
        <p:spPr>
          <a:xfrm>
            <a:off x="1766000" y="2011914"/>
            <a:ext cx="8659999" cy="4329999"/>
          </a:xfrm>
          <a:prstGeom prst="rect">
            <a:avLst/>
          </a:prstGeom>
        </p:spPr>
      </p:pic>
    </p:spTree>
    <p:extLst>
      <p:ext uri="{BB962C8B-B14F-4D97-AF65-F5344CB8AC3E}">
        <p14:creationId xmlns:p14="http://schemas.microsoft.com/office/powerpoint/2010/main" val="2043307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92F2-BD3F-5502-960E-3CFF35778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D234C-D59D-E997-1AA0-D508BFFD3CB6}"/>
              </a:ext>
            </a:extLst>
          </p:cNvPr>
          <p:cNvSpPr>
            <a:spLocks noGrp="1"/>
          </p:cNvSpPr>
          <p:nvPr>
            <p:ph type="title"/>
          </p:nvPr>
        </p:nvSpPr>
        <p:spPr/>
        <p:txBody>
          <a:bodyPr/>
          <a:lstStyle/>
          <a:p>
            <a:r>
              <a:rPr lang="en-US" dirty="0"/>
              <a:t>Challenge – custom endpoint &amp; logging</a:t>
            </a:r>
          </a:p>
        </p:txBody>
      </p:sp>
      <p:sp>
        <p:nvSpPr>
          <p:cNvPr id="3" name="Content Placeholder 2">
            <a:extLst>
              <a:ext uri="{FF2B5EF4-FFF2-40B4-BE49-F238E27FC236}">
                <a16:creationId xmlns:a16="http://schemas.microsoft.com/office/drawing/2014/main" id="{23F8E57B-9E41-4816-C2F2-1105A90F87A9}"/>
              </a:ext>
            </a:extLst>
          </p:cNvPr>
          <p:cNvSpPr>
            <a:spLocks noGrp="1"/>
          </p:cNvSpPr>
          <p:nvPr>
            <p:ph idx="1"/>
          </p:nvPr>
        </p:nvSpPr>
        <p:spPr>
          <a:xfrm>
            <a:off x="581192" y="2475925"/>
            <a:ext cx="5317584" cy="1681246"/>
          </a:xfrm>
        </p:spPr>
        <p:txBody>
          <a:bodyPr/>
          <a:lstStyle/>
          <a:p>
            <a:r>
              <a:rPr lang="en-US" dirty="0"/>
              <a:t>Create a new endpoint</a:t>
            </a:r>
          </a:p>
        </p:txBody>
      </p:sp>
      <p:sp>
        <p:nvSpPr>
          <p:cNvPr id="6" name="TextBox 5">
            <a:extLst>
              <a:ext uri="{FF2B5EF4-FFF2-40B4-BE49-F238E27FC236}">
                <a16:creationId xmlns:a16="http://schemas.microsoft.com/office/drawing/2014/main" id="{2DE50FF0-C783-F3C0-044D-2F094F317804}"/>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405306AE-2095-D0AE-E069-321DBC55370F}"/>
              </a:ext>
            </a:extLst>
          </p:cNvPr>
          <p:cNvSpPr txBox="1"/>
          <p:nvPr/>
        </p:nvSpPr>
        <p:spPr>
          <a:xfrm>
            <a:off x="6949165" y="2402747"/>
            <a:ext cx="4661643" cy="369332"/>
          </a:xfrm>
          <a:prstGeom prst="rect">
            <a:avLst/>
          </a:prstGeom>
          <a:noFill/>
        </p:spPr>
        <p:txBody>
          <a:bodyPr wrap="square" rtlCol="0">
            <a:spAutoFit/>
          </a:bodyPr>
          <a:lstStyle/>
          <a:p>
            <a:r>
              <a:rPr lang="en-US" b="1" dirty="0"/>
              <a:t>Scenario:  			   5 min</a:t>
            </a:r>
          </a:p>
        </p:txBody>
      </p:sp>
      <p:sp>
        <p:nvSpPr>
          <p:cNvPr id="8" name="Content Placeholder 2">
            <a:extLst>
              <a:ext uri="{FF2B5EF4-FFF2-40B4-BE49-F238E27FC236}">
                <a16:creationId xmlns:a16="http://schemas.microsoft.com/office/drawing/2014/main" id="{61B443B1-E14C-64AB-9E9D-75FFCF923C2B}"/>
              </a:ext>
            </a:extLst>
          </p:cNvPr>
          <p:cNvSpPr txBox="1">
            <a:spLocks/>
          </p:cNvSpPr>
          <p:nvPr/>
        </p:nvSpPr>
        <p:spPr>
          <a:xfrm>
            <a:off x="6545749" y="2772078"/>
            <a:ext cx="4661642" cy="2480405"/>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Create a new endpoint which returns a string = “My name is: VALUE” </a:t>
            </a:r>
          </a:p>
          <a:p>
            <a:r>
              <a:rPr lang="en-US" dirty="0"/>
              <a:t>Where “VALUE” is dynamically injected from a custom property in your ‘</a:t>
            </a:r>
            <a:r>
              <a:rPr lang="en-US" dirty="0" err="1"/>
              <a:t>application.properties</a:t>
            </a:r>
            <a:r>
              <a:rPr lang="en-US" dirty="0"/>
              <a:t>’ file</a:t>
            </a:r>
          </a:p>
          <a:p>
            <a:r>
              <a:rPr lang="en-US" dirty="0"/>
              <a:t>Log an info message to a file when someone makes a GET request on our endpoint</a:t>
            </a:r>
          </a:p>
        </p:txBody>
      </p:sp>
    </p:spTree>
    <p:extLst>
      <p:ext uri="{BB962C8B-B14F-4D97-AF65-F5344CB8AC3E}">
        <p14:creationId xmlns:p14="http://schemas.microsoft.com/office/powerpoint/2010/main" val="3587871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74C17-98B0-8F5B-E95A-35F2504AB753}"/>
              </a:ext>
            </a:extLst>
          </p:cNvPr>
          <p:cNvSpPr>
            <a:spLocks noGrp="1"/>
          </p:cNvSpPr>
          <p:nvPr>
            <p:ph type="title"/>
          </p:nvPr>
        </p:nvSpPr>
        <p:spPr/>
        <p:txBody>
          <a:bodyPr/>
          <a:lstStyle/>
          <a:p>
            <a:r>
              <a:rPr lang="en-US" dirty="0" err="1"/>
              <a:t>Ioc</a:t>
            </a:r>
            <a:r>
              <a:rPr lang="en-US" dirty="0"/>
              <a:t> – inversion of control</a:t>
            </a:r>
          </a:p>
        </p:txBody>
      </p:sp>
      <p:sp>
        <p:nvSpPr>
          <p:cNvPr id="3" name="Content Placeholder 2">
            <a:extLst>
              <a:ext uri="{FF2B5EF4-FFF2-40B4-BE49-F238E27FC236}">
                <a16:creationId xmlns:a16="http://schemas.microsoft.com/office/drawing/2014/main" id="{7E7F4752-EEAF-A273-B586-D491A7804FE7}"/>
              </a:ext>
            </a:extLst>
          </p:cNvPr>
          <p:cNvSpPr>
            <a:spLocks noGrp="1"/>
          </p:cNvSpPr>
          <p:nvPr>
            <p:ph idx="1"/>
          </p:nvPr>
        </p:nvSpPr>
        <p:spPr>
          <a:xfrm>
            <a:off x="581192" y="2180496"/>
            <a:ext cx="11029615" cy="3813208"/>
          </a:xfrm>
        </p:spPr>
        <p:txBody>
          <a:bodyPr>
            <a:normAutofit/>
          </a:bodyPr>
          <a:lstStyle/>
          <a:p>
            <a:r>
              <a:rPr lang="en-US" dirty="0"/>
              <a:t>The approach of outsourcing the construction and management of objects</a:t>
            </a:r>
          </a:p>
          <a:p>
            <a:r>
              <a:rPr lang="en-US" dirty="0"/>
              <a:t>The Spring Container has two main responsibilities:</a:t>
            </a:r>
          </a:p>
          <a:p>
            <a:pPr lvl="1"/>
            <a:r>
              <a:rPr lang="en-US" dirty="0"/>
              <a:t>Create and manage objects (IoC) </a:t>
            </a:r>
          </a:p>
          <a:p>
            <a:pPr lvl="1"/>
            <a:r>
              <a:rPr lang="en-US" dirty="0"/>
              <a:t>Inject object dependencies (Dependency Injection)</a:t>
            </a:r>
          </a:p>
          <a:p>
            <a:r>
              <a:rPr lang="en-US" dirty="0"/>
              <a:t>When it comes to configuring the Spring Container:</a:t>
            </a:r>
          </a:p>
          <a:p>
            <a:pPr lvl="1"/>
            <a:r>
              <a:rPr lang="en-US" dirty="0"/>
              <a:t>XML Configuration file (legacy)</a:t>
            </a:r>
          </a:p>
          <a:p>
            <a:pPr lvl="1"/>
            <a:r>
              <a:rPr lang="en-US" dirty="0"/>
              <a:t>Java Annotations (Modern)</a:t>
            </a:r>
          </a:p>
          <a:p>
            <a:pPr lvl="1"/>
            <a:r>
              <a:rPr lang="en-US" dirty="0"/>
              <a:t>Java source code (Modern)</a:t>
            </a:r>
          </a:p>
        </p:txBody>
      </p:sp>
    </p:spTree>
    <p:extLst>
      <p:ext uri="{BB962C8B-B14F-4D97-AF65-F5344CB8AC3E}">
        <p14:creationId xmlns:p14="http://schemas.microsoft.com/office/powerpoint/2010/main" val="13256939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EE404-BAF4-4DED-8905-16EDEF6A6D44}"/>
              </a:ext>
            </a:extLst>
          </p:cNvPr>
          <p:cNvSpPr>
            <a:spLocks noGrp="1"/>
          </p:cNvSpPr>
          <p:nvPr>
            <p:ph type="title"/>
          </p:nvPr>
        </p:nvSpPr>
        <p:spPr/>
        <p:txBody>
          <a:bodyPr>
            <a:normAutofit/>
          </a:bodyPr>
          <a:lstStyle/>
          <a:p>
            <a:r>
              <a:rPr lang="en-US" sz="2400" dirty="0"/>
              <a:t>Spring Dependency Injection through dependency Inversion</a:t>
            </a:r>
          </a:p>
        </p:txBody>
      </p:sp>
      <p:sp>
        <p:nvSpPr>
          <p:cNvPr id="3" name="Content Placeholder 2">
            <a:extLst>
              <a:ext uri="{FF2B5EF4-FFF2-40B4-BE49-F238E27FC236}">
                <a16:creationId xmlns:a16="http://schemas.microsoft.com/office/drawing/2014/main" id="{C95C36DE-2F63-CD1C-3D79-5E66B9C4A219}"/>
              </a:ext>
            </a:extLst>
          </p:cNvPr>
          <p:cNvSpPr>
            <a:spLocks noGrp="1"/>
          </p:cNvSpPr>
          <p:nvPr>
            <p:ph idx="1"/>
          </p:nvPr>
        </p:nvSpPr>
        <p:spPr>
          <a:xfrm>
            <a:off x="581192" y="2180496"/>
            <a:ext cx="3934441" cy="4245356"/>
          </a:xfrm>
        </p:spPr>
        <p:txBody>
          <a:bodyPr/>
          <a:lstStyle/>
          <a:p>
            <a:r>
              <a:rPr lang="en-US" dirty="0"/>
              <a:t>SOLID</a:t>
            </a:r>
          </a:p>
          <a:p>
            <a:r>
              <a:rPr lang="en-US" dirty="0"/>
              <a:t>Dependency Inversion – the client delegates to another object the responsibility of providing its dependencies</a:t>
            </a:r>
          </a:p>
          <a:p>
            <a:pPr lvl="1"/>
            <a:r>
              <a:rPr lang="en-US" dirty="0"/>
              <a:t>Give me a car </a:t>
            </a:r>
            <a:r>
              <a:rPr lang="en-US" dirty="0">
                <a:sym typeface="Wingdings" panose="05000000000000000000" pitchFamily="2" charset="2"/>
              </a:rPr>
              <a:t> Car Factory </a:t>
            </a:r>
          </a:p>
          <a:p>
            <a:pPr lvl="1"/>
            <a:r>
              <a:rPr lang="en-US" dirty="0">
                <a:sym typeface="Wingdings" panose="05000000000000000000" pitchFamily="2" charset="2"/>
              </a:rPr>
              <a:t>Car Factory may need to assemble the car first (gather its dependencies)</a:t>
            </a:r>
          </a:p>
          <a:p>
            <a:pPr lvl="1"/>
            <a:r>
              <a:rPr lang="en-US" dirty="0">
                <a:sym typeface="Wingdings" panose="05000000000000000000" pitchFamily="2" charset="2"/>
              </a:rPr>
              <a:t>We get a car without needing to provide its dependencies ourself</a:t>
            </a:r>
            <a:endParaRPr lang="en-US" dirty="0"/>
          </a:p>
        </p:txBody>
      </p:sp>
      <p:pic>
        <p:nvPicPr>
          <p:cNvPr id="5" name="Picture 4">
            <a:extLst>
              <a:ext uri="{FF2B5EF4-FFF2-40B4-BE49-F238E27FC236}">
                <a16:creationId xmlns:a16="http://schemas.microsoft.com/office/drawing/2014/main" id="{B9C12433-7FBD-CC70-8B57-A0D6795224B9}"/>
              </a:ext>
            </a:extLst>
          </p:cNvPr>
          <p:cNvPicPr>
            <a:picLocks noChangeAspect="1"/>
          </p:cNvPicPr>
          <p:nvPr/>
        </p:nvPicPr>
        <p:blipFill>
          <a:blip r:embed="rId2"/>
          <a:stretch>
            <a:fillRect/>
          </a:stretch>
        </p:blipFill>
        <p:spPr>
          <a:xfrm>
            <a:off x="4712054" y="2354243"/>
            <a:ext cx="6763694" cy="3715268"/>
          </a:xfrm>
          <a:prstGeom prst="rect">
            <a:avLst/>
          </a:prstGeom>
        </p:spPr>
      </p:pic>
    </p:spTree>
    <p:extLst>
      <p:ext uri="{BB962C8B-B14F-4D97-AF65-F5344CB8AC3E}">
        <p14:creationId xmlns:p14="http://schemas.microsoft.com/office/powerpoint/2010/main" val="2315596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EA08F-2A61-BCCC-7645-574CE00020D3}"/>
              </a:ext>
            </a:extLst>
          </p:cNvPr>
          <p:cNvSpPr>
            <a:spLocks noGrp="1"/>
          </p:cNvSpPr>
          <p:nvPr>
            <p:ph type="title"/>
          </p:nvPr>
        </p:nvSpPr>
        <p:spPr/>
        <p:txBody>
          <a:bodyPr/>
          <a:lstStyle/>
          <a:p>
            <a:r>
              <a:rPr lang="en-US" dirty="0"/>
              <a:t>Types of dependency injection</a:t>
            </a:r>
          </a:p>
        </p:txBody>
      </p:sp>
      <p:sp>
        <p:nvSpPr>
          <p:cNvPr id="3" name="Content Placeholder 2">
            <a:extLst>
              <a:ext uri="{FF2B5EF4-FFF2-40B4-BE49-F238E27FC236}">
                <a16:creationId xmlns:a16="http://schemas.microsoft.com/office/drawing/2014/main" id="{D48F7C71-6A9C-5BF7-A8BC-74A8E51EBA89}"/>
              </a:ext>
            </a:extLst>
          </p:cNvPr>
          <p:cNvSpPr>
            <a:spLocks noGrp="1"/>
          </p:cNvSpPr>
          <p:nvPr>
            <p:ph idx="1"/>
          </p:nvPr>
        </p:nvSpPr>
        <p:spPr>
          <a:xfrm>
            <a:off x="581192" y="2180496"/>
            <a:ext cx="11029615" cy="4220304"/>
          </a:xfrm>
        </p:spPr>
        <p:txBody>
          <a:bodyPr>
            <a:normAutofit fontScale="92500" lnSpcReduction="20000"/>
          </a:bodyPr>
          <a:lstStyle/>
          <a:p>
            <a:r>
              <a:rPr lang="en-US" dirty="0">
                <a:solidFill>
                  <a:schemeClr val="accent2"/>
                </a:solidFill>
              </a:rPr>
              <a:t>Constructor Injection </a:t>
            </a:r>
          </a:p>
          <a:p>
            <a:pPr lvl="1"/>
            <a:r>
              <a:rPr lang="en-US" dirty="0"/>
              <a:t>Use this when you have required dependencies</a:t>
            </a:r>
          </a:p>
          <a:p>
            <a:pPr lvl="1"/>
            <a:r>
              <a:rPr lang="en-US" dirty="0"/>
              <a:t>Generally recommended by the spring.io development team as the first choice</a:t>
            </a:r>
          </a:p>
          <a:p>
            <a:pPr lvl="1"/>
            <a:r>
              <a:rPr lang="en-US" dirty="0"/>
              <a:t>This form of Dependency Injection is accomplished when a class receives its dependencies through its constructor during the instantiation process.</a:t>
            </a:r>
          </a:p>
          <a:p>
            <a:r>
              <a:rPr lang="en-US" dirty="0">
                <a:solidFill>
                  <a:schemeClr val="accent2"/>
                </a:solidFill>
              </a:rPr>
              <a:t>Setter Injection</a:t>
            </a:r>
          </a:p>
          <a:p>
            <a:pPr lvl="1"/>
            <a:r>
              <a:rPr lang="en-US" dirty="0"/>
              <a:t>Use this when you have optional dependencies</a:t>
            </a:r>
          </a:p>
          <a:p>
            <a:pPr lvl="1"/>
            <a:r>
              <a:rPr lang="en-US" dirty="0"/>
              <a:t>If dependency is not provided, your app can provide reasonable default logic</a:t>
            </a:r>
          </a:p>
          <a:p>
            <a:pPr lvl="1"/>
            <a:r>
              <a:rPr lang="en-US" dirty="0"/>
              <a:t>This type of Dependency Injection happens when a class receives its dependencies through setter methods after it has been constructed.</a:t>
            </a:r>
          </a:p>
          <a:p>
            <a:r>
              <a:rPr lang="en-US" dirty="0">
                <a:solidFill>
                  <a:schemeClr val="accent2"/>
                </a:solidFill>
              </a:rPr>
              <a:t>Field Injection </a:t>
            </a:r>
            <a:r>
              <a:rPr lang="en-US" dirty="0"/>
              <a:t>(generally less recommended)</a:t>
            </a:r>
          </a:p>
          <a:p>
            <a:pPr lvl="1"/>
            <a:r>
              <a:rPr lang="en-US" dirty="0"/>
              <a:t> Field Injection happens when the dependencies are injected directly into the fields of a class, bypassing the constructor or setters.</a:t>
            </a:r>
          </a:p>
          <a:p>
            <a:pPr lvl="1"/>
            <a:r>
              <a:rPr lang="en-US" dirty="0"/>
              <a:t>It reduces the amount of boilerplate code, as no explicit setter or constructor is needed. BUT, it makes your classes harder to test because you can't easily replace the dependencies with mocks. It also breaks encapsulation because you're modifying private fields outside of the class.</a:t>
            </a:r>
          </a:p>
        </p:txBody>
      </p:sp>
    </p:spTree>
    <p:extLst>
      <p:ext uri="{BB962C8B-B14F-4D97-AF65-F5344CB8AC3E}">
        <p14:creationId xmlns:p14="http://schemas.microsoft.com/office/powerpoint/2010/main" val="36206350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64DE1-F138-46D8-A075-E7D372469630}"/>
              </a:ext>
            </a:extLst>
          </p:cNvPr>
          <p:cNvSpPr>
            <a:spLocks noGrp="1"/>
          </p:cNvSpPr>
          <p:nvPr>
            <p:ph type="title"/>
          </p:nvPr>
        </p:nvSpPr>
        <p:spPr/>
        <p:txBody>
          <a:bodyPr/>
          <a:lstStyle/>
          <a:p>
            <a:r>
              <a:rPr lang="en-US" dirty="0"/>
              <a:t>What is spring </a:t>
            </a:r>
            <a:r>
              <a:rPr lang="en-US" dirty="0" err="1"/>
              <a:t>autowiring</a:t>
            </a:r>
            <a:endParaRPr lang="en-US" dirty="0"/>
          </a:p>
        </p:txBody>
      </p:sp>
      <p:sp>
        <p:nvSpPr>
          <p:cNvPr id="3" name="Content Placeholder 2">
            <a:extLst>
              <a:ext uri="{FF2B5EF4-FFF2-40B4-BE49-F238E27FC236}">
                <a16:creationId xmlns:a16="http://schemas.microsoft.com/office/drawing/2014/main" id="{1810AB03-3CF2-CDD9-0C4D-B3DC07753239}"/>
              </a:ext>
            </a:extLst>
          </p:cNvPr>
          <p:cNvSpPr>
            <a:spLocks noGrp="1"/>
          </p:cNvSpPr>
          <p:nvPr>
            <p:ph idx="1"/>
          </p:nvPr>
        </p:nvSpPr>
        <p:spPr>
          <a:xfrm>
            <a:off x="581191" y="2286967"/>
            <a:ext cx="6765323" cy="4063729"/>
          </a:xfrm>
        </p:spPr>
        <p:txBody>
          <a:bodyPr>
            <a:normAutofit/>
          </a:bodyPr>
          <a:lstStyle/>
          <a:p>
            <a:r>
              <a:rPr lang="en-US" dirty="0"/>
              <a:t>For dependency injection, Spring can use </a:t>
            </a:r>
            <a:r>
              <a:rPr lang="en-US" dirty="0" err="1">
                <a:solidFill>
                  <a:schemeClr val="accent2"/>
                </a:solidFill>
              </a:rPr>
              <a:t>AutoWiring</a:t>
            </a:r>
            <a:endParaRPr lang="en-US" dirty="0">
              <a:solidFill>
                <a:schemeClr val="accent2"/>
              </a:solidFill>
            </a:endParaRPr>
          </a:p>
          <a:p>
            <a:r>
              <a:rPr lang="en-US" dirty="0"/>
              <a:t>This is a convention-based approach</a:t>
            </a:r>
          </a:p>
          <a:p>
            <a:r>
              <a:rPr lang="en-US" dirty="0"/>
              <a:t>Spring will look for a class that matches (by type: class or interface)</a:t>
            </a:r>
          </a:p>
          <a:p>
            <a:r>
              <a:rPr lang="en-US" dirty="0"/>
              <a:t>Spring will then inject it automatically, hence ‘</a:t>
            </a:r>
            <a:r>
              <a:rPr lang="en-US" dirty="0" err="1"/>
              <a:t>AutoWired</a:t>
            </a:r>
            <a:r>
              <a:rPr lang="en-US" dirty="0"/>
              <a:t>’</a:t>
            </a:r>
          </a:p>
          <a:p>
            <a:r>
              <a:rPr lang="en-US" dirty="0"/>
              <a:t>Spring will scan for </a:t>
            </a:r>
            <a:r>
              <a:rPr lang="en-US" dirty="0">
                <a:solidFill>
                  <a:schemeClr val="accent2"/>
                </a:solidFill>
              </a:rPr>
              <a:t>@component</a:t>
            </a:r>
            <a:r>
              <a:rPr lang="en-US" dirty="0"/>
              <a:t>, if any implement the needed class, in gets automatically loaded, this is called </a:t>
            </a:r>
            <a:r>
              <a:rPr lang="en-US" dirty="0">
                <a:solidFill>
                  <a:schemeClr val="accent2"/>
                </a:solidFill>
              </a:rPr>
              <a:t>component scanning</a:t>
            </a:r>
          </a:p>
          <a:p>
            <a:r>
              <a:rPr lang="en-US" dirty="0">
                <a:solidFill>
                  <a:schemeClr val="tx1"/>
                </a:solidFill>
              </a:rPr>
              <a:t>Classes marked as ’@Component’ means objects instantiated from this class are what we refer to as a </a:t>
            </a:r>
            <a:r>
              <a:rPr lang="en-US" dirty="0">
                <a:solidFill>
                  <a:schemeClr val="accent2"/>
                </a:solidFill>
              </a:rPr>
              <a:t>Spring Bean</a:t>
            </a:r>
          </a:p>
          <a:p>
            <a:r>
              <a:rPr lang="en-US" dirty="0">
                <a:solidFill>
                  <a:schemeClr val="accent2"/>
                </a:solidFill>
              </a:rPr>
              <a:t>Another note: </a:t>
            </a:r>
            <a:r>
              <a:rPr lang="en-US" dirty="0">
                <a:solidFill>
                  <a:schemeClr val="tx1"/>
                </a:solidFill>
              </a:rPr>
              <a:t>If we only have a single constructor, @Autowired is technically optional</a:t>
            </a:r>
            <a:endParaRPr lang="en-US" dirty="0">
              <a:solidFill>
                <a:schemeClr val="accent2"/>
              </a:solidFill>
            </a:endParaRPr>
          </a:p>
        </p:txBody>
      </p:sp>
      <p:sp>
        <p:nvSpPr>
          <p:cNvPr id="5" name="TextBox 4">
            <a:extLst>
              <a:ext uri="{FF2B5EF4-FFF2-40B4-BE49-F238E27FC236}">
                <a16:creationId xmlns:a16="http://schemas.microsoft.com/office/drawing/2014/main" id="{C1FC67F3-A875-F337-8A5D-F22D59375666}"/>
              </a:ext>
            </a:extLst>
          </p:cNvPr>
          <p:cNvSpPr txBox="1"/>
          <p:nvPr/>
        </p:nvSpPr>
        <p:spPr>
          <a:xfrm>
            <a:off x="7787538" y="2072949"/>
            <a:ext cx="3535992" cy="4662815"/>
          </a:xfrm>
          <a:prstGeom prst="rect">
            <a:avLst/>
          </a:prstGeom>
          <a:noFill/>
        </p:spPr>
        <p:txBody>
          <a:bodyPr wrap="square">
            <a:spAutoFit/>
          </a:bodyPr>
          <a:lstStyle/>
          <a:p>
            <a:pPr indent="0" algn="l" rtl="0">
              <a:buNone/>
            </a:pPr>
            <a:r>
              <a:rPr lang="en-US" sz="900" b="0" i="0" dirty="0">
                <a:solidFill>
                  <a:schemeClr val="tx1"/>
                </a:solidFill>
                <a:effectLst/>
                <a:latin typeface="+mn-lt"/>
              </a:rPr>
              <a:t>@Component</a:t>
            </a:r>
          </a:p>
          <a:p>
            <a:pPr indent="0" algn="l" rtl="0">
              <a:buNone/>
            </a:pPr>
            <a:r>
              <a:rPr lang="en-US" sz="900" b="0" i="0" dirty="0">
                <a:solidFill>
                  <a:schemeClr val="tx1"/>
                </a:solidFill>
                <a:effectLst/>
                <a:latin typeface="+mn-lt"/>
              </a:rPr>
              <a:t>class Engine {</a:t>
            </a:r>
          </a:p>
          <a:p>
            <a:pPr indent="0" algn="l" rtl="0">
              <a:buNone/>
            </a:pPr>
            <a:r>
              <a:rPr lang="en-US" sz="900" b="0" i="0" dirty="0">
                <a:solidFill>
                  <a:schemeClr val="tx1"/>
                </a:solidFill>
                <a:effectLst/>
                <a:latin typeface="+mn-lt"/>
              </a:rPr>
              <a:t>    void start() {</a:t>
            </a:r>
          </a:p>
          <a:p>
            <a:pPr indent="0" algn="l" rtl="0">
              <a:buNone/>
            </a:pPr>
            <a:r>
              <a:rPr lang="en-US" sz="900" b="0" i="0" dirty="0">
                <a:solidFill>
                  <a:schemeClr val="tx1"/>
                </a:solidFill>
                <a:effectLst/>
                <a:latin typeface="+mn-lt"/>
              </a:rPr>
              <a:t>        </a:t>
            </a:r>
            <a:r>
              <a:rPr lang="en-US" sz="900" b="0" i="0" dirty="0" err="1">
                <a:solidFill>
                  <a:schemeClr val="tx1"/>
                </a:solidFill>
                <a:effectLst/>
                <a:latin typeface="+mn-lt"/>
              </a:rPr>
              <a:t>System.out.println</a:t>
            </a:r>
            <a:r>
              <a:rPr lang="en-US" sz="900" b="0" i="0" dirty="0">
                <a:solidFill>
                  <a:schemeClr val="tx1"/>
                </a:solidFill>
                <a:effectLst/>
                <a:latin typeface="+mn-lt"/>
              </a:rPr>
              <a:t>("Engine started");</a:t>
            </a:r>
          </a:p>
          <a:p>
            <a:pPr indent="0" algn="l" rtl="0">
              <a:buNone/>
            </a:pPr>
            <a:r>
              <a:rPr lang="en-US" sz="900" b="0" i="0" dirty="0">
                <a:solidFill>
                  <a:schemeClr val="tx1"/>
                </a:solidFill>
                <a:effectLst/>
                <a:latin typeface="+mn-lt"/>
              </a:rPr>
              <a:t>    }</a:t>
            </a:r>
          </a:p>
          <a:p>
            <a:pPr indent="0" algn="l" rtl="0">
              <a:buNone/>
            </a:pPr>
            <a:r>
              <a:rPr lang="en-US" sz="900" b="0" i="0" dirty="0">
                <a:solidFill>
                  <a:schemeClr val="tx1"/>
                </a:solidFill>
                <a:effectLst/>
                <a:latin typeface="+mn-lt"/>
              </a:rPr>
              <a:t>}</a:t>
            </a:r>
          </a:p>
          <a:p>
            <a:pPr indent="0" algn="l" rtl="0">
              <a:buNone/>
            </a:pPr>
            <a:endParaRPr lang="en-US" sz="900" b="0" i="0" dirty="0">
              <a:solidFill>
                <a:schemeClr val="tx1"/>
              </a:solidFill>
              <a:effectLst/>
              <a:latin typeface="+mn-lt"/>
            </a:endParaRPr>
          </a:p>
          <a:p>
            <a:r>
              <a:rPr lang="en-US" sz="900" dirty="0"/>
              <a:t>@Component</a:t>
            </a:r>
          </a:p>
          <a:p>
            <a:r>
              <a:rPr lang="en-US" sz="900" dirty="0"/>
              <a:t>class Car {</a:t>
            </a:r>
          </a:p>
          <a:p>
            <a:endParaRPr lang="en-US" sz="900" dirty="0"/>
          </a:p>
          <a:p>
            <a:r>
              <a:rPr lang="en-US" sz="900" dirty="0"/>
              <a:t>private final Engine </a:t>
            </a:r>
            <a:r>
              <a:rPr lang="en-US" sz="900" dirty="0" err="1"/>
              <a:t>engine</a:t>
            </a:r>
            <a:r>
              <a:rPr lang="en-US" sz="900" dirty="0"/>
              <a:t>;</a:t>
            </a:r>
          </a:p>
          <a:p>
            <a:r>
              <a:rPr lang="en-US" sz="900" dirty="0"/>
              <a:t>    </a:t>
            </a:r>
          </a:p>
          <a:p>
            <a:r>
              <a:rPr lang="en-US" sz="900" dirty="0"/>
              <a:t>   @Autowired</a:t>
            </a:r>
          </a:p>
          <a:p>
            <a:r>
              <a:rPr lang="en-US" sz="900" dirty="0"/>
              <a:t>    Car(Engine engine) {</a:t>
            </a:r>
          </a:p>
          <a:p>
            <a:r>
              <a:rPr lang="en-US" sz="900" dirty="0"/>
              <a:t>        </a:t>
            </a:r>
            <a:r>
              <a:rPr lang="en-US" sz="900" dirty="0" err="1"/>
              <a:t>this.engine</a:t>
            </a:r>
            <a:r>
              <a:rPr lang="en-US" sz="900" dirty="0"/>
              <a:t> = engine;</a:t>
            </a:r>
          </a:p>
          <a:p>
            <a:r>
              <a:rPr lang="en-US" sz="900" dirty="0"/>
              <a:t>    }</a:t>
            </a:r>
          </a:p>
          <a:p>
            <a:pPr indent="0" algn="l" rtl="0">
              <a:buNone/>
            </a:pPr>
            <a:endParaRPr lang="en-US" sz="900" b="0" i="0" dirty="0">
              <a:solidFill>
                <a:schemeClr val="tx1"/>
              </a:solidFill>
              <a:effectLst/>
              <a:latin typeface="+mn-lt"/>
            </a:endParaRPr>
          </a:p>
          <a:p>
            <a:pPr indent="0" algn="l" rtl="0">
              <a:buNone/>
            </a:pPr>
            <a:r>
              <a:rPr lang="en-US" sz="900" b="0" i="0" dirty="0">
                <a:solidFill>
                  <a:schemeClr val="tx1"/>
                </a:solidFill>
                <a:effectLst/>
                <a:latin typeface="+mn-lt"/>
              </a:rPr>
              <a:t>    void drive() {</a:t>
            </a:r>
          </a:p>
          <a:p>
            <a:pPr indent="0" algn="l" rtl="0">
              <a:buNone/>
            </a:pPr>
            <a:r>
              <a:rPr lang="en-US" sz="900" b="0" i="0" dirty="0">
                <a:solidFill>
                  <a:schemeClr val="tx1"/>
                </a:solidFill>
                <a:effectLst/>
                <a:latin typeface="+mn-lt"/>
              </a:rPr>
              <a:t>        </a:t>
            </a:r>
            <a:r>
              <a:rPr lang="en-US" sz="900" b="0" i="0" dirty="0" err="1">
                <a:solidFill>
                  <a:schemeClr val="tx1"/>
                </a:solidFill>
                <a:effectLst/>
                <a:latin typeface="+mn-lt"/>
              </a:rPr>
              <a:t>engine.start</a:t>
            </a:r>
            <a:r>
              <a:rPr lang="en-US" sz="900" b="0" i="0" dirty="0">
                <a:solidFill>
                  <a:schemeClr val="tx1"/>
                </a:solidFill>
                <a:effectLst/>
                <a:latin typeface="+mn-lt"/>
              </a:rPr>
              <a:t>();</a:t>
            </a:r>
          </a:p>
          <a:p>
            <a:pPr indent="0" algn="l" rtl="0">
              <a:buNone/>
            </a:pPr>
            <a:r>
              <a:rPr lang="en-US" sz="900" b="0" i="0" dirty="0">
                <a:solidFill>
                  <a:schemeClr val="tx1"/>
                </a:solidFill>
                <a:effectLst/>
                <a:latin typeface="+mn-lt"/>
              </a:rPr>
              <a:t>        </a:t>
            </a:r>
            <a:r>
              <a:rPr lang="en-US" sz="900" b="0" i="0" dirty="0" err="1">
                <a:solidFill>
                  <a:schemeClr val="tx1"/>
                </a:solidFill>
                <a:effectLst/>
                <a:latin typeface="+mn-lt"/>
              </a:rPr>
              <a:t>System.out.println</a:t>
            </a:r>
            <a:r>
              <a:rPr lang="en-US" sz="900" b="0" i="0" dirty="0">
                <a:solidFill>
                  <a:schemeClr val="tx1"/>
                </a:solidFill>
                <a:effectLst/>
                <a:latin typeface="+mn-lt"/>
              </a:rPr>
              <a:t>("Car is driving");</a:t>
            </a:r>
          </a:p>
          <a:p>
            <a:pPr indent="0" algn="l" rtl="0">
              <a:buNone/>
            </a:pPr>
            <a:r>
              <a:rPr lang="en-US" sz="900" b="0" i="0" dirty="0">
                <a:solidFill>
                  <a:schemeClr val="tx1"/>
                </a:solidFill>
                <a:effectLst/>
                <a:latin typeface="+mn-lt"/>
              </a:rPr>
              <a:t>    }</a:t>
            </a:r>
          </a:p>
          <a:p>
            <a:pPr indent="0" algn="l" rtl="0">
              <a:buNone/>
            </a:pPr>
            <a:r>
              <a:rPr lang="en-US" sz="900" b="0" i="0" dirty="0">
                <a:solidFill>
                  <a:schemeClr val="tx1"/>
                </a:solidFill>
                <a:effectLst/>
                <a:latin typeface="+mn-lt"/>
              </a:rPr>
              <a:t>}</a:t>
            </a:r>
          </a:p>
          <a:p>
            <a:pPr indent="0" algn="l" rtl="0">
              <a:buNone/>
            </a:pPr>
            <a:endParaRPr lang="en-US" sz="900" b="0" i="0" dirty="0">
              <a:solidFill>
                <a:schemeClr val="tx1"/>
              </a:solidFill>
              <a:effectLst/>
              <a:latin typeface="+mn-lt"/>
            </a:endParaRPr>
          </a:p>
          <a:p>
            <a:pPr indent="0" algn="l" rtl="0">
              <a:buNone/>
            </a:pPr>
            <a:r>
              <a:rPr lang="en-US" sz="900" b="0" i="0" dirty="0">
                <a:solidFill>
                  <a:schemeClr val="tx1"/>
                </a:solidFill>
                <a:effectLst/>
                <a:latin typeface="+mn-lt"/>
              </a:rPr>
              <a:t>@SpringBootApplication</a:t>
            </a:r>
          </a:p>
          <a:p>
            <a:pPr indent="0" algn="l" rtl="0">
              <a:buNone/>
            </a:pPr>
            <a:r>
              <a:rPr lang="en-US" sz="900" b="0" i="0" dirty="0">
                <a:solidFill>
                  <a:schemeClr val="tx1"/>
                </a:solidFill>
                <a:effectLst/>
                <a:latin typeface="+mn-lt"/>
              </a:rPr>
              <a:t>public class App {</a:t>
            </a:r>
          </a:p>
          <a:p>
            <a:pPr indent="0" algn="l" rtl="0">
              <a:buNone/>
            </a:pPr>
            <a:r>
              <a:rPr lang="en-US" sz="900" b="0" i="0" dirty="0">
                <a:solidFill>
                  <a:schemeClr val="tx1"/>
                </a:solidFill>
                <a:effectLst/>
                <a:latin typeface="+mn-lt"/>
              </a:rPr>
              <a:t>    public static void main(String[] </a:t>
            </a:r>
            <a:r>
              <a:rPr lang="en-US" sz="900" b="0" i="0" dirty="0" err="1">
                <a:solidFill>
                  <a:schemeClr val="tx1"/>
                </a:solidFill>
                <a:effectLst/>
                <a:latin typeface="+mn-lt"/>
              </a:rPr>
              <a:t>args</a:t>
            </a:r>
            <a:r>
              <a:rPr lang="en-US" sz="900" b="0" i="0" dirty="0">
                <a:solidFill>
                  <a:schemeClr val="tx1"/>
                </a:solidFill>
                <a:effectLst/>
                <a:latin typeface="+mn-lt"/>
              </a:rPr>
              <a:t>) {</a:t>
            </a:r>
          </a:p>
          <a:p>
            <a:pPr indent="0" algn="l" rtl="0">
              <a:buNone/>
            </a:pPr>
            <a:r>
              <a:rPr lang="en-US" sz="900" b="0" i="0" dirty="0">
                <a:solidFill>
                  <a:schemeClr val="tx1"/>
                </a:solidFill>
                <a:effectLst/>
                <a:latin typeface="+mn-lt"/>
              </a:rPr>
              <a:t>        </a:t>
            </a:r>
            <a:r>
              <a:rPr lang="en-US" sz="900" b="0" i="0" dirty="0" err="1">
                <a:solidFill>
                  <a:schemeClr val="tx1"/>
                </a:solidFill>
                <a:effectLst/>
                <a:latin typeface="+mn-lt"/>
              </a:rPr>
              <a:t>ApplicationContext</a:t>
            </a:r>
            <a:r>
              <a:rPr lang="en-US" sz="900" b="0" i="0" dirty="0">
                <a:solidFill>
                  <a:schemeClr val="tx1"/>
                </a:solidFill>
                <a:effectLst/>
                <a:latin typeface="+mn-lt"/>
              </a:rPr>
              <a:t> context =</a:t>
            </a:r>
          </a:p>
          <a:p>
            <a:pPr indent="0" algn="l" rtl="0">
              <a:buNone/>
            </a:pPr>
            <a:r>
              <a:rPr lang="en-US" sz="900" b="0" i="0" dirty="0">
                <a:solidFill>
                  <a:schemeClr val="tx1"/>
                </a:solidFill>
                <a:effectLst/>
                <a:latin typeface="+mn-lt"/>
              </a:rPr>
              <a:t>            </a:t>
            </a:r>
            <a:r>
              <a:rPr lang="en-US" sz="900" b="0" i="0" dirty="0" err="1">
                <a:solidFill>
                  <a:schemeClr val="tx1"/>
                </a:solidFill>
                <a:effectLst/>
                <a:latin typeface="+mn-lt"/>
              </a:rPr>
              <a:t>SpringApplication.run</a:t>
            </a:r>
            <a:r>
              <a:rPr lang="en-US" sz="900" b="0" i="0" dirty="0">
                <a:solidFill>
                  <a:schemeClr val="tx1"/>
                </a:solidFill>
                <a:effectLst/>
                <a:latin typeface="+mn-lt"/>
              </a:rPr>
              <a:t>(</a:t>
            </a:r>
            <a:r>
              <a:rPr lang="en-US" sz="900" b="0" i="0" dirty="0" err="1">
                <a:solidFill>
                  <a:schemeClr val="tx1"/>
                </a:solidFill>
                <a:effectLst/>
                <a:latin typeface="+mn-lt"/>
              </a:rPr>
              <a:t>App.class</a:t>
            </a:r>
            <a:r>
              <a:rPr lang="en-US" sz="900" b="0" i="0" dirty="0">
                <a:solidFill>
                  <a:schemeClr val="tx1"/>
                </a:solidFill>
                <a:effectLst/>
                <a:latin typeface="+mn-lt"/>
              </a:rPr>
              <a:t>, </a:t>
            </a:r>
            <a:r>
              <a:rPr lang="en-US" sz="900" b="0" i="0" dirty="0" err="1">
                <a:solidFill>
                  <a:schemeClr val="tx1"/>
                </a:solidFill>
                <a:effectLst/>
                <a:latin typeface="+mn-lt"/>
              </a:rPr>
              <a:t>args</a:t>
            </a:r>
            <a:r>
              <a:rPr lang="en-US" sz="900" b="0" i="0" dirty="0">
                <a:solidFill>
                  <a:schemeClr val="tx1"/>
                </a:solidFill>
                <a:effectLst/>
                <a:latin typeface="+mn-lt"/>
              </a:rPr>
              <a:t>);</a:t>
            </a:r>
          </a:p>
          <a:p>
            <a:pPr indent="0" algn="l" rtl="0">
              <a:buNone/>
            </a:pPr>
            <a:endParaRPr lang="en-US" sz="900" b="0" i="0" dirty="0">
              <a:solidFill>
                <a:schemeClr val="tx1"/>
              </a:solidFill>
              <a:effectLst/>
              <a:latin typeface="+mn-lt"/>
            </a:endParaRPr>
          </a:p>
          <a:p>
            <a:pPr indent="0" algn="l" rtl="0">
              <a:buNone/>
            </a:pPr>
            <a:r>
              <a:rPr lang="en-US" sz="900" b="0" i="0" dirty="0">
                <a:solidFill>
                  <a:schemeClr val="tx1"/>
                </a:solidFill>
                <a:effectLst/>
                <a:latin typeface="+mn-lt"/>
              </a:rPr>
              <a:t>        Car </a:t>
            </a:r>
            <a:r>
              <a:rPr lang="en-US" sz="900" b="0" i="0" dirty="0" err="1">
                <a:solidFill>
                  <a:schemeClr val="tx1"/>
                </a:solidFill>
                <a:effectLst/>
                <a:latin typeface="+mn-lt"/>
              </a:rPr>
              <a:t>car</a:t>
            </a:r>
            <a:r>
              <a:rPr lang="en-US" sz="900" b="0" i="0" dirty="0">
                <a:solidFill>
                  <a:schemeClr val="tx1"/>
                </a:solidFill>
                <a:effectLst/>
                <a:latin typeface="+mn-lt"/>
              </a:rPr>
              <a:t> = </a:t>
            </a:r>
            <a:r>
              <a:rPr lang="en-US" sz="900" b="0" i="0" dirty="0" err="1">
                <a:solidFill>
                  <a:schemeClr val="tx1"/>
                </a:solidFill>
                <a:effectLst/>
                <a:latin typeface="+mn-lt"/>
              </a:rPr>
              <a:t>context.getBean</a:t>
            </a:r>
            <a:r>
              <a:rPr lang="en-US" sz="900" b="0" i="0" dirty="0">
                <a:solidFill>
                  <a:schemeClr val="tx1"/>
                </a:solidFill>
                <a:effectLst/>
                <a:latin typeface="+mn-lt"/>
              </a:rPr>
              <a:t>(</a:t>
            </a:r>
            <a:r>
              <a:rPr lang="en-US" sz="900" b="0" i="0" dirty="0" err="1">
                <a:solidFill>
                  <a:schemeClr val="tx1"/>
                </a:solidFill>
                <a:effectLst/>
                <a:latin typeface="+mn-lt"/>
              </a:rPr>
              <a:t>Car.class</a:t>
            </a:r>
            <a:r>
              <a:rPr lang="en-US" sz="900" b="0" i="0" dirty="0">
                <a:solidFill>
                  <a:schemeClr val="tx1"/>
                </a:solidFill>
                <a:effectLst/>
                <a:latin typeface="+mn-lt"/>
              </a:rPr>
              <a:t>);</a:t>
            </a:r>
          </a:p>
          <a:p>
            <a:pPr indent="0" algn="l" rtl="0">
              <a:buNone/>
            </a:pPr>
            <a:r>
              <a:rPr lang="en-US" sz="900" b="0" i="0" dirty="0">
                <a:solidFill>
                  <a:schemeClr val="tx1"/>
                </a:solidFill>
                <a:effectLst/>
                <a:latin typeface="+mn-lt"/>
              </a:rPr>
              <a:t>        </a:t>
            </a:r>
            <a:r>
              <a:rPr lang="en-US" sz="900" b="0" i="0" dirty="0" err="1">
                <a:solidFill>
                  <a:schemeClr val="tx1"/>
                </a:solidFill>
                <a:effectLst/>
                <a:latin typeface="+mn-lt"/>
              </a:rPr>
              <a:t>car.drive</a:t>
            </a:r>
            <a:r>
              <a:rPr lang="en-US" sz="900" b="0" i="0" dirty="0">
                <a:solidFill>
                  <a:schemeClr val="tx1"/>
                </a:solidFill>
                <a:effectLst/>
                <a:latin typeface="+mn-lt"/>
              </a:rPr>
              <a:t>();</a:t>
            </a:r>
          </a:p>
          <a:p>
            <a:pPr indent="0" algn="l" rtl="0">
              <a:buNone/>
            </a:pPr>
            <a:r>
              <a:rPr lang="en-US" sz="900" b="0" i="0" dirty="0">
                <a:solidFill>
                  <a:schemeClr val="tx1"/>
                </a:solidFill>
                <a:effectLst/>
                <a:latin typeface="+mn-lt"/>
              </a:rPr>
              <a:t>    }</a:t>
            </a:r>
          </a:p>
          <a:p>
            <a:pPr indent="0" algn="l" rtl="0">
              <a:buNone/>
            </a:pPr>
            <a:r>
              <a:rPr lang="en-US" sz="900" b="0" i="0" dirty="0">
                <a:solidFill>
                  <a:schemeClr val="tx1"/>
                </a:solidFill>
                <a:effectLst/>
                <a:latin typeface="+mn-lt"/>
              </a:rPr>
              <a:t>}</a:t>
            </a:r>
            <a:endParaRPr lang="en-US" sz="9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18752359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E9732-678B-023B-21D2-F274CC5025EC}"/>
              </a:ext>
            </a:extLst>
          </p:cNvPr>
          <p:cNvSpPr>
            <a:spLocks noGrp="1"/>
          </p:cNvSpPr>
          <p:nvPr>
            <p:ph type="title"/>
          </p:nvPr>
        </p:nvSpPr>
        <p:spPr/>
        <p:txBody>
          <a:bodyPr/>
          <a:lstStyle/>
          <a:p>
            <a:r>
              <a:rPr lang="en-US" dirty="0"/>
              <a:t>Constructor injection – putting it together</a:t>
            </a:r>
          </a:p>
        </p:txBody>
      </p:sp>
      <p:pic>
        <p:nvPicPr>
          <p:cNvPr id="5" name="Picture 4">
            <a:extLst>
              <a:ext uri="{FF2B5EF4-FFF2-40B4-BE49-F238E27FC236}">
                <a16:creationId xmlns:a16="http://schemas.microsoft.com/office/drawing/2014/main" id="{7AE78E24-3C84-A8EF-5FCC-01BBC5B60B84}"/>
              </a:ext>
            </a:extLst>
          </p:cNvPr>
          <p:cNvPicPr>
            <a:picLocks noChangeAspect="1"/>
          </p:cNvPicPr>
          <p:nvPr/>
        </p:nvPicPr>
        <p:blipFill>
          <a:blip r:embed="rId2"/>
          <a:stretch>
            <a:fillRect/>
          </a:stretch>
        </p:blipFill>
        <p:spPr>
          <a:xfrm>
            <a:off x="1470010" y="2634244"/>
            <a:ext cx="3277057" cy="1305107"/>
          </a:xfrm>
          <a:prstGeom prst="rect">
            <a:avLst/>
          </a:prstGeom>
        </p:spPr>
      </p:pic>
      <p:pic>
        <p:nvPicPr>
          <p:cNvPr id="7" name="Picture 6">
            <a:extLst>
              <a:ext uri="{FF2B5EF4-FFF2-40B4-BE49-F238E27FC236}">
                <a16:creationId xmlns:a16="http://schemas.microsoft.com/office/drawing/2014/main" id="{BCBC5131-8B97-0CC5-C37E-4D1A65EDF375}"/>
              </a:ext>
            </a:extLst>
          </p:cNvPr>
          <p:cNvPicPr>
            <a:picLocks noChangeAspect="1"/>
          </p:cNvPicPr>
          <p:nvPr/>
        </p:nvPicPr>
        <p:blipFill>
          <a:blip r:embed="rId3"/>
          <a:stretch>
            <a:fillRect/>
          </a:stretch>
        </p:blipFill>
        <p:spPr>
          <a:xfrm>
            <a:off x="950824" y="4005188"/>
            <a:ext cx="4315427" cy="2610214"/>
          </a:xfrm>
          <a:prstGeom prst="rect">
            <a:avLst/>
          </a:prstGeom>
        </p:spPr>
      </p:pic>
      <p:pic>
        <p:nvPicPr>
          <p:cNvPr id="9" name="Picture 8">
            <a:extLst>
              <a:ext uri="{FF2B5EF4-FFF2-40B4-BE49-F238E27FC236}">
                <a16:creationId xmlns:a16="http://schemas.microsoft.com/office/drawing/2014/main" id="{F0657898-5B76-633C-AB1F-78B3F55293D6}"/>
              </a:ext>
            </a:extLst>
          </p:cNvPr>
          <p:cNvPicPr>
            <a:picLocks noChangeAspect="1"/>
          </p:cNvPicPr>
          <p:nvPr/>
        </p:nvPicPr>
        <p:blipFill>
          <a:blip r:embed="rId4"/>
          <a:stretch>
            <a:fillRect/>
          </a:stretch>
        </p:blipFill>
        <p:spPr>
          <a:xfrm>
            <a:off x="5556920" y="2114093"/>
            <a:ext cx="6125728" cy="4270954"/>
          </a:xfrm>
          <a:prstGeom prst="rect">
            <a:avLst/>
          </a:prstGeom>
        </p:spPr>
      </p:pic>
      <p:sp>
        <p:nvSpPr>
          <p:cNvPr id="10" name="TextBox 9">
            <a:extLst>
              <a:ext uri="{FF2B5EF4-FFF2-40B4-BE49-F238E27FC236}">
                <a16:creationId xmlns:a16="http://schemas.microsoft.com/office/drawing/2014/main" id="{AC58A742-BA4F-45B0-64F2-5939DD90F7F0}"/>
              </a:ext>
            </a:extLst>
          </p:cNvPr>
          <p:cNvSpPr txBox="1"/>
          <p:nvPr/>
        </p:nvSpPr>
        <p:spPr>
          <a:xfrm>
            <a:off x="874860" y="2034080"/>
            <a:ext cx="4277133" cy="600164"/>
          </a:xfrm>
          <a:prstGeom prst="rect">
            <a:avLst/>
          </a:prstGeom>
          <a:noFill/>
        </p:spPr>
        <p:txBody>
          <a:bodyPr wrap="none" rtlCol="0">
            <a:spAutoFit/>
          </a:bodyPr>
          <a:lstStyle/>
          <a:p>
            <a:r>
              <a:rPr lang="en-US" sz="1100" dirty="0"/>
              <a:t>Note: @Component is a catch-all </a:t>
            </a:r>
          </a:p>
          <a:p>
            <a:r>
              <a:rPr lang="en-US" sz="1100" dirty="0"/>
              <a:t>We have other annotations we will use later that better describe intent</a:t>
            </a:r>
          </a:p>
          <a:p>
            <a:r>
              <a:rPr lang="en-US" sz="1100" dirty="0"/>
              <a:t>I.e. @Service, @Repository, etc. </a:t>
            </a:r>
          </a:p>
        </p:txBody>
      </p:sp>
    </p:spTree>
    <p:extLst>
      <p:ext uri="{BB962C8B-B14F-4D97-AF65-F5344CB8AC3E}">
        <p14:creationId xmlns:p14="http://schemas.microsoft.com/office/powerpoint/2010/main" val="17764168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7B2E0-9BD6-78D3-C419-0FFA87DD693B}"/>
              </a:ext>
            </a:extLst>
          </p:cNvPr>
          <p:cNvSpPr>
            <a:spLocks noGrp="1"/>
          </p:cNvSpPr>
          <p:nvPr>
            <p:ph type="title"/>
          </p:nvPr>
        </p:nvSpPr>
        <p:spPr/>
        <p:txBody>
          <a:bodyPr/>
          <a:lstStyle/>
          <a:p>
            <a:r>
              <a:rPr lang="en-US" dirty="0"/>
              <a:t>More on Component scanning</a:t>
            </a:r>
          </a:p>
        </p:txBody>
      </p:sp>
      <p:sp>
        <p:nvSpPr>
          <p:cNvPr id="3" name="Content Placeholder 2">
            <a:extLst>
              <a:ext uri="{FF2B5EF4-FFF2-40B4-BE49-F238E27FC236}">
                <a16:creationId xmlns:a16="http://schemas.microsoft.com/office/drawing/2014/main" id="{FC079C6A-E8B0-0D82-FE9C-C6189B4E92D1}"/>
              </a:ext>
            </a:extLst>
          </p:cNvPr>
          <p:cNvSpPr>
            <a:spLocks noGrp="1"/>
          </p:cNvSpPr>
          <p:nvPr>
            <p:ph idx="1"/>
          </p:nvPr>
        </p:nvSpPr>
        <p:spPr>
          <a:xfrm>
            <a:off x="581192" y="2180497"/>
            <a:ext cx="11029615" cy="1125974"/>
          </a:xfrm>
        </p:spPr>
        <p:txBody>
          <a:bodyPr>
            <a:normAutofit/>
          </a:bodyPr>
          <a:lstStyle/>
          <a:p>
            <a:r>
              <a:rPr lang="en-US" sz="1600" dirty="0"/>
              <a:t>@SpringBootApplication is composed of the following annotations</a:t>
            </a:r>
          </a:p>
          <a:p>
            <a:r>
              <a:rPr lang="en-US" sz="1600" dirty="0"/>
              <a:t>Since @ComponentScan is part of that, and by default it’s only applied to the starter package, i.e. </a:t>
            </a:r>
            <a:r>
              <a:rPr lang="en-US" sz="1600" dirty="0" err="1"/>
              <a:t>com.spring.demo</a:t>
            </a:r>
            <a:endParaRPr lang="en-US" sz="1600" dirty="0"/>
          </a:p>
          <a:p>
            <a:r>
              <a:rPr lang="en-US" sz="1600" dirty="0"/>
              <a:t>That means no packages outside of this root package will get their components scanned, let's see a visual on the next slide…</a:t>
            </a:r>
          </a:p>
        </p:txBody>
      </p:sp>
      <p:pic>
        <p:nvPicPr>
          <p:cNvPr id="5" name="Picture 4">
            <a:extLst>
              <a:ext uri="{FF2B5EF4-FFF2-40B4-BE49-F238E27FC236}">
                <a16:creationId xmlns:a16="http://schemas.microsoft.com/office/drawing/2014/main" id="{486B0A22-8C5C-BFA7-819D-6ACC46D2E62F}"/>
              </a:ext>
            </a:extLst>
          </p:cNvPr>
          <p:cNvPicPr>
            <a:picLocks noChangeAspect="1"/>
          </p:cNvPicPr>
          <p:nvPr/>
        </p:nvPicPr>
        <p:blipFill>
          <a:blip r:embed="rId2"/>
          <a:stretch>
            <a:fillRect/>
          </a:stretch>
        </p:blipFill>
        <p:spPr>
          <a:xfrm>
            <a:off x="503162" y="3935937"/>
            <a:ext cx="5592837" cy="1931288"/>
          </a:xfrm>
          <a:prstGeom prst="rect">
            <a:avLst/>
          </a:prstGeom>
        </p:spPr>
      </p:pic>
      <p:pic>
        <p:nvPicPr>
          <p:cNvPr id="7" name="Picture 6">
            <a:extLst>
              <a:ext uri="{FF2B5EF4-FFF2-40B4-BE49-F238E27FC236}">
                <a16:creationId xmlns:a16="http://schemas.microsoft.com/office/drawing/2014/main" id="{273AE5BA-F723-E9A3-0AFD-C15DCA26E6BF}"/>
              </a:ext>
            </a:extLst>
          </p:cNvPr>
          <p:cNvPicPr>
            <a:picLocks noChangeAspect="1"/>
          </p:cNvPicPr>
          <p:nvPr/>
        </p:nvPicPr>
        <p:blipFill>
          <a:blip r:embed="rId3"/>
          <a:stretch>
            <a:fillRect/>
          </a:stretch>
        </p:blipFill>
        <p:spPr>
          <a:xfrm>
            <a:off x="6539789" y="3771012"/>
            <a:ext cx="5296630" cy="2648315"/>
          </a:xfrm>
          <a:prstGeom prst="rect">
            <a:avLst/>
          </a:prstGeom>
        </p:spPr>
      </p:pic>
    </p:spTree>
    <p:extLst>
      <p:ext uri="{BB962C8B-B14F-4D97-AF65-F5344CB8AC3E}">
        <p14:creationId xmlns:p14="http://schemas.microsoft.com/office/powerpoint/2010/main" val="40974675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48586-2337-7FEE-9949-D32C6B0F61E4}"/>
              </a:ext>
            </a:extLst>
          </p:cNvPr>
          <p:cNvSpPr>
            <a:spLocks noGrp="1"/>
          </p:cNvSpPr>
          <p:nvPr>
            <p:ph type="title"/>
          </p:nvPr>
        </p:nvSpPr>
        <p:spPr/>
        <p:txBody>
          <a:bodyPr/>
          <a:lstStyle/>
          <a:p>
            <a:r>
              <a:rPr lang="en-US" dirty="0"/>
              <a:t>More on component scanning</a:t>
            </a:r>
          </a:p>
        </p:txBody>
      </p:sp>
      <p:sp>
        <p:nvSpPr>
          <p:cNvPr id="3" name="Content Placeholder 2">
            <a:extLst>
              <a:ext uri="{FF2B5EF4-FFF2-40B4-BE49-F238E27FC236}">
                <a16:creationId xmlns:a16="http://schemas.microsoft.com/office/drawing/2014/main" id="{25F7D641-C6B1-FE08-D648-0E9C75B8623D}"/>
              </a:ext>
            </a:extLst>
          </p:cNvPr>
          <p:cNvSpPr>
            <a:spLocks noGrp="1"/>
          </p:cNvSpPr>
          <p:nvPr>
            <p:ph idx="1"/>
          </p:nvPr>
        </p:nvSpPr>
        <p:spPr>
          <a:xfrm>
            <a:off x="581192" y="2180496"/>
            <a:ext cx="11029615" cy="1248503"/>
          </a:xfrm>
        </p:spPr>
        <p:txBody>
          <a:bodyPr>
            <a:normAutofit/>
          </a:bodyPr>
          <a:lstStyle/>
          <a:p>
            <a:r>
              <a:rPr lang="en-US" dirty="0"/>
              <a:t>If our main package is ‘</a:t>
            </a:r>
            <a:r>
              <a:rPr lang="en-US" dirty="0" err="1"/>
              <a:t>com.spring.demo</a:t>
            </a:r>
            <a:r>
              <a:rPr lang="en-US" dirty="0"/>
              <a:t>’ then those components will be scanned by default</a:t>
            </a:r>
          </a:p>
          <a:p>
            <a:r>
              <a:rPr lang="en-US" dirty="0"/>
              <a:t>The ‘</a:t>
            </a:r>
            <a:r>
              <a:rPr lang="en-US" dirty="0" err="1"/>
              <a:t>com.example.another</a:t>
            </a:r>
            <a:r>
              <a:rPr lang="en-US" dirty="0"/>
              <a:t>’ package will NOT automatically have its components scanned!</a:t>
            </a:r>
          </a:p>
          <a:p>
            <a:r>
              <a:rPr lang="en-US" dirty="0"/>
              <a:t>We can fix this by setting ‘</a:t>
            </a:r>
            <a:r>
              <a:rPr lang="en-US" dirty="0" err="1"/>
              <a:t>scanBasePackages</a:t>
            </a:r>
            <a:r>
              <a:rPr lang="en-US" dirty="0"/>
              <a:t>’ </a:t>
            </a:r>
          </a:p>
        </p:txBody>
      </p:sp>
      <p:pic>
        <p:nvPicPr>
          <p:cNvPr id="7" name="Picture 6">
            <a:extLst>
              <a:ext uri="{FF2B5EF4-FFF2-40B4-BE49-F238E27FC236}">
                <a16:creationId xmlns:a16="http://schemas.microsoft.com/office/drawing/2014/main" id="{3600BDEA-4162-2427-A113-A8EF85124E36}"/>
              </a:ext>
            </a:extLst>
          </p:cNvPr>
          <p:cNvPicPr>
            <a:picLocks noChangeAspect="1"/>
          </p:cNvPicPr>
          <p:nvPr/>
        </p:nvPicPr>
        <p:blipFill>
          <a:blip r:embed="rId2"/>
          <a:stretch>
            <a:fillRect/>
          </a:stretch>
        </p:blipFill>
        <p:spPr>
          <a:xfrm>
            <a:off x="6904881" y="3928799"/>
            <a:ext cx="4028193" cy="2268183"/>
          </a:xfrm>
          <a:prstGeom prst="rect">
            <a:avLst/>
          </a:prstGeom>
        </p:spPr>
      </p:pic>
      <p:pic>
        <p:nvPicPr>
          <p:cNvPr id="9" name="Picture 8">
            <a:extLst>
              <a:ext uri="{FF2B5EF4-FFF2-40B4-BE49-F238E27FC236}">
                <a16:creationId xmlns:a16="http://schemas.microsoft.com/office/drawing/2014/main" id="{0980537F-B2C7-9E01-794B-E9987261711B}"/>
              </a:ext>
            </a:extLst>
          </p:cNvPr>
          <p:cNvPicPr>
            <a:picLocks noChangeAspect="1"/>
          </p:cNvPicPr>
          <p:nvPr/>
        </p:nvPicPr>
        <p:blipFill>
          <a:blip r:embed="rId3"/>
          <a:stretch>
            <a:fillRect/>
          </a:stretch>
        </p:blipFill>
        <p:spPr>
          <a:xfrm>
            <a:off x="1902664" y="3791125"/>
            <a:ext cx="2324424" cy="2543530"/>
          </a:xfrm>
          <a:prstGeom prst="rect">
            <a:avLst/>
          </a:prstGeom>
        </p:spPr>
      </p:pic>
    </p:spTree>
    <p:extLst>
      <p:ext uri="{BB962C8B-B14F-4D97-AF65-F5344CB8AC3E}">
        <p14:creationId xmlns:p14="http://schemas.microsoft.com/office/powerpoint/2010/main" val="31017579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1FDF6-6650-232E-2441-C061925C47E9}"/>
              </a:ext>
            </a:extLst>
          </p:cNvPr>
          <p:cNvSpPr>
            <a:spLocks noGrp="1"/>
          </p:cNvSpPr>
          <p:nvPr>
            <p:ph type="title"/>
          </p:nvPr>
        </p:nvSpPr>
        <p:spPr/>
        <p:txBody>
          <a:bodyPr/>
          <a:lstStyle/>
          <a:p>
            <a:r>
              <a:rPr lang="en-US" dirty="0"/>
              <a:t>Setter Injection – putting it together</a:t>
            </a:r>
          </a:p>
        </p:txBody>
      </p:sp>
      <p:sp>
        <p:nvSpPr>
          <p:cNvPr id="3" name="Content Placeholder 2">
            <a:extLst>
              <a:ext uri="{FF2B5EF4-FFF2-40B4-BE49-F238E27FC236}">
                <a16:creationId xmlns:a16="http://schemas.microsoft.com/office/drawing/2014/main" id="{6FCC812A-EB1B-4EF5-29F5-6B6E4A2AC004}"/>
              </a:ext>
            </a:extLst>
          </p:cNvPr>
          <p:cNvSpPr>
            <a:spLocks noGrp="1"/>
          </p:cNvSpPr>
          <p:nvPr>
            <p:ph idx="1"/>
          </p:nvPr>
        </p:nvSpPr>
        <p:spPr>
          <a:xfrm>
            <a:off x="581192" y="2180497"/>
            <a:ext cx="11029615" cy="1447842"/>
          </a:xfrm>
        </p:spPr>
        <p:txBody>
          <a:bodyPr>
            <a:normAutofit fontScale="92500" lnSpcReduction="20000"/>
          </a:bodyPr>
          <a:lstStyle/>
          <a:p>
            <a:r>
              <a:rPr lang="en-US" dirty="0"/>
              <a:t>It’s a small change to our previous example</a:t>
            </a:r>
          </a:p>
          <a:p>
            <a:r>
              <a:rPr lang="en-US" dirty="0"/>
              <a:t>The method name doesn’t matter, but convention uses ‘set’ </a:t>
            </a:r>
          </a:p>
          <a:p>
            <a:r>
              <a:rPr lang="en-US" dirty="0"/>
              <a:t>We can now instantiate a ‘</a:t>
            </a:r>
            <a:r>
              <a:rPr lang="en-US" dirty="0" err="1"/>
              <a:t>MyFirstController</a:t>
            </a:r>
            <a:r>
              <a:rPr lang="en-US" dirty="0"/>
              <a:t>’ WITHOUT a coach, so….</a:t>
            </a:r>
          </a:p>
          <a:p>
            <a:r>
              <a:rPr lang="en-US" dirty="0"/>
              <a:t>We could do this:</a:t>
            </a:r>
          </a:p>
          <a:p>
            <a:endParaRPr lang="en-US" dirty="0"/>
          </a:p>
        </p:txBody>
      </p:sp>
      <p:pic>
        <p:nvPicPr>
          <p:cNvPr id="5" name="Picture 4">
            <a:extLst>
              <a:ext uri="{FF2B5EF4-FFF2-40B4-BE49-F238E27FC236}">
                <a16:creationId xmlns:a16="http://schemas.microsoft.com/office/drawing/2014/main" id="{BD13757F-D707-EB5B-5AB7-0BF2406E5D8F}"/>
              </a:ext>
            </a:extLst>
          </p:cNvPr>
          <p:cNvPicPr>
            <a:picLocks noChangeAspect="1"/>
          </p:cNvPicPr>
          <p:nvPr/>
        </p:nvPicPr>
        <p:blipFill>
          <a:blip r:embed="rId2"/>
          <a:stretch>
            <a:fillRect/>
          </a:stretch>
        </p:blipFill>
        <p:spPr>
          <a:xfrm>
            <a:off x="2056836" y="4270305"/>
            <a:ext cx="8078327" cy="2457793"/>
          </a:xfrm>
          <a:prstGeom prst="rect">
            <a:avLst/>
          </a:prstGeom>
        </p:spPr>
      </p:pic>
      <p:sp>
        <p:nvSpPr>
          <p:cNvPr id="7" name="TextBox 6">
            <a:extLst>
              <a:ext uri="{FF2B5EF4-FFF2-40B4-BE49-F238E27FC236}">
                <a16:creationId xmlns:a16="http://schemas.microsoft.com/office/drawing/2014/main" id="{D1E23FFC-D5B2-0B6E-18BB-796B5ECC002C}"/>
              </a:ext>
            </a:extLst>
          </p:cNvPr>
          <p:cNvSpPr txBox="1"/>
          <p:nvPr/>
        </p:nvSpPr>
        <p:spPr>
          <a:xfrm>
            <a:off x="2650603" y="3349634"/>
            <a:ext cx="6890792" cy="830997"/>
          </a:xfrm>
          <a:prstGeom prst="rect">
            <a:avLst/>
          </a:prstGeom>
          <a:noFill/>
        </p:spPr>
        <p:txBody>
          <a:bodyPr wrap="square">
            <a:spAutoFit/>
          </a:bodyPr>
          <a:lstStyle/>
          <a:p>
            <a:r>
              <a:rPr lang="en-US" sz="1200" b="0" i="0" dirty="0" err="1">
                <a:solidFill>
                  <a:schemeClr val="tx1"/>
                </a:solidFill>
                <a:effectLst/>
                <a:latin typeface="+mn-lt"/>
              </a:rPr>
              <a:t>MyFirstController</a:t>
            </a:r>
            <a:r>
              <a:rPr lang="en-US" sz="1200" b="0" i="0" dirty="0">
                <a:solidFill>
                  <a:schemeClr val="tx1"/>
                </a:solidFill>
                <a:effectLst/>
                <a:latin typeface="+mn-lt"/>
              </a:rPr>
              <a:t> controller = new </a:t>
            </a:r>
            <a:r>
              <a:rPr lang="en-US" sz="1200" b="0" i="0" dirty="0" err="1">
                <a:solidFill>
                  <a:schemeClr val="tx1"/>
                </a:solidFill>
                <a:effectLst/>
                <a:latin typeface="+mn-lt"/>
              </a:rPr>
              <a:t>MyFirstController</a:t>
            </a:r>
            <a:r>
              <a:rPr lang="en-US" sz="1200" b="0" i="0" dirty="0">
                <a:solidFill>
                  <a:schemeClr val="tx1"/>
                </a:solidFill>
                <a:effectLst/>
                <a:latin typeface="+mn-lt"/>
              </a:rPr>
              <a:t>(); </a:t>
            </a:r>
          </a:p>
          <a:p>
            <a:r>
              <a:rPr lang="en-US" sz="1200" b="0" i="0" dirty="0" err="1">
                <a:solidFill>
                  <a:schemeClr val="tx1"/>
                </a:solidFill>
                <a:effectLst/>
                <a:latin typeface="+mn-lt"/>
              </a:rPr>
              <a:t>controller.getWorkout</a:t>
            </a:r>
            <a:r>
              <a:rPr lang="en-US" sz="1200" b="0" i="0" dirty="0">
                <a:solidFill>
                  <a:schemeClr val="tx1"/>
                </a:solidFill>
                <a:effectLst/>
                <a:latin typeface="+mn-lt"/>
              </a:rPr>
              <a:t>(); // </a:t>
            </a:r>
            <a:r>
              <a:rPr lang="en-US" sz="1200" b="0" i="0" dirty="0" err="1">
                <a:solidFill>
                  <a:schemeClr val="tx1"/>
                </a:solidFill>
                <a:effectLst/>
                <a:latin typeface="+mn-lt"/>
              </a:rPr>
              <a:t>myCoach</a:t>
            </a:r>
            <a:r>
              <a:rPr lang="en-US" sz="1200" b="0" i="0" dirty="0">
                <a:solidFill>
                  <a:schemeClr val="tx1"/>
                </a:solidFill>
                <a:effectLst/>
                <a:latin typeface="+mn-lt"/>
              </a:rPr>
              <a:t> is null</a:t>
            </a:r>
            <a:r>
              <a:rPr lang="en-US" sz="1200" dirty="0"/>
              <a:t> / </a:t>
            </a:r>
            <a:r>
              <a:rPr lang="en-US" sz="1200" b="0" i="0" dirty="0">
                <a:solidFill>
                  <a:schemeClr val="tx1"/>
                </a:solidFill>
                <a:effectLst/>
                <a:latin typeface="+mn-lt"/>
              </a:rPr>
              <a:t>incomplete state for when we may not need a Coach!</a:t>
            </a:r>
          </a:p>
          <a:p>
            <a:endParaRPr lang="en-US" sz="1200" b="0" i="0" dirty="0">
              <a:solidFill>
                <a:schemeClr val="tx1"/>
              </a:solidFill>
              <a:effectLst/>
              <a:latin typeface="+mn-lt"/>
            </a:endParaRPr>
          </a:p>
          <a:p>
            <a:pPr algn="ctr"/>
            <a:r>
              <a:rPr lang="en-US" sz="1200" dirty="0"/>
              <a:t>This allows us to instantiate objects that don’t require all their dependencies!</a:t>
            </a:r>
          </a:p>
        </p:txBody>
      </p:sp>
    </p:spTree>
    <p:extLst>
      <p:ext uri="{BB962C8B-B14F-4D97-AF65-F5344CB8AC3E}">
        <p14:creationId xmlns:p14="http://schemas.microsoft.com/office/powerpoint/2010/main" val="41668528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5D66A-82F3-3C66-5326-960A8D1302AA}"/>
              </a:ext>
            </a:extLst>
          </p:cNvPr>
          <p:cNvSpPr>
            <a:spLocks noGrp="1"/>
          </p:cNvSpPr>
          <p:nvPr>
            <p:ph type="title"/>
          </p:nvPr>
        </p:nvSpPr>
        <p:spPr/>
        <p:txBody>
          <a:bodyPr/>
          <a:lstStyle/>
          <a:p>
            <a:r>
              <a:rPr lang="en-US" dirty="0"/>
              <a:t>Field injection – not recommended</a:t>
            </a:r>
          </a:p>
        </p:txBody>
      </p:sp>
      <p:pic>
        <p:nvPicPr>
          <p:cNvPr id="7" name="Content Placeholder 6">
            <a:extLst>
              <a:ext uri="{FF2B5EF4-FFF2-40B4-BE49-F238E27FC236}">
                <a16:creationId xmlns:a16="http://schemas.microsoft.com/office/drawing/2014/main" id="{6BAE3814-96BE-B811-52A5-04D09F32E554}"/>
              </a:ext>
            </a:extLst>
          </p:cNvPr>
          <p:cNvPicPr>
            <a:picLocks noGrp="1" noChangeAspect="1"/>
          </p:cNvPicPr>
          <p:nvPr>
            <p:ph idx="1"/>
          </p:nvPr>
        </p:nvPicPr>
        <p:blipFill>
          <a:blip r:embed="rId2"/>
          <a:stretch>
            <a:fillRect/>
          </a:stretch>
        </p:blipFill>
        <p:spPr>
          <a:xfrm>
            <a:off x="860548" y="2143353"/>
            <a:ext cx="10470903" cy="3917393"/>
          </a:xfrm>
          <a:prstGeom prst="rect">
            <a:avLst/>
          </a:prstGeom>
        </p:spPr>
      </p:pic>
    </p:spTree>
    <p:extLst>
      <p:ext uri="{BB962C8B-B14F-4D97-AF65-F5344CB8AC3E}">
        <p14:creationId xmlns:p14="http://schemas.microsoft.com/office/powerpoint/2010/main" val="17401702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FF3C8-4CC8-2544-D5E8-33F69EC364F2}"/>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E78FBAA7-FC43-1D69-A860-6784DF2E5833}"/>
              </a:ext>
            </a:extLst>
          </p:cNvPr>
          <p:cNvSpPr>
            <a:spLocks noGrp="1"/>
          </p:cNvSpPr>
          <p:nvPr>
            <p:ph idx="1"/>
          </p:nvPr>
        </p:nvSpPr>
        <p:spPr>
          <a:xfrm>
            <a:off x="581192" y="2180497"/>
            <a:ext cx="11029615" cy="1248504"/>
          </a:xfrm>
        </p:spPr>
        <p:txBody>
          <a:bodyPr/>
          <a:lstStyle/>
          <a:p>
            <a:r>
              <a:rPr lang="en-US" dirty="0"/>
              <a:t>We only had 1 ‘</a:t>
            </a:r>
            <a:r>
              <a:rPr lang="en-US" dirty="0" err="1"/>
              <a:t>CoachImpl</a:t>
            </a:r>
            <a:r>
              <a:rPr lang="en-US" dirty="0"/>
              <a:t>’ </a:t>
            </a:r>
          </a:p>
          <a:p>
            <a:r>
              <a:rPr lang="en-US" dirty="0"/>
              <a:t>What if we had more than one implementation? </a:t>
            </a:r>
          </a:p>
          <a:p>
            <a:r>
              <a:rPr lang="en-US" dirty="0"/>
              <a:t>How does Spring determine which one to use?</a:t>
            </a:r>
          </a:p>
        </p:txBody>
      </p:sp>
      <p:pic>
        <p:nvPicPr>
          <p:cNvPr id="5" name="Picture 4">
            <a:extLst>
              <a:ext uri="{FF2B5EF4-FFF2-40B4-BE49-F238E27FC236}">
                <a16:creationId xmlns:a16="http://schemas.microsoft.com/office/drawing/2014/main" id="{06453E22-9909-80F4-EA0E-075B9A202BCD}"/>
              </a:ext>
            </a:extLst>
          </p:cNvPr>
          <p:cNvPicPr>
            <a:picLocks noChangeAspect="1"/>
          </p:cNvPicPr>
          <p:nvPr/>
        </p:nvPicPr>
        <p:blipFill>
          <a:blip r:embed="rId2"/>
          <a:stretch>
            <a:fillRect/>
          </a:stretch>
        </p:blipFill>
        <p:spPr>
          <a:xfrm>
            <a:off x="2009203" y="3824078"/>
            <a:ext cx="8173591" cy="2457793"/>
          </a:xfrm>
          <a:prstGeom prst="rect">
            <a:avLst/>
          </a:prstGeom>
        </p:spPr>
      </p:pic>
    </p:spTree>
    <p:extLst>
      <p:ext uri="{BB962C8B-B14F-4D97-AF65-F5344CB8AC3E}">
        <p14:creationId xmlns:p14="http://schemas.microsoft.com/office/powerpoint/2010/main" val="28075290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2705E-33BB-29C4-379E-08982D70480E}"/>
              </a:ext>
            </a:extLst>
          </p:cNvPr>
          <p:cNvSpPr>
            <a:spLocks noGrp="1"/>
          </p:cNvSpPr>
          <p:nvPr>
            <p:ph type="title"/>
          </p:nvPr>
        </p:nvSpPr>
        <p:spPr/>
        <p:txBody>
          <a:bodyPr/>
          <a:lstStyle/>
          <a:p>
            <a:r>
              <a:rPr lang="en-US" dirty="0"/>
              <a:t>One possible Solution - @qualifier </a:t>
            </a:r>
          </a:p>
        </p:txBody>
      </p:sp>
      <p:sp>
        <p:nvSpPr>
          <p:cNvPr id="3" name="Content Placeholder 2">
            <a:extLst>
              <a:ext uri="{FF2B5EF4-FFF2-40B4-BE49-F238E27FC236}">
                <a16:creationId xmlns:a16="http://schemas.microsoft.com/office/drawing/2014/main" id="{C7AD9767-C334-BE61-8AC9-07B58C8A6561}"/>
              </a:ext>
            </a:extLst>
          </p:cNvPr>
          <p:cNvSpPr>
            <a:spLocks noGrp="1"/>
          </p:cNvSpPr>
          <p:nvPr>
            <p:ph idx="1"/>
          </p:nvPr>
        </p:nvSpPr>
        <p:spPr>
          <a:xfrm>
            <a:off x="581192" y="2048256"/>
            <a:ext cx="11029615" cy="1380745"/>
          </a:xfrm>
        </p:spPr>
        <p:txBody>
          <a:bodyPr>
            <a:normAutofit fontScale="92500" lnSpcReduction="20000"/>
          </a:bodyPr>
          <a:lstStyle/>
          <a:p>
            <a:r>
              <a:rPr lang="en-US" dirty="0"/>
              <a:t>We just need to supply the bean id to @Qualifier </a:t>
            </a:r>
          </a:p>
          <a:p>
            <a:r>
              <a:rPr lang="en-US" dirty="0"/>
              <a:t>The bean id is always the name of our class, with the first letter in lowercase</a:t>
            </a:r>
          </a:p>
          <a:p>
            <a:r>
              <a:rPr lang="en-US" dirty="0"/>
              <a:t>Now we have set the exact class we want to inject!</a:t>
            </a:r>
          </a:p>
          <a:p>
            <a:r>
              <a:rPr lang="en-US" dirty="0"/>
              <a:t>This works the same for setter injection too!</a:t>
            </a:r>
          </a:p>
        </p:txBody>
      </p:sp>
      <p:pic>
        <p:nvPicPr>
          <p:cNvPr id="5" name="Picture 4">
            <a:extLst>
              <a:ext uri="{FF2B5EF4-FFF2-40B4-BE49-F238E27FC236}">
                <a16:creationId xmlns:a16="http://schemas.microsoft.com/office/drawing/2014/main" id="{956224B8-1C96-A84A-29F5-70B9F99D9088}"/>
              </a:ext>
            </a:extLst>
          </p:cNvPr>
          <p:cNvPicPr>
            <a:picLocks noChangeAspect="1"/>
          </p:cNvPicPr>
          <p:nvPr/>
        </p:nvPicPr>
        <p:blipFill>
          <a:blip r:embed="rId2"/>
          <a:stretch>
            <a:fillRect/>
          </a:stretch>
        </p:blipFill>
        <p:spPr>
          <a:xfrm>
            <a:off x="2033019" y="4124342"/>
            <a:ext cx="8125959" cy="2486372"/>
          </a:xfrm>
          <a:prstGeom prst="rect">
            <a:avLst/>
          </a:prstGeom>
        </p:spPr>
      </p:pic>
      <p:pic>
        <p:nvPicPr>
          <p:cNvPr id="7" name="Picture 6">
            <a:extLst>
              <a:ext uri="{FF2B5EF4-FFF2-40B4-BE49-F238E27FC236}">
                <a16:creationId xmlns:a16="http://schemas.microsoft.com/office/drawing/2014/main" id="{0FB52AF7-D6CE-0840-C36E-911871A29E99}"/>
              </a:ext>
            </a:extLst>
          </p:cNvPr>
          <p:cNvPicPr>
            <a:picLocks noChangeAspect="1"/>
          </p:cNvPicPr>
          <p:nvPr/>
        </p:nvPicPr>
        <p:blipFill>
          <a:blip r:embed="rId3"/>
          <a:stretch>
            <a:fillRect/>
          </a:stretch>
        </p:blipFill>
        <p:spPr>
          <a:xfrm>
            <a:off x="3342889" y="3648789"/>
            <a:ext cx="5506218" cy="266737"/>
          </a:xfrm>
          <a:prstGeom prst="rect">
            <a:avLst/>
          </a:prstGeom>
        </p:spPr>
      </p:pic>
    </p:spTree>
    <p:extLst>
      <p:ext uri="{BB962C8B-B14F-4D97-AF65-F5344CB8AC3E}">
        <p14:creationId xmlns:p14="http://schemas.microsoft.com/office/powerpoint/2010/main" val="17281813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6FF0-7F27-A7BA-8FDF-59FB01C55352}"/>
              </a:ext>
            </a:extLst>
          </p:cNvPr>
          <p:cNvSpPr>
            <a:spLocks noGrp="1"/>
          </p:cNvSpPr>
          <p:nvPr>
            <p:ph type="title"/>
          </p:nvPr>
        </p:nvSpPr>
        <p:spPr/>
        <p:txBody>
          <a:bodyPr/>
          <a:lstStyle/>
          <a:p>
            <a:r>
              <a:rPr lang="en-US" dirty="0"/>
              <a:t>Another solution - @primary</a:t>
            </a:r>
          </a:p>
        </p:txBody>
      </p:sp>
      <p:sp>
        <p:nvSpPr>
          <p:cNvPr id="3" name="Content Placeholder 2">
            <a:extLst>
              <a:ext uri="{FF2B5EF4-FFF2-40B4-BE49-F238E27FC236}">
                <a16:creationId xmlns:a16="http://schemas.microsoft.com/office/drawing/2014/main" id="{70B42E69-E0BA-05F2-D4B9-EBCD468604CB}"/>
              </a:ext>
            </a:extLst>
          </p:cNvPr>
          <p:cNvSpPr>
            <a:spLocks noGrp="1"/>
          </p:cNvSpPr>
          <p:nvPr>
            <p:ph idx="1"/>
          </p:nvPr>
        </p:nvSpPr>
        <p:spPr>
          <a:xfrm>
            <a:off x="581193" y="2180496"/>
            <a:ext cx="5197816" cy="4095945"/>
          </a:xfrm>
        </p:spPr>
        <p:txBody>
          <a:bodyPr/>
          <a:lstStyle/>
          <a:p>
            <a:r>
              <a:rPr lang="en-US" dirty="0"/>
              <a:t>@Primary – leaves it up to the classes to determine which one to use </a:t>
            </a:r>
          </a:p>
          <a:p>
            <a:r>
              <a:rPr lang="en-US" dirty="0"/>
              <a:t>You can only have a single @Primary made available for injection</a:t>
            </a:r>
          </a:p>
          <a:p>
            <a:r>
              <a:rPr lang="en-US" dirty="0"/>
              <a:t>You can mix @Primary &amp; @Qualifier </a:t>
            </a:r>
          </a:p>
          <a:p>
            <a:pPr lvl="1"/>
            <a:r>
              <a:rPr lang="en-US" dirty="0"/>
              <a:t>@Qualifier takes priority!</a:t>
            </a:r>
          </a:p>
          <a:p>
            <a:r>
              <a:rPr lang="en-US" dirty="0"/>
              <a:t>In general, I recommend just sticking with @Qualifier as it is more specific and takes priority</a:t>
            </a:r>
          </a:p>
        </p:txBody>
      </p:sp>
      <p:pic>
        <p:nvPicPr>
          <p:cNvPr id="5" name="Picture 4">
            <a:extLst>
              <a:ext uri="{FF2B5EF4-FFF2-40B4-BE49-F238E27FC236}">
                <a16:creationId xmlns:a16="http://schemas.microsoft.com/office/drawing/2014/main" id="{048755E6-59DC-6AB7-EAF2-C3178B20BB01}"/>
              </a:ext>
            </a:extLst>
          </p:cNvPr>
          <p:cNvPicPr>
            <a:picLocks noChangeAspect="1"/>
          </p:cNvPicPr>
          <p:nvPr/>
        </p:nvPicPr>
        <p:blipFill>
          <a:blip r:embed="rId2"/>
          <a:stretch>
            <a:fillRect/>
          </a:stretch>
        </p:blipFill>
        <p:spPr>
          <a:xfrm>
            <a:off x="6491022" y="3429000"/>
            <a:ext cx="4906060" cy="3077004"/>
          </a:xfrm>
          <a:prstGeom prst="rect">
            <a:avLst/>
          </a:prstGeom>
        </p:spPr>
      </p:pic>
      <p:pic>
        <p:nvPicPr>
          <p:cNvPr id="7" name="Picture 6">
            <a:extLst>
              <a:ext uri="{FF2B5EF4-FFF2-40B4-BE49-F238E27FC236}">
                <a16:creationId xmlns:a16="http://schemas.microsoft.com/office/drawing/2014/main" id="{EFF7F9F4-4532-7162-2148-D24D6970AB36}"/>
              </a:ext>
            </a:extLst>
          </p:cNvPr>
          <p:cNvPicPr>
            <a:picLocks noChangeAspect="1"/>
          </p:cNvPicPr>
          <p:nvPr/>
        </p:nvPicPr>
        <p:blipFill>
          <a:blip r:embed="rId3"/>
          <a:stretch>
            <a:fillRect/>
          </a:stretch>
        </p:blipFill>
        <p:spPr>
          <a:xfrm>
            <a:off x="6954507" y="2180496"/>
            <a:ext cx="3286584" cy="1028844"/>
          </a:xfrm>
          <a:prstGeom prst="rect">
            <a:avLst/>
          </a:prstGeom>
        </p:spPr>
      </p:pic>
    </p:spTree>
    <p:extLst>
      <p:ext uri="{BB962C8B-B14F-4D97-AF65-F5344CB8AC3E}">
        <p14:creationId xmlns:p14="http://schemas.microsoft.com/office/powerpoint/2010/main" val="5970854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5FB92-6A2A-D33A-9349-4B2FC8FB8D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3D84A-B2A2-70EA-E959-F4AF070FDADF}"/>
              </a:ext>
            </a:extLst>
          </p:cNvPr>
          <p:cNvSpPr>
            <a:spLocks noGrp="1"/>
          </p:cNvSpPr>
          <p:nvPr>
            <p:ph type="title"/>
          </p:nvPr>
        </p:nvSpPr>
        <p:spPr/>
        <p:txBody>
          <a:bodyPr/>
          <a:lstStyle/>
          <a:p>
            <a:r>
              <a:rPr lang="en-US" dirty="0"/>
              <a:t>Challenge – let’s check our understanding</a:t>
            </a:r>
          </a:p>
        </p:txBody>
      </p:sp>
      <p:sp>
        <p:nvSpPr>
          <p:cNvPr id="3" name="Content Placeholder 2">
            <a:extLst>
              <a:ext uri="{FF2B5EF4-FFF2-40B4-BE49-F238E27FC236}">
                <a16:creationId xmlns:a16="http://schemas.microsoft.com/office/drawing/2014/main" id="{D13E1DF8-36E0-1D6D-D9DB-C73571F53862}"/>
              </a:ext>
            </a:extLst>
          </p:cNvPr>
          <p:cNvSpPr>
            <a:spLocks noGrp="1"/>
          </p:cNvSpPr>
          <p:nvPr>
            <p:ph idx="1"/>
          </p:nvPr>
        </p:nvSpPr>
        <p:spPr>
          <a:xfrm>
            <a:off x="581192" y="2475925"/>
            <a:ext cx="5317584" cy="1681246"/>
          </a:xfrm>
        </p:spPr>
        <p:txBody>
          <a:bodyPr/>
          <a:lstStyle/>
          <a:p>
            <a:r>
              <a:rPr lang="en-US" dirty="0"/>
              <a:t>Create endpoints for different types of coaches</a:t>
            </a:r>
          </a:p>
        </p:txBody>
      </p:sp>
      <p:sp>
        <p:nvSpPr>
          <p:cNvPr id="6" name="TextBox 5">
            <a:extLst>
              <a:ext uri="{FF2B5EF4-FFF2-40B4-BE49-F238E27FC236}">
                <a16:creationId xmlns:a16="http://schemas.microsoft.com/office/drawing/2014/main" id="{4711C103-16B8-599E-5739-2FDF5191F349}"/>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45AB5C3A-C77B-4B2B-5C19-A80BEA882757}"/>
              </a:ext>
            </a:extLst>
          </p:cNvPr>
          <p:cNvSpPr txBox="1"/>
          <p:nvPr/>
        </p:nvSpPr>
        <p:spPr>
          <a:xfrm>
            <a:off x="6949165" y="2402747"/>
            <a:ext cx="4661643" cy="369332"/>
          </a:xfrm>
          <a:prstGeom prst="rect">
            <a:avLst/>
          </a:prstGeom>
          <a:noFill/>
        </p:spPr>
        <p:txBody>
          <a:bodyPr wrap="square" rtlCol="0">
            <a:spAutoFit/>
          </a:bodyPr>
          <a:lstStyle/>
          <a:p>
            <a:r>
              <a:rPr lang="en-US" b="1" dirty="0"/>
              <a:t>Scenario:  			   5 min</a:t>
            </a:r>
          </a:p>
        </p:txBody>
      </p:sp>
      <p:sp>
        <p:nvSpPr>
          <p:cNvPr id="8" name="Content Placeholder 2">
            <a:extLst>
              <a:ext uri="{FF2B5EF4-FFF2-40B4-BE49-F238E27FC236}">
                <a16:creationId xmlns:a16="http://schemas.microsoft.com/office/drawing/2014/main" id="{3861BE59-BFB8-9E75-6062-CCB3C6CEB3D5}"/>
              </a:ext>
            </a:extLst>
          </p:cNvPr>
          <p:cNvSpPr txBox="1">
            <a:spLocks/>
          </p:cNvSpPr>
          <p:nvPr/>
        </p:nvSpPr>
        <p:spPr>
          <a:xfrm>
            <a:off x="6545749" y="2772078"/>
            <a:ext cx="4661642" cy="2480405"/>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Example: One endpoint uses a ‘</a:t>
            </a:r>
            <a:r>
              <a:rPr lang="en-US" dirty="0" err="1"/>
              <a:t>baseBallCoach</a:t>
            </a:r>
            <a:r>
              <a:rPr lang="en-US" dirty="0"/>
              <a:t>’ and prints ‘Practice Baseball’ </a:t>
            </a:r>
          </a:p>
          <a:p>
            <a:r>
              <a:rPr lang="en-US" dirty="0"/>
              <a:t>Another endpoint uses a ‘</a:t>
            </a:r>
            <a:r>
              <a:rPr lang="en-US" dirty="0" err="1"/>
              <a:t>basketballCoach</a:t>
            </a:r>
            <a:r>
              <a:rPr lang="en-US" dirty="0"/>
              <a:t>’ and prints ‘Practice Basketball’</a:t>
            </a:r>
          </a:p>
          <a:p>
            <a:r>
              <a:rPr lang="en-US" dirty="0"/>
              <a:t>Hint: You can inject more than one item, with multiple @Qualifier(s)!</a:t>
            </a:r>
          </a:p>
        </p:txBody>
      </p:sp>
    </p:spTree>
    <p:extLst>
      <p:ext uri="{BB962C8B-B14F-4D97-AF65-F5344CB8AC3E}">
        <p14:creationId xmlns:p14="http://schemas.microsoft.com/office/powerpoint/2010/main" val="25320141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D0E0D-6EF6-5ADB-F583-92DAF7357ED1}"/>
              </a:ext>
            </a:extLst>
          </p:cNvPr>
          <p:cNvSpPr>
            <a:spLocks noGrp="1"/>
          </p:cNvSpPr>
          <p:nvPr>
            <p:ph type="title"/>
          </p:nvPr>
        </p:nvSpPr>
        <p:spPr/>
        <p:txBody>
          <a:bodyPr/>
          <a:lstStyle/>
          <a:p>
            <a:r>
              <a:rPr lang="en-US" dirty="0"/>
              <a:t>Lazy Instantiation</a:t>
            </a:r>
          </a:p>
        </p:txBody>
      </p:sp>
      <p:sp>
        <p:nvSpPr>
          <p:cNvPr id="3" name="Content Placeholder 2">
            <a:extLst>
              <a:ext uri="{FF2B5EF4-FFF2-40B4-BE49-F238E27FC236}">
                <a16:creationId xmlns:a16="http://schemas.microsoft.com/office/drawing/2014/main" id="{BB51A415-3B10-A078-6960-3E979571659C}"/>
              </a:ext>
            </a:extLst>
          </p:cNvPr>
          <p:cNvSpPr>
            <a:spLocks noGrp="1"/>
          </p:cNvSpPr>
          <p:nvPr>
            <p:ph idx="1"/>
          </p:nvPr>
        </p:nvSpPr>
        <p:spPr>
          <a:xfrm>
            <a:off x="581192" y="1941534"/>
            <a:ext cx="11029615" cy="1083502"/>
          </a:xfrm>
        </p:spPr>
        <p:txBody>
          <a:bodyPr>
            <a:normAutofit fontScale="70000" lnSpcReduction="20000"/>
          </a:bodyPr>
          <a:lstStyle/>
          <a:p>
            <a:r>
              <a:rPr lang="en-US" dirty="0"/>
              <a:t>By default, Spring will load and initialize all beans, even if they aren’t injected anywhere!</a:t>
            </a:r>
          </a:p>
          <a:p>
            <a:r>
              <a:rPr lang="en-US" dirty="0"/>
              <a:t>We can set the @Lazy annotation so that an object of the class isn’t initialized until it is needed!</a:t>
            </a:r>
          </a:p>
          <a:p>
            <a:r>
              <a:rPr lang="en-US" dirty="0"/>
              <a:t>Alternatively, we can set the relevant property in our ‘</a:t>
            </a:r>
            <a:r>
              <a:rPr lang="en-US" dirty="0" err="1"/>
              <a:t>application.properties</a:t>
            </a:r>
            <a:r>
              <a:rPr lang="en-US" dirty="0"/>
              <a:t>’ file to enable lazy instantiation for ALL classes</a:t>
            </a:r>
          </a:p>
          <a:p>
            <a:r>
              <a:rPr lang="en-US" dirty="0"/>
              <a:t>You should really make sure you have enough memory once all objects are loaded before worrying about optimization with lazy instantiation!</a:t>
            </a:r>
          </a:p>
        </p:txBody>
      </p:sp>
      <p:pic>
        <p:nvPicPr>
          <p:cNvPr id="5" name="Picture 4">
            <a:extLst>
              <a:ext uri="{FF2B5EF4-FFF2-40B4-BE49-F238E27FC236}">
                <a16:creationId xmlns:a16="http://schemas.microsoft.com/office/drawing/2014/main" id="{07B5D837-F5B7-DA02-CF4A-37A48BE620F1}"/>
              </a:ext>
            </a:extLst>
          </p:cNvPr>
          <p:cNvPicPr>
            <a:picLocks noChangeAspect="1"/>
          </p:cNvPicPr>
          <p:nvPr/>
        </p:nvPicPr>
        <p:blipFill>
          <a:blip r:embed="rId2"/>
          <a:stretch>
            <a:fillRect/>
          </a:stretch>
        </p:blipFill>
        <p:spPr>
          <a:xfrm>
            <a:off x="1112560" y="3429000"/>
            <a:ext cx="4620270" cy="3105583"/>
          </a:xfrm>
          <a:prstGeom prst="rect">
            <a:avLst/>
          </a:prstGeom>
        </p:spPr>
      </p:pic>
      <p:pic>
        <p:nvPicPr>
          <p:cNvPr id="8" name="Picture 7">
            <a:extLst>
              <a:ext uri="{FF2B5EF4-FFF2-40B4-BE49-F238E27FC236}">
                <a16:creationId xmlns:a16="http://schemas.microsoft.com/office/drawing/2014/main" id="{1C89DFF6-3703-D615-D29B-9E8408FB5451}"/>
              </a:ext>
            </a:extLst>
          </p:cNvPr>
          <p:cNvPicPr>
            <a:picLocks noChangeAspect="1"/>
          </p:cNvPicPr>
          <p:nvPr/>
        </p:nvPicPr>
        <p:blipFill>
          <a:blip r:embed="rId3"/>
          <a:stretch>
            <a:fillRect/>
          </a:stretch>
        </p:blipFill>
        <p:spPr>
          <a:xfrm>
            <a:off x="6800547" y="4418531"/>
            <a:ext cx="3400900" cy="304843"/>
          </a:xfrm>
          <a:prstGeom prst="rect">
            <a:avLst/>
          </a:prstGeom>
        </p:spPr>
      </p:pic>
    </p:spTree>
    <p:extLst>
      <p:ext uri="{BB962C8B-B14F-4D97-AF65-F5344CB8AC3E}">
        <p14:creationId xmlns:p14="http://schemas.microsoft.com/office/powerpoint/2010/main" val="1035419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66A00-CDA6-4588-1360-BEA7DDC09013}"/>
              </a:ext>
            </a:extLst>
          </p:cNvPr>
          <p:cNvSpPr>
            <a:spLocks noGrp="1"/>
          </p:cNvSpPr>
          <p:nvPr>
            <p:ph type="title"/>
          </p:nvPr>
        </p:nvSpPr>
        <p:spPr/>
        <p:txBody>
          <a:bodyPr/>
          <a:lstStyle/>
          <a:p>
            <a:r>
              <a:rPr lang="en-US" dirty="0"/>
              <a:t>Bean Scope</a:t>
            </a:r>
          </a:p>
        </p:txBody>
      </p:sp>
      <p:sp>
        <p:nvSpPr>
          <p:cNvPr id="3" name="Content Placeholder 2">
            <a:extLst>
              <a:ext uri="{FF2B5EF4-FFF2-40B4-BE49-F238E27FC236}">
                <a16:creationId xmlns:a16="http://schemas.microsoft.com/office/drawing/2014/main" id="{BC4915E5-47AB-647F-8A87-B3839C317BF4}"/>
              </a:ext>
            </a:extLst>
          </p:cNvPr>
          <p:cNvSpPr>
            <a:spLocks noGrp="1"/>
          </p:cNvSpPr>
          <p:nvPr>
            <p:ph idx="1"/>
          </p:nvPr>
        </p:nvSpPr>
        <p:spPr>
          <a:xfrm>
            <a:off x="581193" y="2180496"/>
            <a:ext cx="4842578" cy="3907153"/>
          </a:xfrm>
        </p:spPr>
        <p:txBody>
          <a:bodyPr/>
          <a:lstStyle/>
          <a:p>
            <a:r>
              <a:rPr lang="en-US" dirty="0"/>
              <a:t>By default, the Spring Container only creates on instance of a bean – A Singlton </a:t>
            </a:r>
          </a:p>
          <a:p>
            <a:r>
              <a:rPr lang="en-US" dirty="0"/>
              <a:t>It is cached in memory and all dependency injections will reference the SAME bean</a:t>
            </a:r>
          </a:p>
          <a:p>
            <a:r>
              <a:rPr lang="en-US" dirty="0"/>
              <a:t>That means ‘</a:t>
            </a:r>
            <a:r>
              <a:rPr lang="en-US" dirty="0" err="1"/>
              <a:t>myCoach</a:t>
            </a:r>
            <a:r>
              <a:rPr lang="en-US" dirty="0"/>
              <a:t>’ &amp; ‘coach2’ will by default, be the SAME bean in memory </a:t>
            </a:r>
          </a:p>
          <a:p>
            <a:r>
              <a:rPr lang="en-US" dirty="0"/>
              <a:t>The endpoint shown will print ‘true’!</a:t>
            </a:r>
          </a:p>
        </p:txBody>
      </p:sp>
      <p:pic>
        <p:nvPicPr>
          <p:cNvPr id="5" name="Picture 4">
            <a:extLst>
              <a:ext uri="{FF2B5EF4-FFF2-40B4-BE49-F238E27FC236}">
                <a16:creationId xmlns:a16="http://schemas.microsoft.com/office/drawing/2014/main" id="{FD1A4104-FB2A-AD6D-DB94-78B48B09F10F}"/>
              </a:ext>
            </a:extLst>
          </p:cNvPr>
          <p:cNvPicPr>
            <a:picLocks noChangeAspect="1"/>
          </p:cNvPicPr>
          <p:nvPr/>
        </p:nvPicPr>
        <p:blipFill>
          <a:blip r:embed="rId2"/>
          <a:stretch>
            <a:fillRect/>
          </a:stretch>
        </p:blipFill>
        <p:spPr>
          <a:xfrm>
            <a:off x="6457782" y="2251988"/>
            <a:ext cx="4286848" cy="3105583"/>
          </a:xfrm>
          <a:prstGeom prst="rect">
            <a:avLst/>
          </a:prstGeom>
        </p:spPr>
      </p:pic>
      <p:pic>
        <p:nvPicPr>
          <p:cNvPr id="7" name="Picture 6">
            <a:extLst>
              <a:ext uri="{FF2B5EF4-FFF2-40B4-BE49-F238E27FC236}">
                <a16:creationId xmlns:a16="http://schemas.microsoft.com/office/drawing/2014/main" id="{561DF011-0622-4382-5F86-EA5FBEDC6FAF}"/>
              </a:ext>
            </a:extLst>
          </p:cNvPr>
          <p:cNvPicPr>
            <a:picLocks noChangeAspect="1"/>
          </p:cNvPicPr>
          <p:nvPr/>
        </p:nvPicPr>
        <p:blipFill>
          <a:blip r:embed="rId3"/>
          <a:stretch>
            <a:fillRect/>
          </a:stretch>
        </p:blipFill>
        <p:spPr>
          <a:xfrm>
            <a:off x="5123377" y="5587516"/>
            <a:ext cx="6487430" cy="1000265"/>
          </a:xfrm>
          <a:prstGeom prst="rect">
            <a:avLst/>
          </a:prstGeom>
        </p:spPr>
      </p:pic>
    </p:spTree>
    <p:extLst>
      <p:ext uri="{BB962C8B-B14F-4D97-AF65-F5344CB8AC3E}">
        <p14:creationId xmlns:p14="http://schemas.microsoft.com/office/powerpoint/2010/main" val="19514409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EDC93-CE49-9D52-FB21-C83186A43C7A}"/>
              </a:ext>
            </a:extLst>
          </p:cNvPr>
          <p:cNvSpPr>
            <a:spLocks noGrp="1"/>
          </p:cNvSpPr>
          <p:nvPr>
            <p:ph type="title"/>
          </p:nvPr>
        </p:nvSpPr>
        <p:spPr/>
        <p:txBody>
          <a:bodyPr/>
          <a:lstStyle/>
          <a:p>
            <a:r>
              <a:rPr lang="en-US" dirty="0"/>
              <a:t>Bean scope</a:t>
            </a:r>
          </a:p>
        </p:txBody>
      </p:sp>
      <p:pic>
        <p:nvPicPr>
          <p:cNvPr id="5" name="Content Placeholder 4">
            <a:extLst>
              <a:ext uri="{FF2B5EF4-FFF2-40B4-BE49-F238E27FC236}">
                <a16:creationId xmlns:a16="http://schemas.microsoft.com/office/drawing/2014/main" id="{621B44AB-9791-07CB-AFFD-0FDD72875618}"/>
              </a:ext>
            </a:extLst>
          </p:cNvPr>
          <p:cNvPicPr>
            <a:picLocks noGrp="1" noChangeAspect="1"/>
          </p:cNvPicPr>
          <p:nvPr>
            <p:ph idx="1"/>
          </p:nvPr>
        </p:nvPicPr>
        <p:blipFill>
          <a:blip r:embed="rId2"/>
          <a:stretch>
            <a:fillRect/>
          </a:stretch>
        </p:blipFill>
        <p:spPr>
          <a:xfrm>
            <a:off x="1415730" y="2216506"/>
            <a:ext cx="9360539" cy="3886899"/>
          </a:xfrm>
          <a:prstGeom prst="rect">
            <a:avLst/>
          </a:prstGeom>
        </p:spPr>
      </p:pic>
    </p:spTree>
    <p:extLst>
      <p:ext uri="{BB962C8B-B14F-4D97-AF65-F5344CB8AC3E}">
        <p14:creationId xmlns:p14="http://schemas.microsoft.com/office/powerpoint/2010/main" val="29307136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4D076-1C05-AF13-3E9F-5E5CF494DF8E}"/>
              </a:ext>
            </a:extLst>
          </p:cNvPr>
          <p:cNvSpPr>
            <a:spLocks noGrp="1"/>
          </p:cNvSpPr>
          <p:nvPr>
            <p:ph type="title"/>
          </p:nvPr>
        </p:nvSpPr>
        <p:spPr/>
        <p:txBody>
          <a:bodyPr/>
          <a:lstStyle/>
          <a:p>
            <a:r>
              <a:rPr lang="en-US" dirty="0"/>
              <a:t>Bean scope - prototype</a:t>
            </a:r>
          </a:p>
        </p:txBody>
      </p:sp>
      <p:sp>
        <p:nvSpPr>
          <p:cNvPr id="3" name="Content Placeholder 2">
            <a:extLst>
              <a:ext uri="{FF2B5EF4-FFF2-40B4-BE49-F238E27FC236}">
                <a16:creationId xmlns:a16="http://schemas.microsoft.com/office/drawing/2014/main" id="{E7B1A15D-ECB5-8481-127A-D85B83DBC3B8}"/>
              </a:ext>
            </a:extLst>
          </p:cNvPr>
          <p:cNvSpPr>
            <a:spLocks noGrp="1"/>
          </p:cNvSpPr>
          <p:nvPr>
            <p:ph idx="1"/>
          </p:nvPr>
        </p:nvSpPr>
        <p:spPr>
          <a:xfrm>
            <a:off x="581192" y="2180496"/>
            <a:ext cx="10867095" cy="1155235"/>
          </a:xfrm>
        </p:spPr>
        <p:txBody>
          <a:bodyPr>
            <a:normAutofit lnSpcReduction="10000"/>
          </a:bodyPr>
          <a:lstStyle/>
          <a:p>
            <a:r>
              <a:rPr lang="en-US" dirty="0"/>
              <a:t>Set to prototype, we will get a new object instantiation for each injection</a:t>
            </a:r>
          </a:p>
          <a:p>
            <a:r>
              <a:rPr lang="en-US" dirty="0"/>
              <a:t>The same ‘/check’ endpoint will now print ‘false’!</a:t>
            </a:r>
          </a:p>
          <a:p>
            <a:r>
              <a:rPr lang="en-US" dirty="0"/>
              <a:t>The are different beans in memory now!</a:t>
            </a:r>
          </a:p>
        </p:txBody>
      </p:sp>
      <p:pic>
        <p:nvPicPr>
          <p:cNvPr id="5" name="Picture 4">
            <a:extLst>
              <a:ext uri="{FF2B5EF4-FFF2-40B4-BE49-F238E27FC236}">
                <a16:creationId xmlns:a16="http://schemas.microsoft.com/office/drawing/2014/main" id="{935A68C3-5D30-C4B3-7701-4088A83A4048}"/>
              </a:ext>
            </a:extLst>
          </p:cNvPr>
          <p:cNvPicPr>
            <a:picLocks noChangeAspect="1"/>
          </p:cNvPicPr>
          <p:nvPr/>
        </p:nvPicPr>
        <p:blipFill>
          <a:blip r:embed="rId2"/>
          <a:stretch>
            <a:fillRect/>
          </a:stretch>
        </p:blipFill>
        <p:spPr>
          <a:xfrm>
            <a:off x="697224" y="3939167"/>
            <a:ext cx="5012130" cy="2546664"/>
          </a:xfrm>
          <a:prstGeom prst="rect">
            <a:avLst/>
          </a:prstGeom>
        </p:spPr>
      </p:pic>
      <p:pic>
        <p:nvPicPr>
          <p:cNvPr id="7" name="Picture 6">
            <a:extLst>
              <a:ext uri="{FF2B5EF4-FFF2-40B4-BE49-F238E27FC236}">
                <a16:creationId xmlns:a16="http://schemas.microsoft.com/office/drawing/2014/main" id="{1C081307-1126-0D65-F840-D4EFE3FD71C8}"/>
              </a:ext>
            </a:extLst>
          </p:cNvPr>
          <p:cNvPicPr>
            <a:picLocks noChangeAspect="1"/>
          </p:cNvPicPr>
          <p:nvPr/>
        </p:nvPicPr>
        <p:blipFill>
          <a:blip r:embed="rId3"/>
          <a:stretch>
            <a:fillRect/>
          </a:stretch>
        </p:blipFill>
        <p:spPr>
          <a:xfrm>
            <a:off x="6166713" y="3658837"/>
            <a:ext cx="5130553" cy="3107325"/>
          </a:xfrm>
          <a:prstGeom prst="rect">
            <a:avLst/>
          </a:prstGeom>
        </p:spPr>
      </p:pic>
    </p:spTree>
    <p:extLst>
      <p:ext uri="{BB962C8B-B14F-4D97-AF65-F5344CB8AC3E}">
        <p14:creationId xmlns:p14="http://schemas.microsoft.com/office/powerpoint/2010/main" val="25389929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A8AB-C935-07E4-6612-8E1937070F93}"/>
              </a:ext>
            </a:extLst>
          </p:cNvPr>
          <p:cNvSpPr>
            <a:spLocks noGrp="1"/>
          </p:cNvSpPr>
          <p:nvPr>
            <p:ph type="title"/>
          </p:nvPr>
        </p:nvSpPr>
        <p:spPr/>
        <p:txBody>
          <a:bodyPr/>
          <a:lstStyle/>
          <a:p>
            <a:r>
              <a:rPr lang="en-US" dirty="0"/>
              <a:t>Bean lifecycle</a:t>
            </a:r>
          </a:p>
        </p:txBody>
      </p:sp>
      <p:pic>
        <p:nvPicPr>
          <p:cNvPr id="5" name="Content Placeholder 4">
            <a:extLst>
              <a:ext uri="{FF2B5EF4-FFF2-40B4-BE49-F238E27FC236}">
                <a16:creationId xmlns:a16="http://schemas.microsoft.com/office/drawing/2014/main" id="{99D3460E-8FEC-40BD-3DEA-8D791C36D8C8}"/>
              </a:ext>
            </a:extLst>
          </p:cNvPr>
          <p:cNvPicPr>
            <a:picLocks noGrp="1" noChangeAspect="1"/>
          </p:cNvPicPr>
          <p:nvPr>
            <p:ph idx="1"/>
          </p:nvPr>
        </p:nvPicPr>
        <p:blipFill>
          <a:blip r:embed="rId2"/>
          <a:stretch>
            <a:fillRect/>
          </a:stretch>
        </p:blipFill>
        <p:spPr>
          <a:xfrm>
            <a:off x="1052812" y="2143354"/>
            <a:ext cx="10086375" cy="4191597"/>
          </a:xfrm>
          <a:prstGeom prst="rect">
            <a:avLst/>
          </a:prstGeom>
        </p:spPr>
      </p:pic>
    </p:spTree>
    <p:extLst>
      <p:ext uri="{BB962C8B-B14F-4D97-AF65-F5344CB8AC3E}">
        <p14:creationId xmlns:p14="http://schemas.microsoft.com/office/powerpoint/2010/main" val="29536939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F5602-8A02-9A7E-4566-A5BB3B0AB01C}"/>
              </a:ext>
            </a:extLst>
          </p:cNvPr>
          <p:cNvSpPr>
            <a:spLocks noGrp="1"/>
          </p:cNvSpPr>
          <p:nvPr>
            <p:ph type="title"/>
          </p:nvPr>
        </p:nvSpPr>
        <p:spPr/>
        <p:txBody>
          <a:bodyPr/>
          <a:lstStyle/>
          <a:p>
            <a:r>
              <a:rPr lang="en-US" dirty="0"/>
              <a:t>Bean lifecycle methods – why?</a:t>
            </a:r>
          </a:p>
        </p:txBody>
      </p:sp>
      <p:sp>
        <p:nvSpPr>
          <p:cNvPr id="3" name="Content Placeholder 2">
            <a:extLst>
              <a:ext uri="{FF2B5EF4-FFF2-40B4-BE49-F238E27FC236}">
                <a16:creationId xmlns:a16="http://schemas.microsoft.com/office/drawing/2014/main" id="{0997A499-5B0C-46C9-42FD-8304FF8903A8}"/>
              </a:ext>
            </a:extLst>
          </p:cNvPr>
          <p:cNvSpPr>
            <a:spLocks noGrp="1"/>
          </p:cNvSpPr>
          <p:nvPr>
            <p:ph idx="1"/>
          </p:nvPr>
        </p:nvSpPr>
        <p:spPr>
          <a:xfrm>
            <a:off x="581192" y="2180496"/>
            <a:ext cx="5373381" cy="3678303"/>
          </a:xfrm>
        </p:spPr>
        <p:txBody>
          <a:bodyPr/>
          <a:lstStyle/>
          <a:p>
            <a:r>
              <a:rPr lang="en-US" dirty="0"/>
              <a:t>You can add custom code during bean initialization</a:t>
            </a:r>
          </a:p>
          <a:p>
            <a:pPr lvl="1"/>
            <a:r>
              <a:rPr lang="en-US" dirty="0"/>
              <a:t>@PostConstruct </a:t>
            </a:r>
          </a:p>
          <a:p>
            <a:pPr lvl="1"/>
            <a:r>
              <a:rPr lang="en-US" dirty="0"/>
              <a:t>Set up handles to resources (</a:t>
            </a:r>
            <a:r>
              <a:rPr lang="en-US" dirty="0" err="1"/>
              <a:t>db</a:t>
            </a:r>
            <a:r>
              <a:rPr lang="en-US" dirty="0"/>
              <a:t>, sockets, file </a:t>
            </a:r>
            <a:r>
              <a:rPr lang="en-US" dirty="0" err="1"/>
              <a:t>etc</a:t>
            </a:r>
            <a:r>
              <a:rPr lang="en-US" dirty="0"/>
              <a:t>) </a:t>
            </a:r>
          </a:p>
          <a:p>
            <a:r>
              <a:rPr lang="en-US" dirty="0"/>
              <a:t>You can add custom code during bean destruction</a:t>
            </a:r>
          </a:p>
          <a:p>
            <a:pPr lvl="1"/>
            <a:r>
              <a:rPr lang="en-US" dirty="0"/>
              <a:t>@PreDestroy</a:t>
            </a:r>
          </a:p>
          <a:p>
            <a:pPr lvl="1"/>
            <a:r>
              <a:rPr lang="en-US" dirty="0"/>
              <a:t>Clean up handles to resources (</a:t>
            </a:r>
            <a:r>
              <a:rPr lang="en-US" dirty="0" err="1"/>
              <a:t>db</a:t>
            </a:r>
            <a:r>
              <a:rPr lang="en-US" dirty="0"/>
              <a:t>, sockets, files </a:t>
            </a:r>
            <a:r>
              <a:rPr lang="en-US" dirty="0" err="1"/>
              <a:t>etc</a:t>
            </a:r>
            <a:r>
              <a:rPr lang="en-US" dirty="0"/>
              <a:t>)</a:t>
            </a:r>
          </a:p>
          <a:p>
            <a:r>
              <a:rPr lang="en-US" dirty="0"/>
              <a:t>Note: Prototype scoped beans will NOT call @PreDestroy methods! </a:t>
            </a:r>
          </a:p>
        </p:txBody>
      </p:sp>
      <p:pic>
        <p:nvPicPr>
          <p:cNvPr id="5" name="Picture 4">
            <a:extLst>
              <a:ext uri="{FF2B5EF4-FFF2-40B4-BE49-F238E27FC236}">
                <a16:creationId xmlns:a16="http://schemas.microsoft.com/office/drawing/2014/main" id="{DAC9A2C2-B068-4BA8-AD8A-58E073AF77EC}"/>
              </a:ext>
            </a:extLst>
          </p:cNvPr>
          <p:cNvPicPr>
            <a:picLocks noChangeAspect="1"/>
          </p:cNvPicPr>
          <p:nvPr/>
        </p:nvPicPr>
        <p:blipFill>
          <a:blip r:embed="rId2"/>
          <a:stretch>
            <a:fillRect/>
          </a:stretch>
        </p:blipFill>
        <p:spPr>
          <a:xfrm>
            <a:off x="6314041" y="2438847"/>
            <a:ext cx="4991797" cy="3419952"/>
          </a:xfrm>
          <a:prstGeom prst="rect">
            <a:avLst/>
          </a:prstGeom>
        </p:spPr>
      </p:pic>
    </p:spTree>
    <p:extLst>
      <p:ext uri="{BB962C8B-B14F-4D97-AF65-F5344CB8AC3E}">
        <p14:creationId xmlns:p14="http://schemas.microsoft.com/office/powerpoint/2010/main" val="38960385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502DB-93B6-137A-F26F-E645BE1EFBDB}"/>
              </a:ext>
            </a:extLst>
          </p:cNvPr>
          <p:cNvSpPr>
            <a:spLocks noGrp="1"/>
          </p:cNvSpPr>
          <p:nvPr>
            <p:ph type="title"/>
          </p:nvPr>
        </p:nvSpPr>
        <p:spPr/>
        <p:txBody>
          <a:bodyPr/>
          <a:lstStyle/>
          <a:p>
            <a:r>
              <a:rPr lang="en-US" dirty="0"/>
              <a:t>Configuring the spring container - recap</a:t>
            </a:r>
          </a:p>
        </p:txBody>
      </p:sp>
      <p:sp>
        <p:nvSpPr>
          <p:cNvPr id="3" name="Content Placeholder 2">
            <a:extLst>
              <a:ext uri="{FF2B5EF4-FFF2-40B4-BE49-F238E27FC236}">
                <a16:creationId xmlns:a16="http://schemas.microsoft.com/office/drawing/2014/main" id="{ABF84E7B-648A-EC60-F744-3C56AA40BDF5}"/>
              </a:ext>
            </a:extLst>
          </p:cNvPr>
          <p:cNvSpPr>
            <a:spLocks noGrp="1"/>
          </p:cNvSpPr>
          <p:nvPr>
            <p:ph idx="1"/>
          </p:nvPr>
        </p:nvSpPr>
        <p:spPr/>
        <p:txBody>
          <a:bodyPr/>
          <a:lstStyle/>
          <a:p>
            <a:r>
              <a:rPr lang="en-US" dirty="0"/>
              <a:t>When it comes to configuring the Spring Container:</a:t>
            </a:r>
          </a:p>
          <a:p>
            <a:pPr lvl="1"/>
            <a:r>
              <a:rPr lang="en-US" dirty="0"/>
              <a:t>XML Configuration file (legacy)</a:t>
            </a:r>
          </a:p>
          <a:p>
            <a:pPr lvl="1"/>
            <a:r>
              <a:rPr lang="en-US" dirty="0"/>
              <a:t>Java Annotations (Modern) </a:t>
            </a:r>
          </a:p>
          <a:p>
            <a:pPr lvl="2"/>
            <a:r>
              <a:rPr lang="en-US" dirty="0"/>
              <a:t>@Component, @Service, @Repository, etc.</a:t>
            </a:r>
          </a:p>
          <a:p>
            <a:pPr lvl="1"/>
            <a:r>
              <a:rPr lang="en-US" dirty="0"/>
              <a:t>Java source code (Modern)</a:t>
            </a:r>
          </a:p>
          <a:p>
            <a:pPr lvl="2"/>
            <a:r>
              <a:rPr lang="en-US" dirty="0"/>
              <a:t>What we will discuss now!</a:t>
            </a:r>
          </a:p>
        </p:txBody>
      </p:sp>
    </p:spTree>
    <p:extLst>
      <p:ext uri="{BB962C8B-B14F-4D97-AF65-F5344CB8AC3E}">
        <p14:creationId xmlns:p14="http://schemas.microsoft.com/office/powerpoint/2010/main" val="2546896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AEB6-F68B-D263-BE70-D8D7ED9138D9}"/>
              </a:ext>
            </a:extLst>
          </p:cNvPr>
          <p:cNvSpPr>
            <a:spLocks noGrp="1"/>
          </p:cNvSpPr>
          <p:nvPr>
            <p:ph type="title"/>
          </p:nvPr>
        </p:nvSpPr>
        <p:spPr/>
        <p:txBody>
          <a:bodyPr/>
          <a:lstStyle/>
          <a:p>
            <a:r>
              <a:rPr lang="en-US" dirty="0"/>
              <a:t>@Configruation &amp; @Bean</a:t>
            </a:r>
          </a:p>
        </p:txBody>
      </p:sp>
      <p:sp>
        <p:nvSpPr>
          <p:cNvPr id="3" name="Content Placeholder 2">
            <a:extLst>
              <a:ext uri="{FF2B5EF4-FFF2-40B4-BE49-F238E27FC236}">
                <a16:creationId xmlns:a16="http://schemas.microsoft.com/office/drawing/2014/main" id="{6940F475-2C9A-1177-AB5A-291A490241FE}"/>
              </a:ext>
            </a:extLst>
          </p:cNvPr>
          <p:cNvSpPr>
            <a:spLocks noGrp="1"/>
          </p:cNvSpPr>
          <p:nvPr>
            <p:ph idx="1"/>
          </p:nvPr>
        </p:nvSpPr>
        <p:spPr>
          <a:xfrm>
            <a:off x="581192" y="2180496"/>
            <a:ext cx="6470661" cy="1248503"/>
          </a:xfrm>
        </p:spPr>
        <p:txBody>
          <a:bodyPr>
            <a:normAutofit fontScale="92500" lnSpcReduction="20000"/>
          </a:bodyPr>
          <a:lstStyle/>
          <a:p>
            <a:r>
              <a:rPr lang="en-US" dirty="0"/>
              <a:t>Notice our </a:t>
            </a:r>
            <a:r>
              <a:rPr lang="en-US" dirty="0" err="1"/>
              <a:t>SwimCoach</a:t>
            </a:r>
            <a:r>
              <a:rPr lang="en-US" dirty="0"/>
              <a:t> does NOT use @Component</a:t>
            </a:r>
          </a:p>
          <a:p>
            <a:r>
              <a:rPr lang="en-US" dirty="0"/>
              <a:t>We instead setup a @Configuration class to get full control </a:t>
            </a:r>
          </a:p>
          <a:p>
            <a:pPr lvl="1"/>
            <a:r>
              <a:rPr lang="en-US" dirty="0"/>
              <a:t>For example, we can now pass params into ‘new </a:t>
            </a:r>
            <a:r>
              <a:rPr lang="en-US" dirty="0" err="1"/>
              <a:t>SwimCoach</a:t>
            </a:r>
            <a:r>
              <a:rPr lang="en-US" dirty="0"/>
              <a:t>()’</a:t>
            </a:r>
          </a:p>
          <a:p>
            <a:pPr lvl="1"/>
            <a:r>
              <a:rPr lang="en-US" dirty="0"/>
              <a:t>You could pass an API key, set fields, manually set dependencies, etc.  </a:t>
            </a:r>
          </a:p>
        </p:txBody>
      </p:sp>
      <p:pic>
        <p:nvPicPr>
          <p:cNvPr id="5" name="Picture 4">
            <a:extLst>
              <a:ext uri="{FF2B5EF4-FFF2-40B4-BE49-F238E27FC236}">
                <a16:creationId xmlns:a16="http://schemas.microsoft.com/office/drawing/2014/main" id="{6481D4F2-2A32-2CB4-2B44-7080CB69BEED}"/>
              </a:ext>
            </a:extLst>
          </p:cNvPr>
          <p:cNvPicPr>
            <a:picLocks noChangeAspect="1"/>
          </p:cNvPicPr>
          <p:nvPr/>
        </p:nvPicPr>
        <p:blipFill>
          <a:blip r:embed="rId2"/>
          <a:stretch>
            <a:fillRect/>
          </a:stretch>
        </p:blipFill>
        <p:spPr>
          <a:xfrm>
            <a:off x="629361" y="3876194"/>
            <a:ext cx="5363323" cy="2876951"/>
          </a:xfrm>
          <a:prstGeom prst="rect">
            <a:avLst/>
          </a:prstGeom>
        </p:spPr>
      </p:pic>
      <p:pic>
        <p:nvPicPr>
          <p:cNvPr id="7" name="Picture 6">
            <a:extLst>
              <a:ext uri="{FF2B5EF4-FFF2-40B4-BE49-F238E27FC236}">
                <a16:creationId xmlns:a16="http://schemas.microsoft.com/office/drawing/2014/main" id="{9770052C-C121-F7A5-FF2C-B23E4ECC5770}"/>
              </a:ext>
            </a:extLst>
          </p:cNvPr>
          <p:cNvPicPr>
            <a:picLocks noChangeAspect="1"/>
          </p:cNvPicPr>
          <p:nvPr/>
        </p:nvPicPr>
        <p:blipFill>
          <a:blip r:embed="rId3"/>
          <a:stretch>
            <a:fillRect/>
          </a:stretch>
        </p:blipFill>
        <p:spPr>
          <a:xfrm>
            <a:off x="6367566" y="3876194"/>
            <a:ext cx="5567072" cy="2750556"/>
          </a:xfrm>
          <a:prstGeom prst="rect">
            <a:avLst/>
          </a:prstGeom>
        </p:spPr>
      </p:pic>
      <p:pic>
        <p:nvPicPr>
          <p:cNvPr id="9" name="Picture 8">
            <a:extLst>
              <a:ext uri="{FF2B5EF4-FFF2-40B4-BE49-F238E27FC236}">
                <a16:creationId xmlns:a16="http://schemas.microsoft.com/office/drawing/2014/main" id="{CF33F7FE-CF15-D21C-A3EA-C3B02B3FEF6F}"/>
              </a:ext>
            </a:extLst>
          </p:cNvPr>
          <p:cNvPicPr>
            <a:picLocks noChangeAspect="1"/>
          </p:cNvPicPr>
          <p:nvPr/>
        </p:nvPicPr>
        <p:blipFill>
          <a:blip r:embed="rId4"/>
          <a:stretch>
            <a:fillRect/>
          </a:stretch>
        </p:blipFill>
        <p:spPr>
          <a:xfrm>
            <a:off x="7396617" y="1972236"/>
            <a:ext cx="3029445" cy="1611079"/>
          </a:xfrm>
          <a:prstGeom prst="rect">
            <a:avLst/>
          </a:prstGeom>
        </p:spPr>
      </p:pic>
    </p:spTree>
    <p:extLst>
      <p:ext uri="{BB962C8B-B14F-4D97-AF65-F5344CB8AC3E}">
        <p14:creationId xmlns:p14="http://schemas.microsoft.com/office/powerpoint/2010/main" val="17663463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70AB-EBEC-34B5-51DD-3210E67D3403}"/>
              </a:ext>
            </a:extLst>
          </p:cNvPr>
          <p:cNvSpPr>
            <a:spLocks noGrp="1"/>
          </p:cNvSpPr>
          <p:nvPr>
            <p:ph type="title"/>
          </p:nvPr>
        </p:nvSpPr>
        <p:spPr/>
        <p:txBody>
          <a:bodyPr/>
          <a:lstStyle/>
          <a:p>
            <a:r>
              <a:rPr lang="en-US" dirty="0"/>
              <a:t>Another example</a:t>
            </a:r>
          </a:p>
        </p:txBody>
      </p:sp>
      <p:sp>
        <p:nvSpPr>
          <p:cNvPr id="3" name="Content Placeholder 2">
            <a:extLst>
              <a:ext uri="{FF2B5EF4-FFF2-40B4-BE49-F238E27FC236}">
                <a16:creationId xmlns:a16="http://schemas.microsoft.com/office/drawing/2014/main" id="{4E84D2C9-4C41-A368-7846-B1087E3E7451}"/>
              </a:ext>
            </a:extLst>
          </p:cNvPr>
          <p:cNvSpPr>
            <a:spLocks noGrp="1"/>
          </p:cNvSpPr>
          <p:nvPr>
            <p:ph idx="1"/>
          </p:nvPr>
        </p:nvSpPr>
        <p:spPr>
          <a:xfrm>
            <a:off x="581192" y="2180496"/>
            <a:ext cx="11029615" cy="4030109"/>
          </a:xfrm>
        </p:spPr>
        <p:txBody>
          <a:bodyPr/>
          <a:lstStyle/>
          <a:p>
            <a:r>
              <a:rPr lang="en-US" dirty="0"/>
              <a:t>You may want to make an existing third-party class available for the Spring </a:t>
            </a:r>
            <a:r>
              <a:rPr lang="en-US" dirty="0" err="1"/>
              <a:t>Framwork</a:t>
            </a:r>
            <a:endParaRPr lang="en-US" dirty="0"/>
          </a:p>
          <a:p>
            <a:r>
              <a:rPr lang="en-US" dirty="0"/>
              <a:t>You may not have access to the source code of the third-party class</a:t>
            </a:r>
          </a:p>
          <a:p>
            <a:r>
              <a:rPr lang="en-US" dirty="0"/>
              <a:t>However, you want to use the third-party class as a spring bean</a:t>
            </a:r>
          </a:p>
          <a:p>
            <a:r>
              <a:rPr lang="en-US" dirty="0"/>
              <a:t>Real world example:</a:t>
            </a:r>
          </a:p>
          <a:p>
            <a:pPr lvl="1"/>
            <a:r>
              <a:rPr lang="en-US" dirty="0"/>
              <a:t>Setup an AWS S3 client as a Spring Bean in your app</a:t>
            </a:r>
          </a:p>
          <a:p>
            <a:pPr lvl="1"/>
            <a:r>
              <a:rPr lang="en-US" dirty="0"/>
              <a:t>We can’t modify the AWS SDK source code</a:t>
            </a:r>
          </a:p>
          <a:p>
            <a:pPr lvl="1"/>
            <a:r>
              <a:rPr lang="en-US" dirty="0"/>
              <a:t>We can’t just add @Component </a:t>
            </a:r>
          </a:p>
          <a:p>
            <a:pPr lvl="1"/>
            <a:r>
              <a:rPr lang="en-US" dirty="0"/>
              <a:t>We CAN configure it as a Spring bean, so we can use it across our app!</a:t>
            </a:r>
          </a:p>
        </p:txBody>
      </p:sp>
    </p:spTree>
    <p:extLst>
      <p:ext uri="{BB962C8B-B14F-4D97-AF65-F5344CB8AC3E}">
        <p14:creationId xmlns:p14="http://schemas.microsoft.com/office/powerpoint/2010/main" val="38863521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6AD72-FE5D-162B-FDB2-F5634D9DA438}"/>
              </a:ext>
            </a:extLst>
          </p:cNvPr>
          <p:cNvSpPr>
            <a:spLocks noGrp="1"/>
          </p:cNvSpPr>
          <p:nvPr>
            <p:ph type="title"/>
          </p:nvPr>
        </p:nvSpPr>
        <p:spPr/>
        <p:txBody>
          <a:bodyPr/>
          <a:lstStyle/>
          <a:p>
            <a:r>
              <a:rPr lang="en-US" dirty="0"/>
              <a:t>Another example – further explained</a:t>
            </a:r>
          </a:p>
        </p:txBody>
      </p:sp>
      <p:pic>
        <p:nvPicPr>
          <p:cNvPr id="5" name="Content Placeholder 4">
            <a:extLst>
              <a:ext uri="{FF2B5EF4-FFF2-40B4-BE49-F238E27FC236}">
                <a16:creationId xmlns:a16="http://schemas.microsoft.com/office/drawing/2014/main" id="{8031336D-8A82-6A42-CAE8-F4E8612384EE}"/>
              </a:ext>
            </a:extLst>
          </p:cNvPr>
          <p:cNvPicPr>
            <a:picLocks noGrp="1" noChangeAspect="1"/>
          </p:cNvPicPr>
          <p:nvPr>
            <p:ph idx="1"/>
          </p:nvPr>
        </p:nvPicPr>
        <p:blipFill>
          <a:blip r:embed="rId2"/>
          <a:stretch>
            <a:fillRect/>
          </a:stretch>
        </p:blipFill>
        <p:spPr>
          <a:xfrm>
            <a:off x="1741179" y="2264170"/>
            <a:ext cx="8709641" cy="3891674"/>
          </a:xfrm>
          <a:prstGeom prst="rect">
            <a:avLst/>
          </a:prstGeom>
        </p:spPr>
      </p:pic>
    </p:spTree>
    <p:extLst>
      <p:ext uri="{BB962C8B-B14F-4D97-AF65-F5344CB8AC3E}">
        <p14:creationId xmlns:p14="http://schemas.microsoft.com/office/powerpoint/2010/main" val="35456880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84B61-7719-5099-DA4F-9DED8295C73C}"/>
              </a:ext>
            </a:extLst>
          </p:cNvPr>
          <p:cNvSpPr>
            <a:spLocks noGrp="1"/>
          </p:cNvSpPr>
          <p:nvPr>
            <p:ph type="title"/>
          </p:nvPr>
        </p:nvSpPr>
        <p:spPr/>
        <p:txBody>
          <a:bodyPr/>
          <a:lstStyle/>
          <a:p>
            <a:r>
              <a:rPr lang="en-US" dirty="0"/>
              <a:t>Another example – further explained</a:t>
            </a:r>
          </a:p>
        </p:txBody>
      </p:sp>
      <p:pic>
        <p:nvPicPr>
          <p:cNvPr id="9" name="Picture 8">
            <a:extLst>
              <a:ext uri="{FF2B5EF4-FFF2-40B4-BE49-F238E27FC236}">
                <a16:creationId xmlns:a16="http://schemas.microsoft.com/office/drawing/2014/main" id="{BAC3B646-07CE-C8B9-E27A-40835494923B}"/>
              </a:ext>
            </a:extLst>
          </p:cNvPr>
          <p:cNvPicPr>
            <a:picLocks noChangeAspect="1"/>
          </p:cNvPicPr>
          <p:nvPr/>
        </p:nvPicPr>
        <p:blipFill>
          <a:blip r:embed="rId2"/>
          <a:stretch>
            <a:fillRect/>
          </a:stretch>
        </p:blipFill>
        <p:spPr>
          <a:xfrm>
            <a:off x="1474013" y="2006927"/>
            <a:ext cx="9243974" cy="4628657"/>
          </a:xfrm>
          <a:prstGeom prst="rect">
            <a:avLst/>
          </a:prstGeom>
        </p:spPr>
      </p:pic>
    </p:spTree>
    <p:extLst>
      <p:ext uri="{BB962C8B-B14F-4D97-AF65-F5344CB8AC3E}">
        <p14:creationId xmlns:p14="http://schemas.microsoft.com/office/powerpoint/2010/main" val="22758112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5122</TotalTime>
  <Words>3043</Words>
  <Application>Microsoft Office PowerPoint</Application>
  <PresentationFormat>Widescreen</PresentationFormat>
  <Paragraphs>321</Paragraphs>
  <Slides>62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-apple-system-body</vt:lpstr>
      <vt:lpstr>Courier New</vt:lpstr>
      <vt:lpstr>Gill Sans MT</vt:lpstr>
      <vt:lpstr>Wingdings</vt:lpstr>
      <vt:lpstr>Wingdings 2</vt:lpstr>
      <vt:lpstr>Dividend</vt:lpstr>
      <vt:lpstr>Spring boot &amp; Spring core features</vt:lpstr>
      <vt:lpstr>Spring</vt:lpstr>
      <vt:lpstr>DI – Dependency Injection</vt:lpstr>
      <vt:lpstr>Spring vs Spring Boot</vt:lpstr>
      <vt:lpstr>Spring Initializr - Start.pring.io</vt:lpstr>
      <vt:lpstr>Spring tools suite - spring.io/tools</vt:lpstr>
      <vt:lpstr>Spring tools - vs code extension</vt:lpstr>
      <vt:lpstr>Creating a Spring boot app – vs code</vt:lpstr>
      <vt:lpstr>Hello world setup</vt:lpstr>
      <vt:lpstr>Spring projects</vt:lpstr>
      <vt:lpstr>Spring project structure - maven</vt:lpstr>
      <vt:lpstr>Spring project structure - maven</vt:lpstr>
      <vt:lpstr>Spring project structure - Pom file</vt:lpstr>
      <vt:lpstr>Spring project structure - Application.properties</vt:lpstr>
      <vt:lpstr>Spring project structure - using custom properties</vt:lpstr>
      <vt:lpstr>Spring project structure - Static content</vt:lpstr>
      <vt:lpstr>Spring project structure - webapp standard location</vt:lpstr>
      <vt:lpstr>Spring project structure - Template engines</vt:lpstr>
      <vt:lpstr>Spring project structure – unit tests</vt:lpstr>
      <vt:lpstr>Spring boot starters - review</vt:lpstr>
      <vt:lpstr>Spring boot starters – review – common starters</vt:lpstr>
      <vt:lpstr>View starter dependencies – vs code</vt:lpstr>
      <vt:lpstr>Spring boot starter parent</vt:lpstr>
      <vt:lpstr>Spring boot starter parent</vt:lpstr>
      <vt:lpstr>Spring boot dev tools – hot reload</vt:lpstr>
      <vt:lpstr>Testing hot reload</vt:lpstr>
      <vt:lpstr>Spring boot actuator</vt:lpstr>
      <vt:lpstr>Spring boot actuator - health</vt:lpstr>
      <vt:lpstr>Spring boot actuator – exposing endpoints</vt:lpstr>
      <vt:lpstr>Spring boot actuator – available endpoints</vt:lpstr>
      <vt:lpstr>STOP</vt:lpstr>
      <vt:lpstr>Securing Spring actuator endpoints</vt:lpstr>
      <vt:lpstr>Securing Spring actuator endpoints</vt:lpstr>
      <vt:lpstr>STOP</vt:lpstr>
      <vt:lpstr>Packaging/running via CLI</vt:lpstr>
      <vt:lpstr>Spring Logging</vt:lpstr>
      <vt:lpstr>Application.properties - config</vt:lpstr>
      <vt:lpstr>Challenge – custom endpoint &amp; logging</vt:lpstr>
      <vt:lpstr>Ioc – inversion of control</vt:lpstr>
      <vt:lpstr>Spring Dependency Injection through dependency Inversion</vt:lpstr>
      <vt:lpstr>Types of dependency injection</vt:lpstr>
      <vt:lpstr>What is spring autowiring</vt:lpstr>
      <vt:lpstr>Constructor injection – putting it together</vt:lpstr>
      <vt:lpstr>More on Component scanning</vt:lpstr>
      <vt:lpstr>More on component scanning</vt:lpstr>
      <vt:lpstr>Setter Injection – putting it together</vt:lpstr>
      <vt:lpstr>Field injection – not recommended</vt:lpstr>
      <vt:lpstr>Question….</vt:lpstr>
      <vt:lpstr>One possible Solution - @qualifier </vt:lpstr>
      <vt:lpstr>Another solution - @primary</vt:lpstr>
      <vt:lpstr>Challenge – let’s check our understanding</vt:lpstr>
      <vt:lpstr>Lazy Instantiation</vt:lpstr>
      <vt:lpstr>Bean Scope</vt:lpstr>
      <vt:lpstr>Bean scope</vt:lpstr>
      <vt:lpstr>Bean scope - prototype</vt:lpstr>
      <vt:lpstr>Bean lifecycle</vt:lpstr>
      <vt:lpstr>Bean lifecycle methods – why?</vt:lpstr>
      <vt:lpstr>Configuring the spring container - recap</vt:lpstr>
      <vt:lpstr>@Configruation &amp; @Bean</vt:lpstr>
      <vt:lpstr>Another example</vt:lpstr>
      <vt:lpstr>Another example – further explained</vt:lpstr>
      <vt:lpstr>Another example – further explained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Wilson</dc:creator>
  <cp:lastModifiedBy>Ethan Wilson</cp:lastModifiedBy>
  <cp:revision>607</cp:revision>
  <dcterms:created xsi:type="dcterms:W3CDTF">2025-02-12T19:53:45Z</dcterms:created>
  <dcterms:modified xsi:type="dcterms:W3CDTF">2026-09-29T01:53:37Z</dcterms:modified>
</cp:coreProperties>
</file>