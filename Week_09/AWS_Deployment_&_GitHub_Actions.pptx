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16" r:id="rId3"/>
    <p:sldId id="307" r:id="rId4"/>
    <p:sldId id="305" r:id="rId5"/>
    <p:sldId id="284" r:id="rId6"/>
    <p:sldId id="285" r:id="rId7"/>
    <p:sldId id="304" r:id="rId8"/>
    <p:sldId id="303" r:id="rId9"/>
    <p:sldId id="263" r:id="rId10"/>
    <p:sldId id="306" r:id="rId11"/>
    <p:sldId id="308" r:id="rId12"/>
    <p:sldId id="309" r:id="rId13"/>
    <p:sldId id="310" r:id="rId14"/>
    <p:sldId id="311" r:id="rId15"/>
    <p:sldId id="312" r:id="rId16"/>
    <p:sldId id="313" r:id="rId17"/>
    <p:sldId id="314" r:id="rId18"/>
    <p:sldId id="315" r:id="rId19"/>
    <p:sldId id="26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54" d="100"/>
          <a:sy n="54" d="100"/>
        </p:scale>
        <p:origin x="60"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10/17/2026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10/17/2026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10/17/2026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AWS Deployment &amp; GitHub Actions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636B-BB0F-3C79-241D-4F46A31CD745}"/>
              </a:ext>
            </a:extLst>
          </p:cNvPr>
          <p:cNvSpPr>
            <a:spLocks noGrp="1"/>
          </p:cNvSpPr>
          <p:nvPr>
            <p:ph type="title"/>
          </p:nvPr>
        </p:nvSpPr>
        <p:spPr/>
        <p:txBody>
          <a:bodyPr/>
          <a:lstStyle/>
          <a:p>
            <a:r>
              <a:rPr lang="en-US" dirty="0"/>
              <a:t>Service Overview</a:t>
            </a:r>
          </a:p>
        </p:txBody>
      </p:sp>
      <p:sp>
        <p:nvSpPr>
          <p:cNvPr id="3" name="Content Placeholder 2">
            <a:extLst>
              <a:ext uri="{FF2B5EF4-FFF2-40B4-BE49-F238E27FC236}">
                <a16:creationId xmlns:a16="http://schemas.microsoft.com/office/drawing/2014/main" id="{3A96D1F7-F8F6-20CA-62C9-CA80EE90B62E}"/>
              </a:ext>
            </a:extLst>
          </p:cNvPr>
          <p:cNvSpPr>
            <a:spLocks noGrp="1"/>
          </p:cNvSpPr>
          <p:nvPr>
            <p:ph idx="1"/>
          </p:nvPr>
        </p:nvSpPr>
        <p:spPr>
          <a:xfrm>
            <a:off x="581193" y="1892595"/>
            <a:ext cx="7030890" cy="4837813"/>
          </a:xfrm>
        </p:spPr>
        <p:txBody>
          <a:bodyPr>
            <a:normAutofit fontScale="85000" lnSpcReduction="20000"/>
          </a:bodyPr>
          <a:lstStyle/>
          <a:p>
            <a:pPr lvl="0"/>
            <a:r>
              <a:rPr lang="en-US" b="1" dirty="0"/>
              <a:t>S3 (Simple Storage Service)</a:t>
            </a:r>
            <a:r>
              <a:rPr lang="en-US" dirty="0"/>
              <a:t> – A cloud storage service used to store and retrieve files, images, videos, backups, and other data.</a:t>
            </a:r>
          </a:p>
          <a:p>
            <a:pPr lvl="0"/>
            <a:r>
              <a:rPr lang="en-US" b="1" dirty="0"/>
              <a:t>CloudFront</a:t>
            </a:r>
            <a:r>
              <a:rPr lang="en-US" dirty="0"/>
              <a:t> – A content delivery network (CDN) that delivers websites, images, videos, and other content to users quickly by using servers located around the world.</a:t>
            </a:r>
          </a:p>
          <a:p>
            <a:pPr lvl="0"/>
            <a:r>
              <a:rPr lang="en-US" b="1" dirty="0"/>
              <a:t>Aurora and RDS (Relational Database Service)</a:t>
            </a:r>
            <a:r>
              <a:rPr lang="en-US" dirty="0"/>
              <a:t> – AWS database services used to store, organize, and manage structured data. RDS supports database engines such as MySQL and PostgreSQL, while Aurora is an AWS-built relational database compatible with MySQL and PostgreSQL.</a:t>
            </a:r>
          </a:p>
          <a:p>
            <a:pPr lvl="0"/>
            <a:r>
              <a:rPr lang="en-US" b="1" dirty="0"/>
              <a:t>Elastic Container Registry (ECR)</a:t>
            </a:r>
            <a:r>
              <a:rPr lang="en-US" dirty="0"/>
              <a:t> – A managed container image registry used to store, manage, and retrieve Docker and other OCI container images.</a:t>
            </a:r>
          </a:p>
          <a:p>
            <a:pPr lvl="1"/>
            <a:r>
              <a:rPr lang="en-US" b="1" dirty="0"/>
              <a:t>OCI (Open Container Initiative)</a:t>
            </a:r>
            <a:r>
              <a:rPr lang="en-US" dirty="0"/>
              <a:t> – An organization that creates open standards for container technology, helping ensure that container images and runtimes work consistently across different platforms and tools, such as Docker and AWS.</a:t>
            </a:r>
          </a:p>
          <a:p>
            <a:pPr lvl="0"/>
            <a:r>
              <a:rPr lang="en-US" b="1" dirty="0"/>
              <a:t>Elastic Container Service (ECS)</a:t>
            </a:r>
            <a:r>
              <a:rPr lang="en-US" dirty="0"/>
              <a:t> – A container orchestration service that runs, manages, and scales containerized applications without requiring you to manage the orchestration infrastructure yourself.</a:t>
            </a:r>
          </a:p>
          <a:p>
            <a:pPr lvl="0"/>
            <a:r>
              <a:rPr lang="en-US" b="1" dirty="0"/>
              <a:t>Route 53</a:t>
            </a:r>
            <a:r>
              <a:rPr lang="en-US" dirty="0"/>
              <a:t> – AWS's domain name system (DNS) service that translates domain names (such as example.com) into IP addresses and routes users to websites and applications.</a:t>
            </a:r>
          </a:p>
        </p:txBody>
      </p:sp>
      <p:pic>
        <p:nvPicPr>
          <p:cNvPr id="5" name="Picture 4">
            <a:extLst>
              <a:ext uri="{FF2B5EF4-FFF2-40B4-BE49-F238E27FC236}">
                <a16:creationId xmlns:a16="http://schemas.microsoft.com/office/drawing/2014/main" id="{05D4777B-45E3-B872-6DD6-F1EEA6D3D55D}"/>
              </a:ext>
            </a:extLst>
          </p:cNvPr>
          <p:cNvPicPr>
            <a:picLocks noChangeAspect="1"/>
          </p:cNvPicPr>
          <p:nvPr/>
        </p:nvPicPr>
        <p:blipFill>
          <a:blip r:embed="rId2"/>
          <a:stretch>
            <a:fillRect/>
          </a:stretch>
        </p:blipFill>
        <p:spPr>
          <a:xfrm>
            <a:off x="7792575" y="2123125"/>
            <a:ext cx="1211935" cy="1250779"/>
          </a:xfrm>
          <a:prstGeom prst="rect">
            <a:avLst/>
          </a:prstGeom>
        </p:spPr>
      </p:pic>
      <p:pic>
        <p:nvPicPr>
          <p:cNvPr id="7" name="Picture 6">
            <a:extLst>
              <a:ext uri="{FF2B5EF4-FFF2-40B4-BE49-F238E27FC236}">
                <a16:creationId xmlns:a16="http://schemas.microsoft.com/office/drawing/2014/main" id="{17ED925F-8E72-9CEE-9A4E-92DC70AD9B16}"/>
              </a:ext>
            </a:extLst>
          </p:cNvPr>
          <p:cNvPicPr>
            <a:picLocks noChangeAspect="1"/>
          </p:cNvPicPr>
          <p:nvPr/>
        </p:nvPicPr>
        <p:blipFill>
          <a:blip r:embed="rId3"/>
          <a:stretch>
            <a:fillRect/>
          </a:stretch>
        </p:blipFill>
        <p:spPr>
          <a:xfrm>
            <a:off x="9648141" y="2197386"/>
            <a:ext cx="1204331" cy="1220178"/>
          </a:xfrm>
          <a:prstGeom prst="rect">
            <a:avLst/>
          </a:prstGeom>
        </p:spPr>
      </p:pic>
      <p:pic>
        <p:nvPicPr>
          <p:cNvPr id="9" name="Picture 8">
            <a:extLst>
              <a:ext uri="{FF2B5EF4-FFF2-40B4-BE49-F238E27FC236}">
                <a16:creationId xmlns:a16="http://schemas.microsoft.com/office/drawing/2014/main" id="{A065E3E6-48CD-388B-7ABA-82FCAFB7FDAD}"/>
              </a:ext>
            </a:extLst>
          </p:cNvPr>
          <p:cNvPicPr>
            <a:picLocks noChangeAspect="1"/>
          </p:cNvPicPr>
          <p:nvPr/>
        </p:nvPicPr>
        <p:blipFill>
          <a:blip r:embed="rId4"/>
          <a:stretch>
            <a:fillRect/>
          </a:stretch>
        </p:blipFill>
        <p:spPr>
          <a:xfrm>
            <a:off x="7792575" y="3683247"/>
            <a:ext cx="1211935" cy="1165619"/>
          </a:xfrm>
          <a:prstGeom prst="rect">
            <a:avLst/>
          </a:prstGeom>
        </p:spPr>
      </p:pic>
      <p:pic>
        <p:nvPicPr>
          <p:cNvPr id="11" name="Picture 10">
            <a:extLst>
              <a:ext uri="{FF2B5EF4-FFF2-40B4-BE49-F238E27FC236}">
                <a16:creationId xmlns:a16="http://schemas.microsoft.com/office/drawing/2014/main" id="{AD418258-F2A9-E4B0-F686-60C9ADF99CB8}"/>
              </a:ext>
            </a:extLst>
          </p:cNvPr>
          <p:cNvPicPr>
            <a:picLocks noChangeAspect="1"/>
          </p:cNvPicPr>
          <p:nvPr/>
        </p:nvPicPr>
        <p:blipFill>
          <a:blip r:embed="rId5"/>
          <a:stretch>
            <a:fillRect/>
          </a:stretch>
        </p:blipFill>
        <p:spPr>
          <a:xfrm>
            <a:off x="7792576" y="5088125"/>
            <a:ext cx="1211934" cy="1257957"/>
          </a:xfrm>
          <a:prstGeom prst="rect">
            <a:avLst/>
          </a:prstGeom>
        </p:spPr>
      </p:pic>
      <p:pic>
        <p:nvPicPr>
          <p:cNvPr id="13" name="Picture 12">
            <a:extLst>
              <a:ext uri="{FF2B5EF4-FFF2-40B4-BE49-F238E27FC236}">
                <a16:creationId xmlns:a16="http://schemas.microsoft.com/office/drawing/2014/main" id="{77762448-D16B-74A6-4B4A-F34A5127EB08}"/>
              </a:ext>
            </a:extLst>
          </p:cNvPr>
          <p:cNvPicPr>
            <a:picLocks noChangeAspect="1"/>
          </p:cNvPicPr>
          <p:nvPr/>
        </p:nvPicPr>
        <p:blipFill>
          <a:blip r:embed="rId6"/>
          <a:stretch>
            <a:fillRect/>
          </a:stretch>
        </p:blipFill>
        <p:spPr>
          <a:xfrm>
            <a:off x="9648140" y="5088125"/>
            <a:ext cx="1211935" cy="1211935"/>
          </a:xfrm>
          <a:prstGeom prst="rect">
            <a:avLst/>
          </a:prstGeom>
        </p:spPr>
      </p:pic>
      <p:pic>
        <p:nvPicPr>
          <p:cNvPr id="15" name="Picture 14">
            <a:extLst>
              <a:ext uri="{FF2B5EF4-FFF2-40B4-BE49-F238E27FC236}">
                <a16:creationId xmlns:a16="http://schemas.microsoft.com/office/drawing/2014/main" id="{E09ABF1C-AEDF-9B91-A08B-0F2EE78CAC98}"/>
              </a:ext>
            </a:extLst>
          </p:cNvPr>
          <p:cNvPicPr>
            <a:picLocks noChangeAspect="1"/>
          </p:cNvPicPr>
          <p:nvPr/>
        </p:nvPicPr>
        <p:blipFill>
          <a:blip r:embed="rId7"/>
          <a:stretch>
            <a:fillRect/>
          </a:stretch>
        </p:blipFill>
        <p:spPr>
          <a:xfrm>
            <a:off x="9640538" y="3688544"/>
            <a:ext cx="1211934" cy="1245914"/>
          </a:xfrm>
          <a:prstGeom prst="rect">
            <a:avLst/>
          </a:prstGeom>
        </p:spPr>
      </p:pic>
    </p:spTree>
    <p:extLst>
      <p:ext uri="{BB962C8B-B14F-4D97-AF65-F5344CB8AC3E}">
        <p14:creationId xmlns:p14="http://schemas.microsoft.com/office/powerpoint/2010/main" val="536930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9460E-26ED-34C5-972C-44E1A7A2EDE8}"/>
              </a:ext>
            </a:extLst>
          </p:cNvPr>
          <p:cNvSpPr>
            <a:spLocks noGrp="1"/>
          </p:cNvSpPr>
          <p:nvPr>
            <p:ph type="title"/>
          </p:nvPr>
        </p:nvSpPr>
        <p:spPr/>
        <p:txBody>
          <a:bodyPr/>
          <a:lstStyle/>
          <a:p>
            <a:r>
              <a:rPr lang="en-US" dirty="0"/>
              <a:t>Project structure &amp; a few adjustments </a:t>
            </a:r>
          </a:p>
        </p:txBody>
      </p:sp>
      <p:sp>
        <p:nvSpPr>
          <p:cNvPr id="3" name="Content Placeholder 2">
            <a:extLst>
              <a:ext uri="{FF2B5EF4-FFF2-40B4-BE49-F238E27FC236}">
                <a16:creationId xmlns:a16="http://schemas.microsoft.com/office/drawing/2014/main" id="{91742212-3535-E393-04F1-96A700DE495F}"/>
              </a:ext>
            </a:extLst>
          </p:cNvPr>
          <p:cNvSpPr>
            <a:spLocks noGrp="1"/>
          </p:cNvSpPr>
          <p:nvPr>
            <p:ph idx="1"/>
          </p:nvPr>
        </p:nvSpPr>
        <p:spPr>
          <a:xfrm>
            <a:off x="581192" y="2227998"/>
            <a:ext cx="5605852" cy="4098374"/>
          </a:xfrm>
        </p:spPr>
        <p:txBody>
          <a:bodyPr>
            <a:normAutofit fontScale="92500" lnSpcReduction="10000"/>
          </a:bodyPr>
          <a:lstStyle/>
          <a:p>
            <a:r>
              <a:rPr lang="en-US" dirty="0"/>
              <a:t>We will create a mono-repo to hold the frontend &amp; backend projects</a:t>
            </a:r>
          </a:p>
          <a:p>
            <a:r>
              <a:rPr lang="en-US" dirty="0"/>
              <a:t>The </a:t>
            </a:r>
            <a:r>
              <a:rPr lang="en-US" dirty="0" err="1"/>
              <a:t>Dockerfile</a:t>
            </a:r>
            <a:r>
              <a:rPr lang="en-US" dirty="0"/>
              <a:t> we write on the next slide will be placed in the ‘backend’ folder, at the root of our java app</a:t>
            </a:r>
          </a:p>
          <a:p>
            <a:r>
              <a:rPr lang="en-US" dirty="0"/>
              <a:t>We will work with the </a:t>
            </a:r>
            <a:r>
              <a:rPr lang="en-US" dirty="0" err="1"/>
              <a:t>github</a:t>
            </a:r>
            <a:r>
              <a:rPr lang="en-US" dirty="0"/>
              <a:t> workflows later, once we automate the app</a:t>
            </a:r>
          </a:p>
          <a:p>
            <a:pPr lvl="1"/>
            <a:r>
              <a:rPr lang="en-US" dirty="0"/>
              <a:t>For now, we will deploy all the infrastructure manually before we automate anything</a:t>
            </a:r>
          </a:p>
          <a:p>
            <a:r>
              <a:rPr lang="en-US" dirty="0"/>
              <a:t>In frontend code, we remove all references to ‘localhost’ our interceptors and routes will end up resolving to the URL provided from AWS CloudFront </a:t>
            </a:r>
          </a:p>
          <a:p>
            <a:r>
              <a:rPr lang="en-US" dirty="0"/>
              <a:t>In our backend ‘</a:t>
            </a:r>
            <a:r>
              <a:rPr lang="en-US" dirty="0" err="1"/>
              <a:t>application.properties</a:t>
            </a:r>
            <a:r>
              <a:rPr lang="en-US" dirty="0"/>
              <a:t>’ file, we will accept environment variables that we will later set with AWS ECS (elastic container service)</a:t>
            </a:r>
          </a:p>
        </p:txBody>
      </p:sp>
      <p:pic>
        <p:nvPicPr>
          <p:cNvPr id="5" name="Picture 4">
            <a:extLst>
              <a:ext uri="{FF2B5EF4-FFF2-40B4-BE49-F238E27FC236}">
                <a16:creationId xmlns:a16="http://schemas.microsoft.com/office/drawing/2014/main" id="{A93C08B1-DAF4-20DE-A3BC-EBF999D64D64}"/>
              </a:ext>
            </a:extLst>
          </p:cNvPr>
          <p:cNvPicPr>
            <a:picLocks noChangeAspect="1"/>
          </p:cNvPicPr>
          <p:nvPr/>
        </p:nvPicPr>
        <p:blipFill>
          <a:blip r:embed="rId2"/>
          <a:stretch>
            <a:fillRect/>
          </a:stretch>
        </p:blipFill>
        <p:spPr>
          <a:xfrm>
            <a:off x="8124659" y="2063847"/>
            <a:ext cx="1476581" cy="1352739"/>
          </a:xfrm>
          <a:prstGeom prst="rect">
            <a:avLst/>
          </a:prstGeom>
        </p:spPr>
      </p:pic>
      <p:pic>
        <p:nvPicPr>
          <p:cNvPr id="7" name="Picture 6">
            <a:extLst>
              <a:ext uri="{FF2B5EF4-FFF2-40B4-BE49-F238E27FC236}">
                <a16:creationId xmlns:a16="http://schemas.microsoft.com/office/drawing/2014/main" id="{C1F4704F-E282-6CF7-D060-CB7A978E3B09}"/>
              </a:ext>
            </a:extLst>
          </p:cNvPr>
          <p:cNvPicPr>
            <a:picLocks noChangeAspect="1"/>
          </p:cNvPicPr>
          <p:nvPr/>
        </p:nvPicPr>
        <p:blipFill>
          <a:blip r:embed="rId3"/>
          <a:stretch>
            <a:fillRect/>
          </a:stretch>
        </p:blipFill>
        <p:spPr>
          <a:xfrm>
            <a:off x="6728140" y="3656561"/>
            <a:ext cx="4340070" cy="1013800"/>
          </a:xfrm>
          <a:prstGeom prst="rect">
            <a:avLst/>
          </a:prstGeom>
        </p:spPr>
      </p:pic>
      <p:pic>
        <p:nvPicPr>
          <p:cNvPr id="9" name="Picture 8">
            <a:extLst>
              <a:ext uri="{FF2B5EF4-FFF2-40B4-BE49-F238E27FC236}">
                <a16:creationId xmlns:a16="http://schemas.microsoft.com/office/drawing/2014/main" id="{AD4204D3-88CB-FEF8-9A77-A05B95C9D3E9}"/>
              </a:ext>
            </a:extLst>
          </p:cNvPr>
          <p:cNvPicPr>
            <a:picLocks noChangeAspect="1"/>
          </p:cNvPicPr>
          <p:nvPr/>
        </p:nvPicPr>
        <p:blipFill>
          <a:blip r:embed="rId4"/>
          <a:stretch>
            <a:fillRect/>
          </a:stretch>
        </p:blipFill>
        <p:spPr>
          <a:xfrm>
            <a:off x="6425903" y="5142045"/>
            <a:ext cx="5315692" cy="562053"/>
          </a:xfrm>
          <a:prstGeom prst="rect">
            <a:avLst/>
          </a:prstGeom>
        </p:spPr>
      </p:pic>
    </p:spTree>
    <p:extLst>
      <p:ext uri="{BB962C8B-B14F-4D97-AF65-F5344CB8AC3E}">
        <p14:creationId xmlns:p14="http://schemas.microsoft.com/office/powerpoint/2010/main" val="329180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E5B18-B8E4-E0E0-DC84-F89BC3D1B278}"/>
              </a:ext>
            </a:extLst>
          </p:cNvPr>
          <p:cNvSpPr>
            <a:spLocks noGrp="1"/>
          </p:cNvSpPr>
          <p:nvPr>
            <p:ph type="title"/>
          </p:nvPr>
        </p:nvSpPr>
        <p:spPr/>
        <p:txBody>
          <a:bodyPr/>
          <a:lstStyle/>
          <a:p>
            <a:r>
              <a:rPr lang="en-US" dirty="0"/>
              <a:t>Write </a:t>
            </a:r>
            <a:r>
              <a:rPr lang="en-US" dirty="0" err="1"/>
              <a:t>Dockerfile</a:t>
            </a:r>
            <a:endParaRPr lang="en-US" dirty="0"/>
          </a:p>
        </p:txBody>
      </p:sp>
      <p:sp>
        <p:nvSpPr>
          <p:cNvPr id="3" name="Content Placeholder 2">
            <a:extLst>
              <a:ext uri="{FF2B5EF4-FFF2-40B4-BE49-F238E27FC236}">
                <a16:creationId xmlns:a16="http://schemas.microsoft.com/office/drawing/2014/main" id="{459EE4FC-96C6-ED6E-D922-0A7D584CFF6F}"/>
              </a:ext>
            </a:extLst>
          </p:cNvPr>
          <p:cNvSpPr>
            <a:spLocks noGrp="1"/>
          </p:cNvSpPr>
          <p:nvPr>
            <p:ph idx="1"/>
          </p:nvPr>
        </p:nvSpPr>
        <p:spPr>
          <a:xfrm>
            <a:off x="581192" y="2180496"/>
            <a:ext cx="4632076" cy="3678303"/>
          </a:xfrm>
        </p:spPr>
        <p:txBody>
          <a:bodyPr/>
          <a:lstStyle/>
          <a:p>
            <a:r>
              <a:rPr lang="en-US" dirty="0"/>
              <a:t>This is a multi-stage </a:t>
            </a:r>
            <a:r>
              <a:rPr lang="en-US" dirty="0" err="1"/>
              <a:t>Dockerfile</a:t>
            </a:r>
            <a:r>
              <a:rPr lang="en-US" dirty="0"/>
              <a:t> (same filename) in the ‘backend’ folder of our mono-repo </a:t>
            </a:r>
          </a:p>
          <a:p>
            <a:r>
              <a:rPr lang="en-US" dirty="0" err="1"/>
              <a:t>Dockerfiles</a:t>
            </a:r>
            <a:r>
              <a:rPr lang="en-US" dirty="0"/>
              <a:t> – are used to create a docker image</a:t>
            </a:r>
          </a:p>
          <a:p>
            <a:r>
              <a:rPr lang="en-US" dirty="0"/>
              <a:t>Docker image – used to create a docker container</a:t>
            </a:r>
          </a:p>
        </p:txBody>
      </p:sp>
      <p:pic>
        <p:nvPicPr>
          <p:cNvPr id="5" name="Picture 4">
            <a:extLst>
              <a:ext uri="{FF2B5EF4-FFF2-40B4-BE49-F238E27FC236}">
                <a16:creationId xmlns:a16="http://schemas.microsoft.com/office/drawing/2014/main" id="{7E1A886B-C5A7-53FB-6CB7-35C979E2304C}"/>
              </a:ext>
            </a:extLst>
          </p:cNvPr>
          <p:cNvPicPr>
            <a:picLocks noChangeAspect="1"/>
          </p:cNvPicPr>
          <p:nvPr/>
        </p:nvPicPr>
        <p:blipFill>
          <a:blip r:embed="rId2"/>
          <a:stretch>
            <a:fillRect/>
          </a:stretch>
        </p:blipFill>
        <p:spPr>
          <a:xfrm>
            <a:off x="5609318" y="1852551"/>
            <a:ext cx="5018086" cy="4863032"/>
          </a:xfrm>
          <a:prstGeom prst="rect">
            <a:avLst/>
          </a:prstGeom>
        </p:spPr>
      </p:pic>
    </p:spTree>
    <p:extLst>
      <p:ext uri="{BB962C8B-B14F-4D97-AF65-F5344CB8AC3E}">
        <p14:creationId xmlns:p14="http://schemas.microsoft.com/office/powerpoint/2010/main" val="2329557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1744B-46E1-CC87-0C84-4729B0CCB8AC}"/>
              </a:ext>
            </a:extLst>
          </p:cNvPr>
          <p:cNvSpPr>
            <a:spLocks noGrp="1"/>
          </p:cNvSpPr>
          <p:nvPr>
            <p:ph type="title"/>
          </p:nvPr>
        </p:nvSpPr>
        <p:spPr/>
        <p:txBody>
          <a:bodyPr/>
          <a:lstStyle/>
          <a:p>
            <a:r>
              <a:rPr lang="en-US" dirty="0"/>
              <a:t>Create Access Keys</a:t>
            </a:r>
          </a:p>
        </p:txBody>
      </p:sp>
      <p:sp>
        <p:nvSpPr>
          <p:cNvPr id="3" name="Content Placeholder 2">
            <a:extLst>
              <a:ext uri="{FF2B5EF4-FFF2-40B4-BE49-F238E27FC236}">
                <a16:creationId xmlns:a16="http://schemas.microsoft.com/office/drawing/2014/main" id="{20870E89-59DC-A646-EF5A-6E6BFE9511C1}"/>
              </a:ext>
            </a:extLst>
          </p:cNvPr>
          <p:cNvSpPr>
            <a:spLocks noGrp="1"/>
          </p:cNvSpPr>
          <p:nvPr>
            <p:ph idx="1"/>
          </p:nvPr>
        </p:nvSpPr>
        <p:spPr>
          <a:xfrm>
            <a:off x="581192" y="2180496"/>
            <a:ext cx="4344099" cy="4209913"/>
          </a:xfrm>
        </p:spPr>
        <p:txBody>
          <a:bodyPr/>
          <a:lstStyle/>
          <a:p>
            <a:r>
              <a:rPr lang="en-US" dirty="0"/>
              <a:t>Navigate to IAM &gt; Users &gt; (user) &gt; Create Access Key</a:t>
            </a:r>
          </a:p>
          <a:p>
            <a:r>
              <a:rPr lang="en-US" dirty="0"/>
              <a:t>Choose CLI</a:t>
            </a:r>
          </a:p>
          <a:p>
            <a:r>
              <a:rPr lang="en-US" dirty="0"/>
              <a:t>Copy details/download csv</a:t>
            </a:r>
          </a:p>
        </p:txBody>
      </p:sp>
      <p:pic>
        <p:nvPicPr>
          <p:cNvPr id="5" name="Picture 4">
            <a:extLst>
              <a:ext uri="{FF2B5EF4-FFF2-40B4-BE49-F238E27FC236}">
                <a16:creationId xmlns:a16="http://schemas.microsoft.com/office/drawing/2014/main" id="{90E8C5ED-5BA3-1E73-AA91-01A77BED20F3}"/>
              </a:ext>
            </a:extLst>
          </p:cNvPr>
          <p:cNvPicPr>
            <a:picLocks noChangeAspect="1"/>
          </p:cNvPicPr>
          <p:nvPr/>
        </p:nvPicPr>
        <p:blipFill>
          <a:blip r:embed="rId2"/>
          <a:stretch>
            <a:fillRect/>
          </a:stretch>
        </p:blipFill>
        <p:spPr>
          <a:xfrm>
            <a:off x="5123111" y="2060231"/>
            <a:ext cx="6649211" cy="3755856"/>
          </a:xfrm>
          <a:prstGeom prst="rect">
            <a:avLst/>
          </a:prstGeom>
        </p:spPr>
      </p:pic>
      <p:sp>
        <p:nvSpPr>
          <p:cNvPr id="6" name="Rectangle 5">
            <a:extLst>
              <a:ext uri="{FF2B5EF4-FFF2-40B4-BE49-F238E27FC236}">
                <a16:creationId xmlns:a16="http://schemas.microsoft.com/office/drawing/2014/main" id="{6F5CB2A2-BD33-2354-0A48-F4B302923A08}"/>
              </a:ext>
            </a:extLst>
          </p:cNvPr>
          <p:cNvSpPr/>
          <p:nvPr/>
        </p:nvSpPr>
        <p:spPr>
          <a:xfrm>
            <a:off x="10637403" y="883530"/>
            <a:ext cx="709575" cy="6510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89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E541C-46BC-190F-C55C-9667AE7A89C1}"/>
              </a:ext>
            </a:extLst>
          </p:cNvPr>
          <p:cNvSpPr>
            <a:spLocks noGrp="1"/>
          </p:cNvSpPr>
          <p:nvPr>
            <p:ph type="title"/>
          </p:nvPr>
        </p:nvSpPr>
        <p:spPr/>
        <p:txBody>
          <a:bodyPr/>
          <a:lstStyle/>
          <a:p>
            <a:r>
              <a:rPr lang="en-US" dirty="0"/>
              <a:t>Setup AWS CLI</a:t>
            </a:r>
          </a:p>
        </p:txBody>
      </p:sp>
      <p:pic>
        <p:nvPicPr>
          <p:cNvPr id="7" name="Content Placeholder 6">
            <a:extLst>
              <a:ext uri="{FF2B5EF4-FFF2-40B4-BE49-F238E27FC236}">
                <a16:creationId xmlns:a16="http://schemas.microsoft.com/office/drawing/2014/main" id="{59093096-6A8A-3CF4-773A-30DF8785FA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8727" y="3139701"/>
            <a:ext cx="5353267" cy="1713045"/>
          </a:xfrm>
          <a:prstGeom prst="rect">
            <a:avLst/>
          </a:prstGeom>
        </p:spPr>
      </p:pic>
      <p:pic>
        <p:nvPicPr>
          <p:cNvPr id="9" name="Picture 8">
            <a:extLst>
              <a:ext uri="{FF2B5EF4-FFF2-40B4-BE49-F238E27FC236}">
                <a16:creationId xmlns:a16="http://schemas.microsoft.com/office/drawing/2014/main" id="{637AC5B6-A3DF-23E5-2EFB-1664AC22CDA2}"/>
              </a:ext>
            </a:extLst>
          </p:cNvPr>
          <p:cNvPicPr>
            <a:picLocks noChangeAspect="1"/>
          </p:cNvPicPr>
          <p:nvPr/>
        </p:nvPicPr>
        <p:blipFill>
          <a:blip r:embed="rId3"/>
          <a:stretch>
            <a:fillRect/>
          </a:stretch>
        </p:blipFill>
        <p:spPr>
          <a:xfrm>
            <a:off x="6414770" y="2755254"/>
            <a:ext cx="4759309" cy="2263168"/>
          </a:xfrm>
          <a:prstGeom prst="rect">
            <a:avLst/>
          </a:prstGeom>
        </p:spPr>
      </p:pic>
      <p:sp>
        <p:nvSpPr>
          <p:cNvPr id="10" name="TextBox 9">
            <a:extLst>
              <a:ext uri="{FF2B5EF4-FFF2-40B4-BE49-F238E27FC236}">
                <a16:creationId xmlns:a16="http://schemas.microsoft.com/office/drawing/2014/main" id="{923A185C-5057-4E7F-0054-BC10C1172D10}"/>
              </a:ext>
            </a:extLst>
          </p:cNvPr>
          <p:cNvSpPr txBox="1"/>
          <p:nvPr/>
        </p:nvSpPr>
        <p:spPr>
          <a:xfrm>
            <a:off x="598727" y="1846284"/>
            <a:ext cx="10671464" cy="1200329"/>
          </a:xfrm>
          <a:prstGeom prst="rect">
            <a:avLst/>
          </a:prstGeom>
          <a:noFill/>
        </p:spPr>
        <p:txBody>
          <a:bodyPr wrap="square" rtlCol="0">
            <a:spAutoFit/>
          </a:bodyPr>
          <a:lstStyle/>
          <a:p>
            <a:pPr marL="285750" indent="-285750">
              <a:buClr>
                <a:schemeClr val="accent2"/>
              </a:buClr>
              <a:buFont typeface="Wingdings" panose="05000000000000000000" pitchFamily="2" charset="2"/>
              <a:buChar char="§"/>
            </a:pPr>
            <a:r>
              <a:rPr lang="en-US" dirty="0"/>
              <a:t>Download and run the installer (google it)</a:t>
            </a:r>
          </a:p>
          <a:p>
            <a:pPr marL="285750" indent="-285750">
              <a:buClr>
                <a:schemeClr val="accent2"/>
              </a:buClr>
              <a:buFont typeface="Wingdings" panose="05000000000000000000" pitchFamily="2" charset="2"/>
              <a:buChar char="§"/>
            </a:pPr>
            <a:r>
              <a:rPr lang="en-US" dirty="0"/>
              <a:t>Run </a:t>
            </a:r>
            <a:r>
              <a:rPr lang="en-US" dirty="0" err="1"/>
              <a:t>aws</a:t>
            </a:r>
            <a:r>
              <a:rPr lang="en-US" dirty="0"/>
              <a:t> configure (output format may be left blank)</a:t>
            </a:r>
          </a:p>
          <a:p>
            <a:pPr marL="285750" indent="-285750">
              <a:buClr>
                <a:schemeClr val="accent2"/>
              </a:buClr>
              <a:buFont typeface="Wingdings" panose="05000000000000000000" pitchFamily="2" charset="2"/>
              <a:buChar char="§"/>
            </a:pPr>
            <a:r>
              <a:rPr lang="en-US" dirty="0"/>
              <a:t>Now we can run commands, such as getting a list of our users</a:t>
            </a:r>
          </a:p>
          <a:p>
            <a:pPr marL="285750" indent="-285750">
              <a:buClr>
                <a:schemeClr val="accent2"/>
              </a:buClr>
              <a:buFont typeface="Wingdings" panose="05000000000000000000" pitchFamily="2" charset="2"/>
              <a:buChar char="§"/>
            </a:pPr>
            <a:r>
              <a:rPr lang="en-US" dirty="0" err="1"/>
              <a:t>CloudShell</a:t>
            </a:r>
            <a:r>
              <a:rPr lang="en-US" dirty="0"/>
              <a:t> available for browser-based CLI access</a:t>
            </a:r>
          </a:p>
        </p:txBody>
      </p:sp>
      <p:pic>
        <p:nvPicPr>
          <p:cNvPr id="4" name="Picture 3">
            <a:extLst>
              <a:ext uri="{FF2B5EF4-FFF2-40B4-BE49-F238E27FC236}">
                <a16:creationId xmlns:a16="http://schemas.microsoft.com/office/drawing/2014/main" id="{FF0F424C-5638-E8D2-ABB4-39763A057021}"/>
              </a:ext>
            </a:extLst>
          </p:cNvPr>
          <p:cNvPicPr>
            <a:picLocks noChangeAspect="1"/>
          </p:cNvPicPr>
          <p:nvPr/>
        </p:nvPicPr>
        <p:blipFill>
          <a:blip r:embed="rId4"/>
          <a:stretch>
            <a:fillRect/>
          </a:stretch>
        </p:blipFill>
        <p:spPr>
          <a:xfrm>
            <a:off x="1247098" y="5111510"/>
            <a:ext cx="9697803" cy="1695687"/>
          </a:xfrm>
          <a:prstGeom prst="rect">
            <a:avLst/>
          </a:prstGeom>
        </p:spPr>
      </p:pic>
    </p:spTree>
    <p:extLst>
      <p:ext uri="{BB962C8B-B14F-4D97-AF65-F5344CB8AC3E}">
        <p14:creationId xmlns:p14="http://schemas.microsoft.com/office/powerpoint/2010/main" val="4095166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85F3-3DE6-4804-CB2B-5519CB06A9B2}"/>
              </a:ext>
            </a:extLst>
          </p:cNvPr>
          <p:cNvSpPr>
            <a:spLocks noGrp="1"/>
          </p:cNvSpPr>
          <p:nvPr>
            <p:ph type="title"/>
          </p:nvPr>
        </p:nvSpPr>
        <p:spPr/>
        <p:txBody>
          <a:bodyPr/>
          <a:lstStyle/>
          <a:p>
            <a:r>
              <a:rPr lang="en-US" dirty="0"/>
              <a:t>ECR manual setup – first time setup (will automate after)</a:t>
            </a:r>
          </a:p>
        </p:txBody>
      </p:sp>
      <p:sp>
        <p:nvSpPr>
          <p:cNvPr id="3" name="Content Placeholder 2">
            <a:extLst>
              <a:ext uri="{FF2B5EF4-FFF2-40B4-BE49-F238E27FC236}">
                <a16:creationId xmlns:a16="http://schemas.microsoft.com/office/drawing/2014/main" id="{D13A477C-089C-8178-83CD-7479A95490AB}"/>
              </a:ext>
            </a:extLst>
          </p:cNvPr>
          <p:cNvSpPr>
            <a:spLocks noGrp="1"/>
          </p:cNvSpPr>
          <p:nvPr>
            <p:ph idx="1"/>
          </p:nvPr>
        </p:nvSpPr>
        <p:spPr>
          <a:xfrm>
            <a:off x="925578" y="1923531"/>
            <a:ext cx="11029615" cy="1467713"/>
          </a:xfrm>
        </p:spPr>
        <p:txBody>
          <a:bodyPr>
            <a:normAutofit fontScale="92500" lnSpcReduction="10000"/>
          </a:bodyPr>
          <a:lstStyle/>
          <a:p>
            <a:r>
              <a:rPr lang="en-US" dirty="0"/>
              <a:t>Step 1: Create ECR repo </a:t>
            </a:r>
          </a:p>
          <a:p>
            <a:r>
              <a:rPr lang="en-US" dirty="0"/>
              <a:t>Step 2: Login to docker/ECR (you must be signed into AWS CLI already for this to work – with ‘</a:t>
            </a:r>
            <a:r>
              <a:rPr lang="en-US" dirty="0" err="1"/>
              <a:t>aws</a:t>
            </a:r>
            <a:r>
              <a:rPr lang="en-US" dirty="0"/>
              <a:t> configure’)</a:t>
            </a:r>
          </a:p>
          <a:p>
            <a:r>
              <a:rPr lang="en-US" dirty="0"/>
              <a:t>Step 3: Build an image from your app (your </a:t>
            </a:r>
            <a:r>
              <a:rPr lang="en-US" dirty="0" err="1"/>
              <a:t>Dockerfile</a:t>
            </a:r>
            <a:r>
              <a:rPr lang="en-US" dirty="0"/>
              <a:t> is used for this) </a:t>
            </a:r>
          </a:p>
          <a:p>
            <a:r>
              <a:rPr lang="en-US" dirty="0"/>
              <a:t>Step 4: Tag and then push your image to ECR </a:t>
            </a:r>
          </a:p>
        </p:txBody>
      </p:sp>
      <p:pic>
        <p:nvPicPr>
          <p:cNvPr id="5" name="Picture 4">
            <a:extLst>
              <a:ext uri="{FF2B5EF4-FFF2-40B4-BE49-F238E27FC236}">
                <a16:creationId xmlns:a16="http://schemas.microsoft.com/office/drawing/2014/main" id="{37A202F0-A8B8-6D43-E5EC-39E995D7C423}"/>
              </a:ext>
            </a:extLst>
          </p:cNvPr>
          <p:cNvPicPr>
            <a:picLocks noChangeAspect="1"/>
          </p:cNvPicPr>
          <p:nvPr/>
        </p:nvPicPr>
        <p:blipFill>
          <a:blip r:embed="rId2"/>
          <a:stretch>
            <a:fillRect/>
          </a:stretch>
        </p:blipFill>
        <p:spPr>
          <a:xfrm>
            <a:off x="2263513" y="3431533"/>
            <a:ext cx="7664971" cy="1334852"/>
          </a:xfrm>
          <a:prstGeom prst="rect">
            <a:avLst/>
          </a:prstGeom>
        </p:spPr>
      </p:pic>
      <p:pic>
        <p:nvPicPr>
          <p:cNvPr id="7" name="Picture 6">
            <a:extLst>
              <a:ext uri="{FF2B5EF4-FFF2-40B4-BE49-F238E27FC236}">
                <a16:creationId xmlns:a16="http://schemas.microsoft.com/office/drawing/2014/main" id="{D21BE73B-CF18-A755-4428-7B8F9EE9FAE7}"/>
              </a:ext>
            </a:extLst>
          </p:cNvPr>
          <p:cNvPicPr>
            <a:picLocks noChangeAspect="1"/>
          </p:cNvPicPr>
          <p:nvPr/>
        </p:nvPicPr>
        <p:blipFill>
          <a:blip r:embed="rId3"/>
          <a:stretch>
            <a:fillRect/>
          </a:stretch>
        </p:blipFill>
        <p:spPr>
          <a:xfrm>
            <a:off x="263010" y="5213195"/>
            <a:ext cx="8554644" cy="304843"/>
          </a:xfrm>
          <a:prstGeom prst="rect">
            <a:avLst/>
          </a:prstGeom>
        </p:spPr>
      </p:pic>
      <p:pic>
        <p:nvPicPr>
          <p:cNvPr id="9" name="Picture 8">
            <a:extLst>
              <a:ext uri="{FF2B5EF4-FFF2-40B4-BE49-F238E27FC236}">
                <a16:creationId xmlns:a16="http://schemas.microsoft.com/office/drawing/2014/main" id="{239378A7-0D7C-9F7A-496E-98A7DE443309}"/>
              </a:ext>
            </a:extLst>
          </p:cNvPr>
          <p:cNvPicPr>
            <a:picLocks noChangeAspect="1"/>
          </p:cNvPicPr>
          <p:nvPr/>
        </p:nvPicPr>
        <p:blipFill>
          <a:blip r:embed="rId4"/>
          <a:stretch>
            <a:fillRect/>
          </a:stretch>
        </p:blipFill>
        <p:spPr>
          <a:xfrm>
            <a:off x="9104831" y="5118935"/>
            <a:ext cx="2010056" cy="447737"/>
          </a:xfrm>
          <a:prstGeom prst="rect">
            <a:avLst/>
          </a:prstGeom>
        </p:spPr>
      </p:pic>
      <p:pic>
        <p:nvPicPr>
          <p:cNvPr id="11" name="Picture 10">
            <a:extLst>
              <a:ext uri="{FF2B5EF4-FFF2-40B4-BE49-F238E27FC236}">
                <a16:creationId xmlns:a16="http://schemas.microsoft.com/office/drawing/2014/main" id="{6043E6CA-BE6F-C552-66DA-AF96354C4296}"/>
              </a:ext>
            </a:extLst>
          </p:cNvPr>
          <p:cNvPicPr>
            <a:picLocks noChangeAspect="1"/>
          </p:cNvPicPr>
          <p:nvPr/>
        </p:nvPicPr>
        <p:blipFill>
          <a:blip r:embed="rId5"/>
          <a:stretch>
            <a:fillRect/>
          </a:stretch>
        </p:blipFill>
        <p:spPr>
          <a:xfrm>
            <a:off x="1470966" y="5774247"/>
            <a:ext cx="9250066" cy="962159"/>
          </a:xfrm>
          <a:prstGeom prst="rect">
            <a:avLst/>
          </a:prstGeom>
        </p:spPr>
      </p:pic>
    </p:spTree>
    <p:extLst>
      <p:ext uri="{BB962C8B-B14F-4D97-AF65-F5344CB8AC3E}">
        <p14:creationId xmlns:p14="http://schemas.microsoft.com/office/powerpoint/2010/main" val="1477018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AB6C9-49D4-D877-0036-396DA4FAA564}"/>
              </a:ext>
            </a:extLst>
          </p:cNvPr>
          <p:cNvSpPr>
            <a:spLocks noGrp="1"/>
          </p:cNvSpPr>
          <p:nvPr>
            <p:ph type="title"/>
          </p:nvPr>
        </p:nvSpPr>
        <p:spPr/>
        <p:txBody>
          <a:bodyPr/>
          <a:lstStyle/>
          <a:p>
            <a:r>
              <a:rPr lang="en-US" dirty="0"/>
              <a:t>Connecting with RDS - Postgres</a:t>
            </a:r>
          </a:p>
        </p:txBody>
      </p:sp>
      <p:sp>
        <p:nvSpPr>
          <p:cNvPr id="3" name="Content Placeholder 2">
            <a:extLst>
              <a:ext uri="{FF2B5EF4-FFF2-40B4-BE49-F238E27FC236}">
                <a16:creationId xmlns:a16="http://schemas.microsoft.com/office/drawing/2014/main" id="{1F2A6A38-6402-C103-E535-F61B351627CF}"/>
              </a:ext>
            </a:extLst>
          </p:cNvPr>
          <p:cNvSpPr>
            <a:spLocks noGrp="1"/>
          </p:cNvSpPr>
          <p:nvPr>
            <p:ph idx="1"/>
          </p:nvPr>
        </p:nvSpPr>
        <p:spPr>
          <a:xfrm>
            <a:off x="581193" y="2084803"/>
            <a:ext cx="5702650" cy="4071041"/>
          </a:xfrm>
        </p:spPr>
        <p:txBody>
          <a:bodyPr>
            <a:normAutofit fontScale="92500"/>
          </a:bodyPr>
          <a:lstStyle/>
          <a:p>
            <a:r>
              <a:rPr lang="en-US" dirty="0"/>
              <a:t>Navigate to Aurora and RDS &gt; Databases &gt; Create Database</a:t>
            </a:r>
          </a:p>
          <a:p>
            <a:r>
              <a:rPr lang="en-US" dirty="0"/>
              <a:t>Walk through the wizard to choose your settings </a:t>
            </a:r>
          </a:p>
          <a:p>
            <a:r>
              <a:rPr lang="en-US" dirty="0"/>
              <a:t>Recommended changes:</a:t>
            </a:r>
          </a:p>
          <a:p>
            <a:pPr lvl="1"/>
            <a:r>
              <a:rPr lang="en-US" dirty="0"/>
              <a:t>Choose PostgreSQL for database type</a:t>
            </a:r>
          </a:p>
          <a:p>
            <a:pPr lvl="1"/>
            <a:r>
              <a:rPr lang="en-US" dirty="0"/>
              <a:t>Choose sandbox template</a:t>
            </a:r>
          </a:p>
          <a:p>
            <a:pPr lvl="1"/>
            <a:r>
              <a:rPr lang="en-US" dirty="0"/>
              <a:t>Credentials Management: Managed in AWS Secrets Manager</a:t>
            </a:r>
          </a:p>
          <a:p>
            <a:pPr lvl="2"/>
            <a:r>
              <a:rPr lang="en-US" dirty="0"/>
              <a:t>Select encryption key: default</a:t>
            </a:r>
          </a:p>
          <a:p>
            <a:r>
              <a:rPr lang="en-US" dirty="0"/>
              <a:t>Set public access: no (it will only be accessed by other services within the same virtual private cloud - VPC)</a:t>
            </a:r>
          </a:p>
          <a:p>
            <a:r>
              <a:rPr lang="en-US" dirty="0"/>
              <a:t>Set the initial </a:t>
            </a:r>
            <a:r>
              <a:rPr lang="en-US" dirty="0" err="1"/>
              <a:t>db</a:t>
            </a:r>
            <a:r>
              <a:rPr lang="en-US" dirty="0"/>
              <a:t> name to what you like, our </a:t>
            </a:r>
            <a:r>
              <a:rPr lang="en-US" dirty="0" err="1"/>
              <a:t>jdbc</a:t>
            </a:r>
            <a:r>
              <a:rPr lang="en-US" dirty="0"/>
              <a:t> connection string in ‘</a:t>
            </a:r>
            <a:r>
              <a:rPr lang="en-US" dirty="0" err="1"/>
              <a:t>application.properties</a:t>
            </a:r>
            <a:r>
              <a:rPr lang="en-US" dirty="0"/>
              <a:t>’ will use it later!</a:t>
            </a:r>
          </a:p>
        </p:txBody>
      </p:sp>
      <p:pic>
        <p:nvPicPr>
          <p:cNvPr id="8" name="Picture 7">
            <a:extLst>
              <a:ext uri="{FF2B5EF4-FFF2-40B4-BE49-F238E27FC236}">
                <a16:creationId xmlns:a16="http://schemas.microsoft.com/office/drawing/2014/main" id="{3B5B4AB0-E2AE-71D9-AF47-4653A00B51A4}"/>
              </a:ext>
            </a:extLst>
          </p:cNvPr>
          <p:cNvPicPr>
            <a:picLocks noChangeAspect="1"/>
          </p:cNvPicPr>
          <p:nvPr/>
        </p:nvPicPr>
        <p:blipFill>
          <a:blip r:embed="rId2"/>
          <a:stretch>
            <a:fillRect/>
          </a:stretch>
        </p:blipFill>
        <p:spPr>
          <a:xfrm>
            <a:off x="7562204" y="2084803"/>
            <a:ext cx="4629796" cy="2162477"/>
          </a:xfrm>
          <a:prstGeom prst="rect">
            <a:avLst/>
          </a:prstGeom>
        </p:spPr>
      </p:pic>
      <p:pic>
        <p:nvPicPr>
          <p:cNvPr id="10" name="Picture 9">
            <a:extLst>
              <a:ext uri="{FF2B5EF4-FFF2-40B4-BE49-F238E27FC236}">
                <a16:creationId xmlns:a16="http://schemas.microsoft.com/office/drawing/2014/main" id="{CB69E9DE-4273-89D4-5459-B77DF364A309}"/>
              </a:ext>
            </a:extLst>
          </p:cNvPr>
          <p:cNvPicPr>
            <a:picLocks noChangeAspect="1"/>
          </p:cNvPicPr>
          <p:nvPr/>
        </p:nvPicPr>
        <p:blipFill>
          <a:blip r:embed="rId3"/>
          <a:stretch>
            <a:fillRect/>
          </a:stretch>
        </p:blipFill>
        <p:spPr>
          <a:xfrm>
            <a:off x="6442860" y="4351997"/>
            <a:ext cx="2238687" cy="2162477"/>
          </a:xfrm>
          <a:prstGeom prst="rect">
            <a:avLst/>
          </a:prstGeom>
        </p:spPr>
      </p:pic>
      <p:pic>
        <p:nvPicPr>
          <p:cNvPr id="12" name="Picture 11">
            <a:extLst>
              <a:ext uri="{FF2B5EF4-FFF2-40B4-BE49-F238E27FC236}">
                <a16:creationId xmlns:a16="http://schemas.microsoft.com/office/drawing/2014/main" id="{645CD9DB-A548-5A10-CF32-3C02A0FE73ED}"/>
              </a:ext>
            </a:extLst>
          </p:cNvPr>
          <p:cNvPicPr>
            <a:picLocks noChangeAspect="1"/>
          </p:cNvPicPr>
          <p:nvPr/>
        </p:nvPicPr>
        <p:blipFill>
          <a:blip r:embed="rId4"/>
          <a:stretch>
            <a:fillRect/>
          </a:stretch>
        </p:blipFill>
        <p:spPr>
          <a:xfrm>
            <a:off x="9048224" y="4656839"/>
            <a:ext cx="2562583" cy="1552792"/>
          </a:xfrm>
          <a:prstGeom prst="rect">
            <a:avLst/>
          </a:prstGeom>
        </p:spPr>
      </p:pic>
    </p:spTree>
    <p:extLst>
      <p:ext uri="{BB962C8B-B14F-4D97-AF65-F5344CB8AC3E}">
        <p14:creationId xmlns:p14="http://schemas.microsoft.com/office/powerpoint/2010/main" val="61343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C0C33-7BB5-8230-A381-EBA6843E5E9B}"/>
              </a:ext>
            </a:extLst>
          </p:cNvPr>
          <p:cNvSpPr>
            <a:spLocks noGrp="1"/>
          </p:cNvSpPr>
          <p:nvPr>
            <p:ph type="title"/>
          </p:nvPr>
        </p:nvSpPr>
        <p:spPr/>
        <p:txBody>
          <a:bodyPr/>
          <a:lstStyle/>
          <a:p>
            <a:r>
              <a:rPr lang="en-US" dirty="0"/>
              <a:t>Connecting with RDS - Postgres</a:t>
            </a:r>
          </a:p>
        </p:txBody>
      </p:sp>
      <p:sp>
        <p:nvSpPr>
          <p:cNvPr id="3" name="Content Placeholder 2">
            <a:extLst>
              <a:ext uri="{FF2B5EF4-FFF2-40B4-BE49-F238E27FC236}">
                <a16:creationId xmlns:a16="http://schemas.microsoft.com/office/drawing/2014/main" id="{261F14CF-0051-FC30-1517-A434FA15E21E}"/>
              </a:ext>
            </a:extLst>
          </p:cNvPr>
          <p:cNvSpPr>
            <a:spLocks noGrp="1"/>
          </p:cNvSpPr>
          <p:nvPr>
            <p:ph idx="1"/>
          </p:nvPr>
        </p:nvSpPr>
        <p:spPr>
          <a:xfrm>
            <a:off x="581191" y="2295141"/>
            <a:ext cx="11029615" cy="1471788"/>
          </a:xfrm>
        </p:spPr>
        <p:txBody>
          <a:bodyPr/>
          <a:lstStyle/>
          <a:p>
            <a:r>
              <a:rPr lang="en-US" dirty="0"/>
              <a:t>On the ‘Connectivity &amp; Security’ tab within RDS, they provide code snippets</a:t>
            </a:r>
          </a:p>
          <a:p>
            <a:r>
              <a:rPr lang="en-US" dirty="0"/>
              <a:t>Check out the JDBC code snippet to get your unique server URL</a:t>
            </a:r>
          </a:p>
          <a:p>
            <a:r>
              <a:rPr lang="en-US" dirty="0"/>
              <a:t>We can inject this later into </a:t>
            </a:r>
            <a:r>
              <a:rPr lang="en-US" dirty="0" err="1"/>
              <a:t>application.properties</a:t>
            </a:r>
            <a:r>
              <a:rPr lang="en-US" dirty="0"/>
              <a:t> as an environment variable supplied by AWS ECS – elastic container service</a:t>
            </a:r>
          </a:p>
        </p:txBody>
      </p:sp>
      <p:pic>
        <p:nvPicPr>
          <p:cNvPr id="5" name="Picture 4">
            <a:extLst>
              <a:ext uri="{FF2B5EF4-FFF2-40B4-BE49-F238E27FC236}">
                <a16:creationId xmlns:a16="http://schemas.microsoft.com/office/drawing/2014/main" id="{3D5244C3-4A95-0CF7-223E-A5FFAA0A1DFC}"/>
              </a:ext>
            </a:extLst>
          </p:cNvPr>
          <p:cNvPicPr>
            <a:picLocks noChangeAspect="1"/>
          </p:cNvPicPr>
          <p:nvPr/>
        </p:nvPicPr>
        <p:blipFill>
          <a:blip r:embed="rId2"/>
          <a:stretch>
            <a:fillRect/>
          </a:stretch>
        </p:blipFill>
        <p:spPr>
          <a:xfrm>
            <a:off x="1221638" y="4346115"/>
            <a:ext cx="9748723" cy="1184583"/>
          </a:xfrm>
          <a:prstGeom prst="rect">
            <a:avLst/>
          </a:prstGeom>
        </p:spPr>
      </p:pic>
    </p:spTree>
    <p:extLst>
      <p:ext uri="{BB962C8B-B14F-4D97-AF65-F5344CB8AC3E}">
        <p14:creationId xmlns:p14="http://schemas.microsoft.com/office/powerpoint/2010/main" val="4109086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71088-1C1D-8869-6C56-392F02BD381E}"/>
              </a:ext>
            </a:extLst>
          </p:cNvPr>
          <p:cNvSpPr>
            <a:spLocks noGrp="1"/>
          </p:cNvSpPr>
          <p:nvPr>
            <p:ph type="title"/>
          </p:nvPr>
        </p:nvSpPr>
        <p:spPr/>
        <p:txBody>
          <a:bodyPr/>
          <a:lstStyle/>
          <a:p>
            <a:r>
              <a:rPr lang="en-US" dirty="0"/>
              <a:t>ECS Configuration </a:t>
            </a:r>
          </a:p>
        </p:txBody>
      </p:sp>
      <p:sp>
        <p:nvSpPr>
          <p:cNvPr id="3" name="Content Placeholder 2">
            <a:extLst>
              <a:ext uri="{FF2B5EF4-FFF2-40B4-BE49-F238E27FC236}">
                <a16:creationId xmlns:a16="http://schemas.microsoft.com/office/drawing/2014/main" id="{0E78C588-A12E-26C6-C9E6-B43F72B87BC2}"/>
              </a:ext>
            </a:extLst>
          </p:cNvPr>
          <p:cNvSpPr>
            <a:spLocks noGrp="1"/>
          </p:cNvSpPr>
          <p:nvPr>
            <p:ph idx="1"/>
          </p:nvPr>
        </p:nvSpPr>
        <p:spPr>
          <a:xfrm>
            <a:off x="581192" y="2180496"/>
            <a:ext cx="4511803" cy="4374683"/>
          </a:xfrm>
        </p:spPr>
        <p:txBody>
          <a:bodyPr>
            <a:normAutofit fontScale="92500" lnSpcReduction="10000"/>
          </a:bodyPr>
          <a:lstStyle/>
          <a:p>
            <a:r>
              <a:rPr lang="en-US" dirty="0"/>
              <a:t>Navigate to the ECS service - we can use ‘Express Mode’ to have AWS setup a load balancer, and many other pieces of infrastructure for us</a:t>
            </a:r>
          </a:p>
          <a:p>
            <a:r>
              <a:rPr lang="en-US" dirty="0"/>
              <a:t>Choose your container from ECR</a:t>
            </a:r>
          </a:p>
          <a:p>
            <a:r>
              <a:rPr lang="en-US" dirty="0"/>
              <a:t>The task execution role determines what services our container can do on our behalf, we will need to create a custom role that includes read permissions to AWS Secrets Manager (so our container can get secrets to RDS)</a:t>
            </a:r>
          </a:p>
          <a:p>
            <a:r>
              <a:rPr lang="en-US" dirty="0"/>
              <a:t>Set Infrastructure role to the provided default role</a:t>
            </a:r>
          </a:p>
          <a:p>
            <a:r>
              <a:rPr lang="en-US" dirty="0"/>
              <a:t>Set our container port &amp; health check route</a:t>
            </a:r>
          </a:p>
          <a:p>
            <a:r>
              <a:rPr lang="en-US" dirty="0"/>
              <a:t>More config on next slide…</a:t>
            </a:r>
          </a:p>
          <a:p>
            <a:endParaRPr lang="en-US" dirty="0"/>
          </a:p>
        </p:txBody>
      </p:sp>
      <p:pic>
        <p:nvPicPr>
          <p:cNvPr id="5" name="Picture 4">
            <a:extLst>
              <a:ext uri="{FF2B5EF4-FFF2-40B4-BE49-F238E27FC236}">
                <a16:creationId xmlns:a16="http://schemas.microsoft.com/office/drawing/2014/main" id="{90205959-2ECF-A07F-22AC-ACE20CBC104E}"/>
              </a:ext>
            </a:extLst>
          </p:cNvPr>
          <p:cNvPicPr>
            <a:picLocks noChangeAspect="1"/>
          </p:cNvPicPr>
          <p:nvPr/>
        </p:nvPicPr>
        <p:blipFill>
          <a:blip r:embed="rId2"/>
          <a:stretch>
            <a:fillRect/>
          </a:stretch>
        </p:blipFill>
        <p:spPr>
          <a:xfrm>
            <a:off x="5182512" y="1931114"/>
            <a:ext cx="6428296" cy="2202453"/>
          </a:xfrm>
          <a:prstGeom prst="rect">
            <a:avLst/>
          </a:prstGeom>
        </p:spPr>
      </p:pic>
      <p:pic>
        <p:nvPicPr>
          <p:cNvPr id="7" name="Picture 6">
            <a:extLst>
              <a:ext uri="{FF2B5EF4-FFF2-40B4-BE49-F238E27FC236}">
                <a16:creationId xmlns:a16="http://schemas.microsoft.com/office/drawing/2014/main" id="{266361D9-790C-D92F-A221-B1831DC56E30}"/>
              </a:ext>
            </a:extLst>
          </p:cNvPr>
          <p:cNvPicPr>
            <a:picLocks noChangeAspect="1"/>
          </p:cNvPicPr>
          <p:nvPr/>
        </p:nvPicPr>
        <p:blipFill>
          <a:blip r:embed="rId3"/>
          <a:stretch>
            <a:fillRect/>
          </a:stretch>
        </p:blipFill>
        <p:spPr>
          <a:xfrm>
            <a:off x="5790760" y="5132496"/>
            <a:ext cx="5211799" cy="893011"/>
          </a:xfrm>
          <a:prstGeom prst="rect">
            <a:avLst/>
          </a:prstGeom>
        </p:spPr>
      </p:pic>
    </p:spTree>
    <p:extLst>
      <p:ext uri="{BB962C8B-B14F-4D97-AF65-F5344CB8AC3E}">
        <p14:creationId xmlns:p14="http://schemas.microsoft.com/office/powerpoint/2010/main" val="92537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C7D1C-9D46-87CE-E363-193772991476}"/>
              </a:ext>
            </a:extLst>
          </p:cNvPr>
          <p:cNvSpPr>
            <a:spLocks noGrp="1"/>
          </p:cNvSpPr>
          <p:nvPr>
            <p:ph type="title"/>
          </p:nvPr>
        </p:nvSpPr>
        <p:spPr/>
        <p:txBody>
          <a:bodyPr/>
          <a:lstStyle/>
          <a:p>
            <a:r>
              <a:rPr lang="en-US" dirty="0"/>
              <a:t>ECS configuration continued…</a:t>
            </a:r>
          </a:p>
        </p:txBody>
      </p:sp>
      <p:sp>
        <p:nvSpPr>
          <p:cNvPr id="3" name="Content Placeholder 2">
            <a:extLst>
              <a:ext uri="{FF2B5EF4-FFF2-40B4-BE49-F238E27FC236}">
                <a16:creationId xmlns:a16="http://schemas.microsoft.com/office/drawing/2014/main" id="{EA0B707E-8254-EDC6-5D19-845C41EAB388}"/>
              </a:ext>
            </a:extLst>
          </p:cNvPr>
          <p:cNvSpPr>
            <a:spLocks noGrp="1"/>
          </p:cNvSpPr>
          <p:nvPr>
            <p:ph idx="1"/>
          </p:nvPr>
        </p:nvSpPr>
        <p:spPr>
          <a:xfrm>
            <a:off x="374386" y="3804384"/>
            <a:ext cx="6643103" cy="2869547"/>
          </a:xfrm>
        </p:spPr>
        <p:txBody>
          <a:bodyPr>
            <a:normAutofit fontScale="85000" lnSpcReduction="20000"/>
          </a:bodyPr>
          <a:lstStyle/>
          <a:p>
            <a:r>
              <a:rPr lang="en-US" dirty="0"/>
              <a:t>Next, we add environment variables that will be supplied to our ‘</a:t>
            </a:r>
            <a:r>
              <a:rPr lang="en-US" dirty="0" err="1"/>
              <a:t>application.properties</a:t>
            </a:r>
            <a:r>
              <a:rPr lang="en-US" dirty="0"/>
              <a:t>’ file</a:t>
            </a:r>
          </a:p>
          <a:p>
            <a:r>
              <a:rPr lang="en-US" dirty="0"/>
              <a:t>Get the DB_HOST from your RDS </a:t>
            </a:r>
            <a:r>
              <a:rPr lang="en-US" dirty="0" err="1"/>
              <a:t>url</a:t>
            </a:r>
            <a:r>
              <a:rPr lang="en-US" dirty="0"/>
              <a:t> </a:t>
            </a:r>
          </a:p>
          <a:p>
            <a:r>
              <a:rPr lang="en-US" dirty="0"/>
              <a:t>The username &amp; password come from AWS secrets manager and follow this format:</a:t>
            </a:r>
          </a:p>
          <a:p>
            <a:pPr lvl="1"/>
            <a:r>
              <a:rPr lang="en-US" dirty="0"/>
              <a:t>&lt;AWS_RESOURCE_NAME_FOR_SECRET&gt;:&lt;username/password&gt;::</a:t>
            </a:r>
          </a:p>
          <a:p>
            <a:pPr lvl="1"/>
            <a:r>
              <a:rPr lang="en-US" dirty="0"/>
              <a:t>Example:</a:t>
            </a:r>
          </a:p>
          <a:p>
            <a:pPr lvl="1"/>
            <a:r>
              <a:rPr lang="en-US" dirty="0"/>
              <a:t>arn:aws:secretsmanager:us-east-2:454497087304:secret:rds!db-a35660af-9513-4bda-818c-72d23276a2d6-POWCEB:username::</a:t>
            </a:r>
          </a:p>
          <a:p>
            <a:r>
              <a:rPr lang="en-US" dirty="0"/>
              <a:t>It’s recommended we cap our tasks as the last setting to change before clicking ‘create’</a:t>
            </a:r>
          </a:p>
        </p:txBody>
      </p:sp>
      <p:pic>
        <p:nvPicPr>
          <p:cNvPr id="5" name="Picture 4">
            <a:extLst>
              <a:ext uri="{FF2B5EF4-FFF2-40B4-BE49-F238E27FC236}">
                <a16:creationId xmlns:a16="http://schemas.microsoft.com/office/drawing/2014/main" id="{04042EDE-CD95-9025-A836-7B20D382BC2A}"/>
              </a:ext>
            </a:extLst>
          </p:cNvPr>
          <p:cNvPicPr>
            <a:picLocks noChangeAspect="1"/>
          </p:cNvPicPr>
          <p:nvPr/>
        </p:nvPicPr>
        <p:blipFill>
          <a:blip r:embed="rId2"/>
          <a:stretch>
            <a:fillRect/>
          </a:stretch>
        </p:blipFill>
        <p:spPr>
          <a:xfrm>
            <a:off x="997527" y="2130026"/>
            <a:ext cx="10196945" cy="1409145"/>
          </a:xfrm>
          <a:prstGeom prst="rect">
            <a:avLst/>
          </a:prstGeom>
        </p:spPr>
      </p:pic>
      <p:pic>
        <p:nvPicPr>
          <p:cNvPr id="9" name="Picture 8">
            <a:extLst>
              <a:ext uri="{FF2B5EF4-FFF2-40B4-BE49-F238E27FC236}">
                <a16:creationId xmlns:a16="http://schemas.microsoft.com/office/drawing/2014/main" id="{9A1C464C-6ED2-CF69-A2E2-5EC0D234CA2B}"/>
              </a:ext>
            </a:extLst>
          </p:cNvPr>
          <p:cNvPicPr>
            <a:picLocks noChangeAspect="1"/>
          </p:cNvPicPr>
          <p:nvPr/>
        </p:nvPicPr>
        <p:blipFill>
          <a:blip r:embed="rId3"/>
          <a:stretch>
            <a:fillRect/>
          </a:stretch>
        </p:blipFill>
        <p:spPr>
          <a:xfrm>
            <a:off x="7172697" y="4628818"/>
            <a:ext cx="4259283" cy="425928"/>
          </a:xfrm>
          <a:prstGeom prst="rect">
            <a:avLst/>
          </a:prstGeom>
        </p:spPr>
      </p:pic>
    </p:spTree>
    <p:extLst>
      <p:ext uri="{BB962C8B-B14F-4D97-AF65-F5344CB8AC3E}">
        <p14:creationId xmlns:p14="http://schemas.microsoft.com/office/powerpoint/2010/main" val="1403778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97C53-6C0A-5D70-6A27-A2DCF471EF1A}"/>
              </a:ext>
            </a:extLst>
          </p:cNvPr>
          <p:cNvSpPr>
            <a:spLocks noGrp="1"/>
          </p:cNvSpPr>
          <p:nvPr>
            <p:ph type="title"/>
          </p:nvPr>
        </p:nvSpPr>
        <p:spPr/>
        <p:txBody>
          <a:bodyPr/>
          <a:lstStyle/>
          <a:p>
            <a:r>
              <a:rPr lang="en-US" dirty="0"/>
              <a:t>ECS configuration - troubleshooting</a:t>
            </a:r>
          </a:p>
        </p:txBody>
      </p:sp>
      <p:sp>
        <p:nvSpPr>
          <p:cNvPr id="3" name="Content Placeholder 2">
            <a:extLst>
              <a:ext uri="{FF2B5EF4-FFF2-40B4-BE49-F238E27FC236}">
                <a16:creationId xmlns:a16="http://schemas.microsoft.com/office/drawing/2014/main" id="{955C307C-7BF0-326A-09FB-5DB25CF7704F}"/>
              </a:ext>
            </a:extLst>
          </p:cNvPr>
          <p:cNvSpPr>
            <a:spLocks noGrp="1"/>
          </p:cNvSpPr>
          <p:nvPr>
            <p:ph idx="1"/>
          </p:nvPr>
        </p:nvSpPr>
        <p:spPr>
          <a:xfrm>
            <a:off x="581192" y="2180497"/>
            <a:ext cx="11029615" cy="1392044"/>
          </a:xfrm>
        </p:spPr>
        <p:txBody>
          <a:bodyPr/>
          <a:lstStyle/>
          <a:p>
            <a:r>
              <a:rPr lang="en-US" dirty="0"/>
              <a:t>Watch your deployment resources, all should show a green checkmark eventually</a:t>
            </a:r>
          </a:p>
          <a:p>
            <a:r>
              <a:rPr lang="en-US" dirty="0"/>
              <a:t>You can navigate to ‘clusters &gt; </a:t>
            </a:r>
            <a:r>
              <a:rPr lang="en-US" dirty="0" err="1"/>
              <a:t>nameOfCluster</a:t>
            </a:r>
            <a:r>
              <a:rPr lang="en-US" dirty="0"/>
              <a:t> &gt; Tasks’ to see running tasks and diagnose issues </a:t>
            </a:r>
          </a:p>
          <a:p>
            <a:r>
              <a:rPr lang="en-US" dirty="0"/>
              <a:t>Click on the task and then its ‘Logs’ tab to see our java logs running in ECS:</a:t>
            </a:r>
          </a:p>
        </p:txBody>
      </p:sp>
      <p:pic>
        <p:nvPicPr>
          <p:cNvPr id="5" name="Picture 4">
            <a:extLst>
              <a:ext uri="{FF2B5EF4-FFF2-40B4-BE49-F238E27FC236}">
                <a16:creationId xmlns:a16="http://schemas.microsoft.com/office/drawing/2014/main" id="{AAA9BD14-F4D1-60BD-0845-033271632353}"/>
              </a:ext>
            </a:extLst>
          </p:cNvPr>
          <p:cNvPicPr>
            <a:picLocks noChangeAspect="1"/>
          </p:cNvPicPr>
          <p:nvPr/>
        </p:nvPicPr>
        <p:blipFill>
          <a:blip r:embed="rId2"/>
          <a:stretch>
            <a:fillRect/>
          </a:stretch>
        </p:blipFill>
        <p:spPr>
          <a:xfrm>
            <a:off x="2594757" y="3572541"/>
            <a:ext cx="7002483" cy="2816216"/>
          </a:xfrm>
          <a:prstGeom prst="rect">
            <a:avLst/>
          </a:prstGeom>
        </p:spPr>
      </p:pic>
    </p:spTree>
    <p:extLst>
      <p:ext uri="{BB962C8B-B14F-4D97-AF65-F5344CB8AC3E}">
        <p14:creationId xmlns:p14="http://schemas.microsoft.com/office/powerpoint/2010/main" val="548448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687E-4B6C-40F9-9A1A-59B4EA9E3C92}"/>
              </a:ext>
            </a:extLst>
          </p:cNvPr>
          <p:cNvSpPr>
            <a:spLocks noGrp="1"/>
          </p:cNvSpPr>
          <p:nvPr>
            <p:ph type="title"/>
          </p:nvPr>
        </p:nvSpPr>
        <p:spPr/>
        <p:txBody>
          <a:bodyPr/>
          <a:lstStyle/>
          <a:p>
            <a:r>
              <a:rPr lang="en-US" dirty="0" err="1"/>
              <a:t>Cloudfront</a:t>
            </a:r>
            <a:r>
              <a:rPr lang="en-US" dirty="0"/>
              <a:t> configuration</a:t>
            </a:r>
          </a:p>
        </p:txBody>
      </p:sp>
      <p:sp>
        <p:nvSpPr>
          <p:cNvPr id="3" name="Content Placeholder 2">
            <a:extLst>
              <a:ext uri="{FF2B5EF4-FFF2-40B4-BE49-F238E27FC236}">
                <a16:creationId xmlns:a16="http://schemas.microsoft.com/office/drawing/2014/main" id="{B1B5028B-2B4B-05AC-FC59-268AB98068C2}"/>
              </a:ext>
            </a:extLst>
          </p:cNvPr>
          <p:cNvSpPr>
            <a:spLocks noGrp="1"/>
          </p:cNvSpPr>
          <p:nvPr>
            <p:ph idx="1"/>
          </p:nvPr>
        </p:nvSpPr>
        <p:spPr>
          <a:xfrm>
            <a:off x="581192" y="2180496"/>
            <a:ext cx="4157063" cy="3975348"/>
          </a:xfrm>
        </p:spPr>
        <p:txBody>
          <a:bodyPr/>
          <a:lstStyle/>
          <a:p>
            <a:r>
              <a:rPr lang="en-US" dirty="0"/>
              <a:t>Navigate to </a:t>
            </a:r>
            <a:r>
              <a:rPr lang="en-US" dirty="0" err="1"/>
              <a:t>Cloudfront</a:t>
            </a:r>
            <a:r>
              <a:rPr lang="en-US" dirty="0"/>
              <a:t> and create a new distribution using the free-tier </a:t>
            </a:r>
          </a:p>
          <a:p>
            <a:r>
              <a:rPr lang="en-US" dirty="0"/>
              <a:t>For the origin, choose Amazon S3, and select a general-purpose bucket </a:t>
            </a:r>
          </a:p>
          <a:p>
            <a:pPr lvl="1"/>
            <a:r>
              <a:rPr lang="en-US" dirty="0"/>
              <a:t>This bucket will hold our front-end code</a:t>
            </a:r>
          </a:p>
          <a:p>
            <a:r>
              <a:rPr lang="en-US" dirty="0"/>
              <a:t>All other settings may remain at default when you create the distribution</a:t>
            </a:r>
          </a:p>
        </p:txBody>
      </p:sp>
      <p:pic>
        <p:nvPicPr>
          <p:cNvPr id="5" name="Picture 4">
            <a:extLst>
              <a:ext uri="{FF2B5EF4-FFF2-40B4-BE49-F238E27FC236}">
                <a16:creationId xmlns:a16="http://schemas.microsoft.com/office/drawing/2014/main" id="{83C8CF6E-DDDB-BAB8-0019-8A610A83528C}"/>
              </a:ext>
            </a:extLst>
          </p:cNvPr>
          <p:cNvPicPr>
            <a:picLocks noChangeAspect="1"/>
          </p:cNvPicPr>
          <p:nvPr/>
        </p:nvPicPr>
        <p:blipFill>
          <a:blip r:embed="rId2"/>
          <a:stretch>
            <a:fillRect/>
          </a:stretch>
        </p:blipFill>
        <p:spPr>
          <a:xfrm>
            <a:off x="4952190" y="2180496"/>
            <a:ext cx="6166470" cy="3150966"/>
          </a:xfrm>
          <a:prstGeom prst="rect">
            <a:avLst/>
          </a:prstGeom>
        </p:spPr>
      </p:pic>
    </p:spTree>
    <p:extLst>
      <p:ext uri="{BB962C8B-B14F-4D97-AF65-F5344CB8AC3E}">
        <p14:creationId xmlns:p14="http://schemas.microsoft.com/office/powerpoint/2010/main" val="3636789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BE807-8CC2-4DD2-2BDC-17346D57694E}"/>
              </a:ext>
            </a:extLst>
          </p:cNvPr>
          <p:cNvSpPr>
            <a:spLocks noGrp="1"/>
          </p:cNvSpPr>
          <p:nvPr>
            <p:ph type="title"/>
          </p:nvPr>
        </p:nvSpPr>
        <p:spPr/>
        <p:txBody>
          <a:bodyPr/>
          <a:lstStyle/>
          <a:p>
            <a:r>
              <a:rPr lang="en-US" dirty="0" err="1"/>
              <a:t>Cloudfront</a:t>
            </a:r>
            <a:r>
              <a:rPr lang="en-US" dirty="0"/>
              <a:t> configuration</a:t>
            </a:r>
          </a:p>
        </p:txBody>
      </p:sp>
      <p:sp>
        <p:nvSpPr>
          <p:cNvPr id="3" name="Content Placeholder 2">
            <a:extLst>
              <a:ext uri="{FF2B5EF4-FFF2-40B4-BE49-F238E27FC236}">
                <a16:creationId xmlns:a16="http://schemas.microsoft.com/office/drawing/2014/main" id="{4C813DDB-ACF5-5090-D663-D0732C98565B}"/>
              </a:ext>
            </a:extLst>
          </p:cNvPr>
          <p:cNvSpPr>
            <a:spLocks noGrp="1"/>
          </p:cNvSpPr>
          <p:nvPr>
            <p:ph idx="1"/>
          </p:nvPr>
        </p:nvSpPr>
        <p:spPr>
          <a:xfrm>
            <a:off x="581192" y="2052084"/>
            <a:ext cx="11029615" cy="2211572"/>
          </a:xfrm>
        </p:spPr>
        <p:txBody>
          <a:bodyPr>
            <a:normAutofit fontScale="85000" lnSpcReduction="20000"/>
          </a:bodyPr>
          <a:lstStyle/>
          <a:p>
            <a:r>
              <a:rPr lang="en-US" dirty="0"/>
              <a:t>An </a:t>
            </a:r>
            <a:r>
              <a:rPr lang="en-US" b="1" dirty="0"/>
              <a:t>origin tells CloudFront where to fetch content from</a:t>
            </a:r>
            <a:r>
              <a:rPr lang="en-US" dirty="0"/>
              <a:t> when it needs to forward a request.</a:t>
            </a:r>
          </a:p>
          <a:p>
            <a:pPr lvl="1"/>
            <a:r>
              <a:rPr lang="en-US" dirty="0"/>
              <a:t>Our frontend and backend are separate services, so CloudFront needs to know about both.</a:t>
            </a:r>
          </a:p>
          <a:p>
            <a:pPr lvl="1"/>
            <a:r>
              <a:rPr lang="en-US" b="1" dirty="0"/>
              <a:t>Frontend origin:</a:t>
            </a:r>
            <a:r>
              <a:rPr lang="en-US" dirty="0"/>
              <a:t> An S3 bucket containing your front-end build files.</a:t>
            </a:r>
          </a:p>
          <a:p>
            <a:pPr lvl="1"/>
            <a:r>
              <a:rPr lang="en-US" b="1" dirty="0"/>
              <a:t>API origin:</a:t>
            </a:r>
            <a:r>
              <a:rPr lang="en-US" dirty="0"/>
              <a:t> Our Application Load Balancer (ALB), which sits in front of our java app and routes requests to our backend.</a:t>
            </a:r>
          </a:p>
          <a:p>
            <a:r>
              <a:rPr lang="en-US" dirty="0"/>
              <a:t>On the distribution, let’s setup 2 origins:</a:t>
            </a:r>
          </a:p>
          <a:p>
            <a:pPr lvl="1"/>
            <a:r>
              <a:rPr lang="en-US" dirty="0"/>
              <a:t>Java-</a:t>
            </a:r>
            <a:r>
              <a:rPr lang="en-US" dirty="0" err="1"/>
              <a:t>api</a:t>
            </a:r>
            <a:r>
              <a:rPr lang="en-US" dirty="0"/>
              <a:t>-origin – this domain will point to the ALB SSL/TLS certificate location (due to HTTPS:443 listener rules – this is admittedly hacky and maybe a better way to do this)</a:t>
            </a:r>
          </a:p>
          <a:p>
            <a:pPr lvl="1"/>
            <a:r>
              <a:rPr lang="en-US" dirty="0"/>
              <a:t>Rev-site – this domain will point to our S3 bucket that stores our build artifacts from the front-end app</a:t>
            </a:r>
          </a:p>
        </p:txBody>
      </p:sp>
      <p:pic>
        <p:nvPicPr>
          <p:cNvPr id="5" name="Picture 4">
            <a:extLst>
              <a:ext uri="{FF2B5EF4-FFF2-40B4-BE49-F238E27FC236}">
                <a16:creationId xmlns:a16="http://schemas.microsoft.com/office/drawing/2014/main" id="{047CF7B1-2604-939D-05AF-843B504098DB}"/>
              </a:ext>
            </a:extLst>
          </p:cNvPr>
          <p:cNvPicPr>
            <a:picLocks noChangeAspect="1"/>
          </p:cNvPicPr>
          <p:nvPr/>
        </p:nvPicPr>
        <p:blipFill>
          <a:blip r:embed="rId2"/>
          <a:stretch>
            <a:fillRect/>
          </a:stretch>
        </p:blipFill>
        <p:spPr>
          <a:xfrm>
            <a:off x="1096953" y="4541529"/>
            <a:ext cx="9998094" cy="1614315"/>
          </a:xfrm>
          <a:prstGeom prst="rect">
            <a:avLst/>
          </a:prstGeom>
        </p:spPr>
      </p:pic>
    </p:spTree>
    <p:extLst>
      <p:ext uri="{BB962C8B-B14F-4D97-AF65-F5344CB8AC3E}">
        <p14:creationId xmlns:p14="http://schemas.microsoft.com/office/powerpoint/2010/main" val="2011378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A75A6-9E42-499A-6D2C-EB934780C434}"/>
              </a:ext>
            </a:extLst>
          </p:cNvPr>
          <p:cNvSpPr>
            <a:spLocks noGrp="1"/>
          </p:cNvSpPr>
          <p:nvPr>
            <p:ph type="title"/>
          </p:nvPr>
        </p:nvSpPr>
        <p:spPr/>
        <p:txBody>
          <a:bodyPr/>
          <a:lstStyle/>
          <a:p>
            <a:r>
              <a:rPr lang="en-US" dirty="0" err="1"/>
              <a:t>Cloudfront</a:t>
            </a:r>
            <a:r>
              <a:rPr lang="en-US" dirty="0"/>
              <a:t> configuration</a:t>
            </a:r>
          </a:p>
        </p:txBody>
      </p:sp>
      <p:sp>
        <p:nvSpPr>
          <p:cNvPr id="3" name="Content Placeholder 2">
            <a:extLst>
              <a:ext uri="{FF2B5EF4-FFF2-40B4-BE49-F238E27FC236}">
                <a16:creationId xmlns:a16="http://schemas.microsoft.com/office/drawing/2014/main" id="{2F8D9BF8-1D54-739C-E04C-883B0C088FCD}"/>
              </a:ext>
            </a:extLst>
          </p:cNvPr>
          <p:cNvSpPr>
            <a:spLocks noGrp="1"/>
          </p:cNvSpPr>
          <p:nvPr>
            <p:ph idx="1"/>
          </p:nvPr>
        </p:nvSpPr>
        <p:spPr>
          <a:xfrm>
            <a:off x="581192" y="1900052"/>
            <a:ext cx="11029615" cy="1662545"/>
          </a:xfrm>
        </p:spPr>
        <p:txBody>
          <a:bodyPr>
            <a:normAutofit fontScale="77500" lnSpcReduction="20000"/>
          </a:bodyPr>
          <a:lstStyle/>
          <a:p>
            <a:r>
              <a:rPr lang="en-US" dirty="0"/>
              <a:t>Next, we will create behaviors with the origins we made</a:t>
            </a:r>
          </a:p>
          <a:p>
            <a:r>
              <a:rPr lang="en-US" dirty="0"/>
              <a:t>Behaviors describe what paths will be redirected to use our origins </a:t>
            </a:r>
          </a:p>
          <a:p>
            <a:r>
              <a:rPr lang="en-US" dirty="0"/>
              <a:t>Notice for all ‘/</a:t>
            </a:r>
            <a:r>
              <a:rPr lang="en-US" dirty="0" err="1"/>
              <a:t>api</a:t>
            </a:r>
            <a:r>
              <a:rPr lang="en-US" dirty="0"/>
              <a:t>/*’ requests – we are NOT sending along the host header as we are connecting to the SSL/TSL cert endpoint directly (it is already set as the host via our origin – again this is hacky and probably a better way to do this) </a:t>
            </a:r>
          </a:p>
          <a:p>
            <a:r>
              <a:rPr lang="en-US" dirty="0"/>
              <a:t>With the default behavior, we should create a </a:t>
            </a:r>
            <a:r>
              <a:rPr lang="en-US" dirty="0" err="1"/>
              <a:t>cloudfront</a:t>
            </a:r>
            <a:r>
              <a:rPr lang="en-US" dirty="0"/>
              <a:t> function so if a user tries to navigate to a view directly, they are consistently served the root of the spa app instead ‘index.html’ (not doing this will causes page refreshes to 404, as it will try and get something from the S3 bucket with an invalid location)</a:t>
            </a:r>
          </a:p>
        </p:txBody>
      </p:sp>
      <p:pic>
        <p:nvPicPr>
          <p:cNvPr id="7" name="Picture 6">
            <a:extLst>
              <a:ext uri="{FF2B5EF4-FFF2-40B4-BE49-F238E27FC236}">
                <a16:creationId xmlns:a16="http://schemas.microsoft.com/office/drawing/2014/main" id="{4988D55C-0FDC-03C6-99B5-9D215C932D14}"/>
              </a:ext>
            </a:extLst>
          </p:cNvPr>
          <p:cNvPicPr>
            <a:picLocks noChangeAspect="1"/>
          </p:cNvPicPr>
          <p:nvPr/>
        </p:nvPicPr>
        <p:blipFill>
          <a:blip r:embed="rId2"/>
          <a:stretch>
            <a:fillRect/>
          </a:stretch>
        </p:blipFill>
        <p:spPr>
          <a:xfrm>
            <a:off x="807521" y="3562597"/>
            <a:ext cx="10576956" cy="1502278"/>
          </a:xfrm>
          <a:prstGeom prst="rect">
            <a:avLst/>
          </a:prstGeom>
        </p:spPr>
      </p:pic>
      <p:pic>
        <p:nvPicPr>
          <p:cNvPr id="9" name="Picture 8">
            <a:extLst>
              <a:ext uri="{FF2B5EF4-FFF2-40B4-BE49-F238E27FC236}">
                <a16:creationId xmlns:a16="http://schemas.microsoft.com/office/drawing/2014/main" id="{26085173-24A8-5CA8-D225-F98C3C9816A1}"/>
              </a:ext>
            </a:extLst>
          </p:cNvPr>
          <p:cNvPicPr>
            <a:picLocks noChangeAspect="1"/>
          </p:cNvPicPr>
          <p:nvPr/>
        </p:nvPicPr>
        <p:blipFill>
          <a:blip r:embed="rId3"/>
          <a:stretch>
            <a:fillRect/>
          </a:stretch>
        </p:blipFill>
        <p:spPr>
          <a:xfrm>
            <a:off x="2339438" y="5151711"/>
            <a:ext cx="7513122" cy="1599859"/>
          </a:xfrm>
          <a:prstGeom prst="rect">
            <a:avLst/>
          </a:prstGeom>
        </p:spPr>
      </p:pic>
    </p:spTree>
    <p:extLst>
      <p:ext uri="{BB962C8B-B14F-4D97-AF65-F5344CB8AC3E}">
        <p14:creationId xmlns:p14="http://schemas.microsoft.com/office/powerpoint/2010/main" val="2487382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866E0-77B2-600C-12DF-BD32CB36DBED}"/>
              </a:ext>
            </a:extLst>
          </p:cNvPr>
          <p:cNvSpPr>
            <a:spLocks noGrp="1"/>
          </p:cNvSpPr>
          <p:nvPr>
            <p:ph type="title"/>
          </p:nvPr>
        </p:nvSpPr>
        <p:spPr/>
        <p:txBody>
          <a:bodyPr/>
          <a:lstStyle/>
          <a:p>
            <a:r>
              <a:rPr lang="en-US" dirty="0"/>
              <a:t>Creating the </a:t>
            </a:r>
            <a:r>
              <a:rPr lang="en-US" dirty="0" err="1"/>
              <a:t>cloudfront</a:t>
            </a:r>
            <a:r>
              <a:rPr lang="en-US" dirty="0"/>
              <a:t> function</a:t>
            </a:r>
          </a:p>
        </p:txBody>
      </p:sp>
      <p:sp>
        <p:nvSpPr>
          <p:cNvPr id="3" name="Content Placeholder 2">
            <a:extLst>
              <a:ext uri="{FF2B5EF4-FFF2-40B4-BE49-F238E27FC236}">
                <a16:creationId xmlns:a16="http://schemas.microsoft.com/office/drawing/2014/main" id="{63FE9683-D4BA-5303-22A7-1EC6A490F291}"/>
              </a:ext>
            </a:extLst>
          </p:cNvPr>
          <p:cNvSpPr>
            <a:spLocks noGrp="1"/>
          </p:cNvSpPr>
          <p:nvPr>
            <p:ph idx="1"/>
          </p:nvPr>
        </p:nvSpPr>
        <p:spPr>
          <a:xfrm>
            <a:off x="581192" y="2180496"/>
            <a:ext cx="4917083" cy="3678303"/>
          </a:xfrm>
        </p:spPr>
        <p:txBody>
          <a:bodyPr/>
          <a:lstStyle/>
          <a:p>
            <a:r>
              <a:rPr lang="en-US" dirty="0"/>
              <a:t>‘Functions’ found on the CloudFront menu, create a new one</a:t>
            </a:r>
          </a:p>
          <a:p>
            <a:r>
              <a:rPr lang="en-US" dirty="0"/>
              <a:t>Make sure to publish it or you can’t use it!</a:t>
            </a:r>
          </a:p>
        </p:txBody>
      </p:sp>
      <p:pic>
        <p:nvPicPr>
          <p:cNvPr id="5" name="Picture 4">
            <a:extLst>
              <a:ext uri="{FF2B5EF4-FFF2-40B4-BE49-F238E27FC236}">
                <a16:creationId xmlns:a16="http://schemas.microsoft.com/office/drawing/2014/main" id="{EB029CBF-979E-657A-EB4F-645C71A4F824}"/>
              </a:ext>
            </a:extLst>
          </p:cNvPr>
          <p:cNvPicPr>
            <a:picLocks noChangeAspect="1"/>
          </p:cNvPicPr>
          <p:nvPr/>
        </p:nvPicPr>
        <p:blipFill>
          <a:blip r:embed="rId2"/>
          <a:stretch>
            <a:fillRect/>
          </a:stretch>
        </p:blipFill>
        <p:spPr>
          <a:xfrm>
            <a:off x="5778244" y="2306918"/>
            <a:ext cx="4839375" cy="4239217"/>
          </a:xfrm>
          <a:prstGeom prst="rect">
            <a:avLst/>
          </a:prstGeom>
        </p:spPr>
      </p:pic>
    </p:spTree>
    <p:extLst>
      <p:ext uri="{BB962C8B-B14F-4D97-AF65-F5344CB8AC3E}">
        <p14:creationId xmlns:p14="http://schemas.microsoft.com/office/powerpoint/2010/main" val="1448121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2B2B6-54EB-A3CE-D496-C7A1A056F4BB}"/>
              </a:ext>
            </a:extLst>
          </p:cNvPr>
          <p:cNvSpPr>
            <a:spLocks noGrp="1"/>
          </p:cNvSpPr>
          <p:nvPr>
            <p:ph type="title"/>
          </p:nvPr>
        </p:nvSpPr>
        <p:spPr/>
        <p:txBody>
          <a:bodyPr/>
          <a:lstStyle/>
          <a:p>
            <a:r>
              <a:rPr lang="en-US" dirty="0"/>
              <a:t>Complete!</a:t>
            </a:r>
          </a:p>
        </p:txBody>
      </p:sp>
      <p:sp>
        <p:nvSpPr>
          <p:cNvPr id="3" name="Content Placeholder 2">
            <a:extLst>
              <a:ext uri="{FF2B5EF4-FFF2-40B4-BE49-F238E27FC236}">
                <a16:creationId xmlns:a16="http://schemas.microsoft.com/office/drawing/2014/main" id="{1E944067-7D96-69DA-9366-F59FB580D4F6}"/>
              </a:ext>
            </a:extLst>
          </p:cNvPr>
          <p:cNvSpPr>
            <a:spLocks noGrp="1"/>
          </p:cNvSpPr>
          <p:nvPr>
            <p:ph idx="1"/>
          </p:nvPr>
        </p:nvSpPr>
        <p:spPr>
          <a:xfrm>
            <a:off x="581192" y="2180496"/>
            <a:ext cx="5514808" cy="3678303"/>
          </a:xfrm>
        </p:spPr>
        <p:txBody>
          <a:bodyPr/>
          <a:lstStyle/>
          <a:p>
            <a:r>
              <a:rPr lang="en-US" dirty="0"/>
              <a:t>If you’ve done everything correctly, you can now navigate to your live site!</a:t>
            </a:r>
          </a:p>
          <a:p>
            <a:r>
              <a:rPr lang="en-US" dirty="0"/>
              <a:t>You can find the URL on the CloudFront distribution page</a:t>
            </a:r>
          </a:p>
        </p:txBody>
      </p:sp>
      <p:pic>
        <p:nvPicPr>
          <p:cNvPr id="5" name="Picture 4">
            <a:extLst>
              <a:ext uri="{FF2B5EF4-FFF2-40B4-BE49-F238E27FC236}">
                <a16:creationId xmlns:a16="http://schemas.microsoft.com/office/drawing/2014/main" id="{8BEC962E-8661-73AD-6718-5BECF52AA41C}"/>
              </a:ext>
            </a:extLst>
          </p:cNvPr>
          <p:cNvPicPr>
            <a:picLocks noChangeAspect="1"/>
          </p:cNvPicPr>
          <p:nvPr/>
        </p:nvPicPr>
        <p:blipFill>
          <a:blip r:embed="rId2"/>
          <a:stretch>
            <a:fillRect/>
          </a:stretch>
        </p:blipFill>
        <p:spPr>
          <a:xfrm>
            <a:off x="6296188" y="3176567"/>
            <a:ext cx="2972215" cy="1686160"/>
          </a:xfrm>
          <a:prstGeom prst="rect">
            <a:avLst/>
          </a:prstGeom>
        </p:spPr>
      </p:pic>
    </p:spTree>
    <p:extLst>
      <p:ext uri="{BB962C8B-B14F-4D97-AF65-F5344CB8AC3E}">
        <p14:creationId xmlns:p14="http://schemas.microsoft.com/office/powerpoint/2010/main" val="3209372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DB0C7-19DB-48CF-2AA6-37BCA2C40047}"/>
              </a:ext>
            </a:extLst>
          </p:cNvPr>
          <p:cNvSpPr>
            <a:spLocks noGrp="1"/>
          </p:cNvSpPr>
          <p:nvPr>
            <p:ph type="title"/>
          </p:nvPr>
        </p:nvSpPr>
        <p:spPr/>
        <p:txBody>
          <a:bodyPr/>
          <a:lstStyle/>
          <a:p>
            <a:r>
              <a:rPr lang="en-US" dirty="0"/>
              <a:t>Final note/reminder</a:t>
            </a:r>
          </a:p>
        </p:txBody>
      </p:sp>
      <p:sp>
        <p:nvSpPr>
          <p:cNvPr id="3" name="Content Placeholder 2">
            <a:extLst>
              <a:ext uri="{FF2B5EF4-FFF2-40B4-BE49-F238E27FC236}">
                <a16:creationId xmlns:a16="http://schemas.microsoft.com/office/drawing/2014/main" id="{A726A177-4D59-AC7B-8724-23EDDD39D224}"/>
              </a:ext>
            </a:extLst>
          </p:cNvPr>
          <p:cNvSpPr>
            <a:spLocks noGrp="1"/>
          </p:cNvSpPr>
          <p:nvPr>
            <p:ph idx="1"/>
          </p:nvPr>
        </p:nvSpPr>
        <p:spPr>
          <a:xfrm>
            <a:off x="581192" y="2180496"/>
            <a:ext cx="4845831" cy="4339057"/>
          </a:xfrm>
        </p:spPr>
        <p:txBody>
          <a:bodyPr/>
          <a:lstStyle/>
          <a:p>
            <a:r>
              <a:rPr lang="en-US" dirty="0"/>
              <a:t>Keep an eye on billing!</a:t>
            </a:r>
          </a:p>
          <a:p>
            <a:r>
              <a:rPr lang="en-US" dirty="0"/>
              <a:t>RDS costs a fair bit, even for a small sandbox</a:t>
            </a:r>
          </a:p>
          <a:p>
            <a:r>
              <a:rPr lang="en-US" dirty="0"/>
              <a:t>Recommend to remove all these items when no longer needed: RDS databases, ECS clusters, S3 buckets, etc. </a:t>
            </a:r>
          </a:p>
          <a:p>
            <a:r>
              <a:rPr lang="en-US" dirty="0"/>
              <a:t>You can always connect to RDS via </a:t>
            </a:r>
            <a:r>
              <a:rPr lang="en-US" dirty="0" err="1"/>
              <a:t>CloudShell</a:t>
            </a:r>
            <a:r>
              <a:rPr lang="en-US" dirty="0"/>
              <a:t> if you need to populate your DB with sample data</a:t>
            </a:r>
          </a:p>
          <a:p>
            <a:pPr lvl="1"/>
            <a:r>
              <a:rPr lang="en-US" dirty="0"/>
              <a:t>I.e. generate some users with varying roles </a:t>
            </a:r>
          </a:p>
        </p:txBody>
      </p:sp>
      <p:pic>
        <p:nvPicPr>
          <p:cNvPr id="5" name="Picture 4">
            <a:extLst>
              <a:ext uri="{FF2B5EF4-FFF2-40B4-BE49-F238E27FC236}">
                <a16:creationId xmlns:a16="http://schemas.microsoft.com/office/drawing/2014/main" id="{FEEC3288-0449-7CBD-40A6-8C52040FDC9A}"/>
              </a:ext>
            </a:extLst>
          </p:cNvPr>
          <p:cNvPicPr>
            <a:picLocks noChangeAspect="1"/>
          </p:cNvPicPr>
          <p:nvPr/>
        </p:nvPicPr>
        <p:blipFill>
          <a:blip r:embed="rId2"/>
          <a:stretch>
            <a:fillRect/>
          </a:stretch>
        </p:blipFill>
        <p:spPr>
          <a:xfrm>
            <a:off x="6738675" y="1963996"/>
            <a:ext cx="4129383" cy="2116023"/>
          </a:xfrm>
          <a:prstGeom prst="rect">
            <a:avLst/>
          </a:prstGeom>
        </p:spPr>
      </p:pic>
      <p:pic>
        <p:nvPicPr>
          <p:cNvPr id="7" name="Picture 6">
            <a:extLst>
              <a:ext uri="{FF2B5EF4-FFF2-40B4-BE49-F238E27FC236}">
                <a16:creationId xmlns:a16="http://schemas.microsoft.com/office/drawing/2014/main" id="{ADB3BD6B-8CBE-1860-CF85-5200D7B22C91}"/>
              </a:ext>
            </a:extLst>
          </p:cNvPr>
          <p:cNvPicPr>
            <a:picLocks noChangeAspect="1"/>
          </p:cNvPicPr>
          <p:nvPr/>
        </p:nvPicPr>
        <p:blipFill>
          <a:blip r:embed="rId3"/>
          <a:stretch>
            <a:fillRect/>
          </a:stretch>
        </p:blipFill>
        <p:spPr>
          <a:xfrm>
            <a:off x="7090193" y="4328060"/>
            <a:ext cx="3426349" cy="2275844"/>
          </a:xfrm>
          <a:prstGeom prst="rect">
            <a:avLst/>
          </a:prstGeom>
        </p:spPr>
      </p:pic>
    </p:spTree>
    <p:extLst>
      <p:ext uri="{BB962C8B-B14F-4D97-AF65-F5344CB8AC3E}">
        <p14:creationId xmlns:p14="http://schemas.microsoft.com/office/powerpoint/2010/main" val="1148186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Challenge Demo – How to Excel in this course</a:t>
            </a:r>
          </a:p>
        </p:txBody>
      </p:sp>
      <p:sp>
        <p:nvSpPr>
          <p:cNvPr id="3" name="Content Placeholder 2">
            <a:extLst>
              <a:ext uri="{FF2B5EF4-FFF2-40B4-BE49-F238E27FC236}">
                <a16:creationId xmlns:a16="http://schemas.microsoft.com/office/drawing/2014/main" id="{23F8E57B-9E41-4816-C2F2-1105A90F87A9}"/>
              </a:ext>
            </a:extLst>
          </p:cNvPr>
          <p:cNvSpPr>
            <a:spLocks noGrp="1"/>
          </p:cNvSpPr>
          <p:nvPr>
            <p:ph idx="1"/>
          </p:nvPr>
        </p:nvSpPr>
        <p:spPr>
          <a:xfrm>
            <a:off x="581192" y="2475925"/>
            <a:ext cx="5317584" cy="1681246"/>
          </a:xfrm>
        </p:spPr>
        <p:txBody>
          <a:bodyPr/>
          <a:lstStyle/>
          <a:p>
            <a:r>
              <a:rPr lang="en-US" dirty="0"/>
              <a:t>Complete a hands-on challenge</a:t>
            </a:r>
          </a:p>
        </p:txBody>
      </p:sp>
      <p:sp>
        <p:nvSpPr>
          <p:cNvPr id="6" name="TextBox 5">
            <a:extLst>
              <a:ext uri="{FF2B5EF4-FFF2-40B4-BE49-F238E27FC236}">
                <a16:creationId xmlns:a16="http://schemas.microsoft.com/office/drawing/2014/main" id="{2DE50FF0-C783-F3C0-044D-2F094F31780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05306AE-2095-D0AE-E069-321DBC55370F}"/>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6545749" y="2772079"/>
            <a:ext cx="4661642" cy="168124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Your organization needs to relay technical concepts to you. Clients often need to do the same. Take a few moments to get some pen and paper ready to take notes. </a:t>
            </a:r>
          </a:p>
        </p:txBody>
      </p:sp>
    </p:spTree>
    <p:extLst>
      <p:ext uri="{BB962C8B-B14F-4D97-AF65-F5344CB8AC3E}">
        <p14:creationId xmlns:p14="http://schemas.microsoft.com/office/powerpoint/2010/main" val="358787138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3935</TotalTime>
  <Words>1445</Words>
  <Application>Microsoft Office PowerPoint</Application>
  <PresentationFormat>Widescreen</PresentationFormat>
  <Paragraphs>102</Paragraphs>
  <Slides>19</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Gill Sans MT</vt:lpstr>
      <vt:lpstr>Wingdings</vt:lpstr>
      <vt:lpstr>Wingdings 2</vt:lpstr>
      <vt:lpstr>Dividend</vt:lpstr>
      <vt:lpstr>AWS Deployment &amp; GitHub Actions</vt:lpstr>
      <vt:lpstr>Service Overview</vt:lpstr>
      <vt:lpstr>Project structure &amp; a few adjustments </vt:lpstr>
      <vt:lpstr>Write Dockerfile</vt:lpstr>
      <vt:lpstr>Create Access Keys</vt:lpstr>
      <vt:lpstr>Setup AWS CLI</vt:lpstr>
      <vt:lpstr>ECR manual setup – first time setup (will automate after)</vt:lpstr>
      <vt:lpstr>Connecting with RDS - Postgres</vt:lpstr>
      <vt:lpstr>Connecting with RDS - Postgres</vt:lpstr>
      <vt:lpstr>ECS Configuration </vt:lpstr>
      <vt:lpstr>ECS configuration continued…</vt:lpstr>
      <vt:lpstr>ECS configuration - troubleshooting</vt:lpstr>
      <vt:lpstr>Cloudfront configuration</vt:lpstr>
      <vt:lpstr>Cloudfront configuration</vt:lpstr>
      <vt:lpstr>Cloudfront configuration</vt:lpstr>
      <vt:lpstr>Creating the cloudfront function</vt:lpstr>
      <vt:lpstr>Complete!</vt:lpstr>
      <vt:lpstr>Final note/reminder</vt:lpstr>
      <vt:lpstr>Challenge Demo – How to Excel in this course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595</cp:revision>
  <dcterms:created xsi:type="dcterms:W3CDTF">2025-02-12T19:53:45Z</dcterms:created>
  <dcterms:modified xsi:type="dcterms:W3CDTF">2026-10-19T14:20:14Z</dcterms:modified>
</cp:coreProperties>
</file>