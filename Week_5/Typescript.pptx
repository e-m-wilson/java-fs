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17" r:id="rId3"/>
    <p:sldId id="325" r:id="rId4"/>
    <p:sldId id="318" r:id="rId5"/>
    <p:sldId id="319" r:id="rId6"/>
    <p:sldId id="322" r:id="rId7"/>
    <p:sldId id="320" r:id="rId8"/>
    <p:sldId id="321" r:id="rId9"/>
    <p:sldId id="323" r:id="rId10"/>
    <p:sldId id="324" r:id="rId11"/>
    <p:sldId id="32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2529-4BC9-51D9-D3FF-3CA6EA03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7C23-20F5-B927-8EF3-A31AA53D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71292" cy="3678303"/>
          </a:xfrm>
        </p:spPr>
        <p:txBody>
          <a:bodyPr/>
          <a:lstStyle/>
          <a:p>
            <a:r>
              <a:rPr lang="en-US" dirty="0"/>
              <a:t>TypeScript is JavaScript + Types</a:t>
            </a:r>
          </a:p>
          <a:p>
            <a:r>
              <a:rPr lang="en-US" dirty="0"/>
              <a:t>Made by Microsoft</a:t>
            </a:r>
          </a:p>
          <a:p>
            <a:r>
              <a:rPr lang="en-US" dirty="0"/>
              <a:t>Makes larger apps scale easier</a:t>
            </a:r>
          </a:p>
          <a:p>
            <a:r>
              <a:rPr lang="en-US" dirty="0"/>
              <a:t>Gives our linters warnings when we make typos / use incorrect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F334B-51BB-7DE2-B783-57407F25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18" y="3274828"/>
            <a:ext cx="3777270" cy="1553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96783-25E7-5CB7-FA9E-3DA85B37F77A}"/>
              </a:ext>
            </a:extLst>
          </p:cNvPr>
          <p:cNvSpPr txBox="1"/>
          <p:nvPr/>
        </p:nvSpPr>
        <p:spPr>
          <a:xfrm>
            <a:off x="6749018" y="280699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Code extensions:</a:t>
            </a:r>
          </a:p>
        </p:txBody>
      </p:sp>
    </p:spTree>
    <p:extLst>
      <p:ext uri="{BB962C8B-B14F-4D97-AF65-F5344CB8AC3E}">
        <p14:creationId xmlns:p14="http://schemas.microsoft.com/office/powerpoint/2010/main" val="164067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F62C-6F70-4738-71AB-91C8740C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Intro Commands &amp; </a:t>
            </a:r>
            <a:r>
              <a:rPr lang="en-US" dirty="0" err="1"/>
              <a:t>tsconfig</a:t>
            </a:r>
            <a:r>
              <a:rPr lang="en-US" dirty="0"/>
              <a:t>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5094-B417-9E5B-42E9-297D57E6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219" y="2180670"/>
            <a:ext cx="6391108" cy="3678303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-g typescript</a:t>
            </a:r>
          </a:p>
          <a:p>
            <a:r>
              <a:rPr lang="en-US" dirty="0" err="1"/>
              <a:t>tsc</a:t>
            </a:r>
            <a:r>
              <a:rPr lang="en-US" dirty="0"/>
              <a:t> --version</a:t>
            </a:r>
          </a:p>
          <a:p>
            <a:r>
              <a:rPr lang="en-US" dirty="0"/>
              <a:t>compile files:</a:t>
            </a:r>
          </a:p>
          <a:p>
            <a:pPr lvl="1"/>
            <a:r>
              <a:rPr lang="en-US" dirty="0" err="1"/>
              <a:t>tsc</a:t>
            </a:r>
            <a:r>
              <a:rPr lang="en-US" dirty="0"/>
              <a:t> </a:t>
            </a:r>
            <a:r>
              <a:rPr lang="en-US" dirty="0" err="1"/>
              <a:t>app.ts</a:t>
            </a:r>
            <a:r>
              <a:rPr lang="en-US" dirty="0"/>
              <a:t> -&gt; compiles into .</a:t>
            </a:r>
            <a:r>
              <a:rPr lang="en-US" dirty="0" err="1"/>
              <a:t>js</a:t>
            </a:r>
            <a:r>
              <a:rPr lang="en-US" dirty="0"/>
              <a:t> file </a:t>
            </a:r>
          </a:p>
          <a:p>
            <a:pPr lvl="1"/>
            <a:r>
              <a:rPr lang="en-US" dirty="0" err="1"/>
              <a:t>tsc</a:t>
            </a:r>
            <a:r>
              <a:rPr lang="en-US" dirty="0"/>
              <a:t> --build </a:t>
            </a:r>
            <a:r>
              <a:rPr lang="en-US" dirty="0" err="1"/>
              <a:t>src</a:t>
            </a:r>
            <a:r>
              <a:rPr lang="en-US" dirty="0"/>
              <a:t> (to build included files in </a:t>
            </a:r>
            <a:r>
              <a:rPr lang="en-US" dirty="0" err="1"/>
              <a:t>src</a:t>
            </a:r>
            <a:r>
              <a:rPr lang="en-US" dirty="0"/>
              <a:t> via </a:t>
            </a:r>
            <a:r>
              <a:rPr lang="en-US" dirty="0" err="1"/>
              <a:t>tsconfig</a:t>
            </a:r>
            <a:r>
              <a:rPr lang="en-US" dirty="0"/>
              <a:t>)</a:t>
            </a:r>
          </a:p>
          <a:p>
            <a:r>
              <a:rPr lang="en-US" dirty="0" err="1"/>
              <a:t>tsc</a:t>
            </a:r>
            <a:r>
              <a:rPr lang="en-US" dirty="0"/>
              <a:t> --</a:t>
            </a:r>
            <a:r>
              <a:rPr lang="en-US" dirty="0" err="1"/>
              <a:t>init</a:t>
            </a:r>
            <a:r>
              <a:rPr lang="en-US" dirty="0"/>
              <a:t> -&gt; generates </a:t>
            </a:r>
            <a:r>
              <a:rPr lang="en-US" dirty="0" err="1"/>
              <a:t>tsconfig.json</a:t>
            </a:r>
            <a:r>
              <a:rPr lang="en-US" dirty="0"/>
              <a:t> file (compiler settings)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46E2B-7E68-173A-F188-7B664AF1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882" y="3262478"/>
            <a:ext cx="303889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2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7CA4-00AC-992A-8E4C-62BBD723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D755-8285-DC44-5E8E-FA7AF597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743158" cy="3678303"/>
          </a:xfrm>
        </p:spPr>
        <p:txBody>
          <a:bodyPr/>
          <a:lstStyle/>
          <a:p>
            <a:r>
              <a:rPr lang="en-US" dirty="0"/>
              <a:t>With TypeScript we assign types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Variables, functions, classes,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may now all accept type definitions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EB619-3C76-C463-FEB8-E5E94B4A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49" y="2312888"/>
            <a:ext cx="4124901" cy="1419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D20A0-3F14-DE4B-DE0B-56CEDD30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949" y="4235354"/>
            <a:ext cx="416300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A243-5DF5-2666-3396-AF4CD821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Objects &amp;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494D-C126-2655-1136-51C9195E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94" y="2387965"/>
            <a:ext cx="3768558" cy="40376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can define object literals with types</a:t>
            </a:r>
          </a:p>
          <a:p>
            <a:r>
              <a:rPr lang="en-US" dirty="0"/>
              <a:t>We use interfaces to define reusable types</a:t>
            </a:r>
          </a:p>
          <a:p>
            <a:r>
              <a:rPr lang="en-US" dirty="0"/>
              <a:t>We typically use interfaces over classes when defining new types because interfaces define only a contract and will not generate any runtime code like a class would</a:t>
            </a:r>
          </a:p>
          <a:p>
            <a:r>
              <a:rPr lang="en-US" dirty="0"/>
              <a:t>We can mark a field as nullable with ‘?’ when defining interfaces</a:t>
            </a:r>
          </a:p>
          <a:p>
            <a:r>
              <a:rPr lang="en-US" dirty="0"/>
              <a:t>The </a:t>
            </a:r>
            <a:r>
              <a:rPr lang="en-US" dirty="0" err="1"/>
              <a:t>readonly</a:t>
            </a:r>
            <a:r>
              <a:rPr lang="en-US" dirty="0"/>
              <a:t> keyword may be used to mark properties as constants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55E04-5A3B-C591-641F-3F605F86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104" y="2534471"/>
            <a:ext cx="1733792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30F22-21BB-7357-F706-D0C04FED9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325" y="2285392"/>
            <a:ext cx="2048161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CE9ED-6600-CE13-71DF-43E21D4C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645" y="5291982"/>
            <a:ext cx="181000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0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19D6-0835-754F-7A39-1C3C41AF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Definition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2BF7-7C42-527E-FCF6-6E967724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82263" cy="3678303"/>
          </a:xfrm>
        </p:spPr>
        <p:txBody>
          <a:bodyPr/>
          <a:lstStyle/>
          <a:p>
            <a:r>
              <a:rPr lang="en-US" dirty="0"/>
              <a:t>‘.</a:t>
            </a:r>
            <a:r>
              <a:rPr lang="en-US" dirty="0" err="1"/>
              <a:t>d.ts</a:t>
            </a:r>
            <a:r>
              <a:rPr lang="en-US" dirty="0"/>
              <a:t>.’ file extension</a:t>
            </a:r>
          </a:p>
          <a:p>
            <a:r>
              <a:rPr lang="en-US" dirty="0"/>
              <a:t>Contains no runtime code, only definitions for types used elsewhere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522C8-31D8-9CA0-81DD-B5A80E6C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39" y="2754320"/>
            <a:ext cx="3010320" cy="212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8A25D2-CBDF-4CF7-1E3A-62CE6E502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993" y="2754319"/>
            <a:ext cx="2029108" cy="2124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167BB3-51EF-44BC-33EF-49BE99CDE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707" y="5388609"/>
            <a:ext cx="4163006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0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EAA8-62CE-E627-E8F2-4E82AC01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Type Aliases &amp; Type Unions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5FB3-AB8C-6EEA-48F7-73E45BFD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12999" cy="3678303"/>
          </a:xfrm>
        </p:spPr>
        <p:txBody>
          <a:bodyPr/>
          <a:lstStyle/>
          <a:p>
            <a:r>
              <a:rPr lang="en-US" dirty="0"/>
              <a:t>We can create type aliases with the ‘type’ keyword: ID is either a string OR a number</a:t>
            </a:r>
          </a:p>
          <a:p>
            <a:r>
              <a:rPr lang="en-US" dirty="0"/>
              <a:t>Type union = when we have a new type made from 2 or more other types; </a:t>
            </a:r>
          </a:p>
          <a:p>
            <a:pPr lvl="1"/>
            <a:r>
              <a:rPr lang="en-US" dirty="0"/>
              <a:t>i.e. ‘string | number’ 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C9CD7-DF5C-A8A3-3AB7-D4796180A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6" y="3695752"/>
            <a:ext cx="285789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C5F5-E926-6D5E-A18F-BC6093C6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16B3B-F153-B5DB-3173-FA0048C1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416" y="2475751"/>
            <a:ext cx="4096322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3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BE7D-6D25-7596-0E1C-5F77E7AF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Generic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24AD-9994-2693-971B-310D0DD7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678303"/>
          </a:xfrm>
        </p:spPr>
        <p:txBody>
          <a:bodyPr/>
          <a:lstStyle/>
          <a:p>
            <a:r>
              <a:rPr lang="en-US" dirty="0"/>
              <a:t>‘T’ represents a generic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888F9-9BD2-F044-920F-153B86AC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101" y="3060173"/>
            <a:ext cx="3772426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4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C666-2C02-F5EA-6C73-0FF63852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- 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E60F-BF6F-4CB5-53FB-3A2E0731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895" y="2211232"/>
            <a:ext cx="8678069" cy="1013801"/>
          </a:xfrm>
        </p:spPr>
        <p:txBody>
          <a:bodyPr/>
          <a:lstStyle/>
          <a:p>
            <a:r>
              <a:rPr lang="en-US" dirty="0"/>
              <a:t>We typically use ‘type’ syntax instead of defining an actual </a:t>
            </a:r>
            <a:r>
              <a:rPr lang="en-US" dirty="0" err="1"/>
              <a:t>enum</a:t>
            </a:r>
            <a:r>
              <a:rPr lang="en-US" dirty="0"/>
              <a:t> with ‘</a:t>
            </a:r>
            <a:r>
              <a:rPr lang="en-US" dirty="0" err="1"/>
              <a:t>enum</a:t>
            </a:r>
            <a:r>
              <a:rPr lang="en-US" dirty="0"/>
              <a:t>’ keyword</a:t>
            </a:r>
          </a:p>
          <a:p>
            <a:r>
              <a:rPr lang="en-US" dirty="0"/>
              <a:t>Doing it this way generates zero runtime cost (less bundled code after compilation)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622EE-C89E-91C2-117B-342FCA55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35" y="3720309"/>
            <a:ext cx="8906528" cy="444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7FE744-69F3-3AFE-1A6F-7E5069B9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788" y="5493440"/>
            <a:ext cx="16004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2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0862-DE5F-BA95-BCFB-11DE1C6D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0D071-059A-4C77-D1F7-72E3DBFC4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796620"/>
          </a:xfrm>
        </p:spPr>
        <p:txBody>
          <a:bodyPr/>
          <a:lstStyle/>
          <a:p>
            <a:r>
              <a:rPr lang="en-US" dirty="0"/>
              <a:t>We should really avoid ‘any’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5957C-CFB5-5696-357C-3907FD033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311" y="2844210"/>
            <a:ext cx="5201376" cy="866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5A83B0-30D1-E9DE-2AD5-3F91078DA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14" y="4836994"/>
            <a:ext cx="4408004" cy="1559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B63DD7-1C97-7F0A-CAB6-25B5EB3CA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284" y="4836994"/>
            <a:ext cx="3504113" cy="158792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BE4C481-AFD8-602E-DC08-A36BA0B46FA0}"/>
              </a:ext>
            </a:extLst>
          </p:cNvPr>
          <p:cNvSpPr txBox="1">
            <a:spLocks/>
          </p:cNvSpPr>
          <p:nvPr/>
        </p:nvSpPr>
        <p:spPr>
          <a:xfrm>
            <a:off x="581191" y="3711106"/>
            <a:ext cx="11029615" cy="796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‘Unknown’ is a bit better. It behaves like any, but we must still cast it before using it</a:t>
            </a:r>
          </a:p>
        </p:txBody>
      </p:sp>
    </p:spTree>
    <p:extLst>
      <p:ext uri="{BB962C8B-B14F-4D97-AF65-F5344CB8AC3E}">
        <p14:creationId xmlns:p14="http://schemas.microsoft.com/office/powerpoint/2010/main" val="363597143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29745</TotalTime>
  <Words>331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Gill Sans MT</vt:lpstr>
      <vt:lpstr>Wingdings</vt:lpstr>
      <vt:lpstr>Wingdings 2</vt:lpstr>
      <vt:lpstr>Dividend</vt:lpstr>
      <vt:lpstr>TypeScript</vt:lpstr>
      <vt:lpstr>TypeScript</vt:lpstr>
      <vt:lpstr>Typescript – Intro Commands &amp; tsconfig intro</vt:lpstr>
      <vt:lpstr>TypeScript</vt:lpstr>
      <vt:lpstr>TypeScript – Objects &amp; Interfaces</vt:lpstr>
      <vt:lpstr>TypeScript – Definition Files</vt:lpstr>
      <vt:lpstr>Typescript – Type Aliases &amp; Type Unions</vt:lpstr>
      <vt:lpstr>Typescript Classes</vt:lpstr>
      <vt:lpstr>Typescript – Generic Types</vt:lpstr>
      <vt:lpstr>Typescript - Enum</vt:lpstr>
      <vt:lpstr>Special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608</cp:revision>
  <dcterms:created xsi:type="dcterms:W3CDTF">2025-02-12T19:53:45Z</dcterms:created>
  <dcterms:modified xsi:type="dcterms:W3CDTF">2026-09-23T19:21:04Z</dcterms:modified>
</cp:coreProperties>
</file>