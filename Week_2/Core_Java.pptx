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65" r:id="rId4"/>
    <p:sldId id="264" r:id="rId5"/>
    <p:sldId id="266" r:id="rId6"/>
    <p:sldId id="262" r:id="rId7"/>
    <p:sldId id="267" r:id="rId8"/>
    <p:sldId id="268" r:id="rId9"/>
    <p:sldId id="269" r:id="rId10"/>
    <p:sldId id="270" r:id="rId11"/>
    <p:sldId id="273" r:id="rId12"/>
    <p:sldId id="274" r:id="rId13"/>
    <p:sldId id="272" r:id="rId14"/>
    <p:sldId id="271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53" d="100"/>
          <a:sy n="153" d="100"/>
        </p:scale>
        <p:origin x="16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oracle.com/java/technologies/downloads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Core Java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552BB-16C5-1685-C0CC-FF75BD556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Java?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FD3261-E395-9A12-6560-3FE21C2B2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Java is a general-purpose programming language used to build web applications, Android apps, desktop programs, enterprise systems, and backend services </a:t>
            </a:r>
          </a:p>
          <a:p>
            <a:r>
              <a:rPr lang="en-US" dirty="0"/>
              <a:t>Object-oriented, Statically typed, &amp; automatic memory management (garbage collection)</a:t>
            </a:r>
          </a:p>
          <a:p>
            <a:r>
              <a:rPr lang="en-US" dirty="0"/>
              <a:t>Created by Sun Microsystems in the 90s; now maintained by Oracle </a:t>
            </a:r>
          </a:p>
          <a:p>
            <a:r>
              <a:rPr lang="en-US" dirty="0"/>
              <a:t>Write once, run anywhere:</a:t>
            </a:r>
          </a:p>
          <a:p>
            <a:pPr lvl="1"/>
            <a:r>
              <a:rPr lang="en-US" dirty="0"/>
              <a:t>Java source code </a:t>
            </a:r>
            <a:r>
              <a:rPr lang="en-US" dirty="0">
                <a:sym typeface="Wingdings" panose="05000000000000000000" pitchFamily="2" charset="2"/>
              </a:rPr>
              <a:t> Java compiler  Bytecode  Java Virtual Machine (JVM)  OS </a:t>
            </a:r>
            <a:endParaRPr lang="en-US" dirty="0"/>
          </a:p>
          <a:p>
            <a:r>
              <a:rPr lang="en-US" dirty="0"/>
              <a:t>Along with the JVM, you should also know:</a:t>
            </a:r>
          </a:p>
          <a:p>
            <a:pPr lvl="1"/>
            <a:r>
              <a:rPr lang="en-US" dirty="0"/>
              <a:t>JDK (Java Development Kit) – tools needed to develop Java programs, includes the compiler </a:t>
            </a:r>
          </a:p>
          <a:p>
            <a:pPr lvl="1"/>
            <a:r>
              <a:rPr lang="en-US" dirty="0"/>
              <a:t>JRE (Java Runtime Environment) – JVM + libraries needed to run Java applications </a:t>
            </a:r>
          </a:p>
        </p:txBody>
      </p:sp>
    </p:spTree>
    <p:extLst>
      <p:ext uri="{BB962C8B-B14F-4D97-AF65-F5344CB8AC3E}">
        <p14:creationId xmlns:p14="http://schemas.microsoft.com/office/powerpoint/2010/main" val="1138218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89714-F676-6AA7-816E-49CE27D61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JDK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07F41-D266-1F3A-B9F1-FC1FEAE23D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544325" cy="3678303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https://www.oracle.com/java/technologies/downloads/</a:t>
            </a:r>
            <a:endParaRPr lang="en-US" dirty="0"/>
          </a:p>
          <a:p>
            <a:r>
              <a:rPr lang="en-US" dirty="0"/>
              <a:t>We will use JDK 17 in this course</a:t>
            </a:r>
          </a:p>
          <a:p>
            <a:r>
              <a:rPr lang="en-US" dirty="0"/>
              <a:t>LTS – long term support</a:t>
            </a:r>
          </a:p>
          <a:p>
            <a:r>
              <a:rPr lang="en-US" dirty="0"/>
              <a:t>Environment variables in windows will dictate which version is used, if multiple</a:t>
            </a:r>
          </a:p>
          <a:p>
            <a:pPr lvl="1"/>
            <a:r>
              <a:rPr lang="en-US" dirty="0"/>
              <a:t>JAVA_HOME – points to folder location </a:t>
            </a:r>
          </a:p>
          <a:p>
            <a:pPr lvl="1"/>
            <a:r>
              <a:rPr lang="en-US" dirty="0"/>
              <a:t>The PATH environment variable - %JAVA_HOME%\bin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3A748C-1A41-FCE8-91A5-F58F786059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8209" y="2660047"/>
            <a:ext cx="4514812" cy="19033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D14EA9B-3042-8CFC-1C6D-6BBD277D9D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6483" y="5138032"/>
            <a:ext cx="5544324" cy="120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2557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799B5-FD40-1B34-34F5-E2C2D7361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development Environments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B41334F-8824-005A-1697-F111ECFFF7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2631" y="2186922"/>
            <a:ext cx="7411254" cy="2882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8D6AAB-DB8E-BFDE-E55C-D2713C2CD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6045" y="4868838"/>
            <a:ext cx="6620908" cy="189496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27C504-A82C-33CA-D6B4-17E0432382EA}"/>
              </a:ext>
            </a:extLst>
          </p:cNvPr>
          <p:cNvSpPr txBox="1"/>
          <p:nvPr/>
        </p:nvSpPr>
        <p:spPr>
          <a:xfrm>
            <a:off x="8091030" y="2427843"/>
            <a:ext cx="36283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IntelliJ IDEA – very popular</a:t>
            </a:r>
          </a:p>
          <a:p>
            <a:r>
              <a:rPr lang="en-US" dirty="0"/>
              <a:t>Eclipse – popular, free, open-source</a:t>
            </a:r>
          </a:p>
          <a:p>
            <a:r>
              <a:rPr lang="en-US" dirty="0"/>
              <a:t>VS Code – gaining popularity, free, but technically not a true IDE</a:t>
            </a:r>
          </a:p>
        </p:txBody>
      </p:sp>
    </p:spTree>
    <p:extLst>
      <p:ext uri="{BB962C8B-B14F-4D97-AF65-F5344CB8AC3E}">
        <p14:creationId xmlns:p14="http://schemas.microsoft.com/office/powerpoint/2010/main" val="4250378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6EF56-2CCE-E78A-5814-4FC75161C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Jshell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27AF6F-271A-987E-508B-AD9352E7CE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47" y="2406702"/>
            <a:ext cx="7261716" cy="35885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B069EF6-58CF-C5C8-877E-BCAA8F3E8F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8688" y="3140599"/>
            <a:ext cx="2886478" cy="22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1608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Hello World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Print Hello World!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Use any development environment you wish to print “Hello World!” to the console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E5C49-2535-F8EA-D005-DD9D02D8C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E0506F-94F3-FC0C-DC7A-EDC98C40EF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variable is a named place in memory that stores a value</a:t>
            </a:r>
          </a:p>
          <a:p>
            <a:r>
              <a:rPr lang="en-US" dirty="0"/>
              <a:t>int age = 25;</a:t>
            </a:r>
          </a:p>
          <a:p>
            <a:r>
              <a:rPr lang="en-US" dirty="0"/>
              <a:t>You can define a variable without initializing it, and then initialize it later:</a:t>
            </a:r>
          </a:p>
          <a:p>
            <a:pPr lvl="1"/>
            <a:r>
              <a:rPr lang="en-US" dirty="0"/>
              <a:t>int age;</a:t>
            </a:r>
          </a:p>
          <a:p>
            <a:pPr lvl="1"/>
            <a:r>
              <a:rPr lang="en-US" dirty="0"/>
              <a:t>age = 25;</a:t>
            </a:r>
          </a:p>
          <a:p>
            <a:r>
              <a:rPr lang="en-US" dirty="0"/>
              <a:t>Variable names cannot start with a number or contain dashes. The following are </a:t>
            </a:r>
            <a:r>
              <a:rPr lang="en-US" dirty="0">
                <a:solidFill>
                  <a:srgbClr val="FF0000"/>
                </a:solidFill>
              </a:rPr>
              <a:t>WRONG: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int 2age;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String something-something;</a:t>
            </a:r>
          </a:p>
        </p:txBody>
      </p:sp>
    </p:spTree>
    <p:extLst>
      <p:ext uri="{BB962C8B-B14F-4D97-AF65-F5344CB8AC3E}">
        <p14:creationId xmlns:p14="http://schemas.microsoft.com/office/powerpoint/2010/main" val="23116243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867FE-F142-5360-B24D-7A5EAA89D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CE4EAC-7DC9-FB97-E837-5E73347B81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45268"/>
            <a:ext cx="11029615" cy="8187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2 categories: Primitives &amp; Reference types</a:t>
            </a:r>
          </a:p>
          <a:p>
            <a:r>
              <a:rPr lang="en-US" dirty="0"/>
              <a:t>The following are Java primitives:</a:t>
            </a:r>
          </a:p>
          <a:p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A8525F0-F0EE-AD4A-CE02-668F63C8EA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6880519"/>
              </p:ext>
            </p:extLst>
          </p:nvPr>
        </p:nvGraphicFramePr>
        <p:xfrm>
          <a:off x="580855" y="2864004"/>
          <a:ext cx="11029952" cy="3261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57488">
                  <a:extLst>
                    <a:ext uri="{9D8B030D-6E8A-4147-A177-3AD203B41FA5}">
                      <a16:colId xmlns:a16="http://schemas.microsoft.com/office/drawing/2014/main" val="1641817060"/>
                    </a:ext>
                  </a:extLst>
                </a:gridCol>
                <a:gridCol w="2757488">
                  <a:extLst>
                    <a:ext uri="{9D8B030D-6E8A-4147-A177-3AD203B41FA5}">
                      <a16:colId xmlns:a16="http://schemas.microsoft.com/office/drawing/2014/main" val="2932038141"/>
                    </a:ext>
                  </a:extLst>
                </a:gridCol>
                <a:gridCol w="2757488">
                  <a:extLst>
                    <a:ext uri="{9D8B030D-6E8A-4147-A177-3AD203B41FA5}">
                      <a16:colId xmlns:a16="http://schemas.microsoft.com/office/drawing/2014/main" val="4179125399"/>
                    </a:ext>
                  </a:extLst>
                </a:gridCol>
                <a:gridCol w="2757488">
                  <a:extLst>
                    <a:ext uri="{9D8B030D-6E8A-4147-A177-3AD203B41FA5}">
                      <a16:colId xmlns:a16="http://schemas.microsoft.com/office/drawing/2014/main" val="192181959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Type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Used for</a:t>
                      </a:r>
                      <a:endParaRPr lang="en-US" sz="1600" b="1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Example</a:t>
                      </a:r>
                      <a:endParaRPr lang="en-US" sz="1600" b="1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1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Range/Notes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94641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byte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Very small whole numbers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byte x = 100;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-128 to 127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1140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short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Small whole numbers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short x = 30000;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-32,768 to 32,767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3267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int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Whole numbers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int age = 25;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-2.1 billion to 2.1 billion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113223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long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Large whole numbers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long population = 8000000000L;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dirty="0">
                          <a:solidFill>
                            <a:schemeClr val="tx1"/>
                          </a:solidFill>
                          <a:latin typeface="+mn-lt"/>
                        </a:rPr>
                        <a:t>-9,223,372,036,854,775,808 to 9,223,372,036,854,775,807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36206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float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Decimal numbers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float price = 10.5f;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Approximation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20858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double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More precise decimals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double pi = 3.14159;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Use when precision is required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22629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char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 single character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char grade = 'A';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‘A’ NOT “A”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80845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boolean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True/false</a:t>
                      </a:r>
                      <a:endParaRPr lang="en-US" sz="1600" b="0" i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dirty="0" err="1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boolean</a:t>
                      </a:r>
                      <a:r>
                        <a:rPr lang="en-US" sz="1600" b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 passed = true;</a:t>
                      </a:r>
                      <a:endParaRPr lang="en-US" sz="1600" b="0" i="0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en-US" sz="1600" b="0" i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True OR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17636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52243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10316-6329-3E4A-3C1D-A6C7CBA5E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730A98-63D1-3724-92E8-A95E5E92C7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81197" cy="3678303"/>
          </a:xfrm>
        </p:spPr>
        <p:txBody>
          <a:bodyPr/>
          <a:lstStyle/>
          <a:p>
            <a:r>
              <a:rPr lang="en-US" dirty="0"/>
              <a:t>Reference types refer to objects</a:t>
            </a:r>
          </a:p>
          <a:p>
            <a:r>
              <a:rPr lang="en-US" dirty="0"/>
              <a:t>Common examples:</a:t>
            </a:r>
          </a:p>
          <a:p>
            <a:pPr lvl="1"/>
            <a:r>
              <a:rPr lang="en-US" dirty="0"/>
              <a:t>String, Array, Object, Scanner</a:t>
            </a:r>
          </a:p>
          <a:p>
            <a:pPr lvl="1"/>
            <a:r>
              <a:rPr lang="en-US" dirty="0"/>
              <a:t>Any instantiations of classes we create</a:t>
            </a:r>
          </a:p>
          <a:p>
            <a:r>
              <a:rPr lang="en-US" dirty="0"/>
              <a:t>Reference types aren’t the underlying data value, they represent a memory pointer to the value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2F9132-9DA1-0D56-7989-4A14CC3B2A29}"/>
              </a:ext>
            </a:extLst>
          </p:cNvPr>
          <p:cNvSpPr txBox="1"/>
          <p:nvPr/>
        </p:nvSpPr>
        <p:spPr>
          <a:xfrm>
            <a:off x="6285980" y="2110813"/>
            <a:ext cx="33710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  String name;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1CC5CD-3536-0079-BB6D-B8E77E8D0CFE}"/>
              </a:ext>
            </a:extLst>
          </p:cNvPr>
          <p:cNvSpPr txBox="1"/>
          <p:nvPr/>
        </p:nvSpPr>
        <p:spPr>
          <a:xfrm>
            <a:off x="6229613" y="3165954"/>
            <a:ext cx="602501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Person a = new Person();</a:t>
            </a:r>
          </a:p>
          <a:p>
            <a:r>
              <a:rPr lang="en-US" dirty="0"/>
              <a:t>a.name = "Alice";</a:t>
            </a:r>
          </a:p>
          <a:p>
            <a:endParaRPr lang="en-US" dirty="0"/>
          </a:p>
          <a:p>
            <a:r>
              <a:rPr lang="en-US" dirty="0"/>
              <a:t>Person b = a;</a:t>
            </a:r>
          </a:p>
          <a:p>
            <a:endParaRPr lang="en-US" dirty="0"/>
          </a:p>
          <a:p>
            <a:r>
              <a:rPr lang="en-US" dirty="0" err="1"/>
              <a:t>System.out.println</a:t>
            </a:r>
            <a:r>
              <a:rPr lang="en-US" dirty="0"/>
              <a:t>(a == b); </a:t>
            </a:r>
            <a:r>
              <a:rPr lang="en-US" dirty="0">
                <a:sym typeface="Wingdings" panose="05000000000000000000" pitchFamily="2" charset="2"/>
              </a:rPr>
              <a:t> true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Person c = new Person(); </a:t>
            </a:r>
          </a:p>
          <a:p>
            <a:r>
              <a:rPr lang="en-US" dirty="0"/>
              <a:t>Person d = new Person(); </a:t>
            </a:r>
          </a:p>
          <a:p>
            <a:r>
              <a:rPr lang="en-US" dirty="0" err="1"/>
              <a:t>System.out.println</a:t>
            </a:r>
            <a:r>
              <a:rPr lang="en-US" dirty="0"/>
              <a:t>(c == d); </a:t>
            </a:r>
            <a:r>
              <a:rPr lang="en-US" dirty="0">
                <a:sym typeface="Wingdings" panose="05000000000000000000" pitchFamily="2" charset="2"/>
              </a:rPr>
              <a:t> false</a:t>
            </a:r>
          </a:p>
          <a:p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c.equals</a:t>
            </a:r>
            <a:r>
              <a:rPr lang="en-US" dirty="0"/>
              <a:t>(d)); </a:t>
            </a:r>
            <a:r>
              <a:rPr lang="en-US" dirty="0">
                <a:sym typeface="Wingdings" panose="05000000000000000000" pitchFamily="2" charset="2"/>
              </a:rPr>
              <a:t> also false, but we can override this method for more accurate comparison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9304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4E471-235E-6E42-11D0-576ADBC56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54F9E-FF10-AD18-3170-7851E62974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final variables declare that a variable cannot be changed once initialized</a:t>
            </a:r>
          </a:p>
          <a:p>
            <a:r>
              <a:rPr lang="en-US" dirty="0"/>
              <a:t>final int MAX_SCORE = 100;</a:t>
            </a:r>
          </a:p>
          <a:p>
            <a:r>
              <a:rPr lang="en-US" dirty="0"/>
              <a:t>final double TAX_RATE; </a:t>
            </a:r>
            <a:r>
              <a:rPr lang="en-US" dirty="0">
                <a:sym typeface="Wingdings" panose="05000000000000000000" pitchFamily="2" charset="2"/>
              </a:rPr>
              <a:t> This is fine</a:t>
            </a:r>
            <a:endParaRPr lang="en-US" dirty="0"/>
          </a:p>
          <a:p>
            <a:r>
              <a:rPr lang="en-US" dirty="0"/>
              <a:t>TAX_RATE = 43.33; </a:t>
            </a:r>
            <a:r>
              <a:rPr lang="en-US" dirty="0">
                <a:sym typeface="Wingdings" panose="05000000000000000000" pitchFamily="2" charset="2"/>
              </a:rPr>
              <a:t> This is fine</a:t>
            </a:r>
            <a:endParaRPr lang="en-US" dirty="0"/>
          </a:p>
          <a:p>
            <a:r>
              <a:rPr lang="en-US" dirty="0"/>
              <a:t>TAX_RATE = 34.3; </a:t>
            </a:r>
            <a:r>
              <a:rPr lang="en-US" dirty="0">
                <a:sym typeface="Wingdings" panose="05000000000000000000" pitchFamily="2" charset="2"/>
              </a:rPr>
              <a:t> INVALID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30592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6B612-FDE1-AFAD-747F-95AD11A91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Printing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41A8A-4712-7816-74ED-099818048D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708836"/>
          </a:xfrm>
        </p:spPr>
        <p:txBody>
          <a:bodyPr/>
          <a:lstStyle/>
          <a:p>
            <a:r>
              <a:rPr lang="en-US" dirty="0" err="1"/>
              <a:t>System.out.print</a:t>
            </a:r>
            <a:r>
              <a:rPr lang="en-US" dirty="0"/>
              <a:t>() – does not move to a new line after printing</a:t>
            </a:r>
            <a:endParaRPr lang="en-US" b="1" dirty="0"/>
          </a:p>
          <a:p>
            <a:r>
              <a:rPr lang="en-US" dirty="0" err="1"/>
              <a:t>System.out.println</a:t>
            </a:r>
            <a:r>
              <a:rPr lang="en-US" dirty="0"/>
              <a:t>() – after printing, moves the cursor to the next line</a:t>
            </a:r>
          </a:p>
          <a:p>
            <a:r>
              <a:rPr lang="en-US" dirty="0" err="1"/>
              <a:t>System.out.printf</a:t>
            </a:r>
            <a:r>
              <a:rPr lang="en-US" dirty="0"/>
              <a:t>() – use when we need formatted output</a:t>
            </a:r>
            <a:br>
              <a:rPr lang="en-US" dirty="0"/>
            </a:b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0EDA11-3B70-5A0F-A0CA-C8F7EA2AA0F9}"/>
              </a:ext>
            </a:extLst>
          </p:cNvPr>
          <p:cNvSpPr txBox="1"/>
          <p:nvPr/>
        </p:nvSpPr>
        <p:spPr>
          <a:xfrm>
            <a:off x="681400" y="4256089"/>
            <a:ext cx="70408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String name = "Alex";</a:t>
            </a:r>
          </a:p>
          <a:p>
            <a:r>
              <a:rPr lang="en-US" dirty="0"/>
              <a:t>int age = 20;</a:t>
            </a:r>
          </a:p>
          <a:p>
            <a:endParaRPr lang="en-US" dirty="0"/>
          </a:p>
          <a:p>
            <a:r>
              <a:rPr lang="en-US" dirty="0" err="1"/>
              <a:t>System.out.printf</a:t>
            </a:r>
            <a:r>
              <a:rPr lang="en-US" dirty="0"/>
              <a:t>("My name is %s and I am %d years </a:t>
            </a:r>
            <a:r>
              <a:rPr lang="en-US" dirty="0" err="1"/>
              <a:t>old.%n</a:t>
            </a:r>
            <a:r>
              <a:rPr lang="en-US" dirty="0"/>
              <a:t>", name, age);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642F49-8465-77A3-B719-C27A9A822F8F}"/>
              </a:ext>
            </a:extLst>
          </p:cNvPr>
          <p:cNvSpPr txBox="1"/>
          <p:nvPr/>
        </p:nvSpPr>
        <p:spPr>
          <a:xfrm>
            <a:off x="8083985" y="4097003"/>
            <a:ext cx="318943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%s → String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%d → integer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%f → floating-point number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%c → character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%b → </a:t>
            </a:r>
            <a:r>
              <a:rPr lang="en-US" sz="1800" b="0" i="0" dirty="0" err="1">
                <a:solidFill>
                  <a:schemeClr val="tx1"/>
                </a:solidFill>
                <a:effectLst/>
                <a:latin typeface="+mn-lt"/>
              </a:rPr>
              <a:t>boolean</a:t>
            </a:r>
            <a:endParaRPr lang="en-US" sz="1800" b="0" i="0" dirty="0">
              <a:solidFill>
                <a:schemeClr val="tx1"/>
              </a:solidFill>
              <a:effectLst/>
              <a:latin typeface="+mn-lt"/>
            </a:endParaRP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%n → new line</a:t>
            </a:r>
            <a:endParaRPr lang="en-US" sz="1200" b="0" i="0" dirty="0">
              <a:solidFill>
                <a:srgbClr val="FFFFFF"/>
              </a:solidFill>
              <a:effectLst/>
              <a:latin typeface="-apple-system-body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5A89B5-45CD-2FE1-6582-9CBCF8E3B916}"/>
              </a:ext>
            </a:extLst>
          </p:cNvPr>
          <p:cNvSpPr txBox="1"/>
          <p:nvPr/>
        </p:nvSpPr>
        <p:spPr>
          <a:xfrm>
            <a:off x="581192" y="5694179"/>
            <a:ext cx="609704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double price = 19.98765;</a:t>
            </a:r>
          </a:p>
          <a:p>
            <a:endParaRPr lang="en-US" dirty="0"/>
          </a:p>
          <a:p>
            <a:r>
              <a:rPr lang="en-US" dirty="0" err="1"/>
              <a:t>System.out.printf</a:t>
            </a:r>
            <a:r>
              <a:rPr lang="en-US" dirty="0"/>
              <a:t>("Price: $%.2f%n", price);</a:t>
            </a:r>
          </a:p>
        </p:txBody>
      </p:sp>
    </p:spTree>
    <p:extLst>
      <p:ext uri="{BB962C8B-B14F-4D97-AF65-F5344CB8AC3E}">
        <p14:creationId xmlns:p14="http://schemas.microsoft.com/office/powerpoint/2010/main" val="4891876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1A7D5-EADD-9A90-8B3D-B50356905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printing…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B9EBDB-B2D9-A847-F866-6FEF7D6C0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8598" y="2243126"/>
            <a:ext cx="6514803" cy="3678303"/>
          </a:xfrm>
        </p:spPr>
        <p:txBody>
          <a:bodyPr/>
          <a:lstStyle/>
          <a:p>
            <a:r>
              <a:rPr lang="en-US" dirty="0"/>
              <a:t>Escaping special characters:</a:t>
            </a:r>
          </a:p>
          <a:p>
            <a:pPr lvl="1"/>
            <a:r>
              <a:rPr lang="en-US" dirty="0" err="1"/>
              <a:t>System.out.println</a:t>
            </a:r>
            <a:r>
              <a:rPr lang="en-US" dirty="0"/>
              <a:t>("He said \"Hello\"");</a:t>
            </a:r>
          </a:p>
          <a:p>
            <a:pPr lvl="1"/>
            <a:r>
              <a:rPr lang="en-US" dirty="0" err="1"/>
              <a:t>System.out.println</a:t>
            </a:r>
            <a:r>
              <a:rPr lang="en-US" dirty="0"/>
              <a:t>("C:\\Users\\Alex");</a:t>
            </a:r>
          </a:p>
          <a:p>
            <a:r>
              <a:rPr lang="en-US" dirty="0" err="1"/>
              <a:t>System.err</a:t>
            </a:r>
            <a:r>
              <a:rPr lang="en-US" dirty="0"/>
              <a:t> – similar to </a:t>
            </a:r>
            <a:r>
              <a:rPr lang="en-US" dirty="0" err="1"/>
              <a:t>System.out</a:t>
            </a:r>
            <a:r>
              <a:rPr lang="en-US" dirty="0"/>
              <a:t>, but is intended for error messages printed to the console</a:t>
            </a:r>
          </a:p>
        </p:txBody>
      </p:sp>
    </p:spTree>
    <p:extLst>
      <p:ext uri="{BB962C8B-B14F-4D97-AF65-F5344CB8AC3E}">
        <p14:creationId xmlns:p14="http://schemas.microsoft.com/office/powerpoint/2010/main" val="41692766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9B4B4-D812-7E95-0501-42D2F31BA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4066F-AA62-61B7-82FB-492BC2FCA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Printing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0702C-8621-A7A9-EBCF-B785479CAC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Print age, height, and name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96463B-6FB7-BACA-2206-E99D43010060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F5FF34-06D5-2193-64DE-EB0EEEABC362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2B346A0-FE13-3003-F958-0A6DB22145C9}"/>
              </a:ext>
            </a:extLst>
          </p:cNvPr>
          <p:cNvSpPr txBox="1">
            <a:spLocks/>
          </p:cNvSpPr>
          <p:nvPr/>
        </p:nvSpPr>
        <p:spPr>
          <a:xfrm>
            <a:off x="6627168" y="2900939"/>
            <a:ext cx="4661642" cy="23699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sz="1400" dirty="0"/>
              <a:t>Declare and initialize the following variables:</a:t>
            </a:r>
          </a:p>
          <a:p>
            <a:pPr lvl="1"/>
            <a:r>
              <a:rPr lang="en-US" sz="1400" dirty="0"/>
              <a:t>An int variable named ’age’ with your age</a:t>
            </a:r>
          </a:p>
          <a:p>
            <a:pPr lvl="1"/>
            <a:r>
              <a:rPr lang="en-US" sz="1400" dirty="0"/>
              <a:t>A double variable named ’height’ with your height</a:t>
            </a:r>
          </a:p>
          <a:p>
            <a:pPr lvl="1"/>
            <a:r>
              <a:rPr lang="en-US" sz="1400" dirty="0"/>
              <a:t>A String variable named ’name’ with your name</a:t>
            </a:r>
            <a:br>
              <a:rPr lang="en-US" sz="1400" dirty="0"/>
            </a:br>
            <a:endParaRPr lang="en-US" sz="1400" dirty="0"/>
          </a:p>
          <a:p>
            <a:pPr lvl="0"/>
            <a:r>
              <a:rPr lang="en-US" sz="1400" dirty="0"/>
              <a:t>Print the values in the exact following format:</a:t>
            </a:r>
          </a:p>
          <a:p>
            <a:pPr lvl="1"/>
            <a:r>
              <a:rPr lang="en-US" sz="1400" dirty="0"/>
              <a:t>Name: Alex, Age: 25, Height: 5.9</a:t>
            </a:r>
          </a:p>
        </p:txBody>
      </p:sp>
    </p:spTree>
    <p:extLst>
      <p:ext uri="{BB962C8B-B14F-4D97-AF65-F5344CB8AC3E}">
        <p14:creationId xmlns:p14="http://schemas.microsoft.com/office/powerpoint/2010/main" val="34141215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1E74F-CCEA-B298-1FEC-FF00E1979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F4485-53F7-BA59-D767-A679B757D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1400" dirty="0"/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74940905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1047</TotalTime>
  <Words>867</Words>
  <Application>Microsoft Office PowerPoint</Application>
  <PresentationFormat>Widescreen</PresentationFormat>
  <Paragraphs>134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-apple-system-body</vt:lpstr>
      <vt:lpstr>Arial</vt:lpstr>
      <vt:lpstr>Gill Sans MT</vt:lpstr>
      <vt:lpstr>Wingdings</vt:lpstr>
      <vt:lpstr>Wingdings 2</vt:lpstr>
      <vt:lpstr>Dividend</vt:lpstr>
      <vt:lpstr>Core Java</vt:lpstr>
      <vt:lpstr>What is Java?</vt:lpstr>
      <vt:lpstr>Installing JDK</vt:lpstr>
      <vt:lpstr>Different development Environments</vt:lpstr>
      <vt:lpstr>Jshell</vt:lpstr>
      <vt:lpstr>Challenge – Hello World</vt:lpstr>
      <vt:lpstr>Variables</vt:lpstr>
      <vt:lpstr>Data Types</vt:lpstr>
      <vt:lpstr>Reference Types</vt:lpstr>
      <vt:lpstr>Final variables</vt:lpstr>
      <vt:lpstr>Printing</vt:lpstr>
      <vt:lpstr>More on printing…</vt:lpstr>
      <vt:lpstr>Challenge – Printing output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595</cp:revision>
  <dcterms:created xsi:type="dcterms:W3CDTF">2025-02-12T19:53:45Z</dcterms:created>
  <dcterms:modified xsi:type="dcterms:W3CDTF">2026-08-31T15:14:09Z</dcterms:modified>
</cp:coreProperties>
</file>