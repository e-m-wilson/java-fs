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65" r:id="rId4"/>
    <p:sldId id="264" r:id="rId5"/>
    <p:sldId id="266" r:id="rId6"/>
    <p:sldId id="262" r:id="rId7"/>
    <p:sldId id="267" r:id="rId8"/>
    <p:sldId id="268" r:id="rId9"/>
    <p:sldId id="269" r:id="rId10"/>
    <p:sldId id="270" r:id="rId11"/>
    <p:sldId id="273" r:id="rId12"/>
    <p:sldId id="274" r:id="rId13"/>
    <p:sldId id="272" r:id="rId14"/>
    <p:sldId id="271" r:id="rId15"/>
    <p:sldId id="275" r:id="rId16"/>
    <p:sldId id="276" r:id="rId17"/>
    <p:sldId id="277" r:id="rId18"/>
    <p:sldId id="278" r:id="rId19"/>
    <p:sldId id="280" r:id="rId20"/>
    <p:sldId id="279" r:id="rId21"/>
    <p:sldId id="281" r:id="rId22"/>
    <p:sldId id="282" r:id="rId23"/>
    <p:sldId id="284" r:id="rId24"/>
    <p:sldId id="283" r:id="rId25"/>
    <p:sldId id="285" r:id="rId26"/>
    <p:sldId id="286" r:id="rId27"/>
    <p:sldId id="288" r:id="rId28"/>
    <p:sldId id="289" r:id="rId29"/>
    <p:sldId id="287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6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oracle.com/java/technologies/download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ava/java_ref_string.asp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Core Java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52BB-16C5-1685-C0CC-FF75BD556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Java?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D3261-E395-9A12-6560-3FE21C2B2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is a general-purpose programming language used to build web applications, Android apps, desktop programs, enterprise systems, and backend services </a:t>
            </a:r>
          </a:p>
          <a:p>
            <a:r>
              <a:rPr lang="en-US" dirty="0"/>
              <a:t>Object-oriented, Statically typed, &amp; automatic memory management (garbage collection)</a:t>
            </a:r>
          </a:p>
          <a:p>
            <a:r>
              <a:rPr lang="en-US" dirty="0"/>
              <a:t>Created by Sun Microsystems in the 90s; now maintained by Oracle </a:t>
            </a:r>
          </a:p>
          <a:p>
            <a:r>
              <a:rPr lang="en-US" dirty="0"/>
              <a:t>Write once, run anywhere:</a:t>
            </a:r>
          </a:p>
          <a:p>
            <a:pPr lvl="1"/>
            <a:r>
              <a:rPr lang="en-US" dirty="0"/>
              <a:t>Java source code </a:t>
            </a:r>
            <a:r>
              <a:rPr lang="en-US" dirty="0">
                <a:sym typeface="Wingdings" panose="05000000000000000000" pitchFamily="2" charset="2"/>
              </a:rPr>
              <a:t> Java compiler  Bytecode  Java Virtual Machine (JVM)  OS </a:t>
            </a:r>
            <a:endParaRPr lang="en-US" dirty="0"/>
          </a:p>
          <a:p>
            <a:r>
              <a:rPr lang="en-US" dirty="0"/>
              <a:t>Along with the JVM, you should also know:</a:t>
            </a:r>
          </a:p>
          <a:p>
            <a:pPr lvl="1"/>
            <a:r>
              <a:rPr lang="en-US" dirty="0"/>
              <a:t>JDK (Java Development Kit) – tools needed to develop Java programs, includes the compiler </a:t>
            </a:r>
          </a:p>
          <a:p>
            <a:pPr lvl="1"/>
            <a:r>
              <a:rPr lang="en-US" dirty="0"/>
              <a:t>JRE (Java Runtime Environment) – JVM + libraries needed to run Java applications </a:t>
            </a:r>
          </a:p>
        </p:txBody>
      </p:sp>
    </p:spTree>
    <p:extLst>
      <p:ext uri="{BB962C8B-B14F-4D97-AF65-F5344CB8AC3E}">
        <p14:creationId xmlns:p14="http://schemas.microsoft.com/office/powerpoint/2010/main" val="1138218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89714-F676-6AA7-816E-49CE27D61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JDK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07F41-D266-1F3A-B9F1-FC1FEAE23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675" y="2180496"/>
            <a:ext cx="5544325" cy="3678303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https://www.oracle.com/java/technologies/downloads/</a:t>
            </a:r>
            <a:endParaRPr lang="en-US" dirty="0"/>
          </a:p>
          <a:p>
            <a:r>
              <a:rPr lang="en-US" dirty="0"/>
              <a:t>We will use JDK 17 in this course</a:t>
            </a:r>
          </a:p>
          <a:p>
            <a:r>
              <a:rPr lang="en-US" dirty="0"/>
              <a:t>LTS – long term support</a:t>
            </a:r>
          </a:p>
          <a:p>
            <a:r>
              <a:rPr lang="en-US" dirty="0"/>
              <a:t>Environment variables in windows will dictate which version is used, if multiple</a:t>
            </a:r>
          </a:p>
          <a:p>
            <a:pPr lvl="1"/>
            <a:r>
              <a:rPr lang="en-US" dirty="0"/>
              <a:t>JAVA_HOME – points to folder location </a:t>
            </a:r>
          </a:p>
          <a:p>
            <a:pPr lvl="1"/>
            <a:r>
              <a:rPr lang="en-US" dirty="0"/>
              <a:t>The PATH environment variable - %JAVA_HOME%\bin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3A748C-1A41-FCE8-91A5-F58F78605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209" y="2660047"/>
            <a:ext cx="4514812" cy="1903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14EA9B-3042-8CFC-1C6D-6BBD277D9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483" y="5138032"/>
            <a:ext cx="5544324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255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799B5-FD40-1B34-34F5-E2C2D736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development Environments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41334F-8824-005A-1697-F111ECFFF7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631" y="2186922"/>
            <a:ext cx="7411254" cy="288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8D6AAB-DB8E-BFDE-E55C-D2713C2CD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45" y="4868838"/>
            <a:ext cx="6620908" cy="18949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27C504-A82C-33CA-D6B4-17E0432382EA}"/>
              </a:ext>
            </a:extLst>
          </p:cNvPr>
          <p:cNvSpPr txBox="1"/>
          <p:nvPr/>
        </p:nvSpPr>
        <p:spPr>
          <a:xfrm>
            <a:off x="8091030" y="2427843"/>
            <a:ext cx="36283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IntelliJ IDEA – very popular</a:t>
            </a:r>
          </a:p>
          <a:p>
            <a:r>
              <a:rPr lang="en-US" dirty="0"/>
              <a:t>Eclipse – popular, free, open-source</a:t>
            </a:r>
          </a:p>
          <a:p>
            <a:r>
              <a:rPr lang="en-US" dirty="0"/>
              <a:t>VS Code – gaining popularity, free, but technically not a true IDE</a:t>
            </a:r>
          </a:p>
        </p:txBody>
      </p:sp>
    </p:spTree>
    <p:extLst>
      <p:ext uri="{BB962C8B-B14F-4D97-AF65-F5344CB8AC3E}">
        <p14:creationId xmlns:p14="http://schemas.microsoft.com/office/powerpoint/2010/main" val="4250378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6EF56-2CCE-E78A-5814-4FC75161C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Jshell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27AF6F-271A-987E-508B-AD9352E7C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47" y="2406702"/>
            <a:ext cx="7261716" cy="35885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069EF6-58CF-C5C8-877E-BCAA8F3E8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688" y="3140599"/>
            <a:ext cx="2886478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160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Hello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Print Hello World!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 any development environment you wish to print “Hello World!” to the console 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E5C49-2535-F8EA-D005-DD9D02D8C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0506F-94F3-FC0C-DC7A-EDC98C40E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variable is a named place in memory that stores a value</a:t>
            </a:r>
          </a:p>
          <a:p>
            <a:r>
              <a:rPr lang="en-US" dirty="0"/>
              <a:t>int age = 25;</a:t>
            </a:r>
          </a:p>
          <a:p>
            <a:r>
              <a:rPr lang="en-US" dirty="0"/>
              <a:t>You can define a variable without initializing it, and then initialize it later:</a:t>
            </a:r>
          </a:p>
          <a:p>
            <a:pPr lvl="1"/>
            <a:r>
              <a:rPr lang="en-US" dirty="0"/>
              <a:t>int age;</a:t>
            </a:r>
          </a:p>
          <a:p>
            <a:pPr lvl="1"/>
            <a:r>
              <a:rPr lang="en-US" dirty="0"/>
              <a:t>age = 25;</a:t>
            </a:r>
          </a:p>
          <a:p>
            <a:r>
              <a:rPr lang="en-US" dirty="0"/>
              <a:t>Variable names cannot start with a number or contain dashes. The following are </a:t>
            </a:r>
            <a:r>
              <a:rPr lang="en-US" dirty="0">
                <a:solidFill>
                  <a:srgbClr val="FF0000"/>
                </a:solidFill>
              </a:rPr>
              <a:t>WRONG: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int 2age;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String something-something;</a:t>
            </a:r>
          </a:p>
        </p:txBody>
      </p:sp>
    </p:spTree>
    <p:extLst>
      <p:ext uri="{BB962C8B-B14F-4D97-AF65-F5344CB8AC3E}">
        <p14:creationId xmlns:p14="http://schemas.microsoft.com/office/powerpoint/2010/main" val="2311624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867FE-F142-5360-B24D-7A5EAA89D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E4EAC-7DC9-FB97-E837-5E73347B8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45268"/>
            <a:ext cx="11029615" cy="8187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2 categories: Primitives &amp; Reference types</a:t>
            </a:r>
          </a:p>
          <a:p>
            <a:r>
              <a:rPr lang="en-US" dirty="0"/>
              <a:t>The following are Java primitives:</a:t>
            </a:r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A8525F0-F0EE-AD4A-CE02-668F63C8E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880519"/>
              </p:ext>
            </p:extLst>
          </p:nvPr>
        </p:nvGraphicFramePr>
        <p:xfrm>
          <a:off x="580855" y="2864004"/>
          <a:ext cx="11029952" cy="3261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7488">
                  <a:extLst>
                    <a:ext uri="{9D8B030D-6E8A-4147-A177-3AD203B41FA5}">
                      <a16:colId xmlns:a16="http://schemas.microsoft.com/office/drawing/2014/main" val="1641817060"/>
                    </a:ext>
                  </a:extLst>
                </a:gridCol>
                <a:gridCol w="2757488">
                  <a:extLst>
                    <a:ext uri="{9D8B030D-6E8A-4147-A177-3AD203B41FA5}">
                      <a16:colId xmlns:a16="http://schemas.microsoft.com/office/drawing/2014/main" val="2932038141"/>
                    </a:ext>
                  </a:extLst>
                </a:gridCol>
                <a:gridCol w="2757488">
                  <a:extLst>
                    <a:ext uri="{9D8B030D-6E8A-4147-A177-3AD203B41FA5}">
                      <a16:colId xmlns:a16="http://schemas.microsoft.com/office/drawing/2014/main" val="4179125399"/>
                    </a:ext>
                  </a:extLst>
                </a:gridCol>
                <a:gridCol w="2757488">
                  <a:extLst>
                    <a:ext uri="{9D8B030D-6E8A-4147-A177-3AD203B41FA5}">
                      <a16:colId xmlns:a16="http://schemas.microsoft.com/office/drawing/2014/main" val="19218195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Type</a:t>
                      </a:r>
                      <a:endParaRPr lang="en-US" sz="1600" b="1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Used for</a:t>
                      </a:r>
                      <a:endParaRPr lang="en-US" sz="1600" b="1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Example</a:t>
                      </a:r>
                      <a:endParaRPr lang="en-US" sz="1600" b="1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1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Range/Notes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464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byte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Very small whole numbers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byte x = 100;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-128 to 127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114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short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Small whole numbers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short x = 30000;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-32,768 to 32,767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267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Whole numbers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 age = 25;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-2.1 billion to 2.1 billion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1322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long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Large whole numbers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long population = 8000000000L;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-9,223,372,036,854,775,808 to 9,223,372,036,854,775,807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620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float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Decimal numbers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float price = 10.5f;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Approximation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2085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double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More precise decimals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double pi = 3.14159;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Use when precision is 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2262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char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 single character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char grade = 'A';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‘A’ NOT “A”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084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boolean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True/false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boolean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passed = true;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 OR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1763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5224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10316-6329-3E4A-3C1D-A6C7CBA5E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30A98-63D1-3724-92E8-A95E5E92C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381197" cy="3678303"/>
          </a:xfrm>
        </p:spPr>
        <p:txBody>
          <a:bodyPr/>
          <a:lstStyle/>
          <a:p>
            <a:r>
              <a:rPr lang="en-US" dirty="0"/>
              <a:t>Reference types refer to objects</a:t>
            </a:r>
          </a:p>
          <a:p>
            <a:r>
              <a:rPr lang="en-US" dirty="0"/>
              <a:t>Common examples:</a:t>
            </a:r>
          </a:p>
          <a:p>
            <a:pPr lvl="1"/>
            <a:r>
              <a:rPr lang="en-US" dirty="0"/>
              <a:t>String, Array, Object, Scanner</a:t>
            </a:r>
          </a:p>
          <a:p>
            <a:pPr lvl="1"/>
            <a:r>
              <a:rPr lang="en-US" dirty="0"/>
              <a:t>Any instantiations of classes we create</a:t>
            </a:r>
          </a:p>
          <a:p>
            <a:r>
              <a:rPr lang="en-US" dirty="0"/>
              <a:t>Reference types aren’t the underlying data value, they represent a memory pointer to the value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2F9132-9DA1-0D56-7989-4A14CC3B2A29}"/>
              </a:ext>
            </a:extLst>
          </p:cNvPr>
          <p:cNvSpPr txBox="1"/>
          <p:nvPr/>
        </p:nvSpPr>
        <p:spPr>
          <a:xfrm>
            <a:off x="6285980" y="2110813"/>
            <a:ext cx="33710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Person {</a:t>
            </a:r>
          </a:p>
          <a:p>
            <a:r>
              <a:rPr lang="en-US" dirty="0"/>
              <a:t>    String name;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1CC5CD-3536-0079-BB6D-B8E77E8D0CFE}"/>
              </a:ext>
            </a:extLst>
          </p:cNvPr>
          <p:cNvSpPr txBox="1"/>
          <p:nvPr/>
        </p:nvSpPr>
        <p:spPr>
          <a:xfrm>
            <a:off x="6229613" y="3165954"/>
            <a:ext cx="60250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Person a = new Person();</a:t>
            </a:r>
          </a:p>
          <a:p>
            <a:r>
              <a:rPr lang="en-US" dirty="0"/>
              <a:t>a.name = "Alice";</a:t>
            </a:r>
          </a:p>
          <a:p>
            <a:endParaRPr lang="en-US" dirty="0"/>
          </a:p>
          <a:p>
            <a:r>
              <a:rPr lang="en-US" dirty="0"/>
              <a:t>Person b = a;</a:t>
            </a:r>
          </a:p>
          <a:p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(a == b); </a:t>
            </a:r>
            <a:r>
              <a:rPr lang="en-US" dirty="0">
                <a:sym typeface="Wingdings" panose="05000000000000000000" pitchFamily="2" charset="2"/>
              </a:rPr>
              <a:t> true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Person c = new Person(); </a:t>
            </a:r>
          </a:p>
          <a:p>
            <a:r>
              <a:rPr lang="en-US" dirty="0"/>
              <a:t>Person d = new Person(); </a:t>
            </a:r>
          </a:p>
          <a:p>
            <a:r>
              <a:rPr lang="en-US" dirty="0" err="1"/>
              <a:t>System.out.println</a:t>
            </a:r>
            <a:r>
              <a:rPr lang="en-US" dirty="0"/>
              <a:t>(c == d); </a:t>
            </a:r>
            <a:r>
              <a:rPr lang="en-US" dirty="0">
                <a:sym typeface="Wingdings" panose="05000000000000000000" pitchFamily="2" charset="2"/>
              </a:rPr>
              <a:t> false</a:t>
            </a:r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c.equals</a:t>
            </a:r>
            <a:r>
              <a:rPr lang="en-US" dirty="0"/>
              <a:t>(d)); </a:t>
            </a:r>
            <a:r>
              <a:rPr lang="en-US" dirty="0">
                <a:sym typeface="Wingdings" panose="05000000000000000000" pitchFamily="2" charset="2"/>
              </a:rPr>
              <a:t> also false, but we can override this method for more accurate comparison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930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4E471-235E-6E42-11D0-576ADBC56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54F9E-FF10-AD18-3170-7851E6297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variables declare that a variable cannot be changed once initialized</a:t>
            </a:r>
          </a:p>
          <a:p>
            <a:r>
              <a:rPr lang="en-US" dirty="0"/>
              <a:t>final int MAX_SCORE = 100;</a:t>
            </a:r>
          </a:p>
          <a:p>
            <a:r>
              <a:rPr lang="en-US" dirty="0"/>
              <a:t>final double TAX_RATE; </a:t>
            </a:r>
            <a:r>
              <a:rPr lang="en-US" dirty="0">
                <a:sym typeface="Wingdings" panose="05000000000000000000" pitchFamily="2" charset="2"/>
              </a:rPr>
              <a:t> This is fine</a:t>
            </a:r>
            <a:endParaRPr lang="en-US" dirty="0"/>
          </a:p>
          <a:p>
            <a:r>
              <a:rPr lang="en-US" dirty="0"/>
              <a:t>TAX_RATE = 43.33; </a:t>
            </a:r>
            <a:r>
              <a:rPr lang="en-US" dirty="0">
                <a:sym typeface="Wingdings" panose="05000000000000000000" pitchFamily="2" charset="2"/>
              </a:rPr>
              <a:t> This is fine</a:t>
            </a:r>
            <a:endParaRPr lang="en-US" dirty="0"/>
          </a:p>
          <a:p>
            <a:r>
              <a:rPr lang="en-US" dirty="0"/>
              <a:t>TAX_RATE = 34.3; </a:t>
            </a:r>
            <a:r>
              <a:rPr lang="en-US" dirty="0">
                <a:sym typeface="Wingdings" panose="05000000000000000000" pitchFamily="2" charset="2"/>
              </a:rPr>
              <a:t> INVALID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059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6B612-FDE1-AFAD-747F-95AD11A91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41A8A-4712-7816-74ED-099818048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708836"/>
          </a:xfrm>
        </p:spPr>
        <p:txBody>
          <a:bodyPr/>
          <a:lstStyle/>
          <a:p>
            <a:r>
              <a:rPr lang="en-US" dirty="0" err="1"/>
              <a:t>System.out.print</a:t>
            </a:r>
            <a:r>
              <a:rPr lang="en-US" dirty="0"/>
              <a:t>() – does not move to a new line after printing</a:t>
            </a:r>
            <a:endParaRPr lang="en-US" b="1" dirty="0"/>
          </a:p>
          <a:p>
            <a:r>
              <a:rPr lang="en-US" dirty="0" err="1"/>
              <a:t>System.out.println</a:t>
            </a:r>
            <a:r>
              <a:rPr lang="en-US" dirty="0"/>
              <a:t>() – after printing, moves the cursor to the next line</a:t>
            </a:r>
          </a:p>
          <a:p>
            <a:r>
              <a:rPr lang="en-US" dirty="0" err="1"/>
              <a:t>System.out.printf</a:t>
            </a:r>
            <a:r>
              <a:rPr lang="en-US" dirty="0"/>
              <a:t>() – use when we need formatted output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EDA11-3B70-5A0F-A0CA-C8F7EA2AA0F9}"/>
              </a:ext>
            </a:extLst>
          </p:cNvPr>
          <p:cNvSpPr txBox="1"/>
          <p:nvPr/>
        </p:nvSpPr>
        <p:spPr>
          <a:xfrm>
            <a:off x="681400" y="4256089"/>
            <a:ext cx="70408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String name = "Alex";</a:t>
            </a:r>
          </a:p>
          <a:p>
            <a:r>
              <a:rPr lang="en-US" dirty="0"/>
              <a:t>int age = 20;</a:t>
            </a:r>
          </a:p>
          <a:p>
            <a:endParaRPr lang="en-US" dirty="0"/>
          </a:p>
          <a:p>
            <a:r>
              <a:rPr lang="en-US" dirty="0" err="1"/>
              <a:t>System.out.printf</a:t>
            </a:r>
            <a:r>
              <a:rPr lang="en-US" dirty="0"/>
              <a:t>("My name is %s and I am %d years </a:t>
            </a:r>
            <a:r>
              <a:rPr lang="en-US" dirty="0" err="1"/>
              <a:t>old.%n</a:t>
            </a:r>
            <a:r>
              <a:rPr lang="en-US" dirty="0"/>
              <a:t>", name, age);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642F49-8465-77A3-B719-C27A9A822F8F}"/>
              </a:ext>
            </a:extLst>
          </p:cNvPr>
          <p:cNvSpPr txBox="1"/>
          <p:nvPr/>
        </p:nvSpPr>
        <p:spPr>
          <a:xfrm>
            <a:off x="8083985" y="4097003"/>
            <a:ext cx="31894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%s → String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%d → integer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%f → floating-point number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%c → character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%b →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boolean</a:t>
            </a: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%n → new line</a:t>
            </a:r>
            <a:endParaRPr lang="en-US" sz="1200" b="0" i="0" dirty="0">
              <a:solidFill>
                <a:srgbClr val="FFFFFF"/>
              </a:solidFill>
              <a:effectLst/>
              <a:latin typeface="-apple-system-body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5A89B5-45CD-2FE1-6582-9CBCF8E3B916}"/>
              </a:ext>
            </a:extLst>
          </p:cNvPr>
          <p:cNvSpPr txBox="1"/>
          <p:nvPr/>
        </p:nvSpPr>
        <p:spPr>
          <a:xfrm>
            <a:off x="581192" y="5694179"/>
            <a:ext cx="60970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double price = 19.98765;</a:t>
            </a:r>
          </a:p>
          <a:p>
            <a:endParaRPr lang="en-US" dirty="0"/>
          </a:p>
          <a:p>
            <a:r>
              <a:rPr lang="en-US" dirty="0" err="1"/>
              <a:t>System.out.printf</a:t>
            </a:r>
            <a:r>
              <a:rPr lang="en-US" dirty="0"/>
              <a:t>("Price: $%.2f%n", price);</a:t>
            </a:r>
          </a:p>
        </p:txBody>
      </p:sp>
    </p:spTree>
    <p:extLst>
      <p:ext uri="{BB962C8B-B14F-4D97-AF65-F5344CB8AC3E}">
        <p14:creationId xmlns:p14="http://schemas.microsoft.com/office/powerpoint/2010/main" val="489187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1A7D5-EADD-9A90-8B3D-B50356905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printing…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9EBDB-B2D9-A847-F866-6FEF7D6C0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598" y="2243126"/>
            <a:ext cx="6514803" cy="3678303"/>
          </a:xfrm>
        </p:spPr>
        <p:txBody>
          <a:bodyPr/>
          <a:lstStyle/>
          <a:p>
            <a:r>
              <a:rPr lang="en-US" dirty="0"/>
              <a:t>Escaping special characters:</a:t>
            </a:r>
          </a:p>
          <a:p>
            <a:pPr lvl="1"/>
            <a:r>
              <a:rPr lang="en-US" dirty="0" err="1"/>
              <a:t>System.out.println</a:t>
            </a:r>
            <a:r>
              <a:rPr lang="en-US" dirty="0"/>
              <a:t>("He said \"Hello\"");</a:t>
            </a:r>
          </a:p>
          <a:p>
            <a:pPr lvl="1"/>
            <a:r>
              <a:rPr lang="en-US" dirty="0" err="1"/>
              <a:t>System.out.println</a:t>
            </a:r>
            <a:r>
              <a:rPr lang="en-US" dirty="0"/>
              <a:t>("C:\\Users\\Alex");</a:t>
            </a:r>
          </a:p>
          <a:p>
            <a:r>
              <a:rPr lang="en-US" dirty="0" err="1"/>
              <a:t>System.err</a:t>
            </a:r>
            <a:r>
              <a:rPr lang="en-US" dirty="0"/>
              <a:t> – similar to </a:t>
            </a:r>
            <a:r>
              <a:rPr lang="en-US" dirty="0" err="1"/>
              <a:t>System.out</a:t>
            </a:r>
            <a:r>
              <a:rPr lang="en-US" dirty="0"/>
              <a:t>, but is intended for error messages printed to the console</a:t>
            </a:r>
          </a:p>
        </p:txBody>
      </p:sp>
    </p:spTree>
    <p:extLst>
      <p:ext uri="{BB962C8B-B14F-4D97-AF65-F5344CB8AC3E}">
        <p14:creationId xmlns:p14="http://schemas.microsoft.com/office/powerpoint/2010/main" val="4169276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9B4B4-D812-7E95-0501-42D2F31BA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066F-AA62-61B7-82FB-492BC2FCA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Printing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0702C-8621-A7A9-EBCF-B785479CA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Print age, height, and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96463B-6FB7-BACA-2206-E99D43010060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5FF34-06D5-2193-64DE-EB0EEEABC362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2B346A0-FE13-3003-F958-0A6DB22145C9}"/>
              </a:ext>
            </a:extLst>
          </p:cNvPr>
          <p:cNvSpPr txBox="1">
            <a:spLocks/>
          </p:cNvSpPr>
          <p:nvPr/>
        </p:nvSpPr>
        <p:spPr>
          <a:xfrm>
            <a:off x="6627168" y="2900939"/>
            <a:ext cx="4661642" cy="2369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400" dirty="0"/>
              <a:t>Declare and initialize the following variables:</a:t>
            </a:r>
          </a:p>
          <a:p>
            <a:pPr lvl="1"/>
            <a:r>
              <a:rPr lang="en-US" sz="1400" dirty="0"/>
              <a:t>An int variable named ’age’ with your age</a:t>
            </a:r>
          </a:p>
          <a:p>
            <a:pPr lvl="1"/>
            <a:r>
              <a:rPr lang="en-US" sz="1400" dirty="0"/>
              <a:t>A double variable named ’height’ with your height</a:t>
            </a:r>
          </a:p>
          <a:p>
            <a:pPr lvl="1"/>
            <a:r>
              <a:rPr lang="en-US" sz="1400" dirty="0"/>
              <a:t>A String variable named ’name’ with your name</a:t>
            </a:r>
            <a:br>
              <a:rPr lang="en-US" sz="1400" dirty="0"/>
            </a:br>
            <a:endParaRPr lang="en-US" sz="1400" dirty="0"/>
          </a:p>
          <a:p>
            <a:pPr lvl="0"/>
            <a:r>
              <a:rPr lang="en-US" sz="1400" dirty="0"/>
              <a:t>Print the values in the exact following format:</a:t>
            </a:r>
          </a:p>
          <a:p>
            <a:pPr lvl="1"/>
            <a:r>
              <a:rPr lang="en-US" sz="1400" dirty="0"/>
              <a:t>Name: Alex, Age: 25, Height: 5.9</a:t>
            </a:r>
          </a:p>
        </p:txBody>
      </p:sp>
    </p:spTree>
    <p:extLst>
      <p:ext uri="{BB962C8B-B14F-4D97-AF65-F5344CB8AC3E}">
        <p14:creationId xmlns:p14="http://schemas.microsoft.com/office/powerpoint/2010/main" val="3414121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1E74F-CCEA-B298-1FEC-FF00E197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 &amp;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F4485-53F7-BA59-D767-A679B757D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735" y="2218074"/>
            <a:ext cx="4698529" cy="3678303"/>
          </a:xfrm>
        </p:spPr>
        <p:txBody>
          <a:bodyPr/>
          <a:lstStyle/>
          <a:p>
            <a:pPr lvl="0"/>
            <a:r>
              <a:rPr lang="en-US" sz="1400" dirty="0"/>
              <a:t>byte b = 127;</a:t>
            </a:r>
          </a:p>
          <a:p>
            <a:pPr lvl="0"/>
            <a:r>
              <a:rPr lang="en-US" sz="1400" dirty="0"/>
              <a:t>int a = 2555;</a:t>
            </a:r>
          </a:p>
          <a:p>
            <a:pPr lvl="0"/>
            <a:r>
              <a:rPr lang="en-US" sz="1400" dirty="0"/>
              <a:t>b = a; </a:t>
            </a:r>
            <a:r>
              <a:rPr lang="en-US" sz="1400" dirty="0">
                <a:sym typeface="Wingdings" panose="05000000000000000000" pitchFamily="2" charset="2"/>
              </a:rPr>
              <a:t> error</a:t>
            </a:r>
          </a:p>
          <a:p>
            <a:pPr lvl="0"/>
            <a:r>
              <a:rPr lang="en-US" sz="1400" dirty="0">
                <a:sym typeface="Wingdings" panose="05000000000000000000" pitchFamily="2" charset="2"/>
              </a:rPr>
              <a:t>a = b;  Implicit casting </a:t>
            </a:r>
          </a:p>
          <a:p>
            <a:pPr lvl="0"/>
            <a:r>
              <a:rPr lang="en-US" sz="1400" dirty="0">
                <a:sym typeface="Wingdings" panose="05000000000000000000" pitchFamily="2" charset="2"/>
              </a:rPr>
              <a:t>b = (byte) a;  explicit casting, data may be lost</a:t>
            </a:r>
          </a:p>
          <a:p>
            <a:pPr lvl="0"/>
            <a:r>
              <a:rPr lang="en-US" sz="1400" dirty="0">
                <a:sym typeface="Wingdings" panose="05000000000000000000" pitchFamily="2" charset="2"/>
              </a:rPr>
              <a:t>What is the value of b now?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4940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0F07D-C837-5134-5848-A3089387F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AAB175-D713-66D3-1A59-B7AAA04EE7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5017996"/>
              </p:ext>
            </p:extLst>
          </p:nvPr>
        </p:nvGraphicFramePr>
        <p:xfrm>
          <a:off x="581192" y="2298710"/>
          <a:ext cx="6118848" cy="39079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1591">
                  <a:extLst>
                    <a:ext uri="{9D8B030D-6E8A-4147-A177-3AD203B41FA5}">
                      <a16:colId xmlns:a16="http://schemas.microsoft.com/office/drawing/2014/main" val="485089905"/>
                    </a:ext>
                  </a:extLst>
                </a:gridCol>
                <a:gridCol w="1226085">
                  <a:extLst>
                    <a:ext uri="{9D8B030D-6E8A-4147-A177-3AD203B41FA5}">
                      <a16:colId xmlns:a16="http://schemas.microsoft.com/office/drawing/2014/main" val="478096068"/>
                    </a:ext>
                  </a:extLst>
                </a:gridCol>
                <a:gridCol w="2715000">
                  <a:extLst>
                    <a:ext uri="{9D8B030D-6E8A-4147-A177-3AD203B41FA5}">
                      <a16:colId xmlns:a16="http://schemas.microsoft.com/office/drawing/2014/main" val="552079947"/>
                    </a:ext>
                  </a:extLst>
                </a:gridCol>
                <a:gridCol w="1156172">
                  <a:extLst>
                    <a:ext uri="{9D8B030D-6E8A-4147-A177-3AD203B41FA5}">
                      <a16:colId xmlns:a16="http://schemas.microsoft.com/office/drawing/2014/main" val="3222288801"/>
                    </a:ext>
                  </a:extLst>
                </a:gridCol>
              </a:tblGrid>
              <a:tr h="348478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Operator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Name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Description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Example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084336693"/>
                  </a:ext>
                </a:extLst>
              </a:tr>
              <a:tr h="348478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+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Addition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Adds together two values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+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62149007"/>
                  </a:ext>
                </a:extLst>
              </a:tr>
              <a:tr h="57250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-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Subtraction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Subtracts one value from another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-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164152395"/>
                  </a:ext>
                </a:extLst>
              </a:tr>
              <a:tr h="57250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*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Multiplication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Multiplies two values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*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62554553"/>
                  </a:ext>
                </a:extLst>
              </a:tr>
              <a:tr h="348478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/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Division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Divides one value by another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/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548123430"/>
                  </a:ext>
                </a:extLst>
              </a:tr>
              <a:tr h="57250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%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Modulus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Returns the division remainder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%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311911563"/>
                  </a:ext>
                </a:extLst>
              </a:tr>
              <a:tr h="57250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++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Increment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Increases the value of a variable by 1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++x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838080968"/>
                  </a:ext>
                </a:extLst>
              </a:tr>
              <a:tr h="57250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--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Decrement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Decreases the value of a variable by 1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--x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2608413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F463B9C-7F8B-15DA-2E4B-350646AA54C6}"/>
              </a:ext>
            </a:extLst>
          </p:cNvPr>
          <p:cNvSpPr txBox="1"/>
          <p:nvPr/>
        </p:nvSpPr>
        <p:spPr>
          <a:xfrm>
            <a:off x="6981695" y="2190380"/>
            <a:ext cx="60970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x = 10;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y = 3;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(x + y); // 13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(x - y); // 7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(x * y); // 30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(x / y); // 3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(x % y); // 1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z = 5;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++z;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(z); // 6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--z;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(z); // 5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88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4361-AA94-5159-D80C-281456350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F5FA42-DE69-4454-1250-9AFC90EDB4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8337464"/>
              </p:ext>
            </p:extLst>
          </p:nvPr>
        </p:nvGraphicFramePr>
        <p:xfrm>
          <a:off x="3268791" y="2599151"/>
          <a:ext cx="5654418" cy="2726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5436">
                  <a:extLst>
                    <a:ext uri="{9D8B030D-6E8A-4147-A177-3AD203B41FA5}">
                      <a16:colId xmlns:a16="http://schemas.microsoft.com/office/drawing/2014/main" val="2322633843"/>
                    </a:ext>
                  </a:extLst>
                </a:gridCol>
                <a:gridCol w="1884946">
                  <a:extLst>
                    <a:ext uri="{9D8B030D-6E8A-4147-A177-3AD203B41FA5}">
                      <a16:colId xmlns:a16="http://schemas.microsoft.com/office/drawing/2014/main" val="830769385"/>
                    </a:ext>
                  </a:extLst>
                </a:gridCol>
                <a:gridCol w="1884036">
                  <a:extLst>
                    <a:ext uri="{9D8B030D-6E8A-4147-A177-3AD203B41FA5}">
                      <a16:colId xmlns:a16="http://schemas.microsoft.com/office/drawing/2014/main" val="2434799605"/>
                    </a:ext>
                  </a:extLst>
                </a:gridCol>
              </a:tblGrid>
              <a:tr h="37427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Operator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Example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Same As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749090443"/>
                  </a:ext>
                </a:extLst>
              </a:tr>
              <a:tr h="37427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= 5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= 5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482713512"/>
                  </a:ext>
                </a:extLst>
              </a:tr>
              <a:tr h="37427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+=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+=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= x + 3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4283834694"/>
                  </a:ext>
                </a:extLst>
              </a:tr>
              <a:tr h="37427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-=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-=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= x - 3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3019568"/>
                  </a:ext>
                </a:extLst>
              </a:tr>
              <a:tr h="37427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*=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*=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= x *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893211239"/>
                  </a:ext>
                </a:extLst>
              </a:tr>
              <a:tr h="37427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/=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/=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= x /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789264605"/>
                  </a:ext>
                </a:extLst>
              </a:tr>
              <a:tr h="481204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%=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%= 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x = x % 3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525015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549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B2B4-AC77-60B3-26CB-3F1A4FBD7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B8EB65-6AF3-AF00-767F-14EBA5B36D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006594"/>
              </p:ext>
            </p:extLst>
          </p:nvPr>
        </p:nvGraphicFramePr>
        <p:xfrm>
          <a:off x="581192" y="2850788"/>
          <a:ext cx="5223354" cy="2526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1895">
                  <a:extLst>
                    <a:ext uri="{9D8B030D-6E8A-4147-A177-3AD203B41FA5}">
                      <a16:colId xmlns:a16="http://schemas.microsoft.com/office/drawing/2014/main" val="4201958315"/>
                    </a:ext>
                  </a:extLst>
                </a:gridCol>
                <a:gridCol w="2030341">
                  <a:extLst>
                    <a:ext uri="{9D8B030D-6E8A-4147-A177-3AD203B41FA5}">
                      <a16:colId xmlns:a16="http://schemas.microsoft.com/office/drawing/2014/main" val="1372331580"/>
                    </a:ext>
                  </a:extLst>
                </a:gridCol>
                <a:gridCol w="1741118">
                  <a:extLst>
                    <a:ext uri="{9D8B030D-6E8A-4147-A177-3AD203B41FA5}">
                      <a16:colId xmlns:a16="http://schemas.microsoft.com/office/drawing/2014/main" val="1134756383"/>
                    </a:ext>
                  </a:extLst>
                </a:gridCol>
              </a:tblGrid>
              <a:tr h="34676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Operator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Name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Example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353495209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==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Equal to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x == y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382437703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!=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Not equal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!=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4032515565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&gt;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Greater than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&gt;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624844659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&lt;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Less than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&lt;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76788761"/>
                  </a:ext>
                </a:extLst>
              </a:tr>
              <a:tr h="34676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&gt;=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Greater than or equal to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&gt;= 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240629672"/>
                  </a:ext>
                </a:extLst>
              </a:tr>
              <a:tr h="445836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&lt;=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Less than or equal to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x &lt;= y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23786872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AC2BE0-EC74-16EE-42EA-8D87C2C58ECA}"/>
              </a:ext>
            </a:extLst>
          </p:cNvPr>
          <p:cNvSpPr txBox="1"/>
          <p:nvPr/>
        </p:nvSpPr>
        <p:spPr>
          <a:xfrm>
            <a:off x="6042242" y="3216058"/>
            <a:ext cx="6097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age = 18;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(age &gt;= 18); // true, old enough to vote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(age &lt; 18);  // false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872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EBB46-207D-B8F2-199C-592021B2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008BA6-DFCB-45AC-01DC-7AD7BD8DB6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7015799"/>
              </p:ext>
            </p:extLst>
          </p:nvPr>
        </p:nvGraphicFramePr>
        <p:xfrm>
          <a:off x="581192" y="2780778"/>
          <a:ext cx="4980364" cy="22506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1670">
                  <a:extLst>
                    <a:ext uri="{9D8B030D-6E8A-4147-A177-3AD203B41FA5}">
                      <a16:colId xmlns:a16="http://schemas.microsoft.com/office/drawing/2014/main" val="4268744778"/>
                    </a:ext>
                  </a:extLst>
                </a:gridCol>
                <a:gridCol w="1106279">
                  <a:extLst>
                    <a:ext uri="{9D8B030D-6E8A-4147-A177-3AD203B41FA5}">
                      <a16:colId xmlns:a16="http://schemas.microsoft.com/office/drawing/2014/main" val="705456871"/>
                    </a:ext>
                  </a:extLst>
                </a:gridCol>
                <a:gridCol w="1758497">
                  <a:extLst>
                    <a:ext uri="{9D8B030D-6E8A-4147-A177-3AD203B41FA5}">
                      <a16:colId xmlns:a16="http://schemas.microsoft.com/office/drawing/2014/main" val="3477532503"/>
                    </a:ext>
                  </a:extLst>
                </a:gridCol>
                <a:gridCol w="1283918">
                  <a:extLst>
                    <a:ext uri="{9D8B030D-6E8A-4147-A177-3AD203B41FA5}">
                      <a16:colId xmlns:a16="http://schemas.microsoft.com/office/drawing/2014/main" val="2119270883"/>
                    </a:ext>
                  </a:extLst>
                </a:gridCol>
              </a:tblGrid>
              <a:tr h="379636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Operator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Name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Description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Example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943830295"/>
                  </a:ext>
                </a:extLst>
              </a:tr>
              <a:tr h="623686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&amp;&amp; 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Logical and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Returns true if both statements are true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&lt; 5 &amp;&amp;  x &lt; 10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495183397"/>
                  </a:ext>
                </a:extLst>
              </a:tr>
              <a:tr h="623686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|| 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Logical or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Returns true if one of the statements is true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 &lt; 5 || x &lt; 4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386039391"/>
                  </a:ext>
                </a:extLst>
              </a:tr>
              <a:tr h="623686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!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016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Logical not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Reverse the result, returns false if the result is true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!(x &lt; 5 &amp;&amp; x &lt; 10)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263787593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BC4D688-3DE3-8627-5B46-7F9DC83FF606}"/>
              </a:ext>
            </a:extLst>
          </p:cNvPr>
          <p:cNvSpPr txBox="1"/>
          <p:nvPr/>
        </p:nvSpPr>
        <p:spPr>
          <a:xfrm>
            <a:off x="5616357" y="2872677"/>
            <a:ext cx="60970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boolean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isLoggedIn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true;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boolean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isAdmin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false;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("Regular user: " +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isLoggedIn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&amp;&amp; !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isAdmin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));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("Has access: " +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isLoggedIn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||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isAdmin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));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("Not logged in: " + (!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isLoggedIn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));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443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98CF2-F8FA-9229-B6B2-6BD269A4A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1FCE6-6E6B-A063-77D3-96E7FB8CE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8208A-8206-BEA4-5748-3AA8CAF02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900939"/>
            <a:ext cx="5317584" cy="168124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Addition:  30</a:t>
            </a:r>
          </a:p>
          <a:p>
            <a:r>
              <a:rPr lang="en-US" dirty="0"/>
              <a:t>Subtraction:  10</a:t>
            </a:r>
          </a:p>
          <a:p>
            <a:r>
              <a:rPr lang="en-US" dirty="0"/>
              <a:t>Multiplication:  200</a:t>
            </a:r>
          </a:p>
          <a:p>
            <a:r>
              <a:rPr lang="en-US" dirty="0"/>
              <a:t>Division:  2</a:t>
            </a:r>
          </a:p>
          <a:p>
            <a:r>
              <a:rPr lang="en-US" dirty="0"/>
              <a:t>Is a greater than b?  true</a:t>
            </a:r>
          </a:p>
          <a:p>
            <a:r>
              <a:rPr lang="en-US" dirty="0"/>
              <a:t>Is a &gt; b and b &gt; 0?  true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D3F549-C9B0-3086-8AC7-05334915B2AE}"/>
              </a:ext>
            </a:extLst>
          </p:cNvPr>
          <p:cNvSpPr txBox="1"/>
          <p:nvPr/>
        </p:nvSpPr>
        <p:spPr>
          <a:xfrm>
            <a:off x="1228165" y="2402747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44C066-C52A-ACA2-BAE9-1FF2B690953A}"/>
              </a:ext>
            </a:extLst>
          </p:cNvPr>
          <p:cNvSpPr txBox="1"/>
          <p:nvPr/>
        </p:nvSpPr>
        <p:spPr>
          <a:xfrm>
            <a:off x="6582427" y="2402747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02E6122-4010-DC83-3714-C9B99FFE6FB2}"/>
              </a:ext>
            </a:extLst>
          </p:cNvPr>
          <p:cNvSpPr txBox="1">
            <a:spLocks/>
          </p:cNvSpPr>
          <p:nvPr/>
        </p:nvSpPr>
        <p:spPr>
          <a:xfrm>
            <a:off x="6627168" y="2900939"/>
            <a:ext cx="4661642" cy="2369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Declare two integer variables a = 20 and b = 10.</a:t>
            </a:r>
          </a:p>
          <a:p>
            <a:r>
              <a:rPr lang="en-US" sz="1400" dirty="0"/>
              <a:t>Perform the following operations:</a:t>
            </a:r>
          </a:p>
          <a:p>
            <a:pPr lvl="1"/>
            <a:r>
              <a:rPr lang="en-US" sz="1400" dirty="0"/>
              <a:t>Add, subtract, multiply, and divide a and b</a:t>
            </a:r>
          </a:p>
          <a:p>
            <a:pPr lvl="1"/>
            <a:r>
              <a:rPr lang="en-US" sz="1400" dirty="0"/>
              <a:t>Compare if a is greater than b and store the result in a </a:t>
            </a:r>
            <a:r>
              <a:rPr lang="en-US" sz="1400" dirty="0" err="1"/>
              <a:t>boolean</a:t>
            </a:r>
            <a:r>
              <a:rPr lang="en-US" sz="1400" dirty="0"/>
              <a:t> variable</a:t>
            </a:r>
          </a:p>
          <a:p>
            <a:pPr lvl="1"/>
            <a:r>
              <a:rPr lang="en-US" sz="1400" dirty="0"/>
              <a:t>Check if a &gt; b </a:t>
            </a:r>
            <a:r>
              <a:rPr lang="en-US" sz="1400" b="1" dirty="0"/>
              <a:t>and</a:t>
            </a:r>
            <a:r>
              <a:rPr lang="en-US" sz="1400" dirty="0"/>
              <a:t> b &gt; 0 using a logical operator and store the result</a:t>
            </a:r>
          </a:p>
          <a:p>
            <a:pPr lvl="1"/>
            <a:r>
              <a:rPr lang="en-US" sz="1400" dirty="0"/>
              <a:t>Print the results of all operations using </a:t>
            </a:r>
            <a:r>
              <a:rPr lang="en-US" sz="1400" dirty="0" err="1"/>
              <a:t>System.out.println</a:t>
            </a:r>
            <a:r>
              <a:rPr lang="en-US" sz="1400" dirty="0"/>
              <a:t>() in the specified format.</a:t>
            </a:r>
          </a:p>
        </p:txBody>
      </p:sp>
    </p:spTree>
    <p:extLst>
      <p:ext uri="{BB962C8B-B14F-4D97-AF65-F5344CB8AC3E}">
        <p14:creationId xmlns:p14="http://schemas.microsoft.com/office/powerpoint/2010/main" val="2228775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1EE2B-04AD-783F-7FAD-488B90E09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Flow: Conditional Statements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76715-15B8-302B-14F2-1EE53C6A6CB5}"/>
              </a:ext>
            </a:extLst>
          </p:cNvPr>
          <p:cNvSpPr txBox="1"/>
          <p:nvPr/>
        </p:nvSpPr>
        <p:spPr>
          <a:xfrm>
            <a:off x="518264" y="1995684"/>
            <a:ext cx="59326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boolean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isRaining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true;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if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isRaining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("Bring an umbrella!");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CD096-105D-D065-73C8-22934CB94387}"/>
              </a:ext>
            </a:extLst>
          </p:cNvPr>
          <p:cNvSpPr txBox="1"/>
          <p:nvPr/>
        </p:nvSpPr>
        <p:spPr>
          <a:xfrm>
            <a:off x="518264" y="3660407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if (20 &gt; 18)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("20 is greater than 18");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9BADFB-8E41-238E-05D4-8C3B4AB765D3}"/>
              </a:ext>
            </a:extLst>
          </p:cNvPr>
          <p:cNvSpPr txBox="1"/>
          <p:nvPr/>
        </p:nvSpPr>
        <p:spPr>
          <a:xfrm>
            <a:off x="581192" y="4627007"/>
            <a:ext cx="60970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boolean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isRaining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false;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if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isRaining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("Bring an umbrella!");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 else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("No rain today, no need for an umbrella!");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0EE168-37E0-4C0B-034C-B2CBEF5F850F}"/>
              </a:ext>
            </a:extLst>
          </p:cNvPr>
          <p:cNvSpPr txBox="1"/>
          <p:nvPr/>
        </p:nvSpPr>
        <p:spPr>
          <a:xfrm>
            <a:off x="6852333" y="2838327"/>
            <a:ext cx="60970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weather = 2; // 1 = raining, 2 = sunny, 3 = cloudy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if (weather == 1)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("Bring an umbrella.");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 else if (weather == 2)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("Wear sunglasses.");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 else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("Just go outside normally.");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// Outputs "Wear sunglasses."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4DE3A4-FDA1-9BB7-48F7-A37C627843F6}"/>
              </a:ext>
            </a:extLst>
          </p:cNvPr>
          <p:cNvSpPr/>
          <p:nvPr/>
        </p:nvSpPr>
        <p:spPr>
          <a:xfrm>
            <a:off x="407096" y="1995684"/>
            <a:ext cx="4371583" cy="154918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B97890-04B4-CA67-6A6F-24E61DF48A49}"/>
              </a:ext>
            </a:extLst>
          </p:cNvPr>
          <p:cNvSpPr/>
          <p:nvPr/>
        </p:nvSpPr>
        <p:spPr>
          <a:xfrm>
            <a:off x="407095" y="3692282"/>
            <a:ext cx="4371583" cy="9347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AE763F-CDF7-255E-4187-D6CCB7A07A71}"/>
              </a:ext>
            </a:extLst>
          </p:cNvPr>
          <p:cNvSpPr/>
          <p:nvPr/>
        </p:nvSpPr>
        <p:spPr>
          <a:xfrm>
            <a:off x="407094" y="4708978"/>
            <a:ext cx="6097044" cy="193899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0AE9B9-5092-874F-6AB6-DE7DE1C18B28}"/>
              </a:ext>
            </a:extLst>
          </p:cNvPr>
          <p:cNvSpPr/>
          <p:nvPr/>
        </p:nvSpPr>
        <p:spPr>
          <a:xfrm>
            <a:off x="6821015" y="2854220"/>
            <a:ext cx="4963889" cy="286391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6F2BCC-2F0C-4FCD-02A5-902B63EE026C}"/>
              </a:ext>
            </a:extLst>
          </p:cNvPr>
          <p:cNvSpPr txBox="1"/>
          <p:nvPr/>
        </p:nvSpPr>
        <p:spPr>
          <a:xfrm>
            <a:off x="6319380" y="2017693"/>
            <a:ext cx="1665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If, else, else if….</a:t>
            </a:r>
          </a:p>
        </p:txBody>
      </p:sp>
    </p:spTree>
    <p:extLst>
      <p:ext uri="{BB962C8B-B14F-4D97-AF65-F5344CB8AC3E}">
        <p14:creationId xmlns:p14="http://schemas.microsoft.com/office/powerpoint/2010/main" val="2895644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13BED-EAEA-28A0-5F69-E6270D39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Flow: Ternary Operators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D0875-E427-2882-DEAF-526B0653DE4E}"/>
              </a:ext>
            </a:extLst>
          </p:cNvPr>
          <p:cNvSpPr txBox="1"/>
          <p:nvPr/>
        </p:nvSpPr>
        <p:spPr>
          <a:xfrm>
            <a:off x="3048522" y="3105835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time = 20;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result = (time &lt; 18) ? "Good day." : "Good evening.";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(result);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9FB385-DDC2-8CA7-AD9C-E4498FFA771D}"/>
              </a:ext>
            </a:extLst>
          </p:cNvPr>
          <p:cNvSpPr/>
          <p:nvPr/>
        </p:nvSpPr>
        <p:spPr>
          <a:xfrm>
            <a:off x="2956142" y="2977575"/>
            <a:ext cx="5937337" cy="121238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48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F53E-785C-A12B-5919-05ED0069D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Flow: Switch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FA74E-4DA9-9A9F-7AD3-5C9E582CC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5925" y="2441618"/>
            <a:ext cx="5155729" cy="3678303"/>
          </a:xfrm>
        </p:spPr>
        <p:txBody>
          <a:bodyPr/>
          <a:lstStyle/>
          <a:p>
            <a:r>
              <a:rPr lang="en-US" dirty="0"/>
              <a:t>Notice we use break statements to avoid logic falling through and continuing execution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419900-8543-23B5-871F-7988F9C293D8}"/>
              </a:ext>
            </a:extLst>
          </p:cNvPr>
          <p:cNvSpPr txBox="1"/>
          <p:nvPr/>
        </p:nvSpPr>
        <p:spPr>
          <a:xfrm>
            <a:off x="1007076" y="2441618"/>
            <a:ext cx="362129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int day = 4;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switch (day) {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case 1: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("Monday");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break;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case 2: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("Tuesday");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break;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case 3: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("Wednesday");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break;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case 4: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("Thursday");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break;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case 5: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1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("Friday");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    break;</a:t>
            </a:r>
          </a:p>
          <a:p>
            <a:r>
              <a:rPr lang="en-US" sz="1100" dirty="0"/>
              <a:t>default:</a:t>
            </a:r>
          </a:p>
          <a:p>
            <a:r>
              <a:rPr lang="en-US" sz="1100" dirty="0"/>
              <a:t>    </a:t>
            </a:r>
            <a:r>
              <a:rPr lang="en-US" sz="1100" dirty="0" err="1"/>
              <a:t>System.out.println</a:t>
            </a:r>
            <a:r>
              <a:rPr lang="en-US" sz="1100" dirty="0"/>
              <a:t>("Looking forward to the Weekend");</a:t>
            </a:r>
            <a:endParaRPr lang="en-US" sz="11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</a:p>
          <a:p>
            <a:pPr marL="0" marR="0" indent="0" algn="l" latinLnBrk="0">
              <a:buNone/>
            </a:pPr>
            <a:r>
              <a:rPr lang="en-US" sz="1100" b="0" i="0" dirty="0">
                <a:solidFill>
                  <a:schemeClr val="tx1"/>
                </a:solidFill>
                <a:effectLst/>
                <a:latin typeface="+mn-lt"/>
              </a:rPr>
              <a:t>// Outputs "Thursday" (day 4)</a:t>
            </a:r>
            <a:endParaRPr lang="en-US" sz="11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6145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E8943-B119-C6A6-2313-3CF69C1B0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23CD5-65FC-A348-284F-8B77C5B07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Control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5AB92-23CE-2504-982C-0B5B17726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900939"/>
            <a:ext cx="5317584" cy="1681246"/>
          </a:xfrm>
        </p:spPr>
        <p:txBody>
          <a:bodyPr>
            <a:normAutofit/>
          </a:bodyPr>
          <a:lstStyle/>
          <a:p>
            <a:r>
              <a:rPr lang="en-US" sz="1400" dirty="0"/>
              <a:t>Passed</a:t>
            </a:r>
          </a:p>
          <a:p>
            <a:r>
              <a:rPr lang="en-US" sz="1400" dirty="0"/>
              <a:t>Grade: 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E39378-E715-B25C-44EE-BB434E0B580E}"/>
              </a:ext>
            </a:extLst>
          </p:cNvPr>
          <p:cNvSpPr txBox="1"/>
          <p:nvPr/>
        </p:nvSpPr>
        <p:spPr>
          <a:xfrm>
            <a:off x="1228165" y="2402747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0D112F-E9EA-D9FF-2331-1D62402EA165}"/>
              </a:ext>
            </a:extLst>
          </p:cNvPr>
          <p:cNvSpPr txBox="1"/>
          <p:nvPr/>
        </p:nvSpPr>
        <p:spPr>
          <a:xfrm>
            <a:off x="6582427" y="2402747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55CD3-87FB-0DBC-F8D9-523623CF5A11}"/>
              </a:ext>
            </a:extLst>
          </p:cNvPr>
          <p:cNvSpPr txBox="1"/>
          <p:nvPr/>
        </p:nvSpPr>
        <p:spPr>
          <a:xfrm>
            <a:off x="5704040" y="2838695"/>
            <a:ext cx="60970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200" b="0" i="0" dirty="0">
                <a:effectLst/>
                <a:latin typeface="+mn-lt"/>
              </a:rPr>
              <a:t>Write a Java program to evaluate a student's performance using if-else and else-if statements.</a:t>
            </a:r>
          </a:p>
          <a:p>
            <a:pPr marL="0" marR="0" indent="0" algn="l">
              <a:buNone/>
            </a:pPr>
            <a:endParaRPr lang="en-US" sz="1200" b="0" i="0" dirty="0">
              <a:effectLst/>
              <a:latin typeface="+mn-lt"/>
            </a:endParaRPr>
          </a:p>
          <a:p>
            <a:pPr marL="0" marR="0" indent="0" algn="l">
              <a:buNone/>
            </a:pPr>
            <a:r>
              <a:rPr lang="en-US" sz="1200" b="0" i="0" dirty="0">
                <a:effectLst/>
                <a:latin typeface="+mn-lt"/>
              </a:rPr>
              <a:t>You are given the following: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+mn-lt"/>
              </a:rPr>
              <a:t>An integer variable score = 75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+mn-lt"/>
              </a:rPr>
              <a:t>A character variable grade = 'B’</a:t>
            </a:r>
          </a:p>
          <a:p>
            <a:pPr marL="0" marR="0" indent="0" algn="l">
              <a:buNone/>
            </a:pPr>
            <a:endParaRPr lang="en-US" sz="1200" b="0" i="0" dirty="0">
              <a:effectLst/>
              <a:latin typeface="+mn-lt"/>
            </a:endParaRPr>
          </a:p>
          <a:p>
            <a:pPr marL="0" marR="0" indent="0" algn="l">
              <a:buNone/>
            </a:pPr>
            <a:r>
              <a:rPr lang="en-US" sz="1200" b="0" i="0" dirty="0">
                <a:effectLst/>
                <a:latin typeface="+mn-lt"/>
              </a:rPr>
              <a:t>Your task is to:</a:t>
            </a:r>
          </a:p>
          <a:p>
            <a:pPr lvl="1" indent="-34290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Use </a:t>
            </a:r>
            <a:r>
              <a:rPr lang="en-US" sz="1200" b="1" i="0" dirty="0">
                <a:effectLst/>
                <a:latin typeface="+mn-lt"/>
              </a:rPr>
              <a:t>if-else</a:t>
            </a:r>
            <a:r>
              <a:rPr lang="en-US" sz="1200" b="0" i="0" dirty="0">
                <a:effectLst/>
                <a:latin typeface="+mn-lt"/>
              </a:rPr>
              <a:t> to check if the student passed or failed.</a:t>
            </a:r>
          </a:p>
          <a:p>
            <a:pPr lvl="1" indent="-34290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A score of </a:t>
            </a:r>
            <a:r>
              <a:rPr lang="en-US" sz="1200" b="1" i="0" dirty="0">
                <a:effectLst/>
                <a:latin typeface="+mn-lt"/>
              </a:rPr>
              <a:t>50 or above</a:t>
            </a:r>
            <a:r>
              <a:rPr lang="en-US" sz="1200" b="0" i="0" dirty="0">
                <a:effectLst/>
                <a:latin typeface="+mn-lt"/>
              </a:rPr>
              <a:t> is considered a pass.</a:t>
            </a:r>
          </a:p>
          <a:p>
            <a:pPr lvl="1" indent="-34290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Print "Passed" or "Failed" accordingly.</a:t>
            </a:r>
            <a:br>
              <a:rPr lang="en-US" sz="1200" b="0" i="0" dirty="0">
                <a:effectLst/>
                <a:latin typeface="+mn-lt"/>
              </a:rPr>
            </a:br>
            <a:endParaRPr lang="en-US" sz="1200" b="0" i="0" dirty="0">
              <a:effectLst/>
              <a:latin typeface="+mn-lt"/>
            </a:endParaRPr>
          </a:p>
          <a:p>
            <a:pPr marL="114300" lvl="1"/>
            <a:r>
              <a:rPr lang="en-US" sz="1200" b="0" i="0" dirty="0">
                <a:effectLst/>
                <a:latin typeface="+mn-lt"/>
              </a:rPr>
              <a:t>Use </a:t>
            </a:r>
            <a:r>
              <a:rPr lang="en-US" sz="1200" b="1" i="0" dirty="0">
                <a:effectLst/>
                <a:latin typeface="+mn-lt"/>
              </a:rPr>
              <a:t>else-if</a:t>
            </a:r>
            <a:r>
              <a:rPr lang="en-US" sz="1200" b="0" i="0" dirty="0">
                <a:effectLst/>
                <a:latin typeface="+mn-lt"/>
              </a:rPr>
              <a:t> conditions to assign and print a grade based on the score:</a:t>
            </a:r>
          </a:p>
          <a:p>
            <a:pPr marL="457200" lvl="2" indent="-28575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A for 90 and above</a:t>
            </a:r>
          </a:p>
          <a:p>
            <a:pPr marL="457200" lvl="2" indent="-28575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B for 75 to 89</a:t>
            </a:r>
          </a:p>
          <a:p>
            <a:pPr marL="457200" lvl="2" indent="-28575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C for 60 to 74</a:t>
            </a:r>
          </a:p>
          <a:p>
            <a:pPr marL="457200" lvl="2" indent="-285750">
              <a:buFont typeface="+mj-lt"/>
              <a:buAutoNum type="arabicPeriod"/>
            </a:pPr>
            <a:r>
              <a:rPr lang="en-US" sz="1200" b="0" i="0" dirty="0">
                <a:effectLst/>
                <a:latin typeface="+mn-lt"/>
              </a:rPr>
              <a:t>D for below 60</a:t>
            </a:r>
            <a:br>
              <a:rPr lang="en-US" sz="1200" b="0" i="0" dirty="0">
                <a:effectLst/>
                <a:latin typeface="+mn-lt"/>
              </a:rPr>
            </a:br>
            <a:endParaRPr lang="en-US" sz="1200" dirty="0"/>
          </a:p>
          <a:p>
            <a:pPr marL="171450" lvl="2"/>
            <a:r>
              <a:rPr lang="en-US" sz="1200" b="0" i="0" dirty="0">
                <a:effectLst/>
                <a:latin typeface="+mn-lt"/>
              </a:rPr>
              <a:t>Use </a:t>
            </a:r>
            <a:r>
              <a:rPr lang="en-US" sz="1200" b="0" i="0" dirty="0" err="1">
                <a:effectLst/>
                <a:latin typeface="+mn-lt"/>
              </a:rPr>
              <a:t>System.out.println</a:t>
            </a:r>
            <a:r>
              <a:rPr lang="en-US" sz="1200" b="0" i="0" dirty="0">
                <a:effectLst/>
                <a:latin typeface="+mn-lt"/>
              </a:rPr>
              <a:t>() to clearly display the output.</a:t>
            </a:r>
            <a:endParaRPr lang="en-US" sz="1000" b="0" i="0" dirty="0">
              <a:effectLst/>
              <a:latin typeface="Udemy Sans"/>
            </a:endParaRPr>
          </a:p>
        </p:txBody>
      </p:sp>
    </p:spTree>
    <p:extLst>
      <p:ext uri="{BB962C8B-B14F-4D97-AF65-F5344CB8AC3E}">
        <p14:creationId xmlns:p14="http://schemas.microsoft.com/office/powerpoint/2010/main" val="1164293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1DBDC-3E0A-D782-4032-EE16BFC76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Flow: Loops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BFA0F-4EF5-085A-85FD-055065073B78}"/>
              </a:ext>
            </a:extLst>
          </p:cNvPr>
          <p:cNvSpPr txBox="1"/>
          <p:nvPr/>
        </p:nvSpPr>
        <p:spPr>
          <a:xfrm>
            <a:off x="2234331" y="3373098"/>
            <a:ext cx="27071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0;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while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&lt; 5)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++;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66BDEB-1957-910E-3627-00B8509ECEFF}"/>
              </a:ext>
            </a:extLst>
          </p:cNvPr>
          <p:cNvSpPr txBox="1"/>
          <p:nvPr/>
        </p:nvSpPr>
        <p:spPr>
          <a:xfrm>
            <a:off x="6900276" y="3310468"/>
            <a:ext cx="28261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0;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do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++;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while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&lt; 5);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66DAEF-5588-373C-3201-51D2ECF8114B}"/>
              </a:ext>
            </a:extLst>
          </p:cNvPr>
          <p:cNvSpPr txBox="1"/>
          <p:nvPr/>
        </p:nvSpPr>
        <p:spPr>
          <a:xfrm>
            <a:off x="3230311" y="2273474"/>
            <a:ext cx="57313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While – execute until condition is false</a:t>
            </a:r>
          </a:p>
          <a:p>
            <a:r>
              <a:rPr lang="en-US" dirty="0"/>
              <a:t>do while – execute at least once, and until condition is false</a:t>
            </a:r>
          </a:p>
        </p:txBody>
      </p:sp>
    </p:spTree>
    <p:extLst>
      <p:ext uri="{BB962C8B-B14F-4D97-AF65-F5344CB8AC3E}">
        <p14:creationId xmlns:p14="http://schemas.microsoft.com/office/powerpoint/2010/main" val="2051319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DFACC-11AF-5D2A-BDEF-C4A7AE498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Flow: For Loops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AF38A-C77E-A2F6-3535-AAF4E2E3237D}"/>
              </a:ext>
            </a:extLst>
          </p:cNvPr>
          <p:cNvSpPr txBox="1"/>
          <p:nvPr/>
        </p:nvSpPr>
        <p:spPr>
          <a:xfrm>
            <a:off x="1620555" y="2884032"/>
            <a:ext cx="28888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for (int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0;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&lt; 5;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++) {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);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41396A-BAE0-7474-EB55-DAB9495AD76E}"/>
              </a:ext>
            </a:extLst>
          </p:cNvPr>
          <p:cNvSpPr txBox="1"/>
          <p:nvPr/>
        </p:nvSpPr>
        <p:spPr>
          <a:xfrm>
            <a:off x="7188374" y="2828835"/>
            <a:ext cx="30474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for (int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0;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&lt;= 10;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+ 2) {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);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0D4423-6D33-6FA2-DD2A-F6E12350610B}"/>
              </a:ext>
            </a:extLst>
          </p:cNvPr>
          <p:cNvSpPr txBox="1"/>
          <p:nvPr/>
        </p:nvSpPr>
        <p:spPr>
          <a:xfrm>
            <a:off x="4316782" y="4912808"/>
            <a:ext cx="41163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int sum = 0;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for (int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= 1;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&lt;= 5;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++) {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sum = sum +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;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("Sum is " + sum);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56B036-A48B-3F29-9E52-6B1A04BD4529}"/>
              </a:ext>
            </a:extLst>
          </p:cNvPr>
          <p:cNvSpPr/>
          <p:nvPr/>
        </p:nvSpPr>
        <p:spPr>
          <a:xfrm>
            <a:off x="1473374" y="2828835"/>
            <a:ext cx="2843408" cy="112108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A87BDF-F7E2-DB4B-75DD-3D7EEC32BA19}"/>
              </a:ext>
            </a:extLst>
          </p:cNvPr>
          <p:cNvSpPr/>
          <p:nvPr/>
        </p:nvSpPr>
        <p:spPr>
          <a:xfrm>
            <a:off x="4316782" y="4921158"/>
            <a:ext cx="3533906" cy="154227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6B3CBD-78F8-E5E3-5005-70077D31E356}"/>
              </a:ext>
            </a:extLst>
          </p:cNvPr>
          <p:cNvSpPr/>
          <p:nvPr/>
        </p:nvSpPr>
        <p:spPr>
          <a:xfrm>
            <a:off x="7133834" y="2828835"/>
            <a:ext cx="3156558" cy="120032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627567-1BF7-D803-9E64-E251A57EE34F}"/>
              </a:ext>
            </a:extLst>
          </p:cNvPr>
          <p:cNvSpPr txBox="1"/>
          <p:nvPr/>
        </p:nvSpPr>
        <p:spPr>
          <a:xfrm>
            <a:off x="1473374" y="2459503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Print 0-4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EFE847-9024-A898-084E-5E071C0BA9C8}"/>
              </a:ext>
            </a:extLst>
          </p:cNvPr>
          <p:cNvSpPr txBox="1"/>
          <p:nvPr/>
        </p:nvSpPr>
        <p:spPr>
          <a:xfrm>
            <a:off x="7115273" y="2414934"/>
            <a:ext cx="2006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Print even numbers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0EBAD3-E1EB-03B5-9C85-28E19F5B9F72}"/>
              </a:ext>
            </a:extLst>
          </p:cNvPr>
          <p:cNvSpPr txBox="1"/>
          <p:nvPr/>
        </p:nvSpPr>
        <p:spPr>
          <a:xfrm>
            <a:off x="4237451" y="4464227"/>
            <a:ext cx="1964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Print sum from 1-5</a:t>
            </a:r>
          </a:p>
        </p:txBody>
      </p:sp>
    </p:spTree>
    <p:extLst>
      <p:ext uri="{BB962C8B-B14F-4D97-AF65-F5344CB8AC3E}">
        <p14:creationId xmlns:p14="http://schemas.microsoft.com/office/powerpoint/2010/main" val="4899164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D2D4B-F411-19E4-30C6-A461D659A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Flow: For-each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E5ECD-0031-F4C7-7C9F-108DB282F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2962" y="5283971"/>
            <a:ext cx="2431318" cy="33723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Note: More on Arrays later!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78C332-BB0C-2E0B-05EE-9F5AE53306EC}"/>
              </a:ext>
            </a:extLst>
          </p:cNvPr>
          <p:cNvSpPr txBox="1"/>
          <p:nvPr/>
        </p:nvSpPr>
        <p:spPr>
          <a:xfrm>
            <a:off x="3518248" y="2827224"/>
            <a:ext cx="60970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String[] cars = {"Volvo", "BMW", "Ford", "Mazda"};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for (String car : cars) {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(car);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1784FE-DF6C-3003-6ABC-23650B015A04}"/>
              </a:ext>
            </a:extLst>
          </p:cNvPr>
          <p:cNvSpPr/>
          <p:nvPr/>
        </p:nvSpPr>
        <p:spPr>
          <a:xfrm>
            <a:off x="3414908" y="2721806"/>
            <a:ext cx="4927426" cy="172493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544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1A339-3EEF-E113-8A89-2A285E82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816E9-3020-FC91-31D8-DC5015D3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14F65E-0C73-24FF-B6EC-4CC085325CA7}"/>
              </a:ext>
            </a:extLst>
          </p:cNvPr>
          <p:cNvSpPr txBox="1"/>
          <p:nvPr/>
        </p:nvSpPr>
        <p:spPr>
          <a:xfrm>
            <a:off x="1228165" y="2402747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24E32D-4FE5-5D2A-1199-1B6E1C1EE3E9}"/>
              </a:ext>
            </a:extLst>
          </p:cNvPr>
          <p:cNvSpPr txBox="1"/>
          <p:nvPr/>
        </p:nvSpPr>
        <p:spPr>
          <a:xfrm>
            <a:off x="6582427" y="2402747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D64181-04E1-0CE5-9059-952216B8F4AA}"/>
              </a:ext>
            </a:extLst>
          </p:cNvPr>
          <p:cNvSpPr txBox="1"/>
          <p:nvPr/>
        </p:nvSpPr>
        <p:spPr>
          <a:xfrm>
            <a:off x="5500255" y="3004200"/>
            <a:ext cx="609704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600" b="0" i="0" dirty="0">
                <a:effectLst/>
                <a:latin typeface="+mn-lt"/>
              </a:rPr>
              <a:t>Write a Java program that prints the numbers from 1 to 5 using three different loop types: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+mn-lt"/>
              </a:rPr>
              <a:t>for loop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+mn-lt"/>
              </a:rPr>
              <a:t>while loop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+mn-lt"/>
              </a:rPr>
              <a:t>do-while loop</a:t>
            </a:r>
          </a:p>
          <a:p>
            <a:pPr marL="0" marR="0" indent="0" algn="l">
              <a:buNone/>
            </a:pPr>
            <a:r>
              <a:rPr lang="en-US" sz="1600" b="0" i="0" dirty="0">
                <a:effectLst/>
                <a:latin typeface="+mn-lt"/>
              </a:rPr>
              <a:t>Each loop should run independently and print its result on a </a:t>
            </a:r>
            <a:r>
              <a:rPr lang="en-US" sz="1600" b="1" i="0" dirty="0">
                <a:effectLst/>
                <a:latin typeface="+mn-lt"/>
              </a:rPr>
              <a:t>single line</a:t>
            </a:r>
            <a:r>
              <a:rPr lang="en-US" sz="1600" b="0" i="0" dirty="0">
                <a:effectLst/>
                <a:latin typeface="+mn-lt"/>
              </a:rPr>
              <a:t>, clearly labeled. Numbers should be printed with </a:t>
            </a:r>
            <a:r>
              <a:rPr lang="en-US" sz="1600" b="1" i="0" dirty="0">
                <a:effectLst/>
                <a:latin typeface="+mn-lt"/>
              </a:rPr>
              <a:t>spaces between them</a:t>
            </a:r>
            <a:r>
              <a:rPr lang="en-US" sz="1600" b="0" i="0" dirty="0">
                <a:effectLst/>
                <a:latin typeface="+mn-lt"/>
              </a:rPr>
              <a:t> and no trailing space at the end.</a:t>
            </a:r>
            <a:endParaRPr lang="en-US" sz="1100" b="0" i="0" dirty="0">
              <a:effectLst/>
              <a:latin typeface="Udemy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0532BF-5900-B3A0-EE61-F1EEC8F94408}"/>
              </a:ext>
            </a:extLst>
          </p:cNvPr>
          <p:cNvSpPr txBox="1"/>
          <p:nvPr/>
        </p:nvSpPr>
        <p:spPr>
          <a:xfrm>
            <a:off x="1228165" y="3004200"/>
            <a:ext cx="34336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400" i="0" dirty="0">
                <a:effectLst/>
                <a:latin typeface="+mn-lt"/>
              </a:rPr>
              <a:t>For Loop:  1  2  3  4  5</a:t>
            </a:r>
          </a:p>
          <a:p>
            <a:pPr marL="0" marR="0" indent="0" algn="l">
              <a:buNone/>
            </a:pPr>
            <a:r>
              <a:rPr lang="en-US" sz="1400" i="0" dirty="0">
                <a:effectLst/>
                <a:latin typeface="+mn-lt"/>
              </a:rPr>
              <a:t>While Loop:  1  2  3  4  5</a:t>
            </a:r>
          </a:p>
          <a:p>
            <a:pPr marL="0" marR="0" indent="0" algn="l">
              <a:buNone/>
            </a:pPr>
            <a:r>
              <a:rPr lang="en-US" sz="1400" i="0" dirty="0">
                <a:effectLst/>
                <a:latin typeface="+mn-lt"/>
              </a:rPr>
              <a:t>Do-While Loop:  1  2  3  4  5</a:t>
            </a:r>
            <a:endParaRPr lang="en-US" sz="1050" i="0" dirty="0">
              <a:effectLst/>
              <a:latin typeface="Udemy Sans"/>
            </a:endParaRPr>
          </a:p>
        </p:txBody>
      </p:sp>
    </p:spTree>
    <p:extLst>
      <p:ext uri="{BB962C8B-B14F-4D97-AF65-F5344CB8AC3E}">
        <p14:creationId xmlns:p14="http://schemas.microsoft.com/office/powerpoint/2010/main" val="474538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DA872-33F2-F0B3-341D-2821C8901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2F870-C227-556A-B137-FEB1EFE28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Calculator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13AFEE-FD84-BFEB-9803-69F1E1C2FDEC}"/>
              </a:ext>
            </a:extLst>
          </p:cNvPr>
          <p:cNvSpPr txBox="1"/>
          <p:nvPr/>
        </p:nvSpPr>
        <p:spPr>
          <a:xfrm>
            <a:off x="1228165" y="2402747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84E3F-ED32-D5D3-5957-27CCCF41734D}"/>
              </a:ext>
            </a:extLst>
          </p:cNvPr>
          <p:cNvSpPr txBox="1"/>
          <p:nvPr/>
        </p:nvSpPr>
        <p:spPr>
          <a:xfrm>
            <a:off x="6582427" y="2402747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20 min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AB726E-CF73-4D39-625E-261FF5F182C3}"/>
              </a:ext>
            </a:extLst>
          </p:cNvPr>
          <p:cNvSpPr txBox="1"/>
          <p:nvPr/>
        </p:nvSpPr>
        <p:spPr>
          <a:xfrm>
            <a:off x="5835563" y="2869502"/>
            <a:ext cx="609704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400" b="0" i="0" dirty="0">
                <a:effectLst/>
                <a:latin typeface="+mn-lt"/>
              </a:rPr>
              <a:t>Create a minimal console-style calculator in Java that uses </a:t>
            </a:r>
            <a:r>
              <a:rPr lang="en-US" sz="1400" b="1" i="0" dirty="0">
                <a:effectLst/>
                <a:latin typeface="+mn-lt"/>
              </a:rPr>
              <a:t>predefined values</a:t>
            </a:r>
            <a:r>
              <a:rPr lang="en-US" sz="1400" b="0" i="0" dirty="0">
                <a:effectLst/>
                <a:latin typeface="+mn-lt"/>
              </a:rPr>
              <a:t> instead of reading input from the user.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n-lt"/>
              </a:rPr>
              <a:t>Initialize two numbers (e.g., double num1 = 7;, double num2 = 3;) and an operator (e.g., char operator = '+').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n-lt"/>
              </a:rPr>
              <a:t>Use a while loop controlled by String again = "y". Inside the loop, perform </a:t>
            </a:r>
            <a:r>
              <a:rPr lang="en-US" sz="1400" b="1" i="0" dirty="0">
                <a:effectLst/>
                <a:latin typeface="+mn-lt"/>
              </a:rPr>
              <a:t>exactly one</a:t>
            </a:r>
            <a:r>
              <a:rPr lang="en-US" sz="1400" b="0" i="0" dirty="0">
                <a:effectLst/>
                <a:latin typeface="+mn-lt"/>
              </a:rPr>
              <a:t> calculation and then set again = "n" so the loop ends after the first run.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n-lt"/>
              </a:rPr>
              <a:t>Use if-else statements to handle the operator: +, -, *, /.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n-lt"/>
              </a:rPr>
              <a:t>For division, if num2 is 0, print Cannot divide by zero. and </a:t>
            </a:r>
            <a:r>
              <a:rPr lang="en-US" sz="1400" b="1" i="0" dirty="0">
                <a:effectLst/>
                <a:latin typeface="+mn-lt"/>
              </a:rPr>
              <a:t>do not</a:t>
            </a:r>
            <a:r>
              <a:rPr lang="en-US" sz="1400" b="0" i="0" dirty="0">
                <a:effectLst/>
                <a:latin typeface="+mn-lt"/>
              </a:rPr>
              <a:t> perform the division.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n-lt"/>
              </a:rPr>
              <a:t>Print the result using the exact format:</a:t>
            </a:r>
            <a:br>
              <a:rPr lang="en-US" sz="1400" b="0" i="0" dirty="0">
                <a:effectLst/>
                <a:latin typeface="+mn-lt"/>
              </a:rPr>
            </a:br>
            <a:r>
              <a:rPr lang="en-US" sz="1400" b="0" i="0" dirty="0">
                <a:effectLst/>
                <a:latin typeface="+mn-lt"/>
              </a:rPr>
              <a:t>Result: &lt;value&gt;</a:t>
            </a:r>
          </a:p>
          <a:p>
            <a:pPr marL="0" marR="0" lvl="0" indent="-34290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n-lt"/>
              </a:rPr>
              <a:t>After the loop ends, print a closing message:</a:t>
            </a:r>
            <a:br>
              <a:rPr lang="en-US" sz="1400" b="0" i="0" dirty="0">
                <a:effectLst/>
                <a:latin typeface="+mn-lt"/>
              </a:rPr>
            </a:br>
            <a:r>
              <a:rPr lang="en-US" sz="1400" b="0" i="0" dirty="0">
                <a:effectLst/>
                <a:latin typeface="+mn-lt"/>
              </a:rPr>
              <a:t>Thank you for using the calculator.</a:t>
            </a:r>
            <a:endParaRPr lang="en-US" sz="1050" b="0" i="0" dirty="0">
              <a:effectLst/>
              <a:latin typeface="Udemy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53210A-5690-5C40-0423-654B855C43D0}"/>
              </a:ext>
            </a:extLst>
          </p:cNvPr>
          <p:cNvSpPr txBox="1"/>
          <p:nvPr/>
        </p:nvSpPr>
        <p:spPr>
          <a:xfrm>
            <a:off x="1228165" y="2869502"/>
            <a:ext cx="3771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/>
            <a:r>
              <a:rPr lang="en-US" sz="1800" b="0" i="0" dirty="0">
                <a:effectLst/>
                <a:latin typeface="+mn-lt"/>
              </a:rPr>
              <a:t>Result: 10.0</a:t>
            </a:r>
          </a:p>
          <a:p>
            <a:pPr marR="0" lvl="0" algn="l"/>
            <a:r>
              <a:rPr lang="en-US" sz="1800" b="0" i="0" dirty="0">
                <a:effectLst/>
                <a:latin typeface="+mn-lt"/>
              </a:rPr>
              <a:t>Thank you for using the calculator.</a:t>
            </a:r>
            <a:endParaRPr lang="en-US" sz="900" b="0" i="0" dirty="0">
              <a:effectLst/>
              <a:latin typeface="SFMon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816874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4591A-C5C2-5BDF-91BB-C788DD11E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898CA-E2D2-CD41-405E-CFA764B14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948226"/>
            <a:ext cx="11029615" cy="58829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Arrays can store multiple values in a single variable, instead of declaring separate variables for each value. </a:t>
            </a:r>
          </a:p>
          <a:p>
            <a:r>
              <a:rPr lang="en-US" dirty="0"/>
              <a:t>Arrays in Java are statically sized, i.e. once size is set it cannot be changed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84CB60-5873-597A-F792-FAEB73AA0D56}"/>
              </a:ext>
            </a:extLst>
          </p:cNvPr>
          <p:cNvSpPr txBox="1"/>
          <p:nvPr/>
        </p:nvSpPr>
        <p:spPr>
          <a:xfrm>
            <a:off x="3047476" y="2536521"/>
            <a:ext cx="6097044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String[] cars = {"Volvo", "BMW", "Ford", "Mazda"};</a:t>
            </a:r>
          </a:p>
          <a:p>
            <a:r>
              <a:rPr lang="en-US" dirty="0"/>
              <a:t>int[] </a:t>
            </a:r>
            <a:r>
              <a:rPr lang="en-US" dirty="0" err="1"/>
              <a:t>myNum</a:t>
            </a:r>
            <a:r>
              <a:rPr lang="en-US" dirty="0"/>
              <a:t> = {10, 20, 30, 40};</a:t>
            </a:r>
          </a:p>
          <a:p>
            <a:br>
              <a:rPr lang="en-US" dirty="0"/>
            </a:br>
            <a:r>
              <a:rPr lang="en-US" dirty="0" err="1"/>
              <a:t>System.out.println</a:t>
            </a:r>
            <a:r>
              <a:rPr lang="en-US" dirty="0"/>
              <a:t>(cars[0]);</a:t>
            </a:r>
          </a:p>
          <a:p>
            <a:r>
              <a:rPr lang="en-US" dirty="0"/>
              <a:t>// Outputs Volvo</a:t>
            </a:r>
          </a:p>
          <a:p>
            <a:endParaRPr lang="en-US" dirty="0"/>
          </a:p>
          <a:p>
            <a:r>
              <a:rPr lang="en-US" dirty="0"/>
              <a:t>cars[0] = “Toyota";</a:t>
            </a:r>
          </a:p>
          <a:p>
            <a:r>
              <a:rPr lang="en-US" dirty="0" err="1"/>
              <a:t>System.out.println</a:t>
            </a:r>
            <a:r>
              <a:rPr lang="en-US" dirty="0"/>
              <a:t>(cars[0]);</a:t>
            </a:r>
          </a:p>
          <a:p>
            <a:r>
              <a:rPr lang="en-US" dirty="0"/>
              <a:t>// Now outputs Toyota instead of Volvo</a:t>
            </a:r>
          </a:p>
          <a:p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cars.length</a:t>
            </a:r>
            <a:r>
              <a:rPr lang="en-US" dirty="0"/>
              <a:t>);</a:t>
            </a:r>
          </a:p>
          <a:p>
            <a:r>
              <a:rPr lang="en-US" dirty="0"/>
              <a:t>// Outputs 4</a:t>
            </a:r>
          </a:p>
          <a:p>
            <a:endParaRPr lang="en-US" dirty="0"/>
          </a:p>
          <a:p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C94DF8-962A-3B36-E806-64087585AF5A}"/>
              </a:ext>
            </a:extLst>
          </p:cNvPr>
          <p:cNvSpPr txBox="1"/>
          <p:nvPr/>
        </p:nvSpPr>
        <p:spPr>
          <a:xfrm>
            <a:off x="3047476" y="6303011"/>
            <a:ext cx="60970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String[] cars = new String[4]; // size is 4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3917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69867-18D4-720E-A5B6-F189DF304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61713-F633-D42F-5FD0-B27241B41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// single line comment </a:t>
            </a:r>
          </a:p>
          <a:p>
            <a:r>
              <a:rPr lang="en-US" dirty="0"/>
              <a:t>/* This is a multi-line comment */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6677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03917-40E4-1611-A918-585C644EE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011094-C944-06AC-6DEF-71F872705B0E}"/>
              </a:ext>
            </a:extLst>
          </p:cNvPr>
          <p:cNvSpPr txBox="1"/>
          <p:nvPr/>
        </p:nvSpPr>
        <p:spPr>
          <a:xfrm>
            <a:off x="581192" y="2598531"/>
            <a:ext cx="64524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 = "ABCDEFGHIJKLMNOPQRSTUVWXYZ";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("The length of the txt string is: " +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txt.length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());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A42424-B7BD-11E3-F34F-5B3174D93168}"/>
              </a:ext>
            </a:extLst>
          </p:cNvPr>
          <p:cNvSpPr txBox="1"/>
          <p:nvPr/>
        </p:nvSpPr>
        <p:spPr>
          <a:xfrm>
            <a:off x="581192" y="3844870"/>
            <a:ext cx="69785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 = "Hello World";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txt.toUpperCase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());   // Outputs "HELLO WORLD"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txt.toLowerCase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());   // Outputs "hello world"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17F01C-5B99-8B03-9CD4-53FA7A4A930A}"/>
              </a:ext>
            </a:extLst>
          </p:cNvPr>
          <p:cNvSpPr txBox="1"/>
          <p:nvPr/>
        </p:nvSpPr>
        <p:spPr>
          <a:xfrm>
            <a:off x="637262" y="5368208"/>
            <a:ext cx="60970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 = "Please locate where 'locate' occurs!";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txt.indexOf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("locate")); // Outputs 7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C09F15-6583-DDC0-9F54-FE3261E75583}"/>
              </a:ext>
            </a:extLst>
          </p:cNvPr>
          <p:cNvSpPr/>
          <p:nvPr/>
        </p:nvSpPr>
        <p:spPr>
          <a:xfrm>
            <a:off x="581192" y="2523995"/>
            <a:ext cx="6333175" cy="92333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BB1641-E5D5-70F3-4ACA-E61F365C4A2D}"/>
              </a:ext>
            </a:extLst>
          </p:cNvPr>
          <p:cNvSpPr/>
          <p:nvPr/>
        </p:nvSpPr>
        <p:spPr>
          <a:xfrm>
            <a:off x="581191" y="3805784"/>
            <a:ext cx="6708957" cy="10138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2D1DEA-E61A-920E-FBA5-AA0ADB11C7A1}"/>
              </a:ext>
            </a:extLst>
          </p:cNvPr>
          <p:cNvSpPr/>
          <p:nvPr/>
        </p:nvSpPr>
        <p:spPr>
          <a:xfrm>
            <a:off x="637263" y="5334690"/>
            <a:ext cx="5268760" cy="74669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594F9F-1133-5A21-DA1A-0840BC6063C1}"/>
              </a:ext>
            </a:extLst>
          </p:cNvPr>
          <p:cNvSpPr txBox="1"/>
          <p:nvPr/>
        </p:nvSpPr>
        <p:spPr>
          <a:xfrm>
            <a:off x="7365304" y="2828464"/>
            <a:ext cx="257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the length of a string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4E85E-EE52-59BE-F3FF-087998ECE89F}"/>
              </a:ext>
            </a:extLst>
          </p:cNvPr>
          <p:cNvSpPr txBox="1"/>
          <p:nvPr/>
        </p:nvSpPr>
        <p:spPr>
          <a:xfrm>
            <a:off x="7559755" y="4177100"/>
            <a:ext cx="2186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Transform string case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560E10-13AA-3782-A4D0-77BBF8A3CBFE}"/>
              </a:ext>
            </a:extLst>
          </p:cNvPr>
          <p:cNvSpPr txBox="1"/>
          <p:nvPr/>
        </p:nvSpPr>
        <p:spPr>
          <a:xfrm>
            <a:off x="6227523" y="5537153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Locate the index of a string value</a:t>
            </a:r>
          </a:p>
        </p:txBody>
      </p:sp>
    </p:spTree>
    <p:extLst>
      <p:ext uri="{BB962C8B-B14F-4D97-AF65-F5344CB8AC3E}">
        <p14:creationId xmlns:p14="http://schemas.microsoft.com/office/powerpoint/2010/main" val="24996138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93D6D-86E5-4950-3FB9-B204C7BA1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E959B1-F604-074E-58A8-6FA1DD817ADD}"/>
              </a:ext>
            </a:extLst>
          </p:cNvPr>
          <p:cNvSpPr txBox="1"/>
          <p:nvPr/>
        </p:nvSpPr>
        <p:spPr>
          <a:xfrm>
            <a:off x="505739" y="2362334"/>
            <a:ext cx="60970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txt1 = "Hello";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txt2 = "Hello";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txt3 = "Greetings";</a:t>
            </a:r>
          </a:p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txt4 = "Great things";</a:t>
            </a:r>
          </a:p>
          <a:p>
            <a:pPr marL="0" marR="0" indent="0" algn="l" latinLnBrk="0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(txt1.equals(txt2));  // true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(txt3.equals(txt4));  // false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C7FEB8-F98E-E67B-DC11-645FD9B7C651}"/>
              </a:ext>
            </a:extLst>
          </p:cNvPr>
          <p:cNvSpPr txBox="1"/>
          <p:nvPr/>
        </p:nvSpPr>
        <p:spPr>
          <a:xfrm>
            <a:off x="505738" y="5347839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0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txt = "   Hello World   ";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("Before: [" + txt + "]");</a:t>
            </a:r>
          </a:p>
          <a:p>
            <a:pPr marL="0" marR="0" indent="0" algn="l" latinLnBrk="0"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("After:  [" +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txt.trim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() + "]");</a:t>
            </a:r>
            <a:endParaRPr lang="en-US" sz="1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BFA797-8421-C47B-035D-F90955C5E745}"/>
              </a:ext>
            </a:extLst>
          </p:cNvPr>
          <p:cNvSpPr/>
          <p:nvPr/>
        </p:nvSpPr>
        <p:spPr>
          <a:xfrm>
            <a:off x="505739" y="2344614"/>
            <a:ext cx="4573565" cy="236517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EBA40E-AFF7-39D5-FFFA-A1D63D563F6B}"/>
              </a:ext>
            </a:extLst>
          </p:cNvPr>
          <p:cNvSpPr/>
          <p:nvPr/>
        </p:nvSpPr>
        <p:spPr>
          <a:xfrm>
            <a:off x="505739" y="5338444"/>
            <a:ext cx="4705088" cy="101836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93D1F4-6E19-5F51-0650-D55172767B1D}"/>
              </a:ext>
            </a:extLst>
          </p:cNvPr>
          <p:cNvSpPr txBox="1"/>
          <p:nvPr/>
        </p:nvSpPr>
        <p:spPr>
          <a:xfrm>
            <a:off x="5404981" y="3263030"/>
            <a:ext cx="2505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Make string comparisons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AAE352-2FD6-0411-EA8F-AFD9CDFB675D}"/>
              </a:ext>
            </a:extLst>
          </p:cNvPr>
          <p:cNvSpPr txBox="1"/>
          <p:nvPr/>
        </p:nvSpPr>
        <p:spPr>
          <a:xfrm>
            <a:off x="5404981" y="5621489"/>
            <a:ext cx="17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Trim whitespace</a:t>
            </a:r>
          </a:p>
        </p:txBody>
      </p:sp>
      <p:sp>
        <p:nvSpPr>
          <p:cNvPr id="18" name="TextBox 17">
            <a:hlinkClick r:id="rId2"/>
            <a:extLst>
              <a:ext uri="{FF2B5EF4-FFF2-40B4-BE49-F238E27FC236}">
                <a16:creationId xmlns:a16="http://schemas.microsoft.com/office/drawing/2014/main" id="{2ABC657C-A9FC-D142-F8AB-6D3DB33714A6}"/>
              </a:ext>
            </a:extLst>
          </p:cNvPr>
          <p:cNvSpPr txBox="1"/>
          <p:nvPr/>
        </p:nvSpPr>
        <p:spPr>
          <a:xfrm>
            <a:off x="8692244" y="4441252"/>
            <a:ext cx="2518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String Method Reference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787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4F141-5AA7-6E2F-BCA7-DE2AA8484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Strings……..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16F55-775D-52F1-DA66-0379E3F48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349" y="2731642"/>
            <a:ext cx="11029615" cy="6942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Strings are immutable</a:t>
            </a:r>
          </a:p>
          <a:p>
            <a:r>
              <a:rPr lang="en-US" dirty="0"/>
              <a:t>The following may appear to modify s, but that’s not what’s happening: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EEBB62-5FAE-670B-4591-9316A13FB018}"/>
              </a:ext>
            </a:extLst>
          </p:cNvPr>
          <p:cNvSpPr txBox="1"/>
          <p:nvPr/>
        </p:nvSpPr>
        <p:spPr>
          <a:xfrm>
            <a:off x="1132338" y="3567243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String s = "hello"; </a:t>
            </a:r>
          </a:p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s = s + " world";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BA55555-7E50-6FB6-616D-9DC8699232C1}"/>
              </a:ext>
            </a:extLst>
          </p:cNvPr>
          <p:cNvSpPr txBox="1">
            <a:spLocks/>
          </p:cNvSpPr>
          <p:nvPr/>
        </p:nvSpPr>
        <p:spPr>
          <a:xfrm>
            <a:off x="656348" y="4339746"/>
            <a:ext cx="11029615" cy="1013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new string object is created under-the-hood</a:t>
            </a:r>
          </a:p>
          <a:p>
            <a:r>
              <a:rPr lang="en-US" dirty="0"/>
              <a:t>Strings are placed in a String Pool, a special place in memory</a:t>
            </a:r>
          </a:p>
          <a:p>
            <a:r>
              <a:rPr lang="en-US" dirty="0"/>
              <a:t>The JVM can check the String Pool and reuse similar strings if it makes sense to do so</a:t>
            </a:r>
          </a:p>
        </p:txBody>
      </p:sp>
    </p:spTree>
    <p:extLst>
      <p:ext uri="{BB962C8B-B14F-4D97-AF65-F5344CB8AC3E}">
        <p14:creationId xmlns:p14="http://schemas.microsoft.com/office/powerpoint/2010/main" val="20661662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A16DF-4A74-C8D0-1050-605C48EA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Strings……………..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69601-7D88-A0BF-DC9E-03C7A0CA2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351" y="1924567"/>
            <a:ext cx="11029615" cy="456233"/>
          </a:xfrm>
        </p:spPr>
        <p:txBody>
          <a:bodyPr/>
          <a:lstStyle/>
          <a:p>
            <a:r>
              <a:rPr lang="en-US" dirty="0"/>
              <a:t>Suppose you do the following (every concatenation will produce a new string, and thus degrade performance):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3D9390-C301-8652-D1EE-6BF6887E706A}"/>
              </a:ext>
            </a:extLst>
          </p:cNvPr>
          <p:cNvSpPr txBox="1"/>
          <p:nvPr/>
        </p:nvSpPr>
        <p:spPr>
          <a:xfrm>
            <a:off x="637262" y="2581106"/>
            <a:ext cx="30140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String result = "";</a:t>
            </a:r>
          </a:p>
          <a:p>
            <a:endParaRPr lang="en-US" dirty="0"/>
          </a:p>
          <a:p>
            <a:r>
              <a:rPr lang="en-US" dirty="0"/>
              <a:t>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10000;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result = result +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542664-63FC-82D8-7A3B-E40ED0159FBC}"/>
              </a:ext>
            </a:extLst>
          </p:cNvPr>
          <p:cNvSpPr txBox="1"/>
          <p:nvPr/>
        </p:nvSpPr>
        <p:spPr>
          <a:xfrm>
            <a:off x="581192" y="4649230"/>
            <a:ext cx="37841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StringBuilder sb = new StringBuilder();</a:t>
            </a:r>
          </a:p>
          <a:p>
            <a:endParaRPr lang="en-US" dirty="0"/>
          </a:p>
          <a:p>
            <a:r>
              <a:rPr lang="en-US" dirty="0" err="1"/>
              <a:t>sb.append</a:t>
            </a:r>
            <a:r>
              <a:rPr lang="en-US" dirty="0"/>
              <a:t>("Hello");</a:t>
            </a:r>
          </a:p>
          <a:p>
            <a:r>
              <a:rPr lang="en-US" dirty="0" err="1"/>
              <a:t>sb.append</a:t>
            </a:r>
            <a:r>
              <a:rPr lang="en-US" dirty="0"/>
              <a:t>(" ");</a:t>
            </a:r>
          </a:p>
          <a:p>
            <a:r>
              <a:rPr lang="en-US" dirty="0" err="1"/>
              <a:t>sb.append</a:t>
            </a:r>
            <a:r>
              <a:rPr lang="en-US" dirty="0"/>
              <a:t>("world");</a:t>
            </a:r>
          </a:p>
          <a:p>
            <a:endParaRPr lang="en-US" dirty="0"/>
          </a:p>
          <a:p>
            <a:r>
              <a:rPr lang="en-US" dirty="0"/>
              <a:t>String result = </a:t>
            </a:r>
            <a:r>
              <a:rPr lang="en-US" dirty="0" err="1"/>
              <a:t>sb.toString</a:t>
            </a:r>
            <a:r>
              <a:rPr lang="en-US" dirty="0"/>
              <a:t>();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295CB9-BD94-47E9-0AE5-0E1E575AB877}"/>
              </a:ext>
            </a:extLst>
          </p:cNvPr>
          <p:cNvSpPr/>
          <p:nvPr/>
        </p:nvSpPr>
        <p:spPr>
          <a:xfrm>
            <a:off x="637262" y="2581105"/>
            <a:ext cx="2957708" cy="153995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674B28-D9BB-BD37-E5E3-6ABC47164001}"/>
              </a:ext>
            </a:extLst>
          </p:cNvPr>
          <p:cNvSpPr/>
          <p:nvPr/>
        </p:nvSpPr>
        <p:spPr>
          <a:xfrm>
            <a:off x="581192" y="4584301"/>
            <a:ext cx="3709270" cy="209625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44BDC-AC48-C4AE-CB28-A8CC0DD9339C}"/>
              </a:ext>
            </a:extLst>
          </p:cNvPr>
          <p:cNvSpPr txBox="1">
            <a:spLocks/>
          </p:cNvSpPr>
          <p:nvPr/>
        </p:nvSpPr>
        <p:spPr>
          <a:xfrm>
            <a:off x="445493" y="4093251"/>
            <a:ext cx="11029615" cy="456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Instead, we can use StringBuilder to create a string which can grow dynamically (mutable)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83C1D6-1537-9999-4C1B-E6324573E270}"/>
              </a:ext>
            </a:extLst>
          </p:cNvPr>
          <p:cNvSpPr txBox="1"/>
          <p:nvPr/>
        </p:nvSpPr>
        <p:spPr>
          <a:xfrm>
            <a:off x="5411243" y="5295560"/>
            <a:ext cx="5974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NOTE: </a:t>
            </a:r>
            <a:r>
              <a:rPr lang="en-US" dirty="0"/>
              <a:t>There is also the </a:t>
            </a:r>
            <a:r>
              <a:rPr lang="en-US" dirty="0" err="1"/>
              <a:t>StringBuffer</a:t>
            </a:r>
            <a:r>
              <a:rPr lang="en-US" dirty="0"/>
              <a:t> object. The main difference between StringBuilder and </a:t>
            </a:r>
            <a:r>
              <a:rPr lang="en-US" dirty="0" err="1"/>
              <a:t>StringBuffer</a:t>
            </a:r>
            <a:r>
              <a:rPr lang="en-US" dirty="0"/>
              <a:t> is that the former isn’t thread-safe, while </a:t>
            </a:r>
            <a:r>
              <a:rPr lang="en-US" dirty="0" err="1"/>
              <a:t>StringBuffer</a:t>
            </a:r>
            <a:r>
              <a:rPr lang="en-US" dirty="0"/>
              <a:t> is. </a:t>
            </a:r>
          </a:p>
        </p:txBody>
      </p:sp>
    </p:spTree>
    <p:extLst>
      <p:ext uri="{BB962C8B-B14F-4D97-AF65-F5344CB8AC3E}">
        <p14:creationId xmlns:p14="http://schemas.microsoft.com/office/powerpoint/2010/main" val="15670343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84898-90B8-9667-2A57-06726A894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&amp;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E823D-4649-6DAA-D859-2FA7A8D2A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921" y="2243127"/>
            <a:ext cx="4097279" cy="18215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Classes – a blueprint for an object</a:t>
            </a:r>
          </a:p>
          <a:p>
            <a:pPr lvl="1"/>
            <a:r>
              <a:rPr lang="en-US" dirty="0"/>
              <a:t>It has: State + Behavior </a:t>
            </a:r>
          </a:p>
          <a:p>
            <a:pPr lvl="1"/>
            <a:r>
              <a:rPr lang="en-US" dirty="0"/>
              <a:t>State – properties/data that describe an object</a:t>
            </a:r>
          </a:p>
          <a:p>
            <a:pPr lvl="1"/>
            <a:r>
              <a:rPr lang="en-US" dirty="0"/>
              <a:t>Behavior – the behavior/actions that an object can perform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6A0FB88-9B03-1AE0-EB8C-B8F35E39892C}"/>
              </a:ext>
            </a:extLst>
          </p:cNvPr>
          <p:cNvSpPr txBox="1">
            <a:spLocks/>
          </p:cNvSpPr>
          <p:nvPr/>
        </p:nvSpPr>
        <p:spPr>
          <a:xfrm>
            <a:off x="5988262" y="2167971"/>
            <a:ext cx="4097279" cy="1821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Objects – instantiations of a class</a:t>
            </a:r>
          </a:p>
          <a:p>
            <a:pPr lvl="1"/>
            <a:r>
              <a:rPr lang="en-US" dirty="0"/>
              <a:t>Object state – Specific values to describe the object; unique to itself </a:t>
            </a:r>
          </a:p>
          <a:p>
            <a:pPr lvl="1"/>
            <a:r>
              <a:rPr lang="en-US" dirty="0"/>
              <a:t>Object behavior – what this object can do; defined by the class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630A83F-9D09-EE73-2CB4-B000EAD9964F}"/>
              </a:ext>
            </a:extLst>
          </p:cNvPr>
          <p:cNvSpPr txBox="1">
            <a:spLocks/>
          </p:cNvSpPr>
          <p:nvPr/>
        </p:nvSpPr>
        <p:spPr>
          <a:xfrm>
            <a:off x="888080" y="4334274"/>
            <a:ext cx="4097279" cy="1821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Class: Car</a:t>
            </a:r>
          </a:p>
          <a:p>
            <a:pPr lvl="1"/>
            <a:r>
              <a:rPr lang="en-US" dirty="0"/>
              <a:t>State: color, make, model</a:t>
            </a:r>
          </a:p>
          <a:p>
            <a:pPr lvl="1"/>
            <a:r>
              <a:rPr lang="en-US" dirty="0"/>
              <a:t>Behavior: accelerate(), brake(), turn()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13E69E4-86F7-0152-C1C6-A181016BA9AE}"/>
              </a:ext>
            </a:extLst>
          </p:cNvPr>
          <p:cNvSpPr txBox="1">
            <a:spLocks/>
          </p:cNvSpPr>
          <p:nvPr/>
        </p:nvSpPr>
        <p:spPr>
          <a:xfrm>
            <a:off x="6096000" y="4334274"/>
            <a:ext cx="4097279" cy="1821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Object: </a:t>
            </a:r>
            <a:r>
              <a:rPr lang="en-US" dirty="0" err="1"/>
              <a:t>myCar</a:t>
            </a:r>
            <a:endParaRPr lang="en-US" dirty="0"/>
          </a:p>
          <a:p>
            <a:pPr lvl="1"/>
            <a:r>
              <a:rPr lang="en-US" dirty="0"/>
              <a:t>State: color = “red’, make = “Toyota”</a:t>
            </a:r>
          </a:p>
          <a:p>
            <a:pPr lvl="1"/>
            <a:r>
              <a:rPr lang="en-US" dirty="0"/>
              <a:t>Behavior: accelerate(), brake(), turn()</a:t>
            </a:r>
          </a:p>
        </p:txBody>
      </p:sp>
    </p:spTree>
    <p:extLst>
      <p:ext uri="{BB962C8B-B14F-4D97-AF65-F5344CB8AC3E}">
        <p14:creationId xmlns:p14="http://schemas.microsoft.com/office/powerpoint/2010/main" val="4781827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F0D4C-03AC-DEF4-2D9C-D957F7174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Class, method, Method arguments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558CA-9C48-DCD2-F29B-C49ABF2A6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137" y="2115293"/>
            <a:ext cx="4906060" cy="43059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B5F59C-83C9-CE4E-0B32-C3148D05A0C0}"/>
              </a:ext>
            </a:extLst>
          </p:cNvPr>
          <p:cNvSpPr txBox="1"/>
          <p:nvPr/>
        </p:nvSpPr>
        <p:spPr>
          <a:xfrm>
            <a:off x="6401513" y="2115293"/>
            <a:ext cx="4834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method signature has: an access modifier, static keyword (optional), a return type, method name, and a list of parameters (optional)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DEB00-0CDB-C844-0091-54CFB85B8A15}"/>
              </a:ext>
            </a:extLst>
          </p:cNvPr>
          <p:cNvSpPr txBox="1"/>
          <p:nvPr/>
        </p:nvSpPr>
        <p:spPr>
          <a:xfrm>
            <a:off x="4056403" y="6451199"/>
            <a:ext cx="4079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these need to be separate .java files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C88E2B-E253-9245-561D-FEC3A2E7D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764" y="3366061"/>
            <a:ext cx="3743847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706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CA99C-B3EC-D43B-5D5E-A4FFB1BC9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main method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8F18D7-7595-E180-4105-9B37F3F969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1548" y="2671823"/>
            <a:ext cx="4848902" cy="2095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6E16C3-886A-FC2A-63DF-4B38BF077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072" y="5410332"/>
            <a:ext cx="9173855" cy="5525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25407F-5446-8F6A-D1D0-0A39F4081ABC}"/>
              </a:ext>
            </a:extLst>
          </p:cNvPr>
          <p:cNvSpPr txBox="1"/>
          <p:nvPr/>
        </p:nvSpPr>
        <p:spPr>
          <a:xfrm>
            <a:off x="3466208" y="2029106"/>
            <a:ext cx="5259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main method is the entry point to our application</a:t>
            </a:r>
          </a:p>
        </p:txBody>
      </p:sp>
    </p:spTree>
    <p:extLst>
      <p:ext uri="{BB962C8B-B14F-4D97-AF65-F5344CB8AC3E}">
        <p14:creationId xmlns:p14="http://schemas.microsoft.com/office/powerpoint/2010/main" val="20799945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977DB-7686-BC3A-6D5B-103091022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&amp; </a:t>
            </a:r>
            <a:r>
              <a:rPr lang="en-US" dirty="0" err="1"/>
              <a:t>HEap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74AC7-9D38-CD5B-BA0B-110BD87C0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577312"/>
          </a:xfrm>
        </p:spPr>
        <p:txBody>
          <a:bodyPr/>
          <a:lstStyle/>
          <a:p>
            <a:r>
              <a:rPr lang="en-US" dirty="0"/>
              <a:t>When a Java program runs, the JVM manages memory in several areas</a:t>
            </a:r>
          </a:p>
          <a:p>
            <a:pPr lvl="1"/>
            <a:r>
              <a:rPr lang="en-US" dirty="0"/>
              <a:t>Stack – keeps track of method calls, local variables, reference pointers</a:t>
            </a:r>
          </a:p>
          <a:p>
            <a:pPr lvl="1"/>
            <a:r>
              <a:rPr lang="en-US" dirty="0"/>
              <a:t>Heap – stores instantiated objects, arrays, &amp; the String Pool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4BB8AA-6CF2-41BB-C97D-4FAA0AFEE1C4}"/>
              </a:ext>
            </a:extLst>
          </p:cNvPr>
          <p:cNvSpPr txBox="1"/>
          <p:nvPr/>
        </p:nvSpPr>
        <p:spPr>
          <a:xfrm>
            <a:off x="818889" y="4123093"/>
            <a:ext cx="48240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public class Main { </a:t>
            </a:r>
          </a:p>
          <a:p>
            <a:endParaRPr lang="en-US" dirty="0"/>
          </a:p>
          <a:p>
            <a:pPr lvl="1"/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public static void main(String[]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+mn-lt"/>
              </a:rPr>
              <a:t>args</a:t>
            </a:r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) { </a:t>
            </a:r>
          </a:p>
          <a:p>
            <a:pPr lvl="2"/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int age = 25; </a:t>
            </a:r>
          </a:p>
          <a:p>
            <a:pPr lvl="2"/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Person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+mn-lt"/>
              </a:rPr>
              <a:t>person</a:t>
            </a:r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 = new Person("Alex"); </a:t>
            </a:r>
          </a:p>
          <a:p>
            <a:pPr lvl="2"/>
            <a:r>
              <a:rPr lang="en-US" b="0" i="0" dirty="0" err="1">
                <a:solidFill>
                  <a:schemeClr val="tx1"/>
                </a:solidFill>
                <a:effectLst/>
                <a:latin typeface="+mn-lt"/>
              </a:rPr>
              <a:t>person.sayHello</a:t>
            </a:r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(); </a:t>
            </a:r>
          </a:p>
          <a:p>
            <a:pPr lvl="1"/>
            <a:r>
              <a:rPr lang="en-US" b="0" i="0" dirty="0">
                <a:solidFill>
                  <a:schemeClr val="tx1"/>
                </a:solidFill>
                <a:effectLst/>
                <a:latin typeface="+mn-lt"/>
              </a:rPr>
              <a:t>} </a:t>
            </a:r>
          </a:p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2057D8-F5FC-DA28-7684-2109EC39C9C4}"/>
              </a:ext>
            </a:extLst>
          </p:cNvPr>
          <p:cNvSpPr txBox="1"/>
          <p:nvPr/>
        </p:nvSpPr>
        <p:spPr>
          <a:xfrm>
            <a:off x="6501007" y="4045907"/>
            <a:ext cx="11273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Stack</a:t>
            </a:r>
          </a:p>
          <a:p>
            <a:endParaRPr lang="en-US" dirty="0"/>
          </a:p>
          <a:p>
            <a:r>
              <a:rPr lang="en-US" dirty="0"/>
              <a:t>Main()</a:t>
            </a:r>
          </a:p>
          <a:p>
            <a:r>
              <a:rPr lang="en-US" dirty="0"/>
              <a:t>Age = 25</a:t>
            </a:r>
          </a:p>
          <a:p>
            <a:r>
              <a:rPr lang="en-US" dirty="0"/>
              <a:t>person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4795C2-1DAA-B995-3E1F-08C8F04F846F}"/>
              </a:ext>
            </a:extLst>
          </p:cNvPr>
          <p:cNvSpPr txBox="1"/>
          <p:nvPr/>
        </p:nvSpPr>
        <p:spPr>
          <a:xfrm>
            <a:off x="8839198" y="4045907"/>
            <a:ext cx="18893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Heap</a:t>
            </a:r>
          </a:p>
          <a:p>
            <a:endParaRPr lang="en-US" dirty="0"/>
          </a:p>
          <a:p>
            <a:r>
              <a:rPr lang="en-US" dirty="0"/>
              <a:t>Person object</a:t>
            </a:r>
          </a:p>
          <a:p>
            <a:r>
              <a:rPr lang="en-US" dirty="0"/>
              <a:t>name = “Alex”</a:t>
            </a:r>
          </a:p>
          <a:p>
            <a:endParaRPr lang="en-US" dirty="0"/>
          </a:p>
          <a:p>
            <a:r>
              <a:rPr lang="en-US" dirty="0"/>
              <a:t>The String Pool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80DC81-6564-7A08-C5B8-F821C95149C3}"/>
              </a:ext>
            </a:extLst>
          </p:cNvPr>
          <p:cNvSpPr/>
          <p:nvPr/>
        </p:nvSpPr>
        <p:spPr>
          <a:xfrm>
            <a:off x="6501007" y="4572000"/>
            <a:ext cx="1127343" cy="104592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6128B9-7050-944D-A969-A0781B6FBAED}"/>
              </a:ext>
            </a:extLst>
          </p:cNvPr>
          <p:cNvSpPr/>
          <p:nvPr/>
        </p:nvSpPr>
        <p:spPr>
          <a:xfrm>
            <a:off x="8791181" y="4572000"/>
            <a:ext cx="1774523" cy="134028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667A01-A20C-46C4-0CAE-D431C5588AE9}"/>
              </a:ext>
            </a:extLst>
          </p:cNvPr>
          <p:cNvSpPr/>
          <p:nvPr/>
        </p:nvSpPr>
        <p:spPr>
          <a:xfrm>
            <a:off x="818889" y="4096122"/>
            <a:ext cx="4604881" cy="241741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DF0252-E345-CC95-AC61-383A1473CB7B}"/>
              </a:ext>
            </a:extLst>
          </p:cNvPr>
          <p:cNvCxnSpPr/>
          <p:nvPr/>
        </p:nvCxnSpPr>
        <p:spPr>
          <a:xfrm>
            <a:off x="5505189" y="5029200"/>
            <a:ext cx="6764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E28AF7BE-02F1-084F-5708-046ED4FE31A2}"/>
              </a:ext>
            </a:extLst>
          </p:cNvPr>
          <p:cNvCxnSpPr/>
          <p:nvPr/>
        </p:nvCxnSpPr>
        <p:spPr>
          <a:xfrm flipV="1">
            <a:off x="7271359" y="4778679"/>
            <a:ext cx="1640909" cy="5761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5829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1663-8D94-7306-8520-D2C08981D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80F8E-DBAF-F0C5-2CA6-1F7C1E2CC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Packages allow us to organize related classes, interfaces, and more into namespaces</a:t>
            </a:r>
          </a:p>
          <a:p>
            <a:r>
              <a:rPr lang="en-US" dirty="0"/>
              <a:t>This helps keep our code organized and prevent naming conflicts </a:t>
            </a:r>
          </a:p>
          <a:p>
            <a:r>
              <a:rPr lang="en-US" dirty="0"/>
              <a:t>We have a default unnamed package, but we should strive to create named packages in fully featured applications</a:t>
            </a:r>
          </a:p>
          <a:p>
            <a:r>
              <a:rPr lang="en-US" dirty="0"/>
              <a:t>Imagine a project with many classes: Student, Teacher, Course, Login, Database, Email, etc.</a:t>
            </a:r>
          </a:p>
          <a:p>
            <a:pPr lvl="1"/>
            <a:r>
              <a:rPr lang="en-US" dirty="0"/>
              <a:t>With packages we can group these up:</a:t>
            </a:r>
          </a:p>
          <a:p>
            <a:pPr lvl="2"/>
            <a:r>
              <a:rPr lang="en-US" dirty="0"/>
              <a:t>Models: Student.java, Teacher.java, Course.java</a:t>
            </a:r>
          </a:p>
          <a:p>
            <a:pPr lvl="2"/>
            <a:r>
              <a:rPr lang="en-US" dirty="0"/>
              <a:t>Database: Database.java</a:t>
            </a:r>
          </a:p>
          <a:p>
            <a:pPr lvl="2"/>
            <a:r>
              <a:rPr lang="en-US" dirty="0"/>
              <a:t>Etc. </a:t>
            </a:r>
          </a:p>
        </p:txBody>
      </p:sp>
    </p:spTree>
    <p:extLst>
      <p:ext uri="{BB962C8B-B14F-4D97-AF65-F5344CB8AC3E}">
        <p14:creationId xmlns:p14="http://schemas.microsoft.com/office/powerpoint/2010/main" val="37071676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DE2F6-6747-2B84-AE30-5AB870951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7315E-E7F1-6C2D-4B93-C243DC6D3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224119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naming convention for packages is typically a reverse domain</a:t>
            </a:r>
          </a:p>
          <a:p>
            <a:r>
              <a:rPr lang="en-US" dirty="0"/>
              <a:t>So if your website is: example.com</a:t>
            </a:r>
          </a:p>
          <a:p>
            <a:pPr lvl="1"/>
            <a:r>
              <a:rPr lang="en-US" dirty="0"/>
              <a:t>Your package becomes: </a:t>
            </a:r>
            <a:r>
              <a:rPr lang="en-US" dirty="0" err="1"/>
              <a:t>com.example</a:t>
            </a:r>
            <a:endParaRPr lang="en-US" dirty="0"/>
          </a:p>
          <a:p>
            <a:r>
              <a:rPr lang="en-US" dirty="0"/>
              <a:t>We use the package keyword declared at the top of the file to declare a files content within a package </a:t>
            </a:r>
          </a:p>
          <a:p>
            <a:r>
              <a:rPr lang="en-US" dirty="0"/>
              <a:t>We use the import keyword to reference items from one package to another</a:t>
            </a:r>
          </a:p>
          <a:p>
            <a:r>
              <a:rPr lang="en-US" dirty="0"/>
              <a:t>You can import multiple classes from a package like so: import </a:t>
            </a:r>
            <a:r>
              <a:rPr lang="en-US" dirty="0" err="1"/>
              <a:t>pacakgename</a:t>
            </a:r>
            <a:r>
              <a:rPr lang="en-US" dirty="0"/>
              <a:t>.*;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D7A5A5-4C98-AE26-F257-6AD45DC3E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436" y="4569429"/>
            <a:ext cx="2919107" cy="2132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775B3D-21BD-AF4C-842B-8D559EA9E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249" y="4653917"/>
            <a:ext cx="3512448" cy="19348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E279FF-80DE-210C-92BF-1C5E26718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303" y="4705123"/>
            <a:ext cx="1655056" cy="193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107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9CB01-6B64-025E-5251-6ED9F7102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built-in package examples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895C822-5C5E-9CF7-BF58-6B91E42B9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173222"/>
              </p:ext>
            </p:extLst>
          </p:nvPr>
        </p:nvGraphicFramePr>
        <p:xfrm>
          <a:off x="581025" y="2817178"/>
          <a:ext cx="1102995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14975">
                  <a:extLst>
                    <a:ext uri="{9D8B030D-6E8A-4147-A177-3AD203B41FA5}">
                      <a16:colId xmlns:a16="http://schemas.microsoft.com/office/drawing/2014/main" val="1122265394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27787996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b="1" dirty="0">
                          <a:effectLst/>
                        </a:rPr>
                        <a:t>Package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b="1" dirty="0">
                          <a:effectLst/>
                        </a:rPr>
                        <a:t>Purpose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8252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java.lang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Core classes (automatically imported)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519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java.util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Collections, Scanner, Random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853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java.io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File input/output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298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java.nio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Modern file and network I/O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59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java.time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Date and time API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3177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java.net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dirty="0">
                          <a:effectLst/>
                        </a:rPr>
                        <a:t>Networking</a:t>
                      </a:r>
                      <a:endParaRPr lang="en-US" b="0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358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0896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EEB11-01BF-95AC-AE7D-E0FA09A0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Modifiers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5DE58-1754-EBA0-DECA-13CB2282A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accent2"/>
                </a:solidFill>
              </a:rPr>
              <a:t>public</a:t>
            </a:r>
            <a:r>
              <a:rPr lang="en-US" dirty="0"/>
              <a:t>: Members with public modifiers can be accessed by any class. Public methods, variables, or classes have the widest scope.</a:t>
            </a:r>
          </a:p>
          <a:p>
            <a:pPr lvl="0"/>
            <a:r>
              <a:rPr lang="en-US" dirty="0">
                <a:solidFill>
                  <a:schemeClr val="accent2"/>
                </a:solidFill>
              </a:rPr>
              <a:t>protected</a:t>
            </a:r>
            <a:r>
              <a:rPr lang="en-US" dirty="0"/>
              <a:t>: The protected modifier is used within the same package. It can be accessed outside the package but only through inheritance.</a:t>
            </a:r>
          </a:p>
          <a:p>
            <a:pPr lvl="0"/>
            <a:r>
              <a:rPr lang="en-US" dirty="0">
                <a:solidFill>
                  <a:schemeClr val="accent2"/>
                </a:solidFill>
              </a:rPr>
              <a:t>default</a:t>
            </a:r>
            <a:r>
              <a:rPr lang="en-US" dirty="0"/>
              <a:t>: When we do not mention any access modifier, it is treated as default. It is accessible only within the same package.</a:t>
            </a:r>
          </a:p>
          <a:p>
            <a:pPr lvl="0"/>
            <a:r>
              <a:rPr lang="en-US" dirty="0">
                <a:solidFill>
                  <a:schemeClr val="accent2"/>
                </a:solidFill>
              </a:rPr>
              <a:t>private</a:t>
            </a:r>
            <a:r>
              <a:rPr lang="en-US" dirty="0"/>
              <a:t>: Private methods, variables, and constructors are not accessible to any other class. It is the most restrictive access modifier. A class cannot be private unless it is a nested class.</a:t>
            </a:r>
          </a:p>
        </p:txBody>
      </p:sp>
    </p:spTree>
    <p:extLst>
      <p:ext uri="{BB962C8B-B14F-4D97-AF65-F5344CB8AC3E}">
        <p14:creationId xmlns:p14="http://schemas.microsoft.com/office/powerpoint/2010/main" val="31543897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B3352-26DE-9831-9215-0803977E9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static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31DFA-BD49-186B-05D1-C6F26B58A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464578"/>
          </a:xfrm>
        </p:spPr>
        <p:txBody>
          <a:bodyPr/>
          <a:lstStyle/>
          <a:p>
            <a:r>
              <a:rPr lang="en-US" dirty="0"/>
              <a:t>In Java, a static member is a member of a class that isn’t associated with an instance of a class. Instead, the member belongs to the class itself. As a result, you can access the static member without first creating a class instance.</a:t>
            </a:r>
          </a:p>
          <a:p>
            <a:r>
              <a:rPr lang="en-US" dirty="0"/>
              <a:t>The Static keyword may be used with code blocks, variables, methods, &amp; classes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ACB8E1-5887-ACF1-6998-51CA9F505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167" y="4232744"/>
            <a:ext cx="4279569" cy="16870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B8CA63-D4F5-8889-9173-1E8048123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762" y="4491431"/>
            <a:ext cx="3175928" cy="23167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696A8F-CE39-2A1A-BB50-952C4DBB0258}"/>
              </a:ext>
            </a:extLst>
          </p:cNvPr>
          <p:cNvSpPr txBox="1"/>
          <p:nvPr/>
        </p:nvSpPr>
        <p:spPr>
          <a:xfrm>
            <a:off x="7073887" y="3740284"/>
            <a:ext cx="33736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Notice we no longer need to use the new keyword to instantiate a Calculator object, we instead call the class method directly: </a:t>
            </a:r>
          </a:p>
        </p:txBody>
      </p:sp>
    </p:spTree>
    <p:extLst>
      <p:ext uri="{BB962C8B-B14F-4D97-AF65-F5344CB8AC3E}">
        <p14:creationId xmlns:p14="http://schemas.microsoft.com/office/powerpoint/2010/main" val="29493716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6951-A7B3-A649-D5E3-A56F2BAD2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Taking user input - scanner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A049A5-8BFB-6E08-9BA7-1DE5E6AC1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928" y="2110636"/>
            <a:ext cx="3779922" cy="445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04020E-44F2-AF36-8FC6-5076BAFD2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163" y="3429000"/>
            <a:ext cx="2514951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241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FDDE2-F518-7C30-1018-699007972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scanner methods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E203F9-1733-1C84-915A-4714F8965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019408"/>
              </p:ext>
            </p:extLst>
          </p:nvPr>
        </p:nvGraphicFramePr>
        <p:xfrm>
          <a:off x="581025" y="2817178"/>
          <a:ext cx="1102995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14975">
                  <a:extLst>
                    <a:ext uri="{9D8B030D-6E8A-4147-A177-3AD203B41FA5}">
                      <a16:colId xmlns:a16="http://schemas.microsoft.com/office/drawing/2014/main" val="1510903267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4122651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b="1" dirty="0">
                          <a:effectLst/>
                        </a:rPr>
                        <a:t>Method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b="1" dirty="0">
                          <a:effectLst/>
                        </a:rPr>
                        <a:t>Takes input as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1617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nextInt()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int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384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nextDouble()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double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3480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nextFloat()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float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353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nextBoolean()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boolean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6244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next()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One word (String)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6834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nextLine()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dirty="0">
                          <a:effectLst/>
                        </a:rPr>
                        <a:t>Entire line (String)</a:t>
                      </a:r>
                      <a:endParaRPr lang="en-US" b="0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037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8153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240A4-AB3F-9AFA-A403-CF863867A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BCA4-81D5-B411-5356-7FE280DA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Calculate 5 test scores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197CB1-77F6-CFCE-040C-4E4430D483F7}"/>
              </a:ext>
            </a:extLst>
          </p:cNvPr>
          <p:cNvSpPr txBox="1"/>
          <p:nvPr/>
        </p:nvSpPr>
        <p:spPr>
          <a:xfrm>
            <a:off x="1228165" y="2402747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848BE-A0E5-713F-98D2-55413A5BAC26}"/>
              </a:ext>
            </a:extLst>
          </p:cNvPr>
          <p:cNvSpPr txBox="1"/>
          <p:nvPr/>
        </p:nvSpPr>
        <p:spPr>
          <a:xfrm>
            <a:off x="6582427" y="2402747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BA4787-F6B8-0E25-54F5-B02FFD1E3D98}"/>
              </a:ext>
            </a:extLst>
          </p:cNvPr>
          <p:cNvSpPr txBox="1"/>
          <p:nvPr/>
        </p:nvSpPr>
        <p:spPr>
          <a:xfrm>
            <a:off x="5835563" y="2869502"/>
            <a:ext cx="609704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400" b="0" i="0" dirty="0">
                <a:effectLst/>
                <a:latin typeface="+mn-lt"/>
              </a:rPr>
              <a:t>Ask for 5 test scores and calculate:</a:t>
            </a:r>
          </a:p>
          <a:p>
            <a:pPr marL="285750" marR="0" indent="-285750" algn="l">
              <a:buFontTx/>
              <a:buChar char="-"/>
            </a:pPr>
            <a:r>
              <a:rPr lang="en-US" sz="1400" dirty="0"/>
              <a:t>Total</a:t>
            </a:r>
          </a:p>
          <a:p>
            <a:pPr marL="285750" marR="0" indent="-285750" algn="l">
              <a:buFontTx/>
              <a:buChar char="-"/>
            </a:pPr>
            <a:r>
              <a:rPr lang="en-US" sz="1400" dirty="0"/>
              <a:t>Average</a:t>
            </a:r>
          </a:p>
          <a:p>
            <a:pPr marL="285750" marR="0" indent="-285750" algn="l">
              <a:buFontTx/>
              <a:buChar char="-"/>
            </a:pPr>
            <a:r>
              <a:rPr lang="en-US" sz="1400" dirty="0"/>
              <a:t>Highest Score</a:t>
            </a:r>
          </a:p>
          <a:p>
            <a:pPr marL="285750" marR="0" indent="-285750" algn="l">
              <a:buFontTx/>
              <a:buChar char="-"/>
            </a:pPr>
            <a:r>
              <a:rPr lang="en-US" sz="1400" dirty="0"/>
              <a:t>Lowest Score</a:t>
            </a:r>
          </a:p>
          <a:p>
            <a:pPr marL="285750" marR="0" indent="-285750" algn="l">
              <a:buFontTx/>
              <a:buChar char="-"/>
            </a:pPr>
            <a:endParaRPr lang="en-US" sz="1400" dirty="0"/>
          </a:p>
          <a:p>
            <a:pPr marR="0" algn="l"/>
            <a:r>
              <a:rPr lang="en-US" sz="1400" dirty="0"/>
              <a:t>Then assign a letter grade.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8DB700-4C3C-007C-7923-932250BF4187}"/>
              </a:ext>
            </a:extLst>
          </p:cNvPr>
          <p:cNvSpPr txBox="1"/>
          <p:nvPr/>
        </p:nvSpPr>
        <p:spPr>
          <a:xfrm>
            <a:off x="1228165" y="2869502"/>
            <a:ext cx="37719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b="0" i="0" dirty="0">
                <a:effectLst/>
                <a:latin typeface="SFMono-Regular"/>
              </a:rPr>
              <a:t>If the 5 test scores entered are: 100, 90, 60, </a:t>
            </a:r>
            <a:r>
              <a:rPr lang="en-US" sz="1200" dirty="0">
                <a:latin typeface="SFMono-Regular"/>
              </a:rPr>
              <a:t>75, 20</a:t>
            </a:r>
          </a:p>
          <a:p>
            <a:pPr lvl="0"/>
            <a:endParaRPr lang="en-US" sz="1200" b="0" i="0" dirty="0">
              <a:effectLst/>
              <a:latin typeface="SFMono-Regular"/>
            </a:endParaRPr>
          </a:p>
          <a:p>
            <a:pPr lvl="0"/>
            <a:r>
              <a:rPr lang="en-US" sz="1200" dirty="0">
                <a:latin typeface="SFMono-Regular"/>
              </a:rPr>
              <a:t>Then:</a:t>
            </a:r>
          </a:p>
          <a:p>
            <a:pPr lvl="0"/>
            <a:endParaRPr lang="en-US" sz="1200" b="0" i="0" dirty="0">
              <a:effectLst/>
              <a:latin typeface="SFMono-Regular"/>
            </a:endParaRPr>
          </a:p>
          <a:p>
            <a:pPr lvl="0"/>
            <a:r>
              <a:rPr lang="en-US" sz="1200" dirty="0">
                <a:latin typeface="SFMono-Regular"/>
              </a:rPr>
              <a:t>Total: 345</a:t>
            </a:r>
          </a:p>
          <a:p>
            <a:pPr lvl="0"/>
            <a:r>
              <a:rPr lang="en-US" sz="1200" b="0" i="0" dirty="0">
                <a:effectLst/>
                <a:latin typeface="SFMono-Regular"/>
              </a:rPr>
              <a:t>Average: 69</a:t>
            </a:r>
          </a:p>
          <a:p>
            <a:pPr lvl="0"/>
            <a:r>
              <a:rPr lang="en-US" sz="1200" dirty="0">
                <a:latin typeface="SFMono-Regular"/>
              </a:rPr>
              <a:t>Highest: 100</a:t>
            </a:r>
          </a:p>
          <a:p>
            <a:pPr lvl="0"/>
            <a:r>
              <a:rPr lang="en-US" sz="1200" b="0" i="0" dirty="0">
                <a:effectLst/>
                <a:latin typeface="SFMono-Regular"/>
              </a:rPr>
              <a:t>Lowest: </a:t>
            </a:r>
            <a:r>
              <a:rPr lang="en-US" sz="1200" dirty="0">
                <a:latin typeface="SFMono-Regular"/>
              </a:rPr>
              <a:t>20</a:t>
            </a:r>
          </a:p>
          <a:p>
            <a:pPr lvl="0"/>
            <a:endParaRPr lang="en-US" sz="1200" b="0" i="0" dirty="0">
              <a:effectLst/>
              <a:latin typeface="SFMono-Regular"/>
            </a:endParaRPr>
          </a:p>
          <a:p>
            <a:pPr lvl="0"/>
            <a:r>
              <a:rPr lang="en-US" sz="1200" dirty="0">
                <a:latin typeface="SFMono-Regular"/>
              </a:rPr>
              <a:t>Your values were:</a:t>
            </a:r>
          </a:p>
          <a:p>
            <a:pPr lvl="0"/>
            <a:r>
              <a:rPr lang="en-US" sz="1200" b="0" i="0" dirty="0">
                <a:effectLst/>
                <a:latin typeface="SFMono-Regular"/>
              </a:rPr>
              <a:t>100 – A</a:t>
            </a:r>
          </a:p>
          <a:p>
            <a:pPr lvl="0"/>
            <a:r>
              <a:rPr lang="en-US" sz="1200" dirty="0">
                <a:latin typeface="SFMono-Regular"/>
              </a:rPr>
              <a:t>90 – A</a:t>
            </a:r>
          </a:p>
          <a:p>
            <a:pPr lvl="0"/>
            <a:r>
              <a:rPr lang="en-US" sz="1200" b="0" i="0" dirty="0">
                <a:effectLst/>
                <a:latin typeface="SFMono-Regular"/>
              </a:rPr>
              <a:t>60 – D</a:t>
            </a:r>
          </a:p>
          <a:p>
            <a:pPr lvl="0"/>
            <a:r>
              <a:rPr lang="en-US" sz="1200" dirty="0">
                <a:latin typeface="SFMono-Regular"/>
              </a:rPr>
              <a:t>75 – C</a:t>
            </a:r>
          </a:p>
          <a:p>
            <a:pPr lvl="0"/>
            <a:r>
              <a:rPr lang="en-US" sz="1200" b="0" i="0" dirty="0">
                <a:effectLst/>
                <a:latin typeface="SFMono-Regular"/>
              </a:rPr>
              <a:t>20 - F</a:t>
            </a:r>
          </a:p>
        </p:txBody>
      </p:sp>
    </p:spTree>
    <p:extLst>
      <p:ext uri="{BB962C8B-B14F-4D97-AF65-F5344CB8AC3E}">
        <p14:creationId xmlns:p14="http://schemas.microsoft.com/office/powerpoint/2010/main" val="12013969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46D36-1AE1-C38D-4795-720486433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0658-E93F-1A60-7AC9-F3C42E70B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REPL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3A3E7C-D24C-2E9D-CE75-B66EA83BBCEF}"/>
              </a:ext>
            </a:extLst>
          </p:cNvPr>
          <p:cNvSpPr txBox="1"/>
          <p:nvPr/>
        </p:nvSpPr>
        <p:spPr>
          <a:xfrm>
            <a:off x="1228165" y="2402747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879935-EB56-1E40-CBAE-E9170A916DA2}"/>
              </a:ext>
            </a:extLst>
          </p:cNvPr>
          <p:cNvSpPr txBox="1"/>
          <p:nvPr/>
        </p:nvSpPr>
        <p:spPr>
          <a:xfrm>
            <a:off x="6582427" y="2402747"/>
            <a:ext cx="50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C6398-445B-B2D3-B68E-24712AF93EB6}"/>
              </a:ext>
            </a:extLst>
          </p:cNvPr>
          <p:cNvSpPr txBox="1"/>
          <p:nvPr/>
        </p:nvSpPr>
        <p:spPr>
          <a:xfrm>
            <a:off x="5835563" y="2869502"/>
            <a:ext cx="609704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400" b="0" i="0" dirty="0">
                <a:effectLst/>
                <a:latin typeface="+mn-lt"/>
              </a:rPr>
              <a:t>Create a small REPL application where a user can:</a:t>
            </a:r>
          </a:p>
          <a:p>
            <a:pPr marL="285750" marR="0" indent="-285750" algn="l">
              <a:buFontTx/>
              <a:buChar char="-"/>
            </a:pPr>
            <a:r>
              <a:rPr lang="en-US" sz="1400" dirty="0"/>
              <a:t>Check account balance (start at 0)</a:t>
            </a:r>
          </a:p>
          <a:p>
            <a:pPr marL="285750" marR="0" indent="-285750" algn="l">
              <a:buFontTx/>
              <a:buChar char="-"/>
            </a:pPr>
            <a:r>
              <a:rPr lang="en-US" sz="1400" b="0" i="0" dirty="0">
                <a:effectLst/>
                <a:latin typeface="+mn-lt"/>
              </a:rPr>
              <a:t>Deposit into their account</a:t>
            </a:r>
          </a:p>
          <a:p>
            <a:pPr marL="285750" marR="0" indent="-285750" algn="l">
              <a:buFontTx/>
              <a:buChar char="-"/>
            </a:pPr>
            <a:r>
              <a:rPr lang="en-US" sz="1400" dirty="0"/>
              <a:t>Withdraw from their account</a:t>
            </a:r>
          </a:p>
          <a:p>
            <a:pPr marL="285750" marR="0" indent="-285750" algn="l">
              <a:buFontTx/>
              <a:buChar char="-"/>
            </a:pPr>
            <a:r>
              <a:rPr lang="en-US" sz="1400" b="0" i="0" dirty="0">
                <a:effectLst/>
                <a:latin typeface="+mn-lt"/>
              </a:rPr>
              <a:t>Exit</a:t>
            </a:r>
          </a:p>
          <a:p>
            <a:pPr marL="285750" marR="0" indent="-285750" algn="l">
              <a:buFontTx/>
              <a:buChar char="-"/>
            </a:pPr>
            <a:endParaRPr lang="en-US" sz="1400" dirty="0"/>
          </a:p>
          <a:p>
            <a:pPr marR="0" algn="l"/>
            <a:r>
              <a:rPr lang="en-US" sz="1400" dirty="0"/>
              <a:t>You don’t need actual account functionality or to keep anything in persistence, just the basic commands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2F8F6-4F9F-03C9-1892-86B1937FF298}"/>
              </a:ext>
            </a:extLst>
          </p:cNvPr>
          <p:cNvSpPr txBox="1"/>
          <p:nvPr/>
        </p:nvSpPr>
        <p:spPr>
          <a:xfrm>
            <a:off x="1228165" y="2869502"/>
            <a:ext cx="377190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AutoNum type="arabicPeriod"/>
            </a:pPr>
            <a:r>
              <a:rPr lang="en-US" dirty="0"/>
              <a:t>Check Balance </a:t>
            </a:r>
          </a:p>
          <a:p>
            <a:pPr marL="342900" lvl="0" indent="-342900">
              <a:buAutoNum type="arabicPeriod"/>
            </a:pPr>
            <a:r>
              <a:rPr lang="en-US" dirty="0"/>
              <a:t>Deposit </a:t>
            </a:r>
          </a:p>
          <a:p>
            <a:pPr marL="342900" lvl="0" indent="-342900">
              <a:buAutoNum type="arabicPeriod"/>
            </a:pPr>
            <a:r>
              <a:rPr lang="en-US" dirty="0"/>
              <a:t>Withdraw </a:t>
            </a:r>
          </a:p>
          <a:p>
            <a:pPr marL="342900" lvl="0" indent="-342900">
              <a:buAutoNum type="arabicPeriod"/>
            </a:pPr>
            <a:r>
              <a:rPr lang="en-US" dirty="0"/>
              <a:t>Exit</a:t>
            </a:r>
          </a:p>
          <a:p>
            <a:pPr marL="342900" lvl="0" indent="-342900">
              <a:buAutoNum type="arabicPeriod"/>
            </a:pPr>
            <a:endParaRPr lang="en-US" sz="900" b="0" i="0" dirty="0">
              <a:effectLst/>
              <a:latin typeface="SFMono-Regular"/>
            </a:endParaRPr>
          </a:p>
          <a:p>
            <a:pPr lvl="0"/>
            <a:r>
              <a:rPr lang="en-US" sz="1200" b="0" i="0" dirty="0">
                <a:effectLst/>
                <a:latin typeface="SFMono-Regular"/>
              </a:rPr>
              <a:t>The user can then select a command and be given instructions for entering the data. The program doesn’t terminate until they select ‘4’ at the start of the loop</a:t>
            </a:r>
          </a:p>
        </p:txBody>
      </p:sp>
    </p:spTree>
    <p:extLst>
      <p:ext uri="{BB962C8B-B14F-4D97-AF65-F5344CB8AC3E}">
        <p14:creationId xmlns:p14="http://schemas.microsoft.com/office/powerpoint/2010/main" val="404539706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3984</TotalTime>
  <Words>3905</Words>
  <Application>Microsoft Office PowerPoint</Application>
  <PresentationFormat>Widescreen</PresentationFormat>
  <Paragraphs>605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-apple-system-body</vt:lpstr>
      <vt:lpstr>Arial</vt:lpstr>
      <vt:lpstr>Consolas</vt:lpstr>
      <vt:lpstr>Gill Sans MT</vt:lpstr>
      <vt:lpstr>Segoe UI</vt:lpstr>
      <vt:lpstr>SFMono-Regular</vt:lpstr>
      <vt:lpstr>Udemy Sans</vt:lpstr>
      <vt:lpstr>Wingdings</vt:lpstr>
      <vt:lpstr>Wingdings 2</vt:lpstr>
      <vt:lpstr>Dividend</vt:lpstr>
      <vt:lpstr>Core Java</vt:lpstr>
      <vt:lpstr>What is Java?</vt:lpstr>
      <vt:lpstr>Installing JDK</vt:lpstr>
      <vt:lpstr>Different development Environments</vt:lpstr>
      <vt:lpstr>Jshell</vt:lpstr>
      <vt:lpstr>Challenge – Hello World</vt:lpstr>
      <vt:lpstr>Variables</vt:lpstr>
      <vt:lpstr>Data Types</vt:lpstr>
      <vt:lpstr>Reference Types</vt:lpstr>
      <vt:lpstr>Final variables</vt:lpstr>
      <vt:lpstr>Printing</vt:lpstr>
      <vt:lpstr>More on printing…</vt:lpstr>
      <vt:lpstr>Challenge – Printing output</vt:lpstr>
      <vt:lpstr>Type conversion &amp; Casting</vt:lpstr>
      <vt:lpstr>Arithmetic Operators</vt:lpstr>
      <vt:lpstr>Assignment Operators</vt:lpstr>
      <vt:lpstr>Comparison Operators</vt:lpstr>
      <vt:lpstr>Logical Operators</vt:lpstr>
      <vt:lpstr>Challenge – operators</vt:lpstr>
      <vt:lpstr>Control Flow: Conditional Statements</vt:lpstr>
      <vt:lpstr>Control Flow: Ternary Operators</vt:lpstr>
      <vt:lpstr>Control Flow: Switch Statements</vt:lpstr>
      <vt:lpstr>Challenge – Control flow</vt:lpstr>
      <vt:lpstr>Control Flow: Loops</vt:lpstr>
      <vt:lpstr>Control Flow: For Loops</vt:lpstr>
      <vt:lpstr>Control Flow: For-each Loops</vt:lpstr>
      <vt:lpstr>Challenge – Loops</vt:lpstr>
      <vt:lpstr>Challenge – Calculator</vt:lpstr>
      <vt:lpstr>Arrays</vt:lpstr>
      <vt:lpstr>Code Comments</vt:lpstr>
      <vt:lpstr>Strings</vt:lpstr>
      <vt:lpstr>Strings…</vt:lpstr>
      <vt:lpstr>Strings……..</vt:lpstr>
      <vt:lpstr>Strings……………..</vt:lpstr>
      <vt:lpstr>Classes &amp; Objects</vt:lpstr>
      <vt:lpstr>Class, method, Method arguments example</vt:lpstr>
      <vt:lpstr>The main method</vt:lpstr>
      <vt:lpstr>Stack &amp; HEap</vt:lpstr>
      <vt:lpstr>Packages</vt:lpstr>
      <vt:lpstr>Packages</vt:lpstr>
      <vt:lpstr>Java built-in package examples</vt:lpstr>
      <vt:lpstr>Access Modifiers</vt:lpstr>
      <vt:lpstr>The static keyword</vt:lpstr>
      <vt:lpstr>Taking user input - scanner</vt:lpstr>
      <vt:lpstr>Common scanner methods</vt:lpstr>
      <vt:lpstr>Challenge – Calculate 5 test scores</vt:lpstr>
      <vt:lpstr>Challenge – REPL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606</cp:revision>
  <dcterms:created xsi:type="dcterms:W3CDTF">2025-02-12T19:53:45Z</dcterms:created>
  <dcterms:modified xsi:type="dcterms:W3CDTF">2026-09-02T16:11:18Z</dcterms:modified>
</cp:coreProperties>
</file>