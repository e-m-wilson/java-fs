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  <Override PartName="/docMetadata/LabelInfo.xml" ContentType="application/vnd.ms-office.classificationlabel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microsoft.com/office/2020/02/relationships/classificationlabels" Target="docMetadata/LabelInfo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84" r:id="rId1"/>
  </p:sldMasterIdLst>
  <p:sldIdLst>
    <p:sldId id="256" r:id="rId2"/>
    <p:sldId id="263" r:id="rId3"/>
    <p:sldId id="264" r:id="rId4"/>
    <p:sldId id="265" r:id="rId5"/>
    <p:sldId id="266" r:id="rId6"/>
    <p:sldId id="267" r:id="rId7"/>
    <p:sldId id="268" r:id="rId8"/>
    <p:sldId id="269" r:id="rId9"/>
    <p:sldId id="270" r:id="rId10"/>
    <p:sldId id="271" r:id="rId11"/>
    <p:sldId id="274" r:id="rId12"/>
    <p:sldId id="272" r:id="rId13"/>
    <p:sldId id="273" r:id="rId14"/>
    <p:sldId id="276" r:id="rId15"/>
    <p:sldId id="275" r:id="rId16"/>
    <p:sldId id="262" r:id="rId17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3D3D3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9C8EF453-3095-AE8A-2F6D-B0378CA79EC1}" v="28" dt="2025-06-02T16:07:27.587"/>
    <p1510:client id="{DEF17522-F9FC-8578-697D-16CF15692E13}" v="5" dt="2025-06-03T14:51:56.486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9972" autoAdjust="0"/>
    <p:restoredTop sz="94660"/>
  </p:normalViewPr>
  <p:slideViewPr>
    <p:cSldViewPr snapToGrid="0">
      <p:cViewPr varScale="1">
        <p:scale>
          <a:sx n="153" d="100"/>
          <a:sy n="153" d="100"/>
        </p:scale>
        <p:origin x="162" y="19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presProps" Target="presProps.xml"/><Relationship Id="rId3" Type="http://schemas.openxmlformats.org/officeDocument/2006/relationships/slide" Target="slides/slide2.xml"/><Relationship Id="rId21" Type="http://schemas.openxmlformats.org/officeDocument/2006/relationships/tableStyles" Target="tableStyle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microsoft.com/office/2015/10/relationships/revisionInfo" Target="revisionInfo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446534" y="3085765"/>
            <a:ext cx="11262866" cy="3304800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581191" y="1020431"/>
            <a:ext cx="10993549" cy="1475013"/>
          </a:xfrm>
          <a:effectLst/>
        </p:spPr>
        <p:txBody>
          <a:bodyPr anchor="b">
            <a:normAutofit/>
          </a:bodyPr>
          <a:lstStyle>
            <a:lvl1pPr>
              <a:defRPr sz="3600">
                <a:solidFill>
                  <a:schemeClr val="accent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581194" y="2495445"/>
            <a:ext cx="10993546" cy="590321"/>
          </a:xfrm>
        </p:spPr>
        <p:txBody>
          <a:bodyPr anchor="t">
            <a:normAutofit/>
          </a:bodyPr>
          <a:lstStyle>
            <a:lvl1pPr marL="0" indent="0" algn="l">
              <a:buNone/>
              <a:defRPr sz="1600" cap="all">
                <a:solidFill>
                  <a:schemeClr val="accent2"/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dirty="0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7605951" y="5956137"/>
            <a:ext cx="2844800" cy="365125"/>
          </a:xfrm>
        </p:spPr>
        <p:txBody>
          <a:bodyPr/>
          <a:lstStyle>
            <a:lvl1pPr>
              <a:defRPr>
                <a:solidFill>
                  <a:schemeClr val="accent1">
                    <a:lumMod val="75000"/>
                    <a:lumOff val="25000"/>
                  </a:schemeClr>
                </a:solidFill>
              </a:defRPr>
            </a:lvl1pPr>
          </a:lstStyle>
          <a:p>
            <a:fld id="{B61BEF0D-F0BB-DE4B-95CE-6DB70DBA9567}" type="datetimeFigureOut">
              <a:rPr lang="en-US" dirty="0"/>
              <a:pPr/>
              <a:t>9/16/2026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581192" y="5951811"/>
            <a:ext cx="6917210" cy="365125"/>
          </a:xfrm>
        </p:spPr>
        <p:txBody>
          <a:bodyPr/>
          <a:lstStyle>
            <a:lvl1pPr>
              <a:defRPr>
                <a:solidFill>
                  <a:schemeClr val="accent1">
                    <a:lumMod val="75000"/>
                    <a:lumOff val="25000"/>
                  </a:schemeClr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0558300" y="5956137"/>
            <a:ext cx="1016440" cy="365125"/>
          </a:xfrm>
        </p:spPr>
        <p:txBody>
          <a:bodyPr/>
          <a:lstStyle>
            <a:lvl1pPr>
              <a:defRPr>
                <a:solidFill>
                  <a:schemeClr val="accent1">
                    <a:lumMod val="75000"/>
                    <a:lumOff val="25000"/>
                  </a:schemeClr>
                </a:solidFill>
              </a:defRPr>
            </a:lvl1pPr>
          </a:lstStyle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58811396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>
            <a:spLocks noChangeAspect="1"/>
          </p:cNvSpPr>
          <p:nvPr/>
        </p:nvSpPr>
        <p:spPr>
          <a:xfrm>
            <a:off x="440286" y="614407"/>
            <a:ext cx="11309338" cy="1189298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81192" y="702156"/>
            <a:ext cx="11029616" cy="1013800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81192" y="2180496"/>
            <a:ext cx="11029615" cy="3678303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dirty="0"/>
              <a:pPr/>
              <a:t>9/16/2026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0558300" y="5956137"/>
            <a:ext cx="1052508" cy="365125"/>
          </a:xfrm>
        </p:spPr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81587750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/>
          <p:cNvSpPr>
            <a:spLocks noChangeAspect="1"/>
          </p:cNvSpPr>
          <p:nvPr/>
        </p:nvSpPr>
        <p:spPr>
          <a:xfrm>
            <a:off x="447817" y="5141974"/>
            <a:ext cx="11290860" cy="1258827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81193" y="3043910"/>
            <a:ext cx="11029615" cy="1497507"/>
          </a:xfrm>
        </p:spPr>
        <p:txBody>
          <a:bodyPr anchor="b">
            <a:normAutofit/>
          </a:bodyPr>
          <a:lstStyle>
            <a:lvl1pPr algn="l">
              <a:defRPr sz="3600" b="0" cap="all">
                <a:solidFill>
                  <a:schemeClr val="accent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81192" y="4541417"/>
            <a:ext cx="11029615" cy="600556"/>
          </a:xfrm>
        </p:spPr>
        <p:txBody>
          <a:bodyPr anchor="t">
            <a:normAutofit/>
          </a:bodyPr>
          <a:lstStyle>
            <a:lvl1pPr marL="0" indent="0" algn="l">
              <a:buNone/>
              <a:defRPr sz="1800" cap="all">
                <a:solidFill>
                  <a:schemeClr val="accent2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accent1">
                    <a:lumMod val="75000"/>
                    <a:lumOff val="25000"/>
                  </a:schemeClr>
                </a:solidFill>
              </a:defRPr>
            </a:lvl1pPr>
          </a:lstStyle>
          <a:p>
            <a:fld id="{B61BEF0D-F0BB-DE4B-95CE-6DB70DBA9567}" type="datetimeFigureOut">
              <a:rPr lang="en-US" dirty="0"/>
              <a:pPr/>
              <a:t>9/16/2026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accent1">
                    <a:lumMod val="75000"/>
                    <a:lumOff val="25000"/>
                  </a:schemeClr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accent1">
                    <a:lumMod val="75000"/>
                    <a:lumOff val="25000"/>
                  </a:schemeClr>
                </a:solidFill>
              </a:defRPr>
            </a:lvl1pPr>
          </a:lstStyle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54737559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/>
          <p:cNvSpPr>
            <a:spLocks noChangeAspect="1"/>
          </p:cNvSpPr>
          <p:nvPr/>
        </p:nvSpPr>
        <p:spPr>
          <a:xfrm>
            <a:off x="445982" y="606554"/>
            <a:ext cx="11300036" cy="1258827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81193" y="729658"/>
            <a:ext cx="11029616" cy="988332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581193" y="2228003"/>
            <a:ext cx="5422390" cy="3633047"/>
          </a:xfrm>
        </p:spPr>
        <p:txBody>
          <a:bodyPr>
            <a:normAutofit/>
          </a:bodyPr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88417" y="2228003"/>
            <a:ext cx="5422392" cy="3633047"/>
          </a:xfrm>
        </p:spPr>
        <p:txBody>
          <a:bodyPr>
            <a:normAutofit/>
          </a:bodyPr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dirty="0"/>
              <a:pPr/>
              <a:t>9/16/2026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72650912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Rectangle 10"/>
          <p:cNvSpPr>
            <a:spLocks noChangeAspect="1"/>
          </p:cNvSpPr>
          <p:nvPr/>
        </p:nvSpPr>
        <p:spPr>
          <a:xfrm>
            <a:off x="445982" y="606554"/>
            <a:ext cx="11300036" cy="1258827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12" name="Title 1"/>
          <p:cNvSpPr>
            <a:spLocks noGrp="1"/>
          </p:cNvSpPr>
          <p:nvPr>
            <p:ph type="title"/>
          </p:nvPr>
        </p:nvSpPr>
        <p:spPr>
          <a:xfrm>
            <a:off x="581193" y="729658"/>
            <a:ext cx="11029616" cy="988332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87219" y="2250892"/>
            <a:ext cx="5087075" cy="536005"/>
          </a:xfrm>
        </p:spPr>
        <p:txBody>
          <a:bodyPr anchor="b">
            <a:noAutofit/>
          </a:bodyPr>
          <a:lstStyle>
            <a:lvl1pPr marL="0" indent="0">
              <a:buNone/>
              <a:defRPr sz="2200" b="0">
                <a:solidFill>
                  <a:schemeClr val="accent2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581194" y="2926052"/>
            <a:ext cx="5393100" cy="2934999"/>
          </a:xfrm>
        </p:spPr>
        <p:txBody>
          <a:bodyPr anchor="t">
            <a:normAutofit/>
          </a:bodyPr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523735" y="2250892"/>
            <a:ext cx="5087073" cy="553373"/>
          </a:xfrm>
        </p:spPr>
        <p:txBody>
          <a:bodyPr anchor="b">
            <a:noAutofit/>
          </a:bodyPr>
          <a:lstStyle>
            <a:lvl1pPr marL="0" indent="0">
              <a:buNone/>
              <a:defRPr sz="2200" b="0">
                <a:solidFill>
                  <a:schemeClr val="accent2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217709" y="2926052"/>
            <a:ext cx="5393100" cy="2934999"/>
          </a:xfrm>
        </p:spPr>
        <p:txBody>
          <a:bodyPr anchor="t">
            <a:normAutofit/>
          </a:bodyPr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dirty="0"/>
              <a:pPr/>
              <a:t>9/16/2026</a:t>
            </a:fld>
            <a:endParaRPr lang="en-US" dirty="0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9224881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>
            <a:spLocks noChangeAspect="1"/>
          </p:cNvSpPr>
          <p:nvPr/>
        </p:nvSpPr>
        <p:spPr>
          <a:xfrm>
            <a:off x="440683" y="606554"/>
            <a:ext cx="11300036" cy="1258827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8" name="Title 1"/>
          <p:cNvSpPr>
            <a:spLocks noGrp="1"/>
          </p:cNvSpPr>
          <p:nvPr>
            <p:ph type="title"/>
          </p:nvPr>
        </p:nvSpPr>
        <p:spPr>
          <a:xfrm>
            <a:off x="575894" y="729658"/>
            <a:ext cx="11029616" cy="988332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dirty="0"/>
              <a:pPr/>
              <a:t>9/16/2026</a:t>
            </a:fld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15998811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dirty="0"/>
              <a:pPr/>
              <a:t>9/16/2026</a:t>
            </a:fld>
            <a:endParaRPr lang="en-US" dirty="0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69829943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tangle 8"/>
          <p:cNvSpPr>
            <a:spLocks noChangeAspect="1"/>
          </p:cNvSpPr>
          <p:nvPr/>
        </p:nvSpPr>
        <p:spPr>
          <a:xfrm>
            <a:off x="447817" y="5141973"/>
            <a:ext cx="11298200" cy="1274702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81192" y="5262296"/>
            <a:ext cx="4909445" cy="689514"/>
          </a:xfrm>
        </p:spPr>
        <p:txBody>
          <a:bodyPr anchor="ctr"/>
          <a:lstStyle>
            <a:lvl1pPr algn="l">
              <a:defRPr sz="2000" b="0">
                <a:solidFill>
                  <a:schemeClr val="accent1">
                    <a:lumMod val="75000"/>
                    <a:lumOff val="25000"/>
                  </a:schemeClr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47816" y="601200"/>
            <a:ext cx="11292840" cy="4204800"/>
          </a:xfrm>
        </p:spPr>
        <p:txBody>
          <a:bodyPr anchor="ctr">
            <a:normAutofit/>
          </a:bodyPr>
          <a:lstStyle>
            <a:lvl1pPr>
              <a:defRPr sz="2000">
                <a:solidFill>
                  <a:schemeClr val="tx2"/>
                </a:solidFill>
              </a:defRPr>
            </a:lvl1pPr>
            <a:lvl2pPr>
              <a:defRPr sz="1800">
                <a:solidFill>
                  <a:schemeClr val="tx2"/>
                </a:solidFill>
              </a:defRPr>
            </a:lvl2pPr>
            <a:lvl3pPr>
              <a:defRPr sz="1600">
                <a:solidFill>
                  <a:schemeClr val="tx2"/>
                </a:solidFill>
              </a:defRPr>
            </a:lvl3pPr>
            <a:lvl4pPr>
              <a:defRPr sz="1400">
                <a:solidFill>
                  <a:schemeClr val="tx2"/>
                </a:solidFill>
              </a:defRPr>
            </a:lvl4pPr>
            <a:lvl5pPr>
              <a:defRPr sz="1400">
                <a:solidFill>
                  <a:schemeClr val="tx2"/>
                </a:solidFill>
              </a:defRPr>
            </a:lvl5pPr>
            <a:lvl6pPr>
              <a:defRPr sz="1400">
                <a:solidFill>
                  <a:schemeClr val="tx2"/>
                </a:solidFill>
              </a:defRPr>
            </a:lvl6pPr>
            <a:lvl7pPr>
              <a:defRPr sz="1400">
                <a:solidFill>
                  <a:schemeClr val="tx2"/>
                </a:solidFill>
              </a:defRPr>
            </a:lvl7pPr>
            <a:lvl8pPr>
              <a:defRPr sz="1400">
                <a:solidFill>
                  <a:schemeClr val="tx2"/>
                </a:solidFill>
              </a:defRPr>
            </a:lvl8pPr>
            <a:lvl9pPr>
              <a:defRPr sz="1400">
                <a:solidFill>
                  <a:schemeClr val="tx2"/>
                </a:solidFill>
              </a:defRPr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5740823" y="5262296"/>
            <a:ext cx="5869987" cy="689515"/>
          </a:xfrm>
        </p:spPr>
        <p:txBody>
          <a:bodyPr anchor="ctr">
            <a:normAutofit/>
          </a:bodyPr>
          <a:lstStyle>
            <a:lvl1pPr marL="0" indent="0" algn="r">
              <a:buNone/>
              <a:defRPr sz="1100">
                <a:solidFill>
                  <a:schemeClr val="bg1"/>
                </a:solidFill>
              </a:defRPr>
            </a:lvl1pPr>
            <a:lvl2pPr marL="457200" indent="0">
              <a:buNone/>
              <a:defRPr sz="11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accent1">
                    <a:lumMod val="75000"/>
                    <a:lumOff val="25000"/>
                  </a:schemeClr>
                </a:solidFill>
              </a:defRPr>
            </a:lvl1pPr>
          </a:lstStyle>
          <a:p>
            <a:fld id="{B61BEF0D-F0BB-DE4B-95CE-6DB70DBA9567}" type="datetimeFigureOut">
              <a:rPr lang="en-US" dirty="0"/>
              <a:pPr/>
              <a:t>9/16/2026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accent1">
                    <a:lumMod val="75000"/>
                    <a:lumOff val="25000"/>
                  </a:schemeClr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accent1">
                    <a:lumMod val="75000"/>
                    <a:lumOff val="25000"/>
                  </a:schemeClr>
                </a:solidFill>
              </a:defRPr>
            </a:lvl1pPr>
          </a:lstStyle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21371063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81193" y="4693389"/>
            <a:ext cx="11029616" cy="566738"/>
          </a:xfrm>
        </p:spPr>
        <p:txBody>
          <a:bodyPr anchor="b">
            <a:normAutofit/>
          </a:bodyPr>
          <a:lstStyle>
            <a:lvl1pPr algn="l">
              <a:defRPr sz="2400" b="0">
                <a:solidFill>
                  <a:schemeClr val="accent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447817" y="599725"/>
            <a:ext cx="11290859" cy="3557252"/>
          </a:xfrm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581192" y="5260127"/>
            <a:ext cx="11029617" cy="598671"/>
          </a:xfrm>
        </p:spPr>
        <p:txBody>
          <a:bodyPr>
            <a:normAutofit/>
          </a:bodyPr>
          <a:lstStyle>
            <a:lvl1pPr marL="0" indent="0">
              <a:buNone/>
              <a:defRPr sz="12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dirty="0"/>
              <a:pPr/>
              <a:t>9/16/2026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87971602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/>
          <p:cNvSpPr>
            <a:spLocks noChangeAspect="1"/>
          </p:cNvSpPr>
          <p:nvPr/>
        </p:nvSpPr>
        <p:spPr>
          <a:xfrm>
            <a:off x="440286" y="614407"/>
            <a:ext cx="11309338" cy="1189298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9" name="Title 1"/>
          <p:cNvSpPr>
            <a:spLocks noGrp="1"/>
          </p:cNvSpPr>
          <p:nvPr>
            <p:ph type="title"/>
          </p:nvPr>
        </p:nvSpPr>
        <p:spPr>
          <a:xfrm>
            <a:off x="581192" y="702156"/>
            <a:ext cx="11029616" cy="1013800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 anchor="t"/>
          <a:lstStyle>
            <a:lvl1pPr algn="l">
              <a:defRPr/>
            </a:lvl1pPr>
            <a:lvl2pPr algn="l">
              <a:defRPr/>
            </a:lvl2pPr>
            <a:lvl3pPr algn="l">
              <a:defRPr/>
            </a:lvl3pPr>
            <a:lvl4pPr algn="l">
              <a:defRPr/>
            </a:lvl4pPr>
            <a:lvl5pPr algn="l">
              <a:defRPr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dirty="0"/>
              <a:pPr/>
              <a:t>9/16/2026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60906178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>
            <a:spLocks noChangeAspect="1"/>
          </p:cNvSpPr>
          <p:nvPr/>
        </p:nvSpPr>
        <p:spPr>
          <a:xfrm>
            <a:off x="8839201" y="599725"/>
            <a:ext cx="2906817" cy="5816950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839201" y="675726"/>
            <a:ext cx="2004164" cy="5183073"/>
          </a:xfrm>
        </p:spPr>
        <p:txBody>
          <a:bodyPr vert="eaVert"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774923" y="675726"/>
            <a:ext cx="7896279" cy="5183073"/>
          </a:xfrm>
        </p:spPr>
        <p:txBody>
          <a:bodyPr vert="eaVert" anchor="t"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993673" y="5956137"/>
            <a:ext cx="1328141" cy="365125"/>
          </a:xfrm>
        </p:spPr>
        <p:txBody>
          <a:bodyPr/>
          <a:lstStyle>
            <a:lvl1pPr>
              <a:defRPr>
                <a:solidFill>
                  <a:schemeClr val="accent1">
                    <a:lumMod val="75000"/>
                    <a:lumOff val="25000"/>
                  </a:schemeClr>
                </a:solidFill>
              </a:defRPr>
            </a:lvl1pPr>
          </a:lstStyle>
          <a:p>
            <a:fld id="{B61BEF0D-F0BB-DE4B-95CE-6DB70DBA9567}" type="datetimeFigureOut">
              <a:rPr lang="en-US" dirty="0"/>
              <a:pPr/>
              <a:t>9/16/2026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774923" y="5951811"/>
            <a:ext cx="7896279" cy="365125"/>
          </a:xfrm>
        </p:spPr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0446615" y="5956137"/>
            <a:ext cx="1164195" cy="365125"/>
          </a:xfrm>
        </p:spPr>
        <p:txBody>
          <a:bodyPr/>
          <a:lstStyle>
            <a:lvl1pPr>
              <a:defRPr>
                <a:solidFill>
                  <a:schemeClr val="accent1">
                    <a:lumMod val="75000"/>
                    <a:lumOff val="25000"/>
                  </a:schemeClr>
                </a:solidFill>
              </a:defRPr>
            </a:lvl1pPr>
          </a:lstStyle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7985536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581192" y="705124"/>
            <a:ext cx="11029616" cy="1189554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81192" y="2336003"/>
            <a:ext cx="11029616" cy="3522794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  <a:p>
            <a:pPr lvl="5"/>
            <a:r>
              <a:rPr lang="en-US" dirty="0"/>
              <a:t>Six</a:t>
            </a:r>
          </a:p>
          <a:p>
            <a:pPr lvl="6"/>
            <a:r>
              <a:rPr lang="en-US" dirty="0"/>
              <a:t>Seven</a:t>
            </a:r>
          </a:p>
          <a:p>
            <a:pPr lvl="7"/>
            <a:r>
              <a:rPr lang="en-US" dirty="0"/>
              <a:t>Eight</a:t>
            </a:r>
          </a:p>
          <a:p>
            <a:pPr lvl="8"/>
            <a:r>
              <a:rPr lang="en-US" dirty="0"/>
              <a:t>ni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7605951" y="5956137"/>
            <a:ext cx="284479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accent2"/>
                </a:solidFill>
              </a:defRPr>
            </a:lvl1pPr>
          </a:lstStyle>
          <a:p>
            <a:fld id="{B61BEF0D-F0BB-DE4B-95CE-6DB70DBA9567}" type="datetimeFigureOut">
              <a:rPr lang="en-US" dirty="0"/>
              <a:pPr/>
              <a:t>9/16/2026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581192" y="5951811"/>
            <a:ext cx="691721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 cap="all">
                <a:solidFill>
                  <a:schemeClr val="accent2"/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0558300" y="5956137"/>
            <a:ext cx="105251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accent2"/>
                </a:solidFill>
              </a:defRPr>
            </a:lvl1pPr>
          </a:lstStyle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  <p:sp>
        <p:nvSpPr>
          <p:cNvPr id="9" name="Rectangle 8"/>
          <p:cNvSpPr/>
          <p:nvPr/>
        </p:nvSpPr>
        <p:spPr>
          <a:xfrm>
            <a:off x="446534" y="457200"/>
            <a:ext cx="3703320" cy="94997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10" name="Rectangle 9"/>
          <p:cNvSpPr/>
          <p:nvPr/>
        </p:nvSpPr>
        <p:spPr>
          <a:xfrm>
            <a:off x="8042147" y="453643"/>
            <a:ext cx="3703320" cy="98554"/>
          </a:xfrm>
          <a:prstGeom prst="rect">
            <a:avLst/>
          </a:prstGeom>
          <a:solidFill>
            <a:schemeClr val="accent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11" name="Rectangle 10"/>
          <p:cNvSpPr/>
          <p:nvPr/>
        </p:nvSpPr>
        <p:spPr>
          <a:xfrm>
            <a:off x="4241830" y="457200"/>
            <a:ext cx="3703320" cy="91440"/>
          </a:xfrm>
          <a:prstGeom prst="rect">
            <a:avLst/>
          </a:prstGeom>
          <a:solidFill>
            <a:schemeClr val="accent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7661564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85" r:id="rId1"/>
    <p:sldLayoutId id="2147483686" r:id="rId2"/>
    <p:sldLayoutId id="2147483687" r:id="rId3"/>
    <p:sldLayoutId id="2147483688" r:id="rId4"/>
    <p:sldLayoutId id="2147483689" r:id="rId5"/>
    <p:sldLayoutId id="2147483690" r:id="rId6"/>
    <p:sldLayoutId id="2147483691" r:id="rId7"/>
    <p:sldLayoutId id="2147483692" r:id="rId8"/>
    <p:sldLayoutId id="2147483693" r:id="rId9"/>
    <p:sldLayoutId id="2147483694" r:id="rId10"/>
    <p:sldLayoutId id="2147483695" r:id="rId11"/>
  </p:sldLayoutIdLst>
  <p:txStyles>
    <p:titleStyle>
      <a:lvl1pPr algn="l" defTabSz="457200" rtl="0" eaLnBrk="1" latinLnBrk="0" hangingPunct="1">
        <a:spcBef>
          <a:spcPct val="0"/>
        </a:spcBef>
        <a:buNone/>
        <a:defRPr sz="2800" b="0" kern="1200" cap="all">
          <a:solidFill>
            <a:schemeClr val="bg1"/>
          </a:solidFill>
          <a:latin typeface="+mj-lt"/>
          <a:ea typeface="+mj-ea"/>
          <a:cs typeface="+mj-cs"/>
        </a:defRPr>
      </a:lvl1pPr>
      <a:lvl2pPr eaLnBrk="1" hangingPunct="1">
        <a:defRPr>
          <a:solidFill>
            <a:schemeClr val="tx2"/>
          </a:solidFill>
        </a:defRPr>
      </a:lvl2pPr>
      <a:lvl3pPr eaLnBrk="1" hangingPunct="1">
        <a:defRPr>
          <a:solidFill>
            <a:schemeClr val="tx2"/>
          </a:solidFill>
        </a:defRPr>
      </a:lvl3pPr>
      <a:lvl4pPr eaLnBrk="1" hangingPunct="1">
        <a:defRPr>
          <a:solidFill>
            <a:schemeClr val="tx2"/>
          </a:solidFill>
        </a:defRPr>
      </a:lvl4pPr>
      <a:lvl5pPr eaLnBrk="1" hangingPunct="1">
        <a:defRPr>
          <a:solidFill>
            <a:schemeClr val="tx2"/>
          </a:solidFill>
        </a:defRPr>
      </a:lvl5pPr>
      <a:lvl6pPr eaLnBrk="1" hangingPunct="1">
        <a:defRPr>
          <a:solidFill>
            <a:schemeClr val="tx2"/>
          </a:solidFill>
        </a:defRPr>
      </a:lvl6pPr>
      <a:lvl7pPr eaLnBrk="1" hangingPunct="1">
        <a:defRPr>
          <a:solidFill>
            <a:schemeClr val="tx2"/>
          </a:solidFill>
        </a:defRPr>
      </a:lvl7pPr>
      <a:lvl8pPr eaLnBrk="1" hangingPunct="1">
        <a:defRPr>
          <a:solidFill>
            <a:schemeClr val="tx2"/>
          </a:solidFill>
        </a:defRPr>
      </a:lvl8pPr>
      <a:lvl9pPr eaLnBrk="1" hangingPunct="1">
        <a:defRPr>
          <a:solidFill>
            <a:schemeClr val="tx2"/>
          </a:solidFill>
        </a:defRPr>
      </a:lvl9pPr>
    </p:titleStyle>
    <p:bodyStyle>
      <a:lvl1pPr marL="306000" indent="-3060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2"/>
        </a:buClr>
        <a:buSzPct val="92000"/>
        <a:buFont typeface="Wingdings 2" panose="05020102010507070707" pitchFamily="18" charset="2"/>
        <a:buChar char=""/>
        <a:defRPr sz="1800" kern="1200">
          <a:solidFill>
            <a:schemeClr val="tx2"/>
          </a:solidFill>
          <a:latin typeface="+mn-lt"/>
          <a:ea typeface="+mn-ea"/>
          <a:cs typeface="+mn-cs"/>
        </a:defRPr>
      </a:lvl1pPr>
      <a:lvl2pPr marL="630000" indent="-3060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2"/>
        </a:buClr>
        <a:buSzPct val="92000"/>
        <a:buFont typeface="Wingdings 2" panose="05020102010507070707" pitchFamily="18" charset="2"/>
        <a:buChar char=""/>
        <a:defRPr sz="1600" kern="1200">
          <a:solidFill>
            <a:schemeClr val="tx2"/>
          </a:solidFill>
          <a:latin typeface="+mn-lt"/>
          <a:ea typeface="+mn-ea"/>
          <a:cs typeface="+mn-cs"/>
        </a:defRPr>
      </a:lvl2pPr>
      <a:lvl3pPr marL="900000" indent="-2700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2"/>
        </a:buClr>
        <a:buSzPct val="92000"/>
        <a:buFont typeface="Wingdings 2" panose="05020102010507070707" pitchFamily="18" charset="2"/>
        <a:buChar char=""/>
        <a:defRPr sz="1400" kern="1200">
          <a:solidFill>
            <a:schemeClr val="tx2"/>
          </a:solidFill>
          <a:latin typeface="+mn-lt"/>
          <a:ea typeface="+mn-ea"/>
          <a:cs typeface="+mn-cs"/>
        </a:defRPr>
      </a:lvl3pPr>
      <a:lvl4pPr marL="1242000" indent="-2340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2"/>
        </a:buClr>
        <a:buSzPct val="92000"/>
        <a:buFont typeface="Wingdings 2" panose="05020102010507070707" pitchFamily="18" charset="2"/>
        <a:buChar char=""/>
        <a:defRPr sz="1200" kern="1200">
          <a:solidFill>
            <a:schemeClr val="tx2"/>
          </a:solidFill>
          <a:latin typeface="+mn-lt"/>
          <a:ea typeface="+mn-ea"/>
          <a:cs typeface="+mn-cs"/>
        </a:defRPr>
      </a:lvl4pPr>
      <a:lvl5pPr marL="1602000" indent="-2340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2"/>
        </a:buClr>
        <a:buSzPct val="92000"/>
        <a:buFont typeface="Wingdings 2" panose="05020102010507070707" pitchFamily="18" charset="2"/>
        <a:buChar char=""/>
        <a:defRPr sz="1200" kern="1200">
          <a:solidFill>
            <a:schemeClr val="tx2"/>
          </a:solidFill>
          <a:latin typeface="+mn-lt"/>
          <a:ea typeface="+mn-ea"/>
          <a:cs typeface="+mn-cs"/>
        </a:defRPr>
      </a:lvl5pPr>
      <a:lvl6pPr marL="19000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2"/>
        </a:buClr>
        <a:buSzPct val="92000"/>
        <a:buFont typeface="Wingdings 2" panose="05020102010507070707" pitchFamily="18" charset="2"/>
        <a:buChar char=""/>
        <a:defRPr sz="1200" kern="1200">
          <a:solidFill>
            <a:schemeClr val="tx2"/>
          </a:solidFill>
          <a:latin typeface="+mn-lt"/>
          <a:ea typeface="+mn-ea"/>
          <a:cs typeface="+mn-cs"/>
        </a:defRPr>
      </a:lvl6pPr>
      <a:lvl7pPr marL="22000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2"/>
        </a:buClr>
        <a:buSzPct val="92000"/>
        <a:buFont typeface="Wingdings 2" panose="05020102010507070707" pitchFamily="18" charset="2"/>
        <a:buChar char=""/>
        <a:defRPr sz="1200" kern="1200">
          <a:solidFill>
            <a:schemeClr val="tx2"/>
          </a:solidFill>
          <a:latin typeface="+mn-lt"/>
          <a:ea typeface="+mn-ea"/>
          <a:cs typeface="+mn-cs"/>
        </a:defRPr>
      </a:lvl7pPr>
      <a:lvl8pPr marL="25000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2"/>
        </a:buClr>
        <a:buSzPct val="92000"/>
        <a:buFont typeface="Wingdings 2" panose="05020102010507070707" pitchFamily="18" charset="2"/>
        <a:buChar char=""/>
        <a:defRPr sz="1200" kern="1200">
          <a:solidFill>
            <a:schemeClr val="tx2"/>
          </a:solidFill>
          <a:latin typeface="+mn-lt"/>
          <a:ea typeface="+mn-ea"/>
          <a:cs typeface="+mn-cs"/>
        </a:defRPr>
      </a:lvl8pPr>
      <a:lvl9pPr marL="28000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2"/>
        </a:buClr>
        <a:buSzPct val="92000"/>
        <a:buFont typeface="Wingdings 2" panose="05020102010507070707" pitchFamily="18" charset="2"/>
        <a:buChar char=""/>
        <a:defRPr sz="1200" kern="1200">
          <a:solidFill>
            <a:schemeClr val="tx2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/>
              <a:t>Java Unit Testing &amp; Logging</a:t>
            </a:r>
          </a:p>
        </p:txBody>
      </p:sp>
    </p:spTree>
    <p:extLst>
      <p:ext uri="{BB962C8B-B14F-4D97-AF65-F5344CB8AC3E}">
        <p14:creationId xmlns:p14="http://schemas.microsoft.com/office/powerpoint/2010/main" val="10985722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857AA5D-C488-43A5-3D64-B1D6D051200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Unit Testing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53E4FDB-A8F2-71B7-3D5E-5E3B4C62CE1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Unit testing is the practice of testing a small, isolated piece of software</a:t>
            </a:r>
          </a:p>
          <a:p>
            <a:pPr lvl="1"/>
            <a:r>
              <a:rPr lang="en-US" dirty="0"/>
              <a:t>Isolation – dependencies are often replaced with mocks to only test the method/class itself. i.e. test a service &amp; mock the repo/DAO it uses</a:t>
            </a:r>
          </a:p>
          <a:p>
            <a:pPr lvl="1"/>
            <a:r>
              <a:rPr lang="en-US" dirty="0"/>
              <a:t>Automation – tests can be run repeatedly and automatically, such as when build the project or deploy </a:t>
            </a:r>
          </a:p>
          <a:p>
            <a:pPr lvl="1"/>
            <a:r>
              <a:rPr lang="en-US" dirty="0"/>
              <a:t>Fast feedback – since unit tests are small, they run quickly, allowing us to get fast feedback after code changes</a:t>
            </a:r>
          </a:p>
        </p:txBody>
      </p:sp>
    </p:spTree>
    <p:extLst>
      <p:ext uri="{BB962C8B-B14F-4D97-AF65-F5344CB8AC3E}">
        <p14:creationId xmlns:p14="http://schemas.microsoft.com/office/powerpoint/2010/main" val="127090519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5701B82-B4A6-FC26-4EDE-8E65DAC17F9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Test example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7DDCC47C-649D-C77F-76C4-34623E7EF949}"/>
              </a:ext>
            </a:extLst>
          </p:cNvPr>
          <p:cNvSpPr txBox="1"/>
          <p:nvPr/>
        </p:nvSpPr>
        <p:spPr>
          <a:xfrm>
            <a:off x="1457717" y="3517054"/>
            <a:ext cx="3552694" cy="14773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public class Calculator {</a:t>
            </a:r>
          </a:p>
          <a:p>
            <a:r>
              <a:rPr lang="en-US" dirty="0"/>
              <a:t>    public int add(int a, int b) {</a:t>
            </a:r>
          </a:p>
          <a:p>
            <a:r>
              <a:rPr lang="en-US" dirty="0"/>
              <a:t>        return a + b;</a:t>
            </a:r>
          </a:p>
          <a:p>
            <a:r>
              <a:rPr lang="en-US" dirty="0"/>
              <a:t>    }</a:t>
            </a:r>
          </a:p>
          <a:p>
            <a:r>
              <a:rPr lang="en-US" dirty="0"/>
              <a:t>}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1B62284E-4968-8FE3-2808-99CFBF0531BA}"/>
              </a:ext>
            </a:extLst>
          </p:cNvPr>
          <p:cNvSpPr txBox="1"/>
          <p:nvPr/>
        </p:nvSpPr>
        <p:spPr>
          <a:xfrm>
            <a:off x="5217090" y="2298526"/>
            <a:ext cx="5472717" cy="424731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import static </a:t>
            </a:r>
            <a:r>
              <a:rPr lang="en-US" dirty="0" err="1"/>
              <a:t>org.junit.jupiter.api.Assertions.assertEquals</a:t>
            </a:r>
            <a:r>
              <a:rPr lang="en-US" dirty="0"/>
              <a:t>;</a:t>
            </a:r>
          </a:p>
          <a:p>
            <a:r>
              <a:rPr lang="en-US" dirty="0"/>
              <a:t>import </a:t>
            </a:r>
            <a:r>
              <a:rPr lang="en-US" dirty="0" err="1"/>
              <a:t>org.junit.jupiter.api.Test</a:t>
            </a:r>
            <a:r>
              <a:rPr lang="en-US" dirty="0"/>
              <a:t>;</a:t>
            </a:r>
          </a:p>
          <a:p>
            <a:endParaRPr lang="en-US" dirty="0"/>
          </a:p>
          <a:p>
            <a:r>
              <a:rPr lang="en-US" dirty="0"/>
              <a:t>class </a:t>
            </a:r>
            <a:r>
              <a:rPr lang="en-US" dirty="0" err="1"/>
              <a:t>CalculatorTest</a:t>
            </a:r>
            <a:r>
              <a:rPr lang="en-US" dirty="0"/>
              <a:t> {</a:t>
            </a:r>
          </a:p>
          <a:p>
            <a:endParaRPr lang="en-US" dirty="0"/>
          </a:p>
          <a:p>
            <a:r>
              <a:rPr lang="en-US" dirty="0"/>
              <a:t>    @Test</a:t>
            </a:r>
          </a:p>
          <a:p>
            <a:r>
              <a:rPr lang="en-US" dirty="0"/>
              <a:t>    void </a:t>
            </a:r>
            <a:r>
              <a:rPr lang="en-US" dirty="0" err="1"/>
              <a:t>add_shouldReturnSum</a:t>
            </a:r>
            <a:r>
              <a:rPr lang="en-US" dirty="0"/>
              <a:t>() {</a:t>
            </a:r>
          </a:p>
          <a:p>
            <a:r>
              <a:rPr lang="en-US" dirty="0"/>
              <a:t>        Calculator </a:t>
            </a:r>
            <a:r>
              <a:rPr lang="en-US" dirty="0" err="1"/>
              <a:t>calculator</a:t>
            </a:r>
            <a:r>
              <a:rPr lang="en-US" dirty="0"/>
              <a:t> = new Calculator();</a:t>
            </a:r>
          </a:p>
          <a:p>
            <a:endParaRPr lang="en-US" dirty="0"/>
          </a:p>
          <a:p>
            <a:r>
              <a:rPr lang="en-US" dirty="0"/>
              <a:t>        int result = </a:t>
            </a:r>
            <a:r>
              <a:rPr lang="en-US" dirty="0" err="1"/>
              <a:t>calculator.add</a:t>
            </a:r>
            <a:r>
              <a:rPr lang="en-US" dirty="0"/>
              <a:t>(2, 3);</a:t>
            </a:r>
          </a:p>
          <a:p>
            <a:endParaRPr lang="en-US" dirty="0"/>
          </a:p>
          <a:p>
            <a:r>
              <a:rPr lang="en-US" dirty="0"/>
              <a:t>        </a:t>
            </a:r>
            <a:r>
              <a:rPr lang="en-US" dirty="0" err="1"/>
              <a:t>assertEquals</a:t>
            </a:r>
            <a:r>
              <a:rPr lang="en-US" dirty="0"/>
              <a:t>(5, result);</a:t>
            </a:r>
          </a:p>
          <a:p>
            <a:r>
              <a:rPr lang="en-US" dirty="0"/>
              <a:t>    }</a:t>
            </a:r>
          </a:p>
          <a:p>
            <a:r>
              <a:rPr lang="en-US" dirty="0"/>
              <a:t>}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58261056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14E558C-2FB9-952E-7535-F732D1160E5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Types of tests</a:t>
            </a:r>
          </a:p>
        </p:txBody>
      </p:sp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0A353AE7-3765-1A91-25AA-0437C24B06F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605458952"/>
              </p:ext>
            </p:extLst>
          </p:nvPr>
        </p:nvGraphicFramePr>
        <p:xfrm>
          <a:off x="581026" y="2634298"/>
          <a:ext cx="11029948" cy="292608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757487">
                  <a:extLst>
                    <a:ext uri="{9D8B030D-6E8A-4147-A177-3AD203B41FA5}">
                      <a16:colId xmlns:a16="http://schemas.microsoft.com/office/drawing/2014/main" val="783956790"/>
                    </a:ext>
                  </a:extLst>
                </a:gridCol>
                <a:gridCol w="2757487">
                  <a:extLst>
                    <a:ext uri="{9D8B030D-6E8A-4147-A177-3AD203B41FA5}">
                      <a16:colId xmlns:a16="http://schemas.microsoft.com/office/drawing/2014/main" val="428826324"/>
                    </a:ext>
                  </a:extLst>
                </a:gridCol>
                <a:gridCol w="2757487">
                  <a:extLst>
                    <a:ext uri="{9D8B030D-6E8A-4147-A177-3AD203B41FA5}">
                      <a16:colId xmlns:a16="http://schemas.microsoft.com/office/drawing/2014/main" val="1044295255"/>
                    </a:ext>
                  </a:extLst>
                </a:gridCol>
                <a:gridCol w="2757487">
                  <a:extLst>
                    <a:ext uri="{9D8B030D-6E8A-4147-A177-3AD203B41FA5}">
                      <a16:colId xmlns:a16="http://schemas.microsoft.com/office/drawing/2014/main" val="1781131599"/>
                    </a:ext>
                  </a:extLst>
                </a:gridCol>
              </a:tblGrid>
              <a:tr h="365760">
                <a:tc>
                  <a:txBody>
                    <a:bodyPr/>
                    <a:lstStyle/>
                    <a:p>
                      <a:pPr marL="0" marR="0" algn="l">
                        <a:buNone/>
                      </a:pPr>
                      <a:r>
                        <a:rPr lang="en-US" sz="1800" b="1" dirty="0">
                          <a:effectLst/>
                        </a:rPr>
                        <a:t>Test type</a:t>
                      </a:r>
                      <a:endParaRPr lang="en-US" sz="1800" b="1" i="0" dirty="0">
                        <a:solidFill>
                          <a:srgbClr val="FFFFFF"/>
                        </a:solidFill>
                        <a:effectLst/>
                        <a:latin typeface="-apple-system-body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algn="l">
                        <a:buNone/>
                      </a:pPr>
                      <a:r>
                        <a:rPr lang="en-US" sz="1800" b="1" dirty="0">
                          <a:effectLst/>
                        </a:rPr>
                        <a:t>What it tests</a:t>
                      </a:r>
                      <a:endParaRPr lang="en-US" sz="1800" b="1" i="0" dirty="0">
                        <a:solidFill>
                          <a:srgbClr val="FFFFFF"/>
                        </a:solidFill>
                        <a:effectLst/>
                        <a:latin typeface="-apple-system-body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algn="r">
                        <a:buNone/>
                      </a:pPr>
                      <a:r>
                        <a:rPr lang="en-US" sz="1800" b="1">
                          <a:effectLst/>
                        </a:rPr>
                        <a:t>Typical speed</a:t>
                      </a:r>
                      <a:endParaRPr lang="en-US" sz="1800" b="1" i="0">
                        <a:solidFill>
                          <a:srgbClr val="FFFFFF"/>
                        </a:solidFill>
                        <a:effectLst/>
                        <a:latin typeface="-apple-system-body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algn="l">
                        <a:buNone/>
                      </a:pPr>
                      <a:r>
                        <a:rPr lang="en-US" sz="1800" b="1" dirty="0">
                          <a:effectLst/>
                        </a:rPr>
                        <a:t>Example</a:t>
                      </a:r>
                      <a:endParaRPr lang="en-US" sz="1800" b="1" i="0" dirty="0">
                        <a:solidFill>
                          <a:srgbClr val="FFFFFF"/>
                        </a:solidFill>
                        <a:effectLst/>
                        <a:latin typeface="-apple-system-body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849586957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 marL="0" marR="0" algn="l">
                        <a:buNone/>
                      </a:pPr>
                      <a:r>
                        <a:rPr lang="en-US" sz="1800">
                          <a:effectLst/>
                        </a:rPr>
                        <a:t>Unit</a:t>
                      </a:r>
                      <a:endParaRPr lang="en-US" sz="1800" b="0" i="0">
                        <a:solidFill>
                          <a:srgbClr val="FFFFFF"/>
                        </a:solidFill>
                        <a:effectLst/>
                        <a:latin typeface="-apple-system-body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algn="l">
                        <a:buNone/>
                      </a:pPr>
                      <a:r>
                        <a:rPr lang="en-US" sz="1800">
                          <a:effectLst/>
                        </a:rPr>
                        <a:t>One small unit of code</a:t>
                      </a:r>
                      <a:endParaRPr lang="en-US" sz="1800" b="0" i="0">
                        <a:solidFill>
                          <a:srgbClr val="FFFFFF"/>
                        </a:solidFill>
                        <a:effectLst/>
                        <a:latin typeface="-apple-system-body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algn="r">
                        <a:buNone/>
                      </a:pPr>
                      <a:r>
                        <a:rPr lang="en-US" sz="1800">
                          <a:effectLst/>
                        </a:rPr>
                        <a:t>Very fast</a:t>
                      </a:r>
                      <a:endParaRPr lang="en-US" sz="1800" b="0" i="0">
                        <a:solidFill>
                          <a:srgbClr val="FFFFFF"/>
                        </a:solidFill>
                        <a:effectLst/>
                        <a:latin typeface="-apple-system-body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algn="l">
                        <a:buNone/>
                      </a:pPr>
                      <a:r>
                        <a:rPr lang="en-US" sz="1800">
                          <a:effectLst/>
                        </a:rPr>
                        <a:t>Test Calculator.add()</a:t>
                      </a:r>
                      <a:endParaRPr lang="en-US" sz="1800" b="0" i="0">
                        <a:solidFill>
                          <a:srgbClr val="FFFFFF"/>
                        </a:solidFill>
                        <a:effectLst/>
                        <a:latin typeface="-apple-system-body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564349986"/>
                  </a:ext>
                </a:extLst>
              </a:tr>
              <a:tr h="640080">
                <a:tc>
                  <a:txBody>
                    <a:bodyPr/>
                    <a:lstStyle/>
                    <a:p>
                      <a:pPr marL="0" marR="0" algn="l">
                        <a:buNone/>
                      </a:pPr>
                      <a:r>
                        <a:rPr lang="en-US" sz="1800">
                          <a:effectLst/>
                        </a:rPr>
                        <a:t>Integration</a:t>
                      </a:r>
                      <a:endParaRPr lang="en-US" sz="1800" b="0" i="0">
                        <a:solidFill>
                          <a:srgbClr val="FFFFFF"/>
                        </a:solidFill>
                        <a:effectLst/>
                        <a:latin typeface="-apple-system-body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algn="l">
                        <a:buNone/>
                      </a:pPr>
                      <a:r>
                        <a:rPr lang="en-US" sz="1800">
                          <a:effectLst/>
                        </a:rPr>
                        <a:t>Multiple components working together</a:t>
                      </a:r>
                      <a:endParaRPr lang="en-US" sz="1800" b="0" i="0">
                        <a:solidFill>
                          <a:srgbClr val="FFFFFF"/>
                        </a:solidFill>
                        <a:effectLst/>
                        <a:latin typeface="-apple-system-body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algn="r">
                        <a:buNone/>
                      </a:pPr>
                      <a:r>
                        <a:rPr lang="en-US" sz="1800">
                          <a:effectLst/>
                        </a:rPr>
                        <a:t>Medium</a:t>
                      </a:r>
                      <a:endParaRPr lang="en-US" sz="1800" b="0" i="0">
                        <a:solidFill>
                          <a:srgbClr val="FFFFFF"/>
                        </a:solidFill>
                        <a:effectLst/>
                        <a:latin typeface="-apple-system-body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algn="l">
                        <a:buNone/>
                      </a:pPr>
                      <a:r>
                        <a:rPr lang="en-US" sz="1800">
                          <a:effectLst/>
                        </a:rPr>
                        <a:t>Service + database</a:t>
                      </a:r>
                      <a:endParaRPr lang="en-US" sz="1800" b="0" i="0">
                        <a:solidFill>
                          <a:srgbClr val="FFFFFF"/>
                        </a:solidFill>
                        <a:effectLst/>
                        <a:latin typeface="-apple-system-body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586323044"/>
                  </a:ext>
                </a:extLst>
              </a:tr>
              <a:tr h="640080">
                <a:tc>
                  <a:txBody>
                    <a:bodyPr/>
                    <a:lstStyle/>
                    <a:p>
                      <a:pPr marL="0" marR="0" algn="l">
                        <a:buNone/>
                      </a:pPr>
                      <a:r>
                        <a:rPr lang="en-US" sz="1800">
                          <a:effectLst/>
                        </a:rPr>
                        <a:t>System / end-to-end</a:t>
                      </a:r>
                      <a:endParaRPr lang="en-US" sz="1800" b="0" i="0">
                        <a:solidFill>
                          <a:srgbClr val="FFFFFF"/>
                        </a:solidFill>
                        <a:effectLst/>
                        <a:latin typeface="-apple-system-body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algn="l">
                        <a:buNone/>
                      </a:pPr>
                      <a:r>
                        <a:rPr lang="en-US" sz="1800">
                          <a:effectLst/>
                        </a:rPr>
                        <a:t>The complete application or a major workflow</a:t>
                      </a:r>
                      <a:endParaRPr lang="en-US" sz="1800" b="0" i="0">
                        <a:solidFill>
                          <a:srgbClr val="FFFFFF"/>
                        </a:solidFill>
                        <a:effectLst/>
                        <a:latin typeface="-apple-system-body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algn="r">
                        <a:buNone/>
                      </a:pPr>
                      <a:r>
                        <a:rPr lang="en-US" sz="1800">
                          <a:effectLst/>
                        </a:rPr>
                        <a:t>Slow</a:t>
                      </a:r>
                      <a:endParaRPr lang="en-US" sz="1800" b="0" i="0">
                        <a:solidFill>
                          <a:srgbClr val="FFFFFF"/>
                        </a:solidFill>
                        <a:effectLst/>
                        <a:latin typeface="-apple-system-body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algn="l">
                        <a:buNone/>
                      </a:pPr>
                      <a:r>
                        <a:rPr lang="en-US" sz="1800">
                          <a:effectLst/>
                        </a:rPr>
                        <a:t>Log in → buy product → receive confirmation</a:t>
                      </a:r>
                      <a:endParaRPr lang="en-US" sz="1800" b="0" i="0">
                        <a:solidFill>
                          <a:srgbClr val="FFFFFF"/>
                        </a:solidFill>
                        <a:effectLst/>
                        <a:latin typeface="-apple-system-body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911420444"/>
                  </a:ext>
                </a:extLst>
              </a:tr>
              <a:tr h="914400">
                <a:tc>
                  <a:txBody>
                    <a:bodyPr/>
                    <a:lstStyle/>
                    <a:p>
                      <a:pPr marL="0" marR="0" algn="l">
                        <a:buNone/>
                      </a:pPr>
                      <a:r>
                        <a:rPr lang="en-US" sz="1800">
                          <a:effectLst/>
                        </a:rPr>
                        <a:t>Acceptance</a:t>
                      </a:r>
                      <a:endParaRPr lang="en-US" sz="1800" b="0" i="0">
                        <a:solidFill>
                          <a:srgbClr val="FFFFFF"/>
                        </a:solidFill>
                        <a:effectLst/>
                        <a:latin typeface="-apple-system-body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algn="l">
                        <a:buNone/>
                      </a:pPr>
                      <a:r>
                        <a:rPr lang="en-US" sz="1800">
                          <a:effectLst/>
                        </a:rPr>
                        <a:t>Whether the system meets specified business/user requirements</a:t>
                      </a:r>
                      <a:endParaRPr lang="en-US" sz="1800" b="0" i="0">
                        <a:solidFill>
                          <a:srgbClr val="FFFFFF"/>
                        </a:solidFill>
                        <a:effectLst/>
                        <a:latin typeface="-apple-system-body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algn="r">
                        <a:buNone/>
                      </a:pPr>
                      <a:r>
                        <a:rPr lang="en-US" sz="1800">
                          <a:effectLst/>
                        </a:rPr>
                        <a:t>Often slower</a:t>
                      </a:r>
                      <a:endParaRPr lang="en-US" sz="1800" b="0" i="0">
                        <a:solidFill>
                          <a:srgbClr val="FFFFFF"/>
                        </a:solidFill>
                        <a:effectLst/>
                        <a:latin typeface="-apple-system-body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algn="l">
                        <a:buNone/>
                      </a:pPr>
                      <a:r>
                        <a:rPr lang="en-US" sz="1800" dirty="0">
                          <a:effectLst/>
                        </a:rPr>
                        <a:t>"A customer can successfully check out"</a:t>
                      </a:r>
                      <a:endParaRPr lang="en-US" sz="1800" b="0" i="0" dirty="0">
                        <a:solidFill>
                          <a:srgbClr val="FFFFFF"/>
                        </a:solidFill>
                        <a:effectLst/>
                        <a:latin typeface="-apple-system-body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689371093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98918569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3096E38-3AA5-A20F-3963-5B53D7E76FB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Why write unit tests?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416F4A8-DB1F-58FC-DB69-7AE0B8961CB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81192" y="2180496"/>
            <a:ext cx="11029615" cy="1853693"/>
          </a:xfrm>
        </p:spPr>
        <p:txBody>
          <a:bodyPr/>
          <a:lstStyle/>
          <a:p>
            <a:r>
              <a:rPr lang="en-US" dirty="0"/>
              <a:t>Unit tests help us catch regressions</a:t>
            </a:r>
          </a:p>
          <a:p>
            <a:r>
              <a:rPr lang="en-US" dirty="0"/>
              <a:t>For example, imagine we write a test that checks whether a $100 purchase receives a $10 discount </a:t>
            </a:r>
          </a:p>
          <a:p>
            <a:pPr lvl="1"/>
            <a:r>
              <a:rPr lang="en-US" dirty="0"/>
              <a:t>Later, someone changes the implementation, and the test fails as a result</a:t>
            </a:r>
          </a:p>
          <a:p>
            <a:pPr lvl="1"/>
            <a:r>
              <a:rPr lang="en-US" dirty="0"/>
              <a:t>Without the test, the bug might not be discovered until much later 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FCADA6CE-B252-FFE4-7C5A-BD9B74936F28}"/>
              </a:ext>
            </a:extLst>
          </p:cNvPr>
          <p:cNvSpPr txBox="1"/>
          <p:nvPr/>
        </p:nvSpPr>
        <p:spPr>
          <a:xfrm>
            <a:off x="472335" y="4746031"/>
            <a:ext cx="4748931" cy="9233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public double </a:t>
            </a:r>
            <a:r>
              <a:rPr lang="en-US" dirty="0" err="1"/>
              <a:t>calculateDiscount</a:t>
            </a:r>
            <a:r>
              <a:rPr lang="en-US" dirty="0"/>
              <a:t>(double price) {</a:t>
            </a:r>
          </a:p>
          <a:p>
            <a:r>
              <a:rPr lang="en-US" dirty="0"/>
              <a:t>    return price * 0.10;</a:t>
            </a:r>
          </a:p>
          <a:p>
            <a:r>
              <a:rPr lang="en-US" dirty="0"/>
              <a:t>}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74D0D47D-0626-C38C-644D-1DA40899F8C7}"/>
              </a:ext>
            </a:extLst>
          </p:cNvPr>
          <p:cNvSpPr txBox="1"/>
          <p:nvPr/>
        </p:nvSpPr>
        <p:spPr>
          <a:xfrm>
            <a:off x="5622621" y="4682688"/>
            <a:ext cx="6097044" cy="120032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@Test</a:t>
            </a:r>
          </a:p>
          <a:p>
            <a:r>
              <a:rPr lang="en-US" dirty="0"/>
              <a:t>void calculateDiscount_for100Dollars_returns10Dollars() {</a:t>
            </a:r>
          </a:p>
          <a:p>
            <a:r>
              <a:rPr lang="en-US" dirty="0"/>
              <a:t>    </a:t>
            </a:r>
            <a:r>
              <a:rPr lang="en-US" dirty="0" err="1"/>
              <a:t>assertEquals</a:t>
            </a:r>
            <a:r>
              <a:rPr lang="en-US" dirty="0"/>
              <a:t>(10.0, </a:t>
            </a:r>
            <a:r>
              <a:rPr lang="en-US" dirty="0" err="1"/>
              <a:t>calculator.calculateDiscount</a:t>
            </a:r>
            <a:r>
              <a:rPr lang="en-US" dirty="0"/>
              <a:t>(100.0));</a:t>
            </a:r>
          </a:p>
          <a:p>
            <a:r>
              <a:rPr lang="en-US" dirty="0"/>
              <a:t>}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3D35BCB7-8C5B-5EFB-DB5D-3898742C75AB}"/>
              </a:ext>
            </a:extLst>
          </p:cNvPr>
          <p:cNvSpPr txBox="1"/>
          <p:nvPr/>
        </p:nvSpPr>
        <p:spPr>
          <a:xfrm>
            <a:off x="6231698" y="4360229"/>
            <a:ext cx="4233275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dirty="0"/>
              <a:t>Tests should be self-documenting, with clear naming conventions:</a:t>
            </a:r>
          </a:p>
        </p:txBody>
      </p:sp>
    </p:spTree>
    <p:extLst>
      <p:ext uri="{BB962C8B-B14F-4D97-AF65-F5344CB8AC3E}">
        <p14:creationId xmlns:p14="http://schemas.microsoft.com/office/powerpoint/2010/main" val="1702540923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5B6A614-0CBE-24EF-2378-A82C450E8A2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Design decisions, and why they make testing easier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BEA635E-D5A7-E8C4-B29F-6CD4D1A7721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81192" y="2180497"/>
            <a:ext cx="4861367" cy="1339318"/>
          </a:xfrm>
        </p:spPr>
        <p:txBody>
          <a:bodyPr/>
          <a:lstStyle/>
          <a:p>
            <a:r>
              <a:rPr lang="en-US" dirty="0"/>
              <a:t>Injecting dependencies into service classes, allows us to mock dependencies, rather than needing to test data access code directly 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2AAF9A67-055A-FEF5-241F-B621FB142AD9}"/>
              </a:ext>
            </a:extLst>
          </p:cNvPr>
          <p:cNvSpPr txBox="1"/>
          <p:nvPr/>
        </p:nvSpPr>
        <p:spPr>
          <a:xfrm>
            <a:off x="712418" y="3903222"/>
            <a:ext cx="4297993" cy="2308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public class </a:t>
            </a:r>
            <a:r>
              <a:rPr lang="en-US" dirty="0" err="1"/>
              <a:t>OrderService</a:t>
            </a:r>
            <a:r>
              <a:rPr lang="en-US" dirty="0"/>
              <a:t> {</a:t>
            </a:r>
          </a:p>
          <a:p>
            <a:r>
              <a:rPr lang="en-US" dirty="0"/>
              <a:t>    public void </a:t>
            </a:r>
            <a:r>
              <a:rPr lang="en-US" dirty="0" err="1"/>
              <a:t>placeOrder</a:t>
            </a:r>
            <a:r>
              <a:rPr lang="en-US" dirty="0"/>
              <a:t>(Order order) {</a:t>
            </a:r>
          </a:p>
          <a:p>
            <a:r>
              <a:rPr lang="en-US" dirty="0"/>
              <a:t>        // directly connects to database</a:t>
            </a:r>
          </a:p>
          <a:p>
            <a:r>
              <a:rPr lang="en-US" dirty="0"/>
              <a:t>        // directly sends email</a:t>
            </a:r>
          </a:p>
          <a:p>
            <a:r>
              <a:rPr lang="en-US" dirty="0"/>
              <a:t>        // directly charges credit card</a:t>
            </a:r>
          </a:p>
          <a:p>
            <a:r>
              <a:rPr lang="en-US" dirty="0"/>
              <a:t>        // ...</a:t>
            </a:r>
          </a:p>
          <a:p>
            <a:r>
              <a:rPr lang="en-US" dirty="0"/>
              <a:t>    }</a:t>
            </a:r>
          </a:p>
          <a:p>
            <a:r>
              <a:rPr lang="en-US" dirty="0"/>
              <a:t>}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24FBA33C-7AFD-32DB-0B43-664DDA2BEFB8}"/>
              </a:ext>
            </a:extLst>
          </p:cNvPr>
          <p:cNvSpPr txBox="1"/>
          <p:nvPr/>
        </p:nvSpPr>
        <p:spPr>
          <a:xfrm>
            <a:off x="5722829" y="2241228"/>
            <a:ext cx="6097044" cy="397031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public class </a:t>
            </a:r>
            <a:r>
              <a:rPr lang="en-US" dirty="0" err="1"/>
              <a:t>OrderService</a:t>
            </a:r>
            <a:r>
              <a:rPr lang="en-US" dirty="0"/>
              <a:t> {</a:t>
            </a:r>
          </a:p>
          <a:p>
            <a:endParaRPr lang="en-US" dirty="0"/>
          </a:p>
          <a:p>
            <a:r>
              <a:rPr lang="en-US" dirty="0"/>
              <a:t>    private final </a:t>
            </a:r>
            <a:r>
              <a:rPr lang="en-US" dirty="0" err="1"/>
              <a:t>PaymentService</a:t>
            </a:r>
            <a:r>
              <a:rPr lang="en-US" dirty="0"/>
              <a:t> </a:t>
            </a:r>
            <a:r>
              <a:rPr lang="en-US" dirty="0" err="1"/>
              <a:t>paymentService</a:t>
            </a:r>
            <a:r>
              <a:rPr lang="en-US" dirty="0"/>
              <a:t>;</a:t>
            </a:r>
          </a:p>
          <a:p>
            <a:r>
              <a:rPr lang="en-US" dirty="0"/>
              <a:t>    private final </a:t>
            </a:r>
            <a:r>
              <a:rPr lang="en-US" dirty="0" err="1"/>
              <a:t>EmailService</a:t>
            </a:r>
            <a:r>
              <a:rPr lang="en-US" dirty="0"/>
              <a:t> </a:t>
            </a:r>
            <a:r>
              <a:rPr lang="en-US" dirty="0" err="1"/>
              <a:t>emailService</a:t>
            </a:r>
            <a:r>
              <a:rPr lang="en-US" dirty="0"/>
              <a:t>;</a:t>
            </a:r>
          </a:p>
          <a:p>
            <a:endParaRPr lang="en-US" dirty="0"/>
          </a:p>
          <a:p>
            <a:r>
              <a:rPr lang="en-US" dirty="0"/>
              <a:t>    public </a:t>
            </a:r>
            <a:r>
              <a:rPr lang="en-US" dirty="0" err="1"/>
              <a:t>OrderService</a:t>
            </a:r>
            <a:r>
              <a:rPr lang="en-US" dirty="0"/>
              <a:t>(</a:t>
            </a:r>
          </a:p>
          <a:p>
            <a:r>
              <a:rPr lang="en-US" dirty="0"/>
              <a:t>            </a:t>
            </a:r>
            <a:r>
              <a:rPr lang="en-US" dirty="0" err="1"/>
              <a:t>PaymentService</a:t>
            </a:r>
            <a:r>
              <a:rPr lang="en-US" dirty="0"/>
              <a:t> </a:t>
            </a:r>
            <a:r>
              <a:rPr lang="en-US" dirty="0" err="1"/>
              <a:t>paymentService</a:t>
            </a:r>
            <a:r>
              <a:rPr lang="en-US" dirty="0"/>
              <a:t>,</a:t>
            </a:r>
          </a:p>
          <a:p>
            <a:r>
              <a:rPr lang="en-US" dirty="0"/>
              <a:t>            </a:t>
            </a:r>
            <a:r>
              <a:rPr lang="en-US" dirty="0" err="1"/>
              <a:t>EmailService</a:t>
            </a:r>
            <a:r>
              <a:rPr lang="en-US" dirty="0"/>
              <a:t> </a:t>
            </a:r>
            <a:r>
              <a:rPr lang="en-US" dirty="0" err="1"/>
              <a:t>emailService</a:t>
            </a:r>
            <a:r>
              <a:rPr lang="en-US" dirty="0"/>
              <a:t>) {</a:t>
            </a:r>
          </a:p>
          <a:p>
            <a:r>
              <a:rPr lang="en-US" dirty="0"/>
              <a:t>        </a:t>
            </a:r>
            <a:r>
              <a:rPr lang="en-US" dirty="0" err="1"/>
              <a:t>this.paymentService</a:t>
            </a:r>
            <a:r>
              <a:rPr lang="en-US" dirty="0"/>
              <a:t> = </a:t>
            </a:r>
            <a:r>
              <a:rPr lang="en-US" dirty="0" err="1"/>
              <a:t>paymentService</a:t>
            </a:r>
            <a:r>
              <a:rPr lang="en-US" dirty="0"/>
              <a:t>;</a:t>
            </a:r>
          </a:p>
          <a:p>
            <a:r>
              <a:rPr lang="en-US" dirty="0"/>
              <a:t>        </a:t>
            </a:r>
            <a:r>
              <a:rPr lang="en-US" dirty="0" err="1"/>
              <a:t>this.emailService</a:t>
            </a:r>
            <a:r>
              <a:rPr lang="en-US" dirty="0"/>
              <a:t> = </a:t>
            </a:r>
            <a:r>
              <a:rPr lang="en-US" dirty="0" err="1"/>
              <a:t>emailService</a:t>
            </a:r>
            <a:r>
              <a:rPr lang="en-US" dirty="0"/>
              <a:t>;</a:t>
            </a:r>
          </a:p>
          <a:p>
            <a:r>
              <a:rPr lang="en-US" dirty="0"/>
              <a:t>    }</a:t>
            </a:r>
          </a:p>
          <a:p>
            <a:endParaRPr lang="en-US" dirty="0"/>
          </a:p>
          <a:p>
            <a:r>
              <a:rPr lang="en-US" dirty="0"/>
              <a:t>    // ...</a:t>
            </a:r>
          </a:p>
          <a:p>
            <a:r>
              <a:rPr lang="en-US" dirty="0"/>
              <a:t>}</a:t>
            </a:r>
          </a:p>
        </p:txBody>
      </p:sp>
    </p:spTree>
    <p:extLst>
      <p:ext uri="{BB962C8B-B14F-4D97-AF65-F5344CB8AC3E}">
        <p14:creationId xmlns:p14="http://schemas.microsoft.com/office/powerpoint/2010/main" val="2880333717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73C56EA-3A6A-8F0B-EEA3-A52CC41B1D5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Junit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F1BB834-729C-C3AD-5C8F-FDA91B26060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There are several Unit Testing frameworks for Java, we will use Junit</a:t>
            </a:r>
          </a:p>
          <a:p>
            <a:r>
              <a:rPr lang="en-US" dirty="0"/>
              <a:t>Junit 5 is the modern implementation; it is made up of:</a:t>
            </a:r>
          </a:p>
          <a:p>
            <a:pPr lvl="1"/>
            <a:r>
              <a:rPr lang="en-US" dirty="0"/>
              <a:t>Junit platform – the foundations for launching tests</a:t>
            </a:r>
          </a:p>
          <a:p>
            <a:pPr lvl="1"/>
            <a:r>
              <a:rPr lang="en-US" dirty="0"/>
              <a:t>Junit Jupiter – the programming model and APIs most developers use to write Junit 5 tests</a:t>
            </a:r>
          </a:p>
          <a:p>
            <a:pPr lvl="1"/>
            <a:r>
              <a:rPr lang="en-US" dirty="0"/>
              <a:t>Junit vintage – support for running older Junit 3 or 4 tests</a:t>
            </a:r>
          </a:p>
          <a:p>
            <a:r>
              <a:rPr lang="en-US" dirty="0"/>
              <a:t>Maven Surefire – the Maven plugin that discovers and runs tests during a Maven build</a:t>
            </a:r>
          </a:p>
          <a:p>
            <a:r>
              <a:rPr lang="en-US" dirty="0"/>
              <a:t>You can think of the hierarchy like this:</a:t>
            </a:r>
          </a:p>
          <a:p>
            <a:pPr lvl="1"/>
            <a:r>
              <a:rPr lang="en-US" dirty="0"/>
              <a:t>Maven </a:t>
            </a:r>
            <a:r>
              <a:rPr lang="en-US" dirty="0">
                <a:sym typeface="Wingdings" panose="05000000000000000000" pitchFamily="2" charset="2"/>
              </a:rPr>
              <a:t> Surefire Plugin  Junit Platform  Junit Jupiter  Your @Test methods</a:t>
            </a:r>
            <a:r>
              <a:rPr lang="en-US" dirty="0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2240541558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63A0985-42E4-D452-AE31-CAF39A46D7C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Junit – basic structure of a test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2485FD5-CF09-50D6-619F-782DA8526D8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789107" y="2180496"/>
            <a:ext cx="4821700" cy="3678303"/>
          </a:xfrm>
        </p:spPr>
        <p:txBody>
          <a:bodyPr/>
          <a:lstStyle/>
          <a:p>
            <a:r>
              <a:rPr lang="en-US" dirty="0"/>
              <a:t>Arrange – Set up what the test needs</a:t>
            </a:r>
          </a:p>
          <a:p>
            <a:pPr lvl="1"/>
            <a:r>
              <a:rPr lang="en-US" dirty="0"/>
              <a:t>Calculator </a:t>
            </a:r>
            <a:r>
              <a:rPr lang="en-US" dirty="0" err="1"/>
              <a:t>calculator</a:t>
            </a:r>
            <a:r>
              <a:rPr lang="en-US" dirty="0"/>
              <a:t> = new Calculator();</a:t>
            </a:r>
          </a:p>
          <a:p>
            <a:r>
              <a:rPr lang="en-US" dirty="0"/>
              <a:t>Act – Perform the operation you are testing</a:t>
            </a:r>
          </a:p>
          <a:p>
            <a:pPr lvl="1"/>
            <a:r>
              <a:rPr lang="en-US" dirty="0"/>
              <a:t>int result = </a:t>
            </a:r>
            <a:r>
              <a:rPr lang="en-US" dirty="0" err="1"/>
              <a:t>calculator.add</a:t>
            </a:r>
            <a:r>
              <a:rPr lang="en-US" dirty="0"/>
              <a:t>(2, 3);</a:t>
            </a:r>
          </a:p>
          <a:p>
            <a:r>
              <a:rPr lang="en-US" dirty="0"/>
              <a:t>Assert – Check the result</a:t>
            </a:r>
          </a:p>
          <a:p>
            <a:pPr lvl="1"/>
            <a:r>
              <a:rPr lang="en-US" dirty="0" err="1"/>
              <a:t>assertEquals</a:t>
            </a:r>
            <a:r>
              <a:rPr lang="en-US" dirty="0"/>
              <a:t>(5, result);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4249D814-97C9-362F-8C98-263915ABCADA}"/>
              </a:ext>
            </a:extLst>
          </p:cNvPr>
          <p:cNvSpPr txBox="1"/>
          <p:nvPr/>
        </p:nvSpPr>
        <p:spPr>
          <a:xfrm>
            <a:off x="1294878" y="2516243"/>
            <a:ext cx="5494229" cy="341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import static </a:t>
            </a:r>
            <a:r>
              <a:rPr lang="en-US" dirty="0" err="1"/>
              <a:t>org.junit.jupiter.api.Assertions</a:t>
            </a:r>
            <a:r>
              <a:rPr lang="en-US" dirty="0"/>
              <a:t>.*;</a:t>
            </a:r>
          </a:p>
          <a:p>
            <a:r>
              <a:rPr lang="en-US" dirty="0"/>
              <a:t>import </a:t>
            </a:r>
            <a:r>
              <a:rPr lang="en-US" dirty="0" err="1"/>
              <a:t>org.junit.jupiter.api.Test</a:t>
            </a:r>
            <a:r>
              <a:rPr lang="en-US" dirty="0"/>
              <a:t>;</a:t>
            </a:r>
          </a:p>
          <a:p>
            <a:endParaRPr lang="en-US" dirty="0"/>
          </a:p>
          <a:p>
            <a:r>
              <a:rPr lang="en-US" dirty="0"/>
              <a:t>class </a:t>
            </a:r>
            <a:r>
              <a:rPr lang="en-US" dirty="0" err="1"/>
              <a:t>CalculatorTest</a:t>
            </a:r>
            <a:r>
              <a:rPr lang="en-US" dirty="0"/>
              <a:t> {</a:t>
            </a:r>
          </a:p>
          <a:p>
            <a:endParaRPr lang="en-US" dirty="0"/>
          </a:p>
          <a:p>
            <a:r>
              <a:rPr lang="en-US" dirty="0"/>
              <a:t>    @Test</a:t>
            </a:r>
          </a:p>
          <a:p>
            <a:r>
              <a:rPr lang="en-US" dirty="0"/>
              <a:t>    void </a:t>
            </a:r>
            <a:r>
              <a:rPr lang="en-US" dirty="0" err="1"/>
              <a:t>add_shouldReturnSum</a:t>
            </a:r>
            <a:r>
              <a:rPr lang="en-US" dirty="0"/>
              <a:t>() {</a:t>
            </a:r>
          </a:p>
          <a:p>
            <a:r>
              <a:rPr lang="en-US" dirty="0"/>
              <a:t>        Calculator </a:t>
            </a:r>
            <a:r>
              <a:rPr lang="en-US" dirty="0" err="1"/>
              <a:t>calculator</a:t>
            </a:r>
            <a:r>
              <a:rPr lang="en-US" dirty="0"/>
              <a:t> = new Calculator();</a:t>
            </a:r>
          </a:p>
          <a:p>
            <a:pPr marL="324000" lvl="1">
              <a:buClr>
                <a:schemeClr val="accent2"/>
              </a:buClr>
              <a:buSzPct val="92000"/>
            </a:pPr>
            <a:r>
              <a:rPr lang="en-US" dirty="0"/>
              <a:t>   int result = </a:t>
            </a:r>
            <a:r>
              <a:rPr lang="en-US" dirty="0" err="1"/>
              <a:t>calculator.add</a:t>
            </a:r>
            <a:r>
              <a:rPr lang="en-US" dirty="0"/>
              <a:t>(2, 3);</a:t>
            </a:r>
          </a:p>
          <a:p>
            <a:r>
              <a:rPr lang="en-US" dirty="0"/>
              <a:t>        </a:t>
            </a:r>
            <a:r>
              <a:rPr lang="en-US" dirty="0" err="1"/>
              <a:t>assertEquals</a:t>
            </a:r>
            <a:r>
              <a:rPr lang="en-US" dirty="0"/>
              <a:t>(5, result);</a:t>
            </a:r>
          </a:p>
          <a:p>
            <a:r>
              <a:rPr lang="en-US" dirty="0"/>
              <a:t>    }</a:t>
            </a:r>
          </a:p>
          <a:p>
            <a:r>
              <a:rPr lang="en-US" dirty="0"/>
              <a:t>}</a:t>
            </a:r>
          </a:p>
        </p:txBody>
      </p:sp>
    </p:spTree>
    <p:extLst>
      <p:ext uri="{BB962C8B-B14F-4D97-AF65-F5344CB8AC3E}">
        <p14:creationId xmlns:p14="http://schemas.microsoft.com/office/powerpoint/2010/main" val="3288918719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D2B1B71-F22F-ACCC-1FCC-0DE8A977271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Common types of JUNIT assertions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97A1446-6001-06B4-3324-643B36236D9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229496" y="1979113"/>
            <a:ext cx="5103535" cy="4176732"/>
          </a:xfrm>
        </p:spPr>
        <p:txBody>
          <a:bodyPr>
            <a:noAutofit/>
          </a:bodyPr>
          <a:lstStyle/>
          <a:p>
            <a:pPr marL="0" indent="0">
              <a:buNone/>
            </a:pPr>
            <a:r>
              <a:rPr lang="en-US" sz="1400" dirty="0" err="1"/>
              <a:t>assertEquals</a:t>
            </a:r>
            <a:r>
              <a:rPr lang="en-US" sz="1400" dirty="0"/>
              <a:t>(expected, actual);</a:t>
            </a:r>
          </a:p>
          <a:p>
            <a:pPr marL="0" indent="0">
              <a:buNone/>
            </a:pPr>
            <a:r>
              <a:rPr lang="en-US" sz="1400" dirty="0" err="1"/>
              <a:t>assertNotEquals</a:t>
            </a:r>
            <a:r>
              <a:rPr lang="en-US" sz="1400" dirty="0"/>
              <a:t>(unexpected, actual);</a:t>
            </a:r>
          </a:p>
          <a:p>
            <a:pPr marL="0" indent="0">
              <a:buNone/>
            </a:pPr>
            <a:endParaRPr lang="en-US" sz="1400" dirty="0"/>
          </a:p>
          <a:p>
            <a:pPr marL="0" indent="0">
              <a:buNone/>
            </a:pPr>
            <a:r>
              <a:rPr lang="en-US" sz="1400" dirty="0" err="1"/>
              <a:t>assertTrue</a:t>
            </a:r>
            <a:r>
              <a:rPr lang="en-US" sz="1400" dirty="0"/>
              <a:t>(condition);</a:t>
            </a:r>
          </a:p>
          <a:p>
            <a:pPr marL="0" indent="0">
              <a:buNone/>
            </a:pPr>
            <a:r>
              <a:rPr lang="en-US" sz="1400" dirty="0" err="1"/>
              <a:t>assertFalse</a:t>
            </a:r>
            <a:r>
              <a:rPr lang="en-US" sz="1400" dirty="0"/>
              <a:t>(condition);</a:t>
            </a:r>
          </a:p>
          <a:p>
            <a:pPr marL="0" indent="0">
              <a:buNone/>
            </a:pPr>
            <a:endParaRPr lang="en-US" sz="1400" dirty="0"/>
          </a:p>
          <a:p>
            <a:pPr marL="0" indent="0">
              <a:buNone/>
            </a:pPr>
            <a:r>
              <a:rPr lang="en-US" sz="1400" dirty="0" err="1"/>
              <a:t>assertNull</a:t>
            </a:r>
            <a:r>
              <a:rPr lang="en-US" sz="1400" dirty="0"/>
              <a:t>(value);</a:t>
            </a:r>
          </a:p>
          <a:p>
            <a:pPr marL="0" indent="0">
              <a:buNone/>
            </a:pPr>
            <a:r>
              <a:rPr lang="en-US" sz="1400" dirty="0" err="1"/>
              <a:t>assertNotNull</a:t>
            </a:r>
            <a:r>
              <a:rPr lang="en-US" sz="1400" dirty="0"/>
              <a:t>(value);</a:t>
            </a:r>
          </a:p>
          <a:p>
            <a:pPr marL="0" indent="0">
              <a:buNone/>
            </a:pPr>
            <a:endParaRPr lang="en-US" sz="1400" dirty="0"/>
          </a:p>
          <a:p>
            <a:pPr marL="0" indent="0">
              <a:buNone/>
            </a:pPr>
            <a:r>
              <a:rPr lang="en-US" sz="1400" dirty="0" err="1"/>
              <a:t>assertThrows</a:t>
            </a:r>
            <a:r>
              <a:rPr lang="en-US" sz="1400" dirty="0"/>
              <a:t>(</a:t>
            </a:r>
          </a:p>
          <a:p>
            <a:pPr marL="0" indent="0">
              <a:buNone/>
            </a:pPr>
            <a:r>
              <a:rPr lang="en-US" sz="1400" dirty="0"/>
              <a:t>    </a:t>
            </a:r>
            <a:r>
              <a:rPr lang="en-US" sz="1400" dirty="0" err="1"/>
              <a:t>SomeException.class</a:t>
            </a:r>
            <a:r>
              <a:rPr lang="en-US" sz="1400" dirty="0"/>
              <a:t>,</a:t>
            </a:r>
          </a:p>
          <a:p>
            <a:pPr marL="0" indent="0">
              <a:buNone/>
            </a:pPr>
            <a:r>
              <a:rPr lang="en-US" sz="1400" dirty="0"/>
              <a:t>    () -&gt; </a:t>
            </a:r>
            <a:r>
              <a:rPr lang="en-US" sz="1400" dirty="0" err="1"/>
              <a:t>someOperation</a:t>
            </a:r>
            <a:r>
              <a:rPr lang="en-US" sz="1400" dirty="0"/>
              <a:t>()</a:t>
            </a:r>
          </a:p>
          <a:p>
            <a:pPr marL="0" indent="0">
              <a:buNone/>
            </a:pPr>
            <a:r>
              <a:rPr lang="en-US" sz="1400" dirty="0"/>
              <a:t>);</a:t>
            </a:r>
          </a:p>
        </p:txBody>
      </p:sp>
    </p:spTree>
    <p:extLst>
      <p:ext uri="{BB962C8B-B14F-4D97-AF65-F5344CB8AC3E}">
        <p14:creationId xmlns:p14="http://schemas.microsoft.com/office/powerpoint/2010/main" val="15184083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E86D869-D3D5-20B3-4FFA-D28F0DB3991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Inmemory</a:t>
            </a:r>
            <a:r>
              <a:rPr lang="en-US" dirty="0"/>
              <a:t> mocks vs Mockito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1A9673F-0C70-B658-C450-BD913A70431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You can check out ‘InMemoryJunitExample.java’ for examples WITHOUT Mockito</a:t>
            </a:r>
          </a:p>
          <a:p>
            <a:r>
              <a:rPr lang="en-US" dirty="0"/>
              <a:t>Mockito is a Java mocking framework used to create fake or simulated versions of objects that our code depends on</a:t>
            </a:r>
          </a:p>
          <a:p>
            <a:pPr lvl="1"/>
            <a:r>
              <a:rPr lang="en-US" dirty="0"/>
              <a:t>This helps us test classes in isolation</a:t>
            </a:r>
          </a:p>
        </p:txBody>
      </p:sp>
    </p:spTree>
    <p:extLst>
      <p:ext uri="{BB962C8B-B14F-4D97-AF65-F5344CB8AC3E}">
        <p14:creationId xmlns:p14="http://schemas.microsoft.com/office/powerpoint/2010/main" val="664252885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F2971FE-5D97-7639-8728-6AD53330875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Junit lifecycle annotations</a:t>
            </a:r>
          </a:p>
        </p:txBody>
      </p:sp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A94A887F-74C4-DB73-8226-EA5E2EEB1F5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276476074"/>
              </p:ext>
            </p:extLst>
          </p:nvPr>
        </p:nvGraphicFramePr>
        <p:xfrm>
          <a:off x="639547" y="2341690"/>
          <a:ext cx="11029950" cy="182880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5514975">
                  <a:extLst>
                    <a:ext uri="{9D8B030D-6E8A-4147-A177-3AD203B41FA5}">
                      <a16:colId xmlns:a16="http://schemas.microsoft.com/office/drawing/2014/main" val="2526180348"/>
                    </a:ext>
                  </a:extLst>
                </a:gridCol>
                <a:gridCol w="5514975">
                  <a:extLst>
                    <a:ext uri="{9D8B030D-6E8A-4147-A177-3AD203B41FA5}">
                      <a16:colId xmlns:a16="http://schemas.microsoft.com/office/drawing/2014/main" val="2398276550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marL="0" marR="0" algn="l">
                        <a:buNone/>
                      </a:pPr>
                      <a:r>
                        <a:rPr lang="en-US" b="1" dirty="0">
                          <a:effectLst/>
                        </a:rPr>
                        <a:t>Annotation</a:t>
                      </a:r>
                      <a:endParaRPr lang="en-US" b="1" i="0" dirty="0">
                        <a:solidFill>
                          <a:srgbClr val="FFFFFF"/>
                        </a:solidFill>
                        <a:effectLst/>
                        <a:latin typeface="-apple-system-body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algn="l">
                        <a:buNone/>
                      </a:pPr>
                      <a:r>
                        <a:rPr lang="en-US" b="1" dirty="0">
                          <a:effectLst/>
                        </a:rPr>
                        <a:t>Runs</a:t>
                      </a:r>
                      <a:endParaRPr lang="en-US" b="1" i="0" dirty="0">
                        <a:solidFill>
                          <a:srgbClr val="FFFFFF"/>
                        </a:solidFill>
                        <a:effectLst/>
                        <a:latin typeface="-apple-system-body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41117406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algn="l">
                        <a:buNone/>
                      </a:pPr>
                      <a:r>
                        <a:rPr lang="en-US">
                          <a:effectLst/>
                        </a:rPr>
                        <a:t>@BeforeEach</a:t>
                      </a:r>
                      <a:endParaRPr lang="en-US" b="0" i="0">
                        <a:solidFill>
                          <a:srgbClr val="FFFFFF"/>
                        </a:solidFill>
                        <a:effectLst/>
                        <a:latin typeface="-apple-system-body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algn="l">
                        <a:buNone/>
                      </a:pPr>
                      <a:r>
                        <a:rPr lang="en-US">
                          <a:effectLst/>
                        </a:rPr>
                        <a:t>Before each test</a:t>
                      </a:r>
                      <a:endParaRPr lang="en-US" b="0" i="0">
                        <a:solidFill>
                          <a:srgbClr val="FFFFFF"/>
                        </a:solidFill>
                        <a:effectLst/>
                        <a:latin typeface="-apple-system-body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923368939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algn="l">
                        <a:buNone/>
                      </a:pPr>
                      <a:r>
                        <a:rPr lang="en-US">
                          <a:effectLst/>
                        </a:rPr>
                        <a:t>@AfterEach</a:t>
                      </a:r>
                      <a:endParaRPr lang="en-US" b="0" i="0">
                        <a:solidFill>
                          <a:srgbClr val="FFFFFF"/>
                        </a:solidFill>
                        <a:effectLst/>
                        <a:latin typeface="-apple-system-body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algn="l">
                        <a:buNone/>
                      </a:pPr>
                      <a:r>
                        <a:rPr lang="en-US">
                          <a:effectLst/>
                        </a:rPr>
                        <a:t>After each test</a:t>
                      </a:r>
                      <a:endParaRPr lang="en-US" b="0" i="0">
                        <a:solidFill>
                          <a:srgbClr val="FFFFFF"/>
                        </a:solidFill>
                        <a:effectLst/>
                        <a:latin typeface="-apple-system-body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43913139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algn="l">
                        <a:buNone/>
                      </a:pPr>
                      <a:r>
                        <a:rPr lang="en-US">
                          <a:effectLst/>
                        </a:rPr>
                        <a:t>@BeforeAll</a:t>
                      </a:r>
                      <a:endParaRPr lang="en-US" b="0" i="0">
                        <a:solidFill>
                          <a:srgbClr val="FFFFFF"/>
                        </a:solidFill>
                        <a:effectLst/>
                        <a:latin typeface="-apple-system-body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algn="l">
                        <a:buNone/>
                      </a:pPr>
                      <a:r>
                        <a:rPr lang="en-US">
                          <a:effectLst/>
                        </a:rPr>
                        <a:t>Once before all tests in the class</a:t>
                      </a:r>
                      <a:endParaRPr lang="en-US" b="0" i="0">
                        <a:solidFill>
                          <a:srgbClr val="FFFFFF"/>
                        </a:solidFill>
                        <a:effectLst/>
                        <a:latin typeface="-apple-system-body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625612288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algn="l">
                        <a:buNone/>
                      </a:pPr>
                      <a:r>
                        <a:rPr lang="en-US">
                          <a:effectLst/>
                        </a:rPr>
                        <a:t>@AfterAll</a:t>
                      </a:r>
                      <a:endParaRPr lang="en-US" b="0" i="0">
                        <a:solidFill>
                          <a:srgbClr val="FFFFFF"/>
                        </a:solidFill>
                        <a:effectLst/>
                        <a:latin typeface="-apple-system-body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algn="l">
                        <a:buNone/>
                      </a:pPr>
                      <a:r>
                        <a:rPr lang="en-US" dirty="0">
                          <a:effectLst/>
                        </a:rPr>
                        <a:t>Once after all tests in the class</a:t>
                      </a:r>
                      <a:endParaRPr lang="en-US" b="0" i="0" dirty="0">
                        <a:solidFill>
                          <a:srgbClr val="FFFFFF"/>
                        </a:solidFill>
                        <a:effectLst/>
                        <a:latin typeface="-apple-system-body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916353712"/>
                  </a:ext>
                </a:extLst>
              </a:tr>
            </a:tbl>
          </a:graphicData>
        </a:graphic>
      </p:graphicFrame>
      <p:pic>
        <p:nvPicPr>
          <p:cNvPr id="6" name="Picture 5">
            <a:extLst>
              <a:ext uri="{FF2B5EF4-FFF2-40B4-BE49-F238E27FC236}">
                <a16:creationId xmlns:a16="http://schemas.microsoft.com/office/drawing/2014/main" id="{00B2E970-A628-8347-E893-D2666DFDEE1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23908" y="4452888"/>
            <a:ext cx="3944184" cy="2097083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0A4A7D67-ED42-94D2-5121-C609A11A08F8}"/>
              </a:ext>
            </a:extLst>
          </p:cNvPr>
          <p:cNvSpPr txBox="1"/>
          <p:nvPr/>
        </p:nvSpPr>
        <p:spPr>
          <a:xfrm>
            <a:off x="8288122" y="4796224"/>
            <a:ext cx="3547872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Oten used in tandem with Mockito to create mocks for each test method. But these lifecycle annotations are part of Junit!</a:t>
            </a:r>
          </a:p>
        </p:txBody>
      </p:sp>
    </p:spTree>
    <p:extLst>
      <p:ext uri="{BB962C8B-B14F-4D97-AF65-F5344CB8AC3E}">
        <p14:creationId xmlns:p14="http://schemas.microsoft.com/office/powerpoint/2010/main" val="4066969298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89A3632-CFD2-802B-EE2F-BE0E9E8E254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Mockito – stubs &amp; Mocks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3512DD8-853F-428B-2F41-6436A44307E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81192" y="2180496"/>
            <a:ext cx="5713137" cy="4038677"/>
          </a:xfrm>
        </p:spPr>
        <p:txBody>
          <a:bodyPr>
            <a:normAutofit lnSpcReduction="10000"/>
          </a:bodyPr>
          <a:lstStyle/>
          <a:p>
            <a:r>
              <a:rPr lang="en-US" dirty="0"/>
              <a:t>Stub – provides predefined answers so your test can focus on behavior </a:t>
            </a:r>
          </a:p>
          <a:p>
            <a:r>
              <a:rPr lang="en-US" dirty="0"/>
              <a:t>Mock – lets you verify interactions such as whether a method was called, what it returned, and with what arguments it used</a:t>
            </a:r>
          </a:p>
          <a:p>
            <a:r>
              <a:rPr lang="en-US" dirty="0"/>
              <a:t>Common methods:</a:t>
            </a:r>
          </a:p>
          <a:p>
            <a:pPr lvl="1"/>
            <a:r>
              <a:rPr lang="en-US" dirty="0"/>
              <a:t>Mock() – creates the mock (as seen on previous slide)</a:t>
            </a:r>
          </a:p>
          <a:p>
            <a:pPr lvl="1"/>
            <a:r>
              <a:rPr lang="en-US" dirty="0"/>
              <a:t>When() – configures the mock / sets up a stub </a:t>
            </a:r>
          </a:p>
          <a:p>
            <a:pPr lvl="1"/>
            <a:r>
              <a:rPr lang="en-US" dirty="0"/>
              <a:t>verify() – verifies interactions with the mock (sometimes we only need this and no assertions, sometimes we could use both)</a:t>
            </a:r>
          </a:p>
          <a:p>
            <a:pPr lvl="2"/>
            <a:r>
              <a:rPr lang="en-US" dirty="0"/>
              <a:t>General rule: use assertions when you care about the result/state. Use verify() when you care about what the code did to a dependency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180495AF-122D-5BC5-5EDD-C87C2EA68DB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86170" y="2557485"/>
            <a:ext cx="5312391" cy="1350014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526FB61F-17FB-29F9-9B3C-D7BCB6C2175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86170" y="4520454"/>
            <a:ext cx="5427583" cy="120881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80182710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7DD4A56-A925-3BE9-723C-2F7B0A6E52A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Naming tests, project directory placement, &amp; POM config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AB255F6-110C-56D5-7DD2-0BEE7DB19C1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81192" y="2180496"/>
            <a:ext cx="11029615" cy="1013801"/>
          </a:xfrm>
        </p:spPr>
        <p:txBody>
          <a:bodyPr/>
          <a:lstStyle/>
          <a:p>
            <a:r>
              <a:rPr lang="en-US" dirty="0"/>
              <a:t>Tests are placed in the directory as shown</a:t>
            </a:r>
          </a:p>
          <a:p>
            <a:r>
              <a:rPr lang="en-US" dirty="0"/>
              <a:t>Test classes are named like: NameOfClassWeAreTestingTest.java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9247F92B-EF2B-CB61-5B5B-E6118642C44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65665" y="3325415"/>
            <a:ext cx="3305636" cy="666843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ECF98F21-11BB-C133-36C6-318085BB5EA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55531" y="2114093"/>
            <a:ext cx="2966235" cy="4568342"/>
          </a:xfrm>
          <a:prstGeom prst="rect">
            <a:avLst/>
          </a:prstGeom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4A81CA89-3092-C76D-1A7A-76DEA85EA8DE}"/>
              </a:ext>
            </a:extLst>
          </p:cNvPr>
          <p:cNvSpPr txBox="1"/>
          <p:nvPr/>
        </p:nvSpPr>
        <p:spPr>
          <a:xfrm>
            <a:off x="581192" y="4942728"/>
            <a:ext cx="6097218" cy="9233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buClr>
                <a:schemeClr val="accent2"/>
              </a:buClr>
              <a:buFont typeface="Wingdings" panose="05000000000000000000" pitchFamily="2" charset="2"/>
              <a:buChar char="§"/>
            </a:pPr>
            <a:r>
              <a:rPr lang="en-US" dirty="0"/>
              <a:t>We must also add dependencies and plugin configuration to our Maven pom file, a complete solution is included in your course materials</a:t>
            </a:r>
            <a:endParaRPr lang="en-US" sz="1800" dirty="0"/>
          </a:p>
        </p:txBody>
      </p:sp>
    </p:spTree>
    <p:extLst>
      <p:ext uri="{BB962C8B-B14F-4D97-AF65-F5344CB8AC3E}">
        <p14:creationId xmlns:p14="http://schemas.microsoft.com/office/powerpoint/2010/main" val="2923257438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99EFADC-0B4A-0F3C-C908-3BFD756E351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Testing best practices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EA587C7-6124-080E-D8DA-5D6353C80F6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To ensure we write tests that are logically sound, consider the following different types of unit tests (non-exhaustive, this is just how your trainer likes to think about it):</a:t>
            </a:r>
          </a:p>
          <a:p>
            <a:pPr lvl="1"/>
            <a:r>
              <a:rPr lang="en-US" dirty="0"/>
              <a:t>Positive: verifies code works when given valid inputs</a:t>
            </a:r>
          </a:p>
          <a:p>
            <a:pPr lvl="1"/>
            <a:r>
              <a:rPr lang="en-US" dirty="0"/>
              <a:t>Negative: verifies the code works as expected with invalid inputs</a:t>
            </a:r>
          </a:p>
          <a:p>
            <a:pPr lvl="1"/>
            <a:r>
              <a:rPr lang="en-US" dirty="0"/>
              <a:t>Bulk: verifies the code works when CRUD is performed on many records</a:t>
            </a:r>
          </a:p>
          <a:p>
            <a:pPr lvl="1"/>
            <a:r>
              <a:rPr lang="en-US" dirty="0"/>
              <a:t>Single: verifies the code works when CRUD is performed on a single record</a:t>
            </a:r>
          </a:p>
          <a:p>
            <a:pPr lvl="1"/>
            <a:r>
              <a:rPr lang="en-US" dirty="0"/>
              <a:t>Access Control (positive/negative):  verifies users do or do not have expected access to perform an action </a:t>
            </a:r>
          </a:p>
        </p:txBody>
      </p:sp>
    </p:spTree>
    <p:extLst>
      <p:ext uri="{BB962C8B-B14F-4D97-AF65-F5344CB8AC3E}">
        <p14:creationId xmlns:p14="http://schemas.microsoft.com/office/powerpoint/2010/main" val="1054323851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668E74F-0E54-3201-F41E-0B8FB21DCEA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STOP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FC0D3D5-6C35-5684-ACF7-C06E332BA95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Please see the ‘</a:t>
            </a:r>
            <a:r>
              <a:rPr lang="en-US" dirty="0" err="1"/>
              <a:t>cleancodeWithJDBC</a:t>
            </a:r>
            <a:r>
              <a:rPr lang="en-US" dirty="0"/>
              <a:t>’ project in your course materials</a:t>
            </a:r>
          </a:p>
          <a:p>
            <a:r>
              <a:rPr lang="en-US" dirty="0"/>
              <a:t>This showcases Junit &amp; Mockito concepts</a:t>
            </a:r>
          </a:p>
        </p:txBody>
      </p:sp>
    </p:spTree>
    <p:extLst>
      <p:ext uri="{BB962C8B-B14F-4D97-AF65-F5344CB8AC3E}">
        <p14:creationId xmlns:p14="http://schemas.microsoft.com/office/powerpoint/2010/main" val="2727604622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E83D92F2-BD3F-5502-960E-3CFF3577844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75D234C-D59D-E997-1AA0-D508BFFD3CB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Challenge Demo – How to Excel in this course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3F8E57B-9E41-4816-C2F2-1105A90F87A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81192" y="2475925"/>
            <a:ext cx="5317584" cy="1681246"/>
          </a:xfrm>
        </p:spPr>
        <p:txBody>
          <a:bodyPr/>
          <a:lstStyle/>
          <a:p>
            <a:r>
              <a:rPr lang="en-US" dirty="0"/>
              <a:t>Complete a hands-on challenge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2DE50FF0-C783-F3C0-044D-2F094F317804}"/>
              </a:ext>
            </a:extLst>
          </p:cNvPr>
          <p:cNvSpPr txBox="1"/>
          <p:nvPr/>
        </p:nvSpPr>
        <p:spPr>
          <a:xfrm>
            <a:off x="1228165" y="2402747"/>
            <a:ext cx="75693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/>
              <a:t>Goal: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405306AE-2095-D0AE-E069-321DBC55370F}"/>
              </a:ext>
            </a:extLst>
          </p:cNvPr>
          <p:cNvSpPr txBox="1"/>
          <p:nvPr/>
        </p:nvSpPr>
        <p:spPr>
          <a:xfrm>
            <a:off x="6949165" y="2402747"/>
            <a:ext cx="466164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/>
              <a:t>Scenario:  			   5 min</a:t>
            </a:r>
          </a:p>
        </p:txBody>
      </p:sp>
      <p:sp>
        <p:nvSpPr>
          <p:cNvPr id="8" name="Content Placeholder 2">
            <a:extLst>
              <a:ext uri="{FF2B5EF4-FFF2-40B4-BE49-F238E27FC236}">
                <a16:creationId xmlns:a16="http://schemas.microsoft.com/office/drawing/2014/main" id="{61B443B1-E14C-64AB-9E9D-75FFCF923C2B}"/>
              </a:ext>
            </a:extLst>
          </p:cNvPr>
          <p:cNvSpPr txBox="1">
            <a:spLocks/>
          </p:cNvSpPr>
          <p:nvPr/>
        </p:nvSpPr>
        <p:spPr>
          <a:xfrm>
            <a:off x="6545749" y="2772079"/>
            <a:ext cx="4661642" cy="1681246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marL="306000" indent="-306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8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  <a:lvl2pPr marL="630000" indent="-306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6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2pPr>
            <a:lvl3pPr marL="900000" indent="-270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4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3pPr>
            <a:lvl4pPr marL="1242000" indent="-234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4pPr>
            <a:lvl5pPr marL="1602000" indent="-234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5pPr>
            <a:lvl6pPr marL="19000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6pPr>
            <a:lvl7pPr marL="22000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7pPr>
            <a:lvl8pPr marL="25000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8pPr>
            <a:lvl9pPr marL="28000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/>
              <a:t>Your organization needs to relay technical concepts to you. Clients often need to do the same. Take a few moments to get some pen and paper ready to take notes. </a:t>
            </a:r>
          </a:p>
        </p:txBody>
      </p:sp>
    </p:spTree>
    <p:extLst>
      <p:ext uri="{BB962C8B-B14F-4D97-AF65-F5344CB8AC3E}">
        <p14:creationId xmlns:p14="http://schemas.microsoft.com/office/powerpoint/2010/main" val="3587871389"/>
      </p:ext>
    </p:extLst>
  </p:cSld>
  <p:clrMapOvr>
    <a:masterClrMapping/>
  </p:clrMapOvr>
</p:sld>
</file>

<file path=ppt/theme/theme1.xml><?xml version="1.0" encoding="utf-8"?>
<a:theme xmlns:a="http://schemas.openxmlformats.org/drawingml/2006/main" name="Dividend">
  <a:themeElements>
    <a:clrScheme name="Dividend">
      <a:dk1>
        <a:sysClr val="windowText" lastClr="000000"/>
      </a:dk1>
      <a:lt1>
        <a:sysClr val="window" lastClr="FFFFFF"/>
      </a:lt1>
      <a:dk2>
        <a:srgbClr val="3D3D3D"/>
      </a:dk2>
      <a:lt2>
        <a:srgbClr val="EBEBEB"/>
      </a:lt2>
      <a:accent1>
        <a:srgbClr val="366658"/>
      </a:accent1>
      <a:accent2>
        <a:srgbClr val="8CB64A"/>
      </a:accent2>
      <a:accent3>
        <a:srgbClr val="88D5A9"/>
      </a:accent3>
      <a:accent4>
        <a:srgbClr val="969FA7"/>
      </a:accent4>
      <a:accent5>
        <a:srgbClr val="E8A844"/>
      </a:accent5>
      <a:accent6>
        <a:srgbClr val="A1561F"/>
      </a:accent6>
      <a:hlink>
        <a:srgbClr val="828282"/>
      </a:hlink>
      <a:folHlink>
        <a:srgbClr val="A5A5A5"/>
      </a:folHlink>
    </a:clrScheme>
    <a:fontScheme name="Dividend">
      <a:majorFont>
        <a:latin typeface="Gill Sans MT" panose="020B0502020104020203"/>
        <a:ea typeface=""/>
        <a:cs typeface=""/>
        <a:font script="Grek" typeface="Corbel"/>
        <a:font script="Cyrl" typeface="Corbel"/>
        <a:font script="Jpan" typeface="HGｺﾞｼｯｸE"/>
        <a:font script="Hang" typeface="휴먼매직체"/>
        <a:font script="Hans" typeface="华文中宋"/>
        <a:font script="Hant" typeface="微軟正黑體"/>
        <a:font script="Arab" typeface="Majalla UI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Gill Sans MT" panose="020B0502020104020203"/>
        <a:ea typeface=""/>
        <a:cs typeface=""/>
        <a:font script="Grek" typeface="Corbel"/>
        <a:font script="Cyrl" typeface="Corbel"/>
        <a:font script="Jpan" typeface="HGｺﾞｼｯｸE"/>
        <a:font script="Hang" typeface="휴먼매직체"/>
        <a:font script="Hans" typeface="华文中宋"/>
        <a:font script="Hant" typeface="微軟正黑體"/>
        <a:font script="Arab" typeface="Majalla UI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inorFont>
    </a:fontScheme>
    <a:fmtScheme name="Dividend">
      <a:fillStyleLst>
        <a:solidFill>
          <a:schemeClr val="phClr"/>
        </a:solidFill>
        <a:gradFill rotWithShape="1">
          <a:gsLst>
            <a:gs pos="0">
              <a:schemeClr val="phClr">
                <a:tint val="68000"/>
                <a:alpha val="90000"/>
                <a:lumMod val="100000"/>
              </a:schemeClr>
            </a:gs>
            <a:gs pos="100000">
              <a:schemeClr val="phClr">
                <a:tint val="90000"/>
                <a:lumMod val="95000"/>
              </a:schemeClr>
            </a:gs>
          </a:gsLst>
          <a:lin ang="5400000" scaled="1"/>
        </a:gradFill>
        <a:gradFill rotWithShape="1">
          <a:gsLst>
            <a:gs pos="0">
              <a:schemeClr val="phClr">
                <a:tint val="98000"/>
                <a:lumMod val="110000"/>
              </a:schemeClr>
            </a:gs>
            <a:gs pos="84000">
              <a:schemeClr val="phClr">
                <a:shade val="90000"/>
                <a:lumMod val="88000"/>
              </a:schemeClr>
            </a:gs>
          </a:gsLst>
          <a:lin ang="5400000" scaled="0"/>
        </a:gradFill>
      </a:fillStyleLst>
      <a:lnStyleLst>
        <a:ln w="12700" cap="rnd" cmpd="sng" algn="ctr">
          <a:solidFill>
            <a:schemeClr val="phClr">
              <a:lumMod val="90000"/>
            </a:schemeClr>
          </a:solidFill>
          <a:prstDash val="solid"/>
        </a:ln>
        <a:ln w="22225" cap="rnd" cmpd="sng" algn="ctr">
          <a:solidFill>
            <a:schemeClr val="phClr"/>
          </a:solidFill>
          <a:prstDash val="solid"/>
        </a:ln>
        <a:ln w="25400" cap="rnd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38100" dist="25400" dir="5400000" rotWithShape="0">
              <a:srgbClr val="000000">
                <a:alpha val="55000"/>
              </a:srgbClr>
            </a:outerShdw>
          </a:effectLst>
        </a:effectStyle>
        <a:effectStyle>
          <a:effectLst>
            <a:outerShdw blurRad="88900" dist="38100" dir="5040000" rotWithShape="0">
              <a:srgbClr val="000000">
                <a:alpha val="60000"/>
              </a:srgbClr>
            </a:outerShdw>
          </a:effectLst>
          <a:scene3d>
            <a:camera prst="orthographicFront">
              <a:rot lat="0" lon="0" rev="0"/>
            </a:camera>
            <a:lightRig rig="threePt" dir="tl">
              <a:rot lat="0" lon="0" rev="1200000"/>
            </a:lightRig>
          </a:scene3d>
          <a:sp3d>
            <a:bevelT w="38100" h="508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90000"/>
                <a:lumMod val="110000"/>
              </a:schemeClr>
            </a:gs>
            <a:gs pos="88000">
              <a:schemeClr val="phClr">
                <a:shade val="94000"/>
                <a:satMod val="110000"/>
                <a:lumMod val="88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0000"/>
                <a:lumMod val="110000"/>
              </a:schemeClr>
            </a:gs>
            <a:gs pos="100000">
              <a:schemeClr val="phClr">
                <a:shade val="98000"/>
                <a:satMod val="110000"/>
                <a:lumMod val="86000"/>
              </a:schemeClr>
            </a:gs>
          </a:gsLst>
          <a:path path="circle">
            <a:fillToRect l="50000" t="50000" r="100000" b="10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Dividend" id="{9697A71B-4AB7-4A1A-BD5B-BB2D22835B57}" vid="{4BEC0EAF-CF86-4D49-B83B-56CC62D3CFF1}"/>
    </a:ext>
  </a:extLst>
</a:theme>
</file>

<file path=docMetadata/LabelInfo.xml><?xml version="1.0" encoding="utf-8"?>
<clbl:labelList xmlns:clbl="http://schemas.microsoft.com/office/2020/mipLabelMetadata">
  <clbl:label id="{6b63e28a-a8f9-47b5-aa40-97e231215164}" enabled="0" method="" siteId="{6b63e28a-a8f9-47b5-aa40-97e231215164}" removed="1"/>
</clbl:labelList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3035</TotalTime>
  <Words>1190</Words>
  <Application>Microsoft Office PowerPoint</Application>
  <PresentationFormat>Widescreen</PresentationFormat>
  <Paragraphs>169</Paragraphs>
  <Slides>16</Slides>
  <Notes>0</Notes>
  <HiddenSlides>1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16</vt:i4>
      </vt:variant>
    </vt:vector>
  </HeadingPairs>
  <TitlesOfParts>
    <vt:vector size="21" baseType="lpstr">
      <vt:lpstr>-apple-system-body</vt:lpstr>
      <vt:lpstr>Gill Sans MT</vt:lpstr>
      <vt:lpstr>Wingdings</vt:lpstr>
      <vt:lpstr>Wingdings 2</vt:lpstr>
      <vt:lpstr>Dividend</vt:lpstr>
      <vt:lpstr>Java Unit Testing &amp; Logging</vt:lpstr>
      <vt:lpstr>Unit Testing</vt:lpstr>
      <vt:lpstr>Test example</vt:lpstr>
      <vt:lpstr>Types of tests</vt:lpstr>
      <vt:lpstr>Why write unit tests?</vt:lpstr>
      <vt:lpstr>Design decisions, and why they make testing easier</vt:lpstr>
      <vt:lpstr>Junit</vt:lpstr>
      <vt:lpstr>Junit – basic structure of a test</vt:lpstr>
      <vt:lpstr>Common types of JUNIT assertions</vt:lpstr>
      <vt:lpstr>Inmemory mocks vs Mockito</vt:lpstr>
      <vt:lpstr>Junit lifecycle annotations</vt:lpstr>
      <vt:lpstr>Mockito – stubs &amp; Mocks</vt:lpstr>
      <vt:lpstr>Naming tests, project directory placement, &amp; POM config</vt:lpstr>
      <vt:lpstr>Testing best practices</vt:lpstr>
      <vt:lpstr>STOP</vt:lpstr>
      <vt:lpstr>Challenge Demo – How to Excel in this course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Ethan Wilson</dc:creator>
  <cp:lastModifiedBy>Ethan Wilson</cp:lastModifiedBy>
  <cp:revision>614</cp:revision>
  <dcterms:created xsi:type="dcterms:W3CDTF">2025-02-12T19:53:45Z</dcterms:created>
  <dcterms:modified xsi:type="dcterms:W3CDTF">2026-09-16T16:22:07Z</dcterms:modified>
</cp:coreProperties>
</file>