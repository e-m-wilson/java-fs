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4" r:id="rId12"/>
    <p:sldId id="272" r:id="rId13"/>
    <p:sldId id="273" r:id="rId14"/>
    <p:sldId id="276" r:id="rId15"/>
    <p:sldId id="275" r:id="rId16"/>
    <p:sldId id="277" r:id="rId17"/>
    <p:sldId id="278" r:id="rId18"/>
    <p:sldId id="279" r:id="rId19"/>
    <p:sldId id="280" r:id="rId20"/>
    <p:sldId id="281" r:id="rId21"/>
    <p:sldId id="283" r:id="rId22"/>
    <p:sldId id="282" r:id="rId23"/>
    <p:sldId id="26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EF453-3095-AE8A-2F6D-B0378CA79EC1}" v="28" dt="2025-06-02T16:07:27.587"/>
    <p1510:client id="{DEF17522-F9FC-8578-697D-16CF15692E13}" v="5" dt="2025-06-03T14:51:56.4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16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1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87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7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0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24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98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299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7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1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06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5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61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 Unit Testing &amp; Logging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7AA5D-C488-43A5-3D64-B1D6D0512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E4FDB-A8F2-71B7-3D5E-5E3B4C62C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Unit testing is the practice of testing a small, isolated piece of software</a:t>
            </a:r>
          </a:p>
          <a:p>
            <a:pPr lvl="1"/>
            <a:r>
              <a:rPr lang="en-US" dirty="0"/>
              <a:t>Isolation – dependencies are often replaced with mocks to only test the method/class itself. i.e. test a service &amp; mock the repo/DAO it uses</a:t>
            </a:r>
          </a:p>
          <a:p>
            <a:pPr lvl="1"/>
            <a:r>
              <a:rPr lang="en-US" dirty="0"/>
              <a:t>Automation – tests can be run repeatedly and automatically, such as when build the project or deploy </a:t>
            </a:r>
          </a:p>
          <a:p>
            <a:pPr lvl="1"/>
            <a:r>
              <a:rPr lang="en-US" dirty="0"/>
              <a:t>Fast feedback – since unit tests are small, they run quickly, allowing us to get fast feedback after code changes</a:t>
            </a:r>
          </a:p>
        </p:txBody>
      </p:sp>
    </p:spTree>
    <p:extLst>
      <p:ext uri="{BB962C8B-B14F-4D97-AF65-F5344CB8AC3E}">
        <p14:creationId xmlns:p14="http://schemas.microsoft.com/office/powerpoint/2010/main" val="1270905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01B82-B4A6-FC26-4EDE-8E65DAC17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DCC47C-649D-C77F-76C4-34623E7EF949}"/>
              </a:ext>
            </a:extLst>
          </p:cNvPr>
          <p:cNvSpPr txBox="1"/>
          <p:nvPr/>
        </p:nvSpPr>
        <p:spPr>
          <a:xfrm>
            <a:off x="1457717" y="3517054"/>
            <a:ext cx="355269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public class Calculator {</a:t>
            </a:r>
          </a:p>
          <a:p>
            <a:r>
              <a:rPr lang="en-US" dirty="0"/>
              <a:t>    public int add(int a, int b) {</a:t>
            </a:r>
          </a:p>
          <a:p>
            <a:r>
              <a:rPr lang="en-US" dirty="0"/>
              <a:t>        return a + b;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62284E-4968-8FE3-2808-99CFBF0531BA}"/>
              </a:ext>
            </a:extLst>
          </p:cNvPr>
          <p:cNvSpPr txBox="1"/>
          <p:nvPr/>
        </p:nvSpPr>
        <p:spPr>
          <a:xfrm>
            <a:off x="5217090" y="2298526"/>
            <a:ext cx="5472717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import static </a:t>
            </a:r>
            <a:r>
              <a:rPr lang="en-US" dirty="0" err="1"/>
              <a:t>org.junit.jupiter.api.Assertions.assertEquals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org.junit.jupiter.api.Test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CalculatorTest</a:t>
            </a:r>
            <a:r>
              <a:rPr lang="en-US" dirty="0"/>
              <a:t> {</a:t>
            </a:r>
          </a:p>
          <a:p>
            <a:endParaRPr lang="en-US" dirty="0"/>
          </a:p>
          <a:p>
            <a:r>
              <a:rPr lang="en-US" dirty="0"/>
              <a:t>    @Test</a:t>
            </a:r>
          </a:p>
          <a:p>
            <a:r>
              <a:rPr lang="en-US" dirty="0"/>
              <a:t>    void </a:t>
            </a:r>
            <a:r>
              <a:rPr lang="en-US" dirty="0" err="1"/>
              <a:t>add_shouldReturnSum</a:t>
            </a:r>
            <a:r>
              <a:rPr lang="en-US" dirty="0"/>
              <a:t>() {</a:t>
            </a:r>
          </a:p>
          <a:p>
            <a:r>
              <a:rPr lang="en-US" dirty="0"/>
              <a:t>        Calculator </a:t>
            </a:r>
            <a:r>
              <a:rPr lang="en-US" dirty="0" err="1"/>
              <a:t>calculator</a:t>
            </a:r>
            <a:r>
              <a:rPr lang="en-US" dirty="0"/>
              <a:t> = new Calculator();</a:t>
            </a:r>
          </a:p>
          <a:p>
            <a:endParaRPr lang="en-US" dirty="0"/>
          </a:p>
          <a:p>
            <a:r>
              <a:rPr lang="en-US" dirty="0"/>
              <a:t>        int result = </a:t>
            </a:r>
            <a:r>
              <a:rPr lang="en-US" dirty="0" err="1"/>
              <a:t>calculator.add</a:t>
            </a:r>
            <a:r>
              <a:rPr lang="en-US" dirty="0"/>
              <a:t>(2, 3);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assertEquals</a:t>
            </a:r>
            <a:r>
              <a:rPr lang="en-US" dirty="0"/>
              <a:t>(5, result);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610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E558C-2FB9-952E-7535-F732D1160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tests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A353AE7-3765-1A91-25AA-0437C24B06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5458952"/>
              </p:ext>
            </p:extLst>
          </p:nvPr>
        </p:nvGraphicFramePr>
        <p:xfrm>
          <a:off x="581026" y="2634298"/>
          <a:ext cx="11029948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57487">
                  <a:extLst>
                    <a:ext uri="{9D8B030D-6E8A-4147-A177-3AD203B41FA5}">
                      <a16:colId xmlns:a16="http://schemas.microsoft.com/office/drawing/2014/main" val="783956790"/>
                    </a:ext>
                  </a:extLst>
                </a:gridCol>
                <a:gridCol w="2757487">
                  <a:extLst>
                    <a:ext uri="{9D8B030D-6E8A-4147-A177-3AD203B41FA5}">
                      <a16:colId xmlns:a16="http://schemas.microsoft.com/office/drawing/2014/main" val="428826324"/>
                    </a:ext>
                  </a:extLst>
                </a:gridCol>
                <a:gridCol w="2757487">
                  <a:extLst>
                    <a:ext uri="{9D8B030D-6E8A-4147-A177-3AD203B41FA5}">
                      <a16:colId xmlns:a16="http://schemas.microsoft.com/office/drawing/2014/main" val="1044295255"/>
                    </a:ext>
                  </a:extLst>
                </a:gridCol>
                <a:gridCol w="2757487">
                  <a:extLst>
                    <a:ext uri="{9D8B030D-6E8A-4147-A177-3AD203B41FA5}">
                      <a16:colId xmlns:a16="http://schemas.microsoft.com/office/drawing/2014/main" val="178113159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800" b="1" dirty="0">
                          <a:effectLst/>
                        </a:rPr>
                        <a:t>Test type</a:t>
                      </a:r>
                      <a:endParaRPr lang="en-US" sz="1800" b="1" i="0" dirty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800" b="1" dirty="0">
                          <a:effectLst/>
                        </a:rPr>
                        <a:t>What it tests</a:t>
                      </a:r>
                      <a:endParaRPr lang="en-US" sz="1800" b="1" i="0" dirty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800" b="1">
                          <a:effectLst/>
                        </a:rPr>
                        <a:t>Typical speed</a:t>
                      </a:r>
                      <a:endParaRPr lang="en-US" sz="1800" b="1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800" b="1" dirty="0">
                          <a:effectLst/>
                        </a:rPr>
                        <a:t>Example</a:t>
                      </a:r>
                      <a:endParaRPr lang="en-US" sz="1800" b="1" i="0" dirty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958695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800">
                          <a:effectLst/>
                        </a:rPr>
                        <a:t>Unit</a:t>
                      </a:r>
                      <a:endParaRPr lang="en-US" sz="18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800">
                          <a:effectLst/>
                        </a:rPr>
                        <a:t>One small unit of code</a:t>
                      </a:r>
                      <a:endParaRPr lang="en-US" sz="18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800">
                          <a:effectLst/>
                        </a:rPr>
                        <a:t>Very fast</a:t>
                      </a:r>
                      <a:endParaRPr lang="en-US" sz="18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800">
                          <a:effectLst/>
                        </a:rPr>
                        <a:t>Test Calculator.add()</a:t>
                      </a:r>
                      <a:endParaRPr lang="en-US" sz="18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34998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800">
                          <a:effectLst/>
                        </a:rPr>
                        <a:t>Integration</a:t>
                      </a:r>
                      <a:endParaRPr lang="en-US" sz="18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800">
                          <a:effectLst/>
                        </a:rPr>
                        <a:t>Multiple components working together</a:t>
                      </a:r>
                      <a:endParaRPr lang="en-US" sz="18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800">
                          <a:effectLst/>
                        </a:rPr>
                        <a:t>Medium</a:t>
                      </a:r>
                      <a:endParaRPr lang="en-US" sz="18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800">
                          <a:effectLst/>
                        </a:rPr>
                        <a:t>Service + database</a:t>
                      </a:r>
                      <a:endParaRPr lang="en-US" sz="18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632304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800">
                          <a:effectLst/>
                        </a:rPr>
                        <a:t>System / end-to-end</a:t>
                      </a:r>
                      <a:endParaRPr lang="en-US" sz="18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800">
                          <a:effectLst/>
                        </a:rPr>
                        <a:t>The complete application or a major workflow</a:t>
                      </a:r>
                      <a:endParaRPr lang="en-US" sz="18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800">
                          <a:effectLst/>
                        </a:rPr>
                        <a:t>Slow</a:t>
                      </a:r>
                      <a:endParaRPr lang="en-US" sz="18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800">
                          <a:effectLst/>
                        </a:rPr>
                        <a:t>Log in → buy product → receive confirmation</a:t>
                      </a:r>
                      <a:endParaRPr lang="en-US" sz="18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142044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800">
                          <a:effectLst/>
                        </a:rPr>
                        <a:t>Acceptance</a:t>
                      </a:r>
                      <a:endParaRPr lang="en-US" sz="18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800">
                          <a:effectLst/>
                        </a:rPr>
                        <a:t>Whether the system meets specified business/user requirements</a:t>
                      </a:r>
                      <a:endParaRPr lang="en-US" sz="18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800">
                          <a:effectLst/>
                        </a:rPr>
                        <a:t>Often slower</a:t>
                      </a:r>
                      <a:endParaRPr lang="en-US" sz="18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800" dirty="0">
                          <a:effectLst/>
                        </a:rPr>
                        <a:t>"A customer can successfully check out"</a:t>
                      </a:r>
                      <a:endParaRPr lang="en-US" sz="1800" b="0" i="0" dirty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9371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918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96E38-3AA5-A20F-3963-5B53D7E76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write unit tests?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6F4A8-DB1F-58FC-DB69-7AE0B8961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1853693"/>
          </a:xfrm>
        </p:spPr>
        <p:txBody>
          <a:bodyPr/>
          <a:lstStyle/>
          <a:p>
            <a:r>
              <a:rPr lang="en-US" dirty="0"/>
              <a:t>Unit tests help us catch regressions</a:t>
            </a:r>
          </a:p>
          <a:p>
            <a:r>
              <a:rPr lang="en-US" dirty="0"/>
              <a:t>For example, imagine we write a test that checks whether a $100 purchase receives a $10 discount </a:t>
            </a:r>
          </a:p>
          <a:p>
            <a:pPr lvl="1"/>
            <a:r>
              <a:rPr lang="en-US" dirty="0"/>
              <a:t>Later, someone changes the implementation, and the test fails as a result</a:t>
            </a:r>
          </a:p>
          <a:p>
            <a:pPr lvl="1"/>
            <a:r>
              <a:rPr lang="en-US" dirty="0"/>
              <a:t>Without the test, the bug might not be discovered until much later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ADA6CE-B252-FFE4-7C5A-BD9B74936F28}"/>
              </a:ext>
            </a:extLst>
          </p:cNvPr>
          <p:cNvSpPr txBox="1"/>
          <p:nvPr/>
        </p:nvSpPr>
        <p:spPr>
          <a:xfrm>
            <a:off x="472335" y="4746031"/>
            <a:ext cx="474893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public double </a:t>
            </a:r>
            <a:r>
              <a:rPr lang="en-US" dirty="0" err="1"/>
              <a:t>calculateDiscount</a:t>
            </a:r>
            <a:r>
              <a:rPr lang="en-US" dirty="0"/>
              <a:t>(double price) {</a:t>
            </a:r>
          </a:p>
          <a:p>
            <a:r>
              <a:rPr lang="en-US" dirty="0"/>
              <a:t>    return price * 0.10;</a:t>
            </a:r>
          </a:p>
          <a:p>
            <a:r>
              <a:rPr lang="en-US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D0D47D-0626-C38C-644D-1DA40899F8C7}"/>
              </a:ext>
            </a:extLst>
          </p:cNvPr>
          <p:cNvSpPr txBox="1"/>
          <p:nvPr/>
        </p:nvSpPr>
        <p:spPr>
          <a:xfrm>
            <a:off x="5622621" y="4682688"/>
            <a:ext cx="60970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@Test</a:t>
            </a:r>
          </a:p>
          <a:p>
            <a:r>
              <a:rPr lang="en-US" dirty="0"/>
              <a:t>void calculateDiscount_for100Dollars_returns10Dollars() {</a:t>
            </a:r>
          </a:p>
          <a:p>
            <a:r>
              <a:rPr lang="en-US" dirty="0"/>
              <a:t>    </a:t>
            </a:r>
            <a:r>
              <a:rPr lang="en-US" dirty="0" err="1"/>
              <a:t>assertEquals</a:t>
            </a:r>
            <a:r>
              <a:rPr lang="en-US" dirty="0"/>
              <a:t>(10.0, </a:t>
            </a:r>
            <a:r>
              <a:rPr lang="en-US" dirty="0" err="1"/>
              <a:t>calculator.calculateDiscount</a:t>
            </a:r>
            <a:r>
              <a:rPr lang="en-US" dirty="0"/>
              <a:t>(100.0));</a:t>
            </a:r>
          </a:p>
          <a:p>
            <a:r>
              <a:rPr lang="en-US" dirty="0"/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35BCB7-8C5B-5EFB-DB5D-3898742C75AB}"/>
              </a:ext>
            </a:extLst>
          </p:cNvPr>
          <p:cNvSpPr txBox="1"/>
          <p:nvPr/>
        </p:nvSpPr>
        <p:spPr>
          <a:xfrm>
            <a:off x="6231698" y="4360229"/>
            <a:ext cx="42332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Tests should be self-documenting, with clear naming conventions:</a:t>
            </a:r>
          </a:p>
        </p:txBody>
      </p:sp>
    </p:spTree>
    <p:extLst>
      <p:ext uri="{BB962C8B-B14F-4D97-AF65-F5344CB8AC3E}">
        <p14:creationId xmlns:p14="http://schemas.microsoft.com/office/powerpoint/2010/main" val="1702540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6A614-0CBE-24EF-2378-A82C450E8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decisions, and why they make testing easier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A635E-D5A7-E8C4-B29F-6CD4D1A77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4861367" cy="1339318"/>
          </a:xfrm>
        </p:spPr>
        <p:txBody>
          <a:bodyPr/>
          <a:lstStyle/>
          <a:p>
            <a:r>
              <a:rPr lang="en-US" dirty="0"/>
              <a:t>Injecting dependencies into service classes, allows us to mock dependencies, rather than needing to test data access code directly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AF9A67-055A-FEF5-241F-B621FB142AD9}"/>
              </a:ext>
            </a:extLst>
          </p:cNvPr>
          <p:cNvSpPr txBox="1"/>
          <p:nvPr/>
        </p:nvSpPr>
        <p:spPr>
          <a:xfrm>
            <a:off x="712418" y="3903222"/>
            <a:ext cx="429799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public class </a:t>
            </a:r>
            <a:r>
              <a:rPr lang="en-US" dirty="0" err="1"/>
              <a:t>OrderService</a:t>
            </a:r>
            <a:r>
              <a:rPr lang="en-US" dirty="0"/>
              <a:t> {</a:t>
            </a:r>
          </a:p>
          <a:p>
            <a:r>
              <a:rPr lang="en-US" dirty="0"/>
              <a:t>    public void </a:t>
            </a:r>
            <a:r>
              <a:rPr lang="en-US" dirty="0" err="1"/>
              <a:t>placeOrder</a:t>
            </a:r>
            <a:r>
              <a:rPr lang="en-US" dirty="0"/>
              <a:t>(Order order) {</a:t>
            </a:r>
          </a:p>
          <a:p>
            <a:r>
              <a:rPr lang="en-US" dirty="0"/>
              <a:t>        // directly connects to database</a:t>
            </a:r>
          </a:p>
          <a:p>
            <a:r>
              <a:rPr lang="en-US" dirty="0"/>
              <a:t>        // directly sends email</a:t>
            </a:r>
          </a:p>
          <a:p>
            <a:r>
              <a:rPr lang="en-US" dirty="0"/>
              <a:t>        // directly charges credit card</a:t>
            </a:r>
          </a:p>
          <a:p>
            <a:r>
              <a:rPr lang="en-US" dirty="0"/>
              <a:t>        // ...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FBA33C-7AFD-32DB-0B43-664DDA2BEFB8}"/>
              </a:ext>
            </a:extLst>
          </p:cNvPr>
          <p:cNvSpPr txBox="1"/>
          <p:nvPr/>
        </p:nvSpPr>
        <p:spPr>
          <a:xfrm>
            <a:off x="5722829" y="2241228"/>
            <a:ext cx="609704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public class </a:t>
            </a:r>
            <a:r>
              <a:rPr lang="en-US" dirty="0" err="1"/>
              <a:t>OrderService</a:t>
            </a:r>
            <a:r>
              <a:rPr lang="en-US" dirty="0"/>
              <a:t> {</a:t>
            </a:r>
          </a:p>
          <a:p>
            <a:endParaRPr lang="en-US" dirty="0"/>
          </a:p>
          <a:p>
            <a:r>
              <a:rPr lang="en-US" dirty="0"/>
              <a:t>    private final </a:t>
            </a:r>
            <a:r>
              <a:rPr lang="en-US" dirty="0" err="1"/>
              <a:t>PaymentService</a:t>
            </a:r>
            <a:r>
              <a:rPr lang="en-US" dirty="0"/>
              <a:t> </a:t>
            </a:r>
            <a:r>
              <a:rPr lang="en-US" dirty="0" err="1"/>
              <a:t>paymentService</a:t>
            </a:r>
            <a:r>
              <a:rPr lang="en-US" dirty="0"/>
              <a:t>;</a:t>
            </a:r>
          </a:p>
          <a:p>
            <a:r>
              <a:rPr lang="en-US" dirty="0"/>
              <a:t>    private final </a:t>
            </a:r>
            <a:r>
              <a:rPr lang="en-US" dirty="0" err="1"/>
              <a:t>EmailService</a:t>
            </a:r>
            <a:r>
              <a:rPr lang="en-US" dirty="0"/>
              <a:t> </a:t>
            </a:r>
            <a:r>
              <a:rPr lang="en-US" dirty="0" err="1"/>
              <a:t>emailService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public </a:t>
            </a:r>
            <a:r>
              <a:rPr lang="en-US" dirty="0" err="1"/>
              <a:t>OrderService</a:t>
            </a:r>
            <a:r>
              <a:rPr lang="en-US" dirty="0"/>
              <a:t>(</a:t>
            </a:r>
          </a:p>
          <a:p>
            <a:r>
              <a:rPr lang="en-US" dirty="0"/>
              <a:t>            </a:t>
            </a:r>
            <a:r>
              <a:rPr lang="en-US" dirty="0" err="1"/>
              <a:t>PaymentService</a:t>
            </a:r>
            <a:r>
              <a:rPr lang="en-US" dirty="0"/>
              <a:t> </a:t>
            </a:r>
            <a:r>
              <a:rPr lang="en-US" dirty="0" err="1"/>
              <a:t>paymentService</a:t>
            </a:r>
            <a:r>
              <a:rPr lang="en-US" dirty="0"/>
              <a:t>,</a:t>
            </a:r>
          </a:p>
          <a:p>
            <a:r>
              <a:rPr lang="en-US" dirty="0"/>
              <a:t>            </a:t>
            </a:r>
            <a:r>
              <a:rPr lang="en-US" dirty="0" err="1"/>
              <a:t>EmailService</a:t>
            </a:r>
            <a:r>
              <a:rPr lang="en-US" dirty="0"/>
              <a:t> </a:t>
            </a:r>
            <a:r>
              <a:rPr lang="en-US" dirty="0" err="1"/>
              <a:t>emailService</a:t>
            </a:r>
            <a:r>
              <a:rPr lang="en-US" dirty="0"/>
              <a:t>) {</a:t>
            </a:r>
          </a:p>
          <a:p>
            <a:r>
              <a:rPr lang="en-US" dirty="0"/>
              <a:t>        </a:t>
            </a:r>
            <a:r>
              <a:rPr lang="en-US" dirty="0" err="1"/>
              <a:t>this.paymentService</a:t>
            </a:r>
            <a:r>
              <a:rPr lang="en-US" dirty="0"/>
              <a:t> = </a:t>
            </a:r>
            <a:r>
              <a:rPr lang="en-US" dirty="0" err="1"/>
              <a:t>paymentService</a:t>
            </a:r>
            <a:r>
              <a:rPr lang="en-US" dirty="0"/>
              <a:t>;</a:t>
            </a:r>
          </a:p>
          <a:p>
            <a:r>
              <a:rPr lang="en-US" dirty="0"/>
              <a:t>        </a:t>
            </a:r>
            <a:r>
              <a:rPr lang="en-US" dirty="0" err="1"/>
              <a:t>this.emailService</a:t>
            </a:r>
            <a:r>
              <a:rPr lang="en-US" dirty="0"/>
              <a:t> = </a:t>
            </a:r>
            <a:r>
              <a:rPr lang="en-US" dirty="0" err="1"/>
              <a:t>emailService</a:t>
            </a:r>
            <a:r>
              <a:rPr lang="en-US" dirty="0"/>
              <a:t>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// ...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80333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C56EA-3A6A-8F0B-EEA3-A52CC41B1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Junit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BB834-729C-C3AD-5C8F-FDA91B260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several Unit Testing frameworks for Java, we will use Junit</a:t>
            </a:r>
          </a:p>
          <a:p>
            <a:r>
              <a:rPr lang="en-US" dirty="0"/>
              <a:t>Junit 5 is the modern implementation; it is made up of:</a:t>
            </a:r>
          </a:p>
          <a:p>
            <a:pPr lvl="1"/>
            <a:r>
              <a:rPr lang="en-US" dirty="0"/>
              <a:t>Junit platform – the foundations for launching tests</a:t>
            </a:r>
          </a:p>
          <a:p>
            <a:pPr lvl="1"/>
            <a:r>
              <a:rPr lang="en-US" dirty="0"/>
              <a:t>Junit Jupiter – the programming model and APIs most developers use to write Junit 5 tests</a:t>
            </a:r>
          </a:p>
          <a:p>
            <a:pPr lvl="1"/>
            <a:r>
              <a:rPr lang="en-US" dirty="0"/>
              <a:t>Junit vintage – support for running older Junit 3 or 4 tests</a:t>
            </a:r>
          </a:p>
          <a:p>
            <a:r>
              <a:rPr lang="en-US" dirty="0"/>
              <a:t>Maven Surefire – the Maven plugin that discovers and runs tests during a Maven build</a:t>
            </a:r>
          </a:p>
          <a:p>
            <a:r>
              <a:rPr lang="en-US" dirty="0"/>
              <a:t>You can think of the hierarchy like this:</a:t>
            </a:r>
          </a:p>
          <a:p>
            <a:pPr lvl="1"/>
            <a:r>
              <a:rPr lang="en-US" dirty="0"/>
              <a:t>Maven </a:t>
            </a:r>
            <a:r>
              <a:rPr lang="en-US" dirty="0">
                <a:sym typeface="Wingdings" panose="05000000000000000000" pitchFamily="2" charset="2"/>
              </a:rPr>
              <a:t> Surefire Plugin  Junit Platform  Junit Jupiter  Your @Test methods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40541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A0985-42E4-D452-AE31-CAF39A46D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Junit – basic structure of a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85FD5-CF09-50D6-619F-782DA8526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9107" y="2180496"/>
            <a:ext cx="4821700" cy="3678303"/>
          </a:xfrm>
        </p:spPr>
        <p:txBody>
          <a:bodyPr/>
          <a:lstStyle/>
          <a:p>
            <a:r>
              <a:rPr lang="en-US" dirty="0"/>
              <a:t>Arrange – Set up what the test needs</a:t>
            </a:r>
          </a:p>
          <a:p>
            <a:pPr lvl="1"/>
            <a:r>
              <a:rPr lang="en-US" dirty="0"/>
              <a:t>Calculator </a:t>
            </a:r>
            <a:r>
              <a:rPr lang="en-US" dirty="0" err="1"/>
              <a:t>calculator</a:t>
            </a:r>
            <a:r>
              <a:rPr lang="en-US" dirty="0"/>
              <a:t> = new Calculator();</a:t>
            </a:r>
          </a:p>
          <a:p>
            <a:r>
              <a:rPr lang="en-US" dirty="0"/>
              <a:t>Act – Perform the operation you are testing</a:t>
            </a:r>
          </a:p>
          <a:p>
            <a:pPr lvl="1"/>
            <a:r>
              <a:rPr lang="en-US" dirty="0"/>
              <a:t>int result = </a:t>
            </a:r>
            <a:r>
              <a:rPr lang="en-US" dirty="0" err="1"/>
              <a:t>calculator.add</a:t>
            </a:r>
            <a:r>
              <a:rPr lang="en-US" dirty="0"/>
              <a:t>(2, 3);</a:t>
            </a:r>
          </a:p>
          <a:p>
            <a:r>
              <a:rPr lang="en-US" dirty="0"/>
              <a:t>Assert – Check the result</a:t>
            </a:r>
          </a:p>
          <a:p>
            <a:pPr lvl="1"/>
            <a:r>
              <a:rPr lang="en-US" dirty="0" err="1"/>
              <a:t>assertEquals</a:t>
            </a:r>
            <a:r>
              <a:rPr lang="en-US" dirty="0"/>
              <a:t>(5, result);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49D814-97C9-362F-8C98-263915ABCADA}"/>
              </a:ext>
            </a:extLst>
          </p:cNvPr>
          <p:cNvSpPr txBox="1"/>
          <p:nvPr/>
        </p:nvSpPr>
        <p:spPr>
          <a:xfrm>
            <a:off x="1294878" y="2516243"/>
            <a:ext cx="549422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import static </a:t>
            </a:r>
            <a:r>
              <a:rPr lang="en-US" dirty="0" err="1"/>
              <a:t>org.junit.jupiter.api.Assertions</a:t>
            </a:r>
            <a:r>
              <a:rPr lang="en-US" dirty="0"/>
              <a:t>.*;</a:t>
            </a:r>
          </a:p>
          <a:p>
            <a:r>
              <a:rPr lang="en-US" dirty="0"/>
              <a:t>import </a:t>
            </a:r>
            <a:r>
              <a:rPr lang="en-US" dirty="0" err="1"/>
              <a:t>org.junit.jupiter.api.Test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CalculatorTest</a:t>
            </a:r>
            <a:r>
              <a:rPr lang="en-US" dirty="0"/>
              <a:t> {</a:t>
            </a:r>
          </a:p>
          <a:p>
            <a:endParaRPr lang="en-US" dirty="0"/>
          </a:p>
          <a:p>
            <a:r>
              <a:rPr lang="en-US" dirty="0"/>
              <a:t>    @Test</a:t>
            </a:r>
          </a:p>
          <a:p>
            <a:r>
              <a:rPr lang="en-US" dirty="0"/>
              <a:t>    void </a:t>
            </a:r>
            <a:r>
              <a:rPr lang="en-US" dirty="0" err="1"/>
              <a:t>add_shouldReturnSum</a:t>
            </a:r>
            <a:r>
              <a:rPr lang="en-US" dirty="0"/>
              <a:t>() {</a:t>
            </a:r>
          </a:p>
          <a:p>
            <a:r>
              <a:rPr lang="en-US" dirty="0"/>
              <a:t>        Calculator </a:t>
            </a:r>
            <a:r>
              <a:rPr lang="en-US" dirty="0" err="1"/>
              <a:t>calculator</a:t>
            </a:r>
            <a:r>
              <a:rPr lang="en-US" dirty="0"/>
              <a:t> = new Calculator();</a:t>
            </a:r>
          </a:p>
          <a:p>
            <a:pPr marL="324000" lvl="1">
              <a:buClr>
                <a:schemeClr val="accent2"/>
              </a:buClr>
              <a:buSzPct val="92000"/>
            </a:pPr>
            <a:r>
              <a:rPr lang="en-US" dirty="0"/>
              <a:t>   int result = </a:t>
            </a:r>
            <a:r>
              <a:rPr lang="en-US" dirty="0" err="1"/>
              <a:t>calculator.add</a:t>
            </a:r>
            <a:r>
              <a:rPr lang="en-US" dirty="0"/>
              <a:t>(2, 3);</a:t>
            </a:r>
          </a:p>
          <a:p>
            <a:r>
              <a:rPr lang="en-US" dirty="0"/>
              <a:t>        </a:t>
            </a:r>
            <a:r>
              <a:rPr lang="en-US" dirty="0" err="1"/>
              <a:t>assertEquals</a:t>
            </a:r>
            <a:r>
              <a:rPr lang="en-US" dirty="0"/>
              <a:t>(5, result);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88918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B1B71-F22F-ACCC-1FCC-0DE8A9772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types of JUNIT assertions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A1446-6001-06B4-3324-643B36236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9496" y="1979113"/>
            <a:ext cx="5103535" cy="41767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 err="1"/>
              <a:t>assertEquals</a:t>
            </a:r>
            <a:r>
              <a:rPr lang="en-US" sz="1400" dirty="0"/>
              <a:t>(expected, actual);</a:t>
            </a:r>
          </a:p>
          <a:p>
            <a:pPr marL="0" indent="0">
              <a:buNone/>
            </a:pPr>
            <a:r>
              <a:rPr lang="en-US" sz="1400" dirty="0" err="1"/>
              <a:t>assertNotEquals</a:t>
            </a:r>
            <a:r>
              <a:rPr lang="en-US" sz="1400" dirty="0"/>
              <a:t>(unexpected, actual);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 err="1"/>
              <a:t>assertTrue</a:t>
            </a:r>
            <a:r>
              <a:rPr lang="en-US" sz="1400" dirty="0"/>
              <a:t>(condition);</a:t>
            </a:r>
          </a:p>
          <a:p>
            <a:pPr marL="0" indent="0">
              <a:buNone/>
            </a:pPr>
            <a:r>
              <a:rPr lang="en-US" sz="1400" dirty="0" err="1"/>
              <a:t>assertFalse</a:t>
            </a:r>
            <a:r>
              <a:rPr lang="en-US" sz="1400" dirty="0"/>
              <a:t>(condition);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 err="1"/>
              <a:t>assertNull</a:t>
            </a:r>
            <a:r>
              <a:rPr lang="en-US" sz="1400" dirty="0"/>
              <a:t>(value);</a:t>
            </a:r>
          </a:p>
          <a:p>
            <a:pPr marL="0" indent="0">
              <a:buNone/>
            </a:pPr>
            <a:r>
              <a:rPr lang="en-US" sz="1400" dirty="0" err="1"/>
              <a:t>assertNotNull</a:t>
            </a:r>
            <a:r>
              <a:rPr lang="en-US" sz="1400" dirty="0"/>
              <a:t>(value);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 err="1"/>
              <a:t>assertThrows</a:t>
            </a:r>
            <a:r>
              <a:rPr lang="en-US" sz="1400" dirty="0"/>
              <a:t>(</a:t>
            </a:r>
          </a:p>
          <a:p>
            <a:pPr marL="0" indent="0">
              <a:buNone/>
            </a:pPr>
            <a:r>
              <a:rPr lang="en-US" sz="1400" dirty="0"/>
              <a:t>    </a:t>
            </a:r>
            <a:r>
              <a:rPr lang="en-US" sz="1400" dirty="0" err="1"/>
              <a:t>SomeException.class</a:t>
            </a:r>
            <a:r>
              <a:rPr lang="en-US" sz="1400" dirty="0"/>
              <a:t>,</a:t>
            </a:r>
          </a:p>
          <a:p>
            <a:pPr marL="0" indent="0">
              <a:buNone/>
            </a:pPr>
            <a:r>
              <a:rPr lang="en-US" sz="1400" dirty="0"/>
              <a:t>    () -&gt; </a:t>
            </a:r>
            <a:r>
              <a:rPr lang="en-US" sz="1400" dirty="0" err="1"/>
              <a:t>someOperation</a:t>
            </a:r>
            <a:r>
              <a:rPr lang="en-US" sz="1400" dirty="0"/>
              <a:t>()</a:t>
            </a:r>
          </a:p>
          <a:p>
            <a:pPr marL="0" indent="0">
              <a:buNone/>
            </a:pPr>
            <a:r>
              <a:rPr lang="en-US" sz="14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5184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6D869-D3D5-20B3-4FFA-D28F0DB39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Inmemory</a:t>
            </a:r>
            <a:r>
              <a:rPr lang="en-US" dirty="0"/>
              <a:t> mocks vs Mockito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9673F-0C70-B658-C450-BD913A704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check out ‘InMemoryJunitExample.java’ for examples WITHOUT Mockito</a:t>
            </a:r>
          </a:p>
          <a:p>
            <a:r>
              <a:rPr lang="en-US" dirty="0"/>
              <a:t>Mockito is a Java mocking framework used to create fake or simulated versions of objects that our code depends on</a:t>
            </a:r>
          </a:p>
          <a:p>
            <a:pPr lvl="1"/>
            <a:r>
              <a:rPr lang="en-US" dirty="0"/>
              <a:t>This helps us test classes in isolation</a:t>
            </a:r>
          </a:p>
        </p:txBody>
      </p:sp>
    </p:spTree>
    <p:extLst>
      <p:ext uri="{BB962C8B-B14F-4D97-AF65-F5344CB8AC3E}">
        <p14:creationId xmlns:p14="http://schemas.microsoft.com/office/powerpoint/2010/main" val="664252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971FE-5D97-7639-8728-6AD533308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Junit lifecycle annotations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94A887F-74C4-DB73-8226-EA5E2EEB1F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476074"/>
              </p:ext>
            </p:extLst>
          </p:nvPr>
        </p:nvGraphicFramePr>
        <p:xfrm>
          <a:off x="639547" y="2341690"/>
          <a:ext cx="1102995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14975">
                  <a:extLst>
                    <a:ext uri="{9D8B030D-6E8A-4147-A177-3AD203B41FA5}">
                      <a16:colId xmlns:a16="http://schemas.microsoft.com/office/drawing/2014/main" val="2526180348"/>
                    </a:ext>
                  </a:extLst>
                </a:gridCol>
                <a:gridCol w="5514975">
                  <a:extLst>
                    <a:ext uri="{9D8B030D-6E8A-4147-A177-3AD203B41FA5}">
                      <a16:colId xmlns:a16="http://schemas.microsoft.com/office/drawing/2014/main" val="23982765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b="1" dirty="0">
                          <a:effectLst/>
                        </a:rPr>
                        <a:t>Annotation</a:t>
                      </a:r>
                      <a:endParaRPr lang="en-US" b="1" i="0" dirty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b="1" dirty="0">
                          <a:effectLst/>
                        </a:rPr>
                        <a:t>Runs</a:t>
                      </a:r>
                      <a:endParaRPr lang="en-US" b="1" i="0" dirty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174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@BeforeEach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Before each test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3368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@AfterEach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After each test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91313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@BeforeAll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Once before all tests in the class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5612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@AfterAll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dirty="0">
                          <a:effectLst/>
                        </a:rPr>
                        <a:t>Once after all tests in the class</a:t>
                      </a:r>
                      <a:endParaRPr lang="en-US" b="0" i="0" dirty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6353712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00B2E970-A628-8347-E893-D2666DFDE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3908" y="4452888"/>
            <a:ext cx="3944184" cy="20970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4A7D67-ED42-94D2-5121-C609A11A08F8}"/>
              </a:ext>
            </a:extLst>
          </p:cNvPr>
          <p:cNvSpPr txBox="1"/>
          <p:nvPr/>
        </p:nvSpPr>
        <p:spPr>
          <a:xfrm>
            <a:off x="8288122" y="4796224"/>
            <a:ext cx="35478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Oten used in tandem with Mockito to create mocks for each test method. But these lifecycle annotations are part of Junit!</a:t>
            </a:r>
          </a:p>
        </p:txBody>
      </p:sp>
    </p:spTree>
    <p:extLst>
      <p:ext uri="{BB962C8B-B14F-4D97-AF65-F5344CB8AC3E}">
        <p14:creationId xmlns:p14="http://schemas.microsoft.com/office/powerpoint/2010/main" val="4066969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A3632-CFD2-802B-EE2F-BE0E9E8E2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Mockito – stubs &amp; Mocks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12DD8-853F-428B-2F41-6436A4430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713137" cy="403867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Stub – provides predefined answers so your test can focus on behavior </a:t>
            </a:r>
          </a:p>
          <a:p>
            <a:r>
              <a:rPr lang="en-US" dirty="0"/>
              <a:t>Mock – lets you verify interactions such as whether a method was called, what it returned, and with what arguments it used</a:t>
            </a:r>
          </a:p>
          <a:p>
            <a:r>
              <a:rPr lang="en-US" dirty="0"/>
              <a:t>Common methods:</a:t>
            </a:r>
          </a:p>
          <a:p>
            <a:pPr lvl="1"/>
            <a:r>
              <a:rPr lang="en-US" dirty="0"/>
              <a:t>Mock() – creates the mock (as seen on previous slide)</a:t>
            </a:r>
          </a:p>
          <a:p>
            <a:pPr lvl="1"/>
            <a:r>
              <a:rPr lang="en-US" dirty="0"/>
              <a:t>When() – configures the mock / sets up a stub </a:t>
            </a:r>
          </a:p>
          <a:p>
            <a:pPr lvl="1"/>
            <a:r>
              <a:rPr lang="en-US" dirty="0"/>
              <a:t>verify() – verifies interactions with the mock (sometimes we only need this and no assertions, sometimes we could use both)</a:t>
            </a:r>
          </a:p>
          <a:p>
            <a:pPr lvl="2"/>
            <a:r>
              <a:rPr lang="en-US" dirty="0"/>
              <a:t>General rule: use assertions when you care about the result/state. Use verify() when you care about what the code did to a dependency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0495AF-122D-5BC5-5EDD-C87C2EA68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170" y="2557485"/>
            <a:ext cx="5312391" cy="13500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6FB61F-17FB-29F9-9B3C-D7BCB6C21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170" y="4520454"/>
            <a:ext cx="5427583" cy="1208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182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D4A56-A925-3BE9-723C-2F7B0A6E5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Naming tests, project directory placement, &amp; POM config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255F6-110C-56D5-7DD2-0BEE7DB19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1013801"/>
          </a:xfrm>
        </p:spPr>
        <p:txBody>
          <a:bodyPr/>
          <a:lstStyle/>
          <a:p>
            <a:r>
              <a:rPr lang="en-US" dirty="0"/>
              <a:t>Tests are placed in the directory as shown</a:t>
            </a:r>
          </a:p>
          <a:p>
            <a:r>
              <a:rPr lang="en-US" dirty="0"/>
              <a:t>Test classes are named like: NameOfClassWeAreTestingTest.java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47F92B-EF2B-CB61-5B5B-E6118642C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5665" y="3325415"/>
            <a:ext cx="3305636" cy="6668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F98F21-11BB-C133-36C6-318085BB5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5531" y="2114093"/>
            <a:ext cx="2966235" cy="456834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A81CA89-3092-C76D-1A7A-76DEA85EA8DE}"/>
              </a:ext>
            </a:extLst>
          </p:cNvPr>
          <p:cNvSpPr txBox="1"/>
          <p:nvPr/>
        </p:nvSpPr>
        <p:spPr>
          <a:xfrm>
            <a:off x="581192" y="4942728"/>
            <a:ext cx="60972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We must also add dependencies and plugin configuration to our Maven pom file, a complete solution is included in your course materials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23257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EFADC-0B4A-0F3C-C908-3BFD756E3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587C7-6124-080E-D8DA-5D6353C80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ensure we write tests that are logically sound, consider the following different types of unit tests (non-exhaustive, this is just how your trainer likes to think about it):</a:t>
            </a:r>
          </a:p>
          <a:p>
            <a:pPr lvl="1"/>
            <a:r>
              <a:rPr lang="en-US" dirty="0"/>
              <a:t>Positive: verifies code works when given valid inputs</a:t>
            </a:r>
          </a:p>
          <a:p>
            <a:pPr lvl="1"/>
            <a:r>
              <a:rPr lang="en-US" dirty="0"/>
              <a:t>Negative: verifies the code works as expected with invalid inputs</a:t>
            </a:r>
          </a:p>
          <a:p>
            <a:pPr lvl="1"/>
            <a:r>
              <a:rPr lang="en-US" dirty="0"/>
              <a:t>Bulk: verifies the code works when CRUD is performed on many records</a:t>
            </a:r>
          </a:p>
          <a:p>
            <a:pPr lvl="1"/>
            <a:r>
              <a:rPr lang="en-US" dirty="0"/>
              <a:t>Single: verifies the code works when CRUD is performed on a single record</a:t>
            </a:r>
          </a:p>
          <a:p>
            <a:pPr lvl="1"/>
            <a:r>
              <a:rPr lang="en-US" dirty="0"/>
              <a:t>Access Control (positive/negative):  verifies users do or do not have expected access to perform an action </a:t>
            </a:r>
          </a:p>
        </p:txBody>
      </p:sp>
    </p:spTree>
    <p:extLst>
      <p:ext uri="{BB962C8B-B14F-4D97-AF65-F5344CB8AC3E}">
        <p14:creationId xmlns:p14="http://schemas.microsoft.com/office/powerpoint/2010/main" val="10543238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8E74F-0E54-3201-F41E-0B8FB21DC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0D3D5-6C35-5684-ACF7-C06E332BA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Please see the ‘</a:t>
            </a:r>
            <a:r>
              <a:rPr lang="en-US" dirty="0" err="1"/>
              <a:t>cleancodeWithJDBC</a:t>
            </a:r>
            <a:r>
              <a:rPr lang="en-US" dirty="0"/>
              <a:t>’ project in your course materials</a:t>
            </a:r>
          </a:p>
          <a:p>
            <a:r>
              <a:rPr lang="en-US" dirty="0"/>
              <a:t>This showcases Junit &amp; Mockito concepts</a:t>
            </a:r>
          </a:p>
        </p:txBody>
      </p:sp>
    </p:spTree>
    <p:extLst>
      <p:ext uri="{BB962C8B-B14F-4D97-AF65-F5344CB8AC3E}">
        <p14:creationId xmlns:p14="http://schemas.microsoft.com/office/powerpoint/2010/main" val="27276046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F5A5C-48E2-75B4-0E81-30A74667D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B6FA0-3815-ECF8-4FE6-C6D983365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Logging is the process of recording information about what happens inside an application as it runs</a:t>
            </a:r>
          </a:p>
          <a:p>
            <a:r>
              <a:rPr lang="en-US" dirty="0"/>
              <a:t>Instead of using </a:t>
            </a:r>
            <a:r>
              <a:rPr lang="en-US" dirty="0" err="1"/>
              <a:t>System.out.println</a:t>
            </a:r>
            <a:r>
              <a:rPr lang="en-US" dirty="0"/>
              <a:t>() to print messages, applications typically use a </a:t>
            </a:r>
            <a:r>
              <a:rPr lang="en-US" b="1" dirty="0"/>
              <a:t>logging framework</a:t>
            </a:r>
            <a:r>
              <a:rPr lang="en-US" dirty="0"/>
              <a:t> to record events such as:</a:t>
            </a:r>
          </a:p>
          <a:p>
            <a:pPr lvl="1"/>
            <a:r>
              <a:rPr lang="en-US" dirty="0"/>
              <a:t>Application startup and shutdown</a:t>
            </a:r>
          </a:p>
          <a:p>
            <a:pPr lvl="1"/>
            <a:r>
              <a:rPr lang="en-US" dirty="0"/>
              <a:t>User actions</a:t>
            </a:r>
          </a:p>
          <a:p>
            <a:pPr lvl="1"/>
            <a:r>
              <a:rPr lang="en-US" dirty="0"/>
              <a:t>Errors and exceptions</a:t>
            </a:r>
          </a:p>
          <a:p>
            <a:pPr lvl="1"/>
            <a:r>
              <a:rPr lang="en-US" dirty="0"/>
              <a:t>Database or network operations</a:t>
            </a:r>
          </a:p>
          <a:p>
            <a:pPr lvl="1"/>
            <a:r>
              <a:rPr lang="en-US" dirty="0"/>
              <a:t>Debugging information</a:t>
            </a:r>
          </a:p>
          <a:p>
            <a:pPr lvl="1"/>
            <a:r>
              <a:rPr lang="en-US" dirty="0"/>
              <a:t>Warnings about potential problems</a:t>
            </a:r>
          </a:p>
        </p:txBody>
      </p:sp>
    </p:spTree>
    <p:extLst>
      <p:ext uri="{BB962C8B-B14F-4D97-AF65-F5344CB8AC3E}">
        <p14:creationId xmlns:p14="http://schemas.microsoft.com/office/powerpoint/2010/main" val="13793830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51B2D-4121-AB82-0694-8D806D181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SLF4j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2CB80-2F57-A811-A4DB-5780524C8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907290" cy="4069992"/>
          </a:xfrm>
        </p:spPr>
        <p:txBody>
          <a:bodyPr/>
          <a:lstStyle/>
          <a:p>
            <a:r>
              <a:rPr lang="en-US" b="1" dirty="0"/>
              <a:t>SLF4J</a:t>
            </a:r>
            <a:r>
              <a:rPr lang="en-US" dirty="0"/>
              <a:t> stands for </a:t>
            </a:r>
            <a:r>
              <a:rPr lang="en-US" b="1" dirty="0"/>
              <a:t>Simple Logging Facade for Java</a:t>
            </a:r>
            <a:r>
              <a:rPr lang="en-US" dirty="0"/>
              <a:t>.</a:t>
            </a:r>
          </a:p>
          <a:p>
            <a:r>
              <a:rPr lang="en-US" dirty="0"/>
              <a:t>It is </a:t>
            </a:r>
            <a:r>
              <a:rPr lang="en-US" b="1" dirty="0"/>
              <a:t>not itself a logging implementation</a:t>
            </a:r>
            <a:r>
              <a:rPr lang="en-US" dirty="0"/>
              <a:t>. Instead, it provides a common API that Java applications can use to write logs without being tied to a particular logging framework.</a:t>
            </a:r>
          </a:p>
          <a:p>
            <a:r>
              <a:rPr lang="en-US" dirty="0"/>
              <a:t>SLF4J is the interface we use for logging. </a:t>
            </a:r>
          </a:p>
          <a:p>
            <a:pPr lvl="1"/>
            <a:r>
              <a:rPr lang="en-US" dirty="0"/>
              <a:t>This allows you to change the underlying logging implementation without changing all of your application's logging code.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EAD4D4-0C99-5235-F189-DE575B10BFFF}"/>
              </a:ext>
            </a:extLst>
          </p:cNvPr>
          <p:cNvSpPr txBox="1"/>
          <p:nvPr/>
        </p:nvSpPr>
        <p:spPr>
          <a:xfrm>
            <a:off x="6605914" y="2385433"/>
            <a:ext cx="485540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import org.slf4j.Logger;</a:t>
            </a:r>
          </a:p>
          <a:p>
            <a:r>
              <a:rPr lang="en-US" dirty="0"/>
              <a:t>import org.slf4j.LoggerFactory;</a:t>
            </a:r>
          </a:p>
          <a:p>
            <a:endParaRPr lang="en-US" dirty="0"/>
          </a:p>
          <a:p>
            <a:r>
              <a:rPr lang="en-US" dirty="0"/>
              <a:t>public class </a:t>
            </a:r>
            <a:r>
              <a:rPr lang="en-US" dirty="0" err="1"/>
              <a:t>MyService</a:t>
            </a:r>
            <a:r>
              <a:rPr lang="en-US" dirty="0"/>
              <a:t> {</a:t>
            </a:r>
          </a:p>
          <a:p>
            <a:r>
              <a:rPr lang="en-US" dirty="0"/>
              <a:t>    private static final Logger </a:t>
            </a:r>
            <a:r>
              <a:rPr lang="en-US" dirty="0" err="1"/>
              <a:t>logger</a:t>
            </a:r>
            <a:r>
              <a:rPr lang="en-US" dirty="0"/>
              <a:t> =</a:t>
            </a:r>
          </a:p>
          <a:p>
            <a:r>
              <a:rPr lang="en-US" dirty="0"/>
              <a:t>        </a:t>
            </a:r>
            <a:r>
              <a:rPr lang="en-US" dirty="0" err="1"/>
              <a:t>LoggerFactory.getLogger</a:t>
            </a:r>
            <a:r>
              <a:rPr lang="en-US" dirty="0"/>
              <a:t>(</a:t>
            </a:r>
            <a:r>
              <a:rPr lang="en-US" dirty="0" err="1"/>
              <a:t>MyService.class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    public void </a:t>
            </a:r>
            <a:r>
              <a:rPr lang="en-US" dirty="0" err="1"/>
              <a:t>doSomething</a:t>
            </a:r>
            <a:r>
              <a:rPr lang="en-US" dirty="0"/>
              <a:t>() {</a:t>
            </a:r>
          </a:p>
          <a:p>
            <a:r>
              <a:rPr lang="en-US" dirty="0"/>
              <a:t>        logger.info("Doing something");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44435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9010B-37B1-4A42-D8DA-FEC2A1B23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867E4-1826-1D90-E57B-861175057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894627"/>
          </a:xfrm>
        </p:spPr>
        <p:txBody>
          <a:bodyPr/>
          <a:lstStyle/>
          <a:p>
            <a:r>
              <a:rPr lang="en-US" b="1" dirty="0"/>
              <a:t>Logback</a:t>
            </a:r>
            <a:r>
              <a:rPr lang="en-US" dirty="0"/>
              <a:t> is a </a:t>
            </a:r>
            <a:r>
              <a:rPr lang="en-US" b="1" dirty="0"/>
              <a:t>logging implementation/framework for Java</a:t>
            </a:r>
            <a:r>
              <a:rPr lang="en-US" dirty="0"/>
              <a:t>.</a:t>
            </a:r>
          </a:p>
          <a:p>
            <a:r>
              <a:rPr lang="en-US" dirty="0"/>
              <a:t>It performs the work of processing log messages and deciding things such as:</a:t>
            </a:r>
          </a:p>
          <a:p>
            <a:pPr lvl="1"/>
            <a:r>
              <a:rPr lang="en-US" dirty="0"/>
              <a:t>Where logs should go</a:t>
            </a:r>
          </a:p>
          <a:p>
            <a:pPr lvl="1"/>
            <a:r>
              <a:rPr lang="en-US" dirty="0"/>
              <a:t>Which log levels should be recorded</a:t>
            </a:r>
          </a:p>
          <a:p>
            <a:pPr lvl="1"/>
            <a:r>
              <a:rPr lang="en-US" dirty="0"/>
              <a:t>How logs should be formatted</a:t>
            </a:r>
          </a:p>
          <a:p>
            <a:pPr lvl="1"/>
            <a:r>
              <a:rPr lang="en-US" dirty="0"/>
              <a:t>Whether logs should be written to files</a:t>
            </a:r>
          </a:p>
          <a:p>
            <a:pPr lvl="1"/>
            <a:r>
              <a:rPr lang="en-US" dirty="0"/>
              <a:t>When log files should be rotated</a:t>
            </a:r>
          </a:p>
        </p:txBody>
      </p:sp>
    </p:spTree>
    <p:extLst>
      <p:ext uri="{BB962C8B-B14F-4D97-AF65-F5344CB8AC3E}">
        <p14:creationId xmlns:p14="http://schemas.microsoft.com/office/powerpoint/2010/main" val="3084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C8F7D-8BE1-9B56-4A46-45EBB4FF0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SLF4J + LOGback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878EE-47C2-6322-9BC0-89AC0A7FD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761159" cy="397534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Maven: we add the required dependencies</a:t>
            </a:r>
          </a:p>
          <a:p>
            <a:pPr lvl="1"/>
            <a:r>
              <a:rPr lang="en-US" dirty="0"/>
              <a:t>slf4j-api – found on maven central, this is the </a:t>
            </a:r>
            <a:r>
              <a:rPr lang="en-US" dirty="0" err="1"/>
              <a:t>api</a:t>
            </a:r>
            <a:r>
              <a:rPr lang="en-US" dirty="0"/>
              <a:t> that we can directly interact with</a:t>
            </a:r>
          </a:p>
          <a:p>
            <a:pPr lvl="1"/>
            <a:r>
              <a:rPr lang="en-US" dirty="0" err="1"/>
              <a:t>logback</a:t>
            </a:r>
            <a:r>
              <a:rPr lang="en-US" dirty="0"/>
              <a:t>-classic – found on maven central, this extends </a:t>
            </a:r>
            <a:r>
              <a:rPr lang="en-US" dirty="0" err="1"/>
              <a:t>logback</a:t>
            </a:r>
            <a:r>
              <a:rPr lang="en-US" dirty="0"/>
              <a:t>-core (so core will be added as a transitive dependency) </a:t>
            </a:r>
          </a:p>
          <a:p>
            <a:r>
              <a:rPr lang="en-US" dirty="0"/>
              <a:t>In maven central, you may also see: </a:t>
            </a:r>
            <a:r>
              <a:rPr lang="en-US" dirty="0" err="1"/>
              <a:t>logback</a:t>
            </a:r>
            <a:r>
              <a:rPr lang="en-US" dirty="0"/>
              <a:t>-access, a third component of Logback that we aren’t using here; used for servlet containers (</a:t>
            </a:r>
            <a:r>
              <a:rPr lang="en-US" dirty="0" err="1"/>
              <a:t>Tocat</a:t>
            </a:r>
            <a:r>
              <a:rPr lang="en-US" dirty="0"/>
              <a:t>/Jetty) for HTTP-access logging (operates at server/container level instead of application code)</a:t>
            </a:r>
          </a:p>
          <a:p>
            <a:r>
              <a:rPr lang="en-US" dirty="0"/>
              <a:t>Then for Logback, we setup the XML file to configure settings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17BC6C-F630-5BEA-61DB-976A0F849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9651" y="2225121"/>
            <a:ext cx="4725570" cy="29169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4AE991-3F8D-9390-EC6B-8F3EACB65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7855" y="5311035"/>
            <a:ext cx="2229161" cy="10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7145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08D60-FE6C-CBF5-54CC-A29425012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Logback xml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0B581-53C9-E1D9-9B4A-BA2598897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7541"/>
            <a:ext cx="4941784" cy="3678303"/>
          </a:xfrm>
        </p:spPr>
        <p:txBody>
          <a:bodyPr/>
          <a:lstStyle/>
          <a:p>
            <a:r>
              <a:rPr lang="en-US" dirty="0"/>
              <a:t>In the Logback XML, we configure settings for the logging implementation</a:t>
            </a:r>
          </a:p>
          <a:p>
            <a:pPr lvl="1"/>
            <a:r>
              <a:rPr lang="en-US" dirty="0"/>
              <a:t>File or Console output?</a:t>
            </a:r>
          </a:p>
          <a:p>
            <a:pPr lvl="1"/>
            <a:r>
              <a:rPr lang="en-US" dirty="0"/>
              <a:t>The log pattern printed to each line</a:t>
            </a:r>
          </a:p>
          <a:p>
            <a:pPr lvl="1"/>
            <a:r>
              <a:rPr lang="en-US" dirty="0"/>
              <a:t>File rollover behavior</a:t>
            </a:r>
          </a:p>
          <a:p>
            <a:pPr lvl="1"/>
            <a:r>
              <a:rPr lang="en-US" dirty="0"/>
              <a:t>Set minimum captured log levels</a:t>
            </a:r>
          </a:p>
          <a:p>
            <a:pPr lvl="1"/>
            <a:r>
              <a:rPr lang="en-US" dirty="0"/>
              <a:t>See the file in your course materials for more info (</a:t>
            </a:r>
            <a:r>
              <a:rPr lang="en-US" dirty="0" err="1"/>
              <a:t>cleancodeWithJDBC</a:t>
            </a:r>
            <a:r>
              <a:rPr lang="en-US" dirty="0"/>
              <a:t> project)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53F10F-BB94-27E4-A449-8160AF7BB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159" y="3249723"/>
            <a:ext cx="5677692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4130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57A5B-F5B6-D991-AAD0-4A3623894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should we log?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0B3D0-43A0-E262-101E-94604B074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153924" cy="4286141"/>
          </a:xfrm>
        </p:spPr>
        <p:txBody>
          <a:bodyPr/>
          <a:lstStyle/>
          <a:p>
            <a:r>
              <a:rPr lang="en-US" dirty="0"/>
              <a:t>Most logging occurs at the service layer (with the business logic)</a:t>
            </a:r>
          </a:p>
          <a:p>
            <a:pPr lvl="1"/>
            <a:r>
              <a:rPr lang="en-US" dirty="0"/>
              <a:t>“Order #1234 successfully placed”</a:t>
            </a:r>
          </a:p>
          <a:p>
            <a:pPr lvl="1"/>
            <a:r>
              <a:rPr lang="en-US" dirty="0"/>
              <a:t>“User password reset initiated for User ID: 1” </a:t>
            </a:r>
          </a:p>
          <a:p>
            <a:r>
              <a:rPr lang="en-US" dirty="0"/>
              <a:t>Repository/DAO level logging:</a:t>
            </a:r>
          </a:p>
          <a:p>
            <a:pPr lvl="1"/>
            <a:r>
              <a:rPr lang="en-US" dirty="0"/>
              <a:t>Keep it lean</a:t>
            </a:r>
          </a:p>
          <a:p>
            <a:pPr lvl="1"/>
            <a:r>
              <a:rPr lang="en-US" dirty="0"/>
              <a:t>Avoid boilerplate such as “Saving User to database” </a:t>
            </a:r>
          </a:p>
          <a:p>
            <a:pPr lvl="1"/>
            <a:r>
              <a:rPr lang="en-US" dirty="0"/>
              <a:t>Log custom complexity such as performance bottlenecks or specific database recovery logic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9FB771-A2C7-2231-B795-8640B9BFC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7258" y="3280483"/>
            <a:ext cx="5792808" cy="178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5987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0B693-37D5-4E29-FB63-494E692BA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D19FD-77E0-8806-9F06-C7662C63F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Demo logging here</a:t>
            </a:r>
          </a:p>
          <a:p>
            <a:r>
              <a:rPr lang="en-US" dirty="0"/>
              <a:t>Please see the </a:t>
            </a:r>
            <a:r>
              <a:rPr lang="en-US" dirty="0" err="1"/>
              <a:t>cleancodeWithJDBC</a:t>
            </a:r>
            <a:r>
              <a:rPr lang="en-US" dirty="0"/>
              <a:t> project in your course materials for examples</a:t>
            </a:r>
          </a:p>
        </p:txBody>
      </p:sp>
    </p:spTree>
    <p:extLst>
      <p:ext uri="{BB962C8B-B14F-4D97-AF65-F5344CB8AC3E}">
        <p14:creationId xmlns:p14="http://schemas.microsoft.com/office/powerpoint/2010/main" val="30787506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83D92F2-BD3F-5502-960E-3CFF35778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234C-D59D-E997-1AA0-D508BFFD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Demo – How to Excel in this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8E57B-9E41-4816-C2F2-1105A90F8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Complete a hands-on challenge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E50FF0-C783-F3C0-044D-2F094F317804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5306AE-2095-D0AE-E069-321DBC55370F}"/>
              </a:ext>
            </a:extLst>
          </p:cNvPr>
          <p:cNvSpPr txBox="1"/>
          <p:nvPr/>
        </p:nvSpPr>
        <p:spPr>
          <a:xfrm>
            <a:off x="6949165" y="2402747"/>
            <a:ext cx="4661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5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1B443B1-E14C-64AB-9E9D-75FFCF923C2B}"/>
              </a:ext>
            </a:extLst>
          </p:cNvPr>
          <p:cNvSpPr txBox="1">
            <a:spLocks/>
          </p:cNvSpPr>
          <p:nvPr/>
        </p:nvSpPr>
        <p:spPr>
          <a:xfrm>
            <a:off x="6545749" y="2772079"/>
            <a:ext cx="4661642" cy="1681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to relay technical concepts to you. Clients often need to do the same. Take a few moments to get some pen and paper ready to take notes. </a:t>
            </a:r>
          </a:p>
        </p:txBody>
      </p:sp>
    </p:spTree>
    <p:extLst>
      <p:ext uri="{BB962C8B-B14F-4D97-AF65-F5344CB8AC3E}">
        <p14:creationId xmlns:p14="http://schemas.microsoft.com/office/powerpoint/2010/main" val="358787138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Metadata/LabelInfo.xml><?xml version="1.0" encoding="utf-8"?>
<clbl:labelList xmlns:clbl="http://schemas.microsoft.com/office/2020/mipLabelMetadata">
  <clbl:label id="{6b63e28a-a8f9-47b5-aa40-97e231215164}" enabled="0" method="" siteId="{6b63e28a-a8f9-47b5-aa40-97e2312151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3057</TotalTime>
  <Words>1661</Words>
  <Application>Microsoft Office PowerPoint</Application>
  <PresentationFormat>Widescreen</PresentationFormat>
  <Paragraphs>226</Paragraphs>
  <Slides>23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-apple-system-body</vt:lpstr>
      <vt:lpstr>Gill Sans MT</vt:lpstr>
      <vt:lpstr>Wingdings</vt:lpstr>
      <vt:lpstr>Wingdings 2</vt:lpstr>
      <vt:lpstr>Dividend</vt:lpstr>
      <vt:lpstr>Java Unit Testing &amp; Logging</vt:lpstr>
      <vt:lpstr>Unit Testing</vt:lpstr>
      <vt:lpstr>Test example</vt:lpstr>
      <vt:lpstr>Types of tests</vt:lpstr>
      <vt:lpstr>Why write unit tests?</vt:lpstr>
      <vt:lpstr>Design decisions, and why they make testing easier</vt:lpstr>
      <vt:lpstr>Junit</vt:lpstr>
      <vt:lpstr>Junit – basic structure of a test</vt:lpstr>
      <vt:lpstr>Common types of JUNIT assertions</vt:lpstr>
      <vt:lpstr>Inmemory mocks vs Mockito</vt:lpstr>
      <vt:lpstr>Junit lifecycle annotations</vt:lpstr>
      <vt:lpstr>Mockito – stubs &amp; Mocks</vt:lpstr>
      <vt:lpstr>Naming tests, project directory placement, &amp; POM config</vt:lpstr>
      <vt:lpstr>Testing best practices</vt:lpstr>
      <vt:lpstr>STOP</vt:lpstr>
      <vt:lpstr>Logging</vt:lpstr>
      <vt:lpstr>SLF4j</vt:lpstr>
      <vt:lpstr>LOGback</vt:lpstr>
      <vt:lpstr>SLF4J + LOGback setup</vt:lpstr>
      <vt:lpstr>Logback xml</vt:lpstr>
      <vt:lpstr>Where should we log?</vt:lpstr>
      <vt:lpstr>STOP</vt:lpstr>
      <vt:lpstr>Challenge Demo – How to Excel in this course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Wilson</dc:creator>
  <cp:lastModifiedBy>Ethan Wilson</cp:lastModifiedBy>
  <cp:revision>617</cp:revision>
  <dcterms:created xsi:type="dcterms:W3CDTF">2025-02-12T19:53:45Z</dcterms:created>
  <dcterms:modified xsi:type="dcterms:W3CDTF">2026-09-17T17:24:18Z</dcterms:modified>
</cp:coreProperties>
</file>