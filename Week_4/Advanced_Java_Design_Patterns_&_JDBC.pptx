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3" r:id="rId3"/>
    <p:sldId id="264" r:id="rId4"/>
    <p:sldId id="265" r:id="rId5"/>
    <p:sldId id="273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89" r:id="rId14"/>
    <p:sldId id="290" r:id="rId15"/>
    <p:sldId id="292" r:id="rId16"/>
    <p:sldId id="291" r:id="rId17"/>
    <p:sldId id="274" r:id="rId18"/>
    <p:sldId id="304" r:id="rId19"/>
    <p:sldId id="305" r:id="rId20"/>
    <p:sldId id="30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3" r:id="rId36"/>
    <p:sldId id="294" r:id="rId37"/>
    <p:sldId id="295" r:id="rId38"/>
    <p:sldId id="296" r:id="rId39"/>
    <p:sldId id="300" r:id="rId40"/>
    <p:sldId id="297" r:id="rId41"/>
    <p:sldId id="301" r:id="rId42"/>
    <p:sldId id="298" r:id="rId43"/>
    <p:sldId id="299" r:id="rId44"/>
    <p:sldId id="303" r:id="rId45"/>
    <p:sldId id="302" r:id="rId46"/>
    <p:sldId id="26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truststore.pki.rds.amazonaws.com/global/global-bundle.pem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Advanced Java, Design Patterns, &amp; JDBC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95A1-89DB-DC66-DF51-D24A3794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966C1-50DB-8A0E-76D8-AEE1C3245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6099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collection is an object that stores multiple objects together</a:t>
            </a:r>
          </a:p>
          <a:p>
            <a:r>
              <a:rPr lang="en-US" dirty="0"/>
              <a:t>Collections are accompanied by ‘Generics’ – which tell Java the datatype the collection stores i.e. List&lt;Integer&gt;</a:t>
            </a:r>
          </a:p>
          <a:p>
            <a:r>
              <a:rPr lang="en-US" dirty="0"/>
              <a:t>Why not List&lt;int&gt;?  </a:t>
            </a:r>
          </a:p>
          <a:p>
            <a:pPr lvl="1"/>
            <a:r>
              <a:rPr lang="en-US" dirty="0"/>
              <a:t>That’s because collections store objects, not primitive types</a:t>
            </a:r>
          </a:p>
          <a:p>
            <a:pPr lvl="1"/>
            <a:r>
              <a:rPr lang="en-US" dirty="0"/>
              <a:t>Wrapper classes are provided such as: Integer, Long, Double, Boolean, etc.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28ED45-BB3E-82C7-BD6F-363E4704F3B9}"/>
              </a:ext>
            </a:extLst>
          </p:cNvPr>
          <p:cNvSpPr txBox="1"/>
          <p:nvPr/>
        </p:nvSpPr>
        <p:spPr>
          <a:xfrm>
            <a:off x="1013043" y="4338935"/>
            <a:ext cx="34462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student1 = "Alice";</a:t>
            </a:r>
          </a:p>
          <a:p>
            <a:r>
              <a:rPr lang="en-US" dirty="0"/>
              <a:t>String student2 = "Bob";</a:t>
            </a:r>
          </a:p>
          <a:p>
            <a:r>
              <a:rPr lang="en-US" dirty="0"/>
              <a:t>String student3 = "Charlie";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4EA57-F018-8E2B-1AC2-26DDDB8067CE}"/>
              </a:ext>
            </a:extLst>
          </p:cNvPr>
          <p:cNvSpPr txBox="1"/>
          <p:nvPr/>
        </p:nvSpPr>
        <p:spPr>
          <a:xfrm>
            <a:off x="6494743" y="4338935"/>
            <a:ext cx="4684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List&lt;String&gt; students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 err="1"/>
              <a:t>students.add</a:t>
            </a:r>
            <a:r>
              <a:rPr lang="en-US" dirty="0"/>
              <a:t>("Alice");</a:t>
            </a:r>
          </a:p>
          <a:p>
            <a:r>
              <a:rPr lang="en-US" dirty="0" err="1"/>
              <a:t>students.add</a:t>
            </a:r>
            <a:r>
              <a:rPr lang="en-US" dirty="0"/>
              <a:t>("Bob");</a:t>
            </a:r>
          </a:p>
          <a:p>
            <a:r>
              <a:rPr lang="en-US" dirty="0" err="1"/>
              <a:t>students.add</a:t>
            </a:r>
            <a:r>
              <a:rPr lang="en-US" dirty="0"/>
              <a:t>("Charlie");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63F559-58CB-7F07-6A29-9E71F561B524}"/>
              </a:ext>
            </a:extLst>
          </p:cNvPr>
          <p:cNvSpPr txBox="1"/>
          <p:nvPr/>
        </p:nvSpPr>
        <p:spPr>
          <a:xfrm>
            <a:off x="1346548" y="3880030"/>
            <a:ext cx="1544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Instead of this: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F3CBB3-EFE5-039F-00D3-34AADEE8EB1B}"/>
              </a:ext>
            </a:extLst>
          </p:cNvPr>
          <p:cNvSpPr txBox="1"/>
          <p:nvPr/>
        </p:nvSpPr>
        <p:spPr>
          <a:xfrm>
            <a:off x="6494743" y="3880030"/>
            <a:ext cx="1648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do this:</a:t>
            </a:r>
          </a:p>
        </p:txBody>
      </p:sp>
    </p:spTree>
    <p:extLst>
      <p:ext uri="{BB962C8B-B14F-4D97-AF65-F5344CB8AC3E}">
        <p14:creationId xmlns:p14="http://schemas.microsoft.com/office/powerpoint/2010/main" val="57276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F3C0-79DF-338F-B84C-124E9353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AFD62-7918-78F7-FBEC-59D5E0D93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90" y="2413727"/>
            <a:ext cx="5301118" cy="3678303"/>
          </a:xfrm>
        </p:spPr>
        <p:txBody>
          <a:bodyPr/>
          <a:lstStyle/>
          <a:p>
            <a:r>
              <a:rPr lang="en-US" dirty="0"/>
              <a:t>We have many types of collections, which usually inherit the Collection interface, except for Map</a:t>
            </a:r>
          </a:p>
          <a:p>
            <a:pPr lvl="1"/>
            <a:r>
              <a:rPr lang="en-US" dirty="0"/>
              <a:t>Map is still considered to be part of the Collections API however</a:t>
            </a:r>
          </a:p>
          <a:p>
            <a:r>
              <a:rPr lang="en-US" dirty="0"/>
              <a:t>Collections from the API are imported from ‘</a:t>
            </a:r>
            <a:r>
              <a:rPr lang="en-US" dirty="0" err="1"/>
              <a:t>java.util</a:t>
            </a:r>
            <a:r>
              <a:rPr lang="en-US" dirty="0"/>
              <a:t>’ </a:t>
            </a:r>
          </a:p>
          <a:p>
            <a:r>
              <a:rPr lang="en-US" dirty="0"/>
              <a:t>Prefer interfaces over concretions </a:t>
            </a:r>
          </a:p>
          <a:p>
            <a:pPr lvl="1"/>
            <a:r>
              <a:rPr lang="en-US" dirty="0"/>
              <a:t>I.e. List&lt;String&gt; names = new </a:t>
            </a:r>
            <a:r>
              <a:rPr lang="en-US" dirty="0" err="1"/>
              <a:t>ArrayList</a:t>
            </a:r>
            <a:r>
              <a:rPr lang="en-US" dirty="0"/>
              <a:t>&lt;&gt;(); </a:t>
            </a:r>
          </a:p>
          <a:p>
            <a:pPr lvl="1"/>
            <a:r>
              <a:rPr lang="en-US" dirty="0"/>
              <a:t>NOT </a:t>
            </a:r>
            <a:r>
              <a:rPr lang="en-US" dirty="0" err="1"/>
              <a:t>ArrayList</a:t>
            </a:r>
            <a:r>
              <a:rPr lang="en-US" dirty="0"/>
              <a:t>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02CAA-CEC8-1578-74A8-3C8A33910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473" y="2180496"/>
            <a:ext cx="4471809" cy="414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16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08039-6C4E-4870-9E3D-6218263D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31D2E-CBC8-4C4A-917F-DCB48EA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F4F09-0D96-42BE-AE16-84AB4E0B5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F87EE-372A-438E-B086-63D494ECA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B38E65-3AFD-404A-BEFC-3006BCB7A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98562-3047-4BC2-BFF9-F3942047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C2312-7D01-1DAA-9D0A-9D22144E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Collection API Hierarchy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9E0D66-E86B-461B-B58E-7FB356BB0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2C7D57-D78E-413F-958A-00ABC8504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96FEE5-A0CD-4B5D-B4C1-785801908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81341-6C47-4992-BD01-6BCF3A34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7A197BD-AE7C-BE47-EB2F-E77160C47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245" y="651052"/>
            <a:ext cx="5558192" cy="600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45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5F04-177D-3E3F-930D-045D7586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258C-D48E-37B9-2022-2741D1CF5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73685" cy="3678303"/>
          </a:xfrm>
        </p:spPr>
        <p:txBody>
          <a:bodyPr/>
          <a:lstStyle/>
          <a:p>
            <a:r>
              <a:rPr lang="en-US" dirty="0"/>
              <a:t>Many collections implement the </a:t>
            </a:r>
            <a:r>
              <a:rPr lang="en-US" dirty="0" err="1"/>
              <a:t>Iterable</a:t>
            </a:r>
            <a:r>
              <a:rPr lang="en-US" dirty="0"/>
              <a:t> interface</a:t>
            </a:r>
          </a:p>
          <a:p>
            <a:r>
              <a:rPr lang="en-US" dirty="0"/>
              <a:t>This defines data structures that can be traversed using the .iterator() method, which returns an Iterator data type</a:t>
            </a:r>
          </a:p>
          <a:p>
            <a:r>
              <a:rPr lang="en-US" dirty="0"/>
              <a:t>These types of collections can be traversed using enhanced for loop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D25A87-B313-5B25-8931-147C99849B81}"/>
              </a:ext>
            </a:extLst>
          </p:cNvPr>
          <p:cNvSpPr txBox="1"/>
          <p:nvPr/>
        </p:nvSpPr>
        <p:spPr>
          <a:xfrm>
            <a:off x="6407063" y="2706957"/>
            <a:ext cx="466594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List&lt;String&gt; names = new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ArrayList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&lt;&gt;();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("Hal");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("John");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Iterator&lt;String&gt; it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names.iterator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endParaRPr lang="en-US" sz="180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while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it.hasNext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()) {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String name =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it.next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(name);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73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41411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BE7B-A95C-76D8-062B-B71EDF7D5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14022-FB18-E300-4FB9-B4F0D9671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61317" cy="3678303"/>
          </a:xfrm>
        </p:spPr>
        <p:txBody>
          <a:bodyPr/>
          <a:lstStyle/>
          <a:p>
            <a:r>
              <a:rPr lang="en-US" dirty="0"/>
              <a:t>List are:</a:t>
            </a:r>
          </a:p>
          <a:p>
            <a:pPr lvl="1"/>
            <a:r>
              <a:rPr lang="en-US" dirty="0"/>
              <a:t>Ordered</a:t>
            </a:r>
          </a:p>
          <a:p>
            <a:pPr lvl="1"/>
            <a:r>
              <a:rPr lang="en-US" dirty="0"/>
              <a:t>Allow duplicate values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CA798-5E33-5367-C308-33411874D04B}"/>
              </a:ext>
            </a:extLst>
          </p:cNvPr>
          <p:cNvSpPr txBox="1"/>
          <p:nvPr/>
        </p:nvSpPr>
        <p:spPr>
          <a:xfrm>
            <a:off x="5524848" y="2180496"/>
            <a:ext cx="50909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List&lt;String&gt; names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names.add</a:t>
            </a:r>
            <a:r>
              <a:rPr lang="en-US" dirty="0"/>
              <a:t>("Alice");</a:t>
            </a:r>
            <a:br>
              <a:rPr lang="en-US" dirty="0"/>
            </a:br>
            <a:r>
              <a:rPr lang="en-US" dirty="0" err="1"/>
              <a:t>names.add</a:t>
            </a:r>
            <a:r>
              <a:rPr lang="en-US" dirty="0"/>
              <a:t>("Bob");</a:t>
            </a:r>
            <a:br>
              <a:rPr lang="en-US" dirty="0"/>
            </a:br>
            <a:r>
              <a:rPr lang="en-US" dirty="0" err="1"/>
              <a:t>names.add</a:t>
            </a:r>
            <a:r>
              <a:rPr lang="en-US" dirty="0"/>
              <a:t>("Alice");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names.get</a:t>
            </a:r>
            <a:r>
              <a:rPr lang="en-US" dirty="0"/>
              <a:t>(0)); // Alice</a:t>
            </a:r>
            <a:br>
              <a:rPr lang="en-US" dirty="0"/>
            </a:br>
            <a:r>
              <a:rPr lang="en-US" dirty="0" err="1"/>
              <a:t>names.set</a:t>
            </a:r>
            <a:r>
              <a:rPr lang="en-US" dirty="0"/>
              <a:t>(0, "Hal");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names.get</a:t>
            </a:r>
            <a:r>
              <a:rPr lang="en-US" dirty="0"/>
              <a:t>(0)); // Hal</a:t>
            </a:r>
            <a:br>
              <a:rPr lang="en-US" dirty="0"/>
            </a:br>
            <a:r>
              <a:rPr lang="en-US" dirty="0" err="1"/>
              <a:t>names.remove</a:t>
            </a:r>
            <a:r>
              <a:rPr lang="en-US" dirty="0"/>
              <a:t>(0);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names.get</a:t>
            </a:r>
            <a:r>
              <a:rPr lang="en-US" dirty="0"/>
              <a:t>(0)); // Bob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names.size</a:t>
            </a:r>
            <a:r>
              <a:rPr lang="en-US" dirty="0"/>
              <a:t>()); // 2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names.contains</a:t>
            </a:r>
            <a:r>
              <a:rPr lang="en-US" dirty="0"/>
              <a:t>("Bob")); // true</a:t>
            </a:r>
            <a:br>
              <a:rPr lang="en-US" dirty="0"/>
            </a:br>
            <a:r>
              <a:rPr lang="en-US" dirty="0" err="1"/>
              <a:t>names.clear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names.size</a:t>
            </a:r>
            <a:r>
              <a:rPr lang="en-US" dirty="0"/>
              <a:t>()); //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96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A8632-E94D-B67F-399D-005CE076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LinkedList – queue, deque, &amp;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1FF1-6195-33DC-2413-54D4FDB4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10427"/>
            <a:ext cx="5362408" cy="4847574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LinkedLists</a:t>
            </a:r>
            <a:r>
              <a:rPr lang="en-US" dirty="0"/>
              <a:t> are:</a:t>
            </a:r>
          </a:p>
          <a:p>
            <a:pPr lvl="1"/>
            <a:r>
              <a:rPr lang="en-US" dirty="0"/>
              <a:t>A collection that stores elements via connected nodes</a:t>
            </a:r>
          </a:p>
          <a:p>
            <a:pPr lvl="1"/>
            <a:r>
              <a:rPr lang="en-US" dirty="0"/>
              <a:t>Java </a:t>
            </a:r>
            <a:r>
              <a:rPr lang="en-US" dirty="0" err="1"/>
              <a:t>LinkedLists</a:t>
            </a:r>
            <a:r>
              <a:rPr lang="en-US" dirty="0"/>
              <a:t> are ‘doubly linked’ – meaning each node has private properties that refer to the previous and next nodes</a:t>
            </a:r>
          </a:p>
          <a:p>
            <a:pPr lvl="1"/>
            <a:r>
              <a:rPr lang="en-US" dirty="0"/>
              <a:t>Queue (FIFO): </a:t>
            </a:r>
          </a:p>
          <a:p>
            <a:pPr lvl="2"/>
            <a:r>
              <a:rPr lang="en-US" dirty="0"/>
              <a:t>Offer() – add to a queue (at the end)</a:t>
            </a:r>
          </a:p>
          <a:p>
            <a:pPr lvl="2"/>
            <a:r>
              <a:rPr lang="en-US" dirty="0"/>
              <a:t>Poll() – remove from the front</a:t>
            </a:r>
          </a:p>
          <a:p>
            <a:pPr lvl="2"/>
            <a:r>
              <a:rPr lang="en-US" dirty="0"/>
              <a:t>Peek() – look at the front</a:t>
            </a:r>
          </a:p>
          <a:p>
            <a:pPr lvl="1"/>
            <a:r>
              <a:rPr lang="en-US" dirty="0"/>
              <a:t>Deque – short for double-ended queue; extends from Queue, so we get all its implementation + methods from Deque, this allows to add/remove from both ends simultaneously</a:t>
            </a:r>
          </a:p>
          <a:p>
            <a:pPr lvl="2"/>
            <a:r>
              <a:rPr lang="en-US" dirty="0" err="1"/>
              <a:t>addFirst</a:t>
            </a:r>
            <a:r>
              <a:rPr lang="en-US" dirty="0"/>
              <a:t>() – add to start; throws exception on fail</a:t>
            </a:r>
          </a:p>
          <a:p>
            <a:pPr lvl="2"/>
            <a:r>
              <a:rPr lang="en-US" dirty="0" err="1"/>
              <a:t>addLast</a:t>
            </a:r>
            <a:r>
              <a:rPr lang="en-US" dirty="0"/>
              <a:t>() – add to end; throws exception on fail</a:t>
            </a:r>
          </a:p>
          <a:p>
            <a:pPr lvl="2"/>
            <a:r>
              <a:rPr lang="en-US" dirty="0" err="1"/>
              <a:t>removeFirst</a:t>
            </a:r>
            <a:r>
              <a:rPr lang="en-US" dirty="0"/>
              <a:t>() – remove from start; throws exception on fail</a:t>
            </a:r>
          </a:p>
          <a:p>
            <a:pPr lvl="2"/>
            <a:r>
              <a:rPr lang="en-US" dirty="0" err="1"/>
              <a:t>removeLast</a:t>
            </a:r>
            <a:r>
              <a:rPr lang="en-US" dirty="0"/>
              <a:t>() – remove from end; throws exception on fail</a:t>
            </a:r>
          </a:p>
          <a:p>
            <a:pPr lvl="2"/>
            <a:r>
              <a:rPr lang="en-US" dirty="0" err="1"/>
              <a:t>offerFirst</a:t>
            </a:r>
            <a:r>
              <a:rPr lang="en-US" dirty="0"/>
              <a:t>, </a:t>
            </a:r>
            <a:r>
              <a:rPr lang="en-US" dirty="0" err="1"/>
              <a:t>offerLast</a:t>
            </a:r>
            <a:r>
              <a:rPr lang="en-US" dirty="0"/>
              <a:t>, </a:t>
            </a:r>
            <a:r>
              <a:rPr lang="en-US" dirty="0" err="1"/>
              <a:t>pollFirst</a:t>
            </a:r>
            <a:r>
              <a:rPr lang="en-US" dirty="0"/>
              <a:t>, </a:t>
            </a:r>
            <a:r>
              <a:rPr lang="en-US" dirty="0" err="1"/>
              <a:t>pollLast</a:t>
            </a:r>
            <a:r>
              <a:rPr lang="en-US" dirty="0"/>
              <a:t>, </a:t>
            </a:r>
            <a:r>
              <a:rPr lang="en-US" dirty="0" err="1"/>
              <a:t>peekFirst</a:t>
            </a:r>
            <a:r>
              <a:rPr lang="en-US" dirty="0"/>
              <a:t> – returns Boolean false on failure </a:t>
            </a:r>
          </a:p>
          <a:p>
            <a:pPr lvl="1"/>
            <a:r>
              <a:rPr lang="en-US" dirty="0" err="1"/>
              <a:t>Deqeue</a:t>
            </a:r>
            <a:r>
              <a:rPr lang="en-US" dirty="0"/>
              <a:t> can also behave like a stack with push()/pop() methods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865AF-2705-BFCA-9A32-18E0AE3DF8EB}"/>
              </a:ext>
            </a:extLst>
          </p:cNvPr>
          <p:cNvSpPr txBox="1"/>
          <p:nvPr/>
        </p:nvSpPr>
        <p:spPr>
          <a:xfrm>
            <a:off x="6418024" y="2056686"/>
            <a:ext cx="47238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List&lt;Integer&gt; list = new LinkedList&lt;&gt;();</a:t>
            </a:r>
          </a:p>
          <a:p>
            <a:r>
              <a:rPr lang="en-US" dirty="0"/>
              <a:t>Queue&lt;Integer&gt; queue = new LinkedList&lt;&gt;();</a:t>
            </a:r>
          </a:p>
          <a:p>
            <a:r>
              <a:rPr lang="en-US" dirty="0"/>
              <a:t>Deque&lt;Integer&gt; deque = new LinkedList&lt;&gt;();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deque.offerLast</a:t>
            </a:r>
            <a:r>
              <a:rPr lang="en-US" dirty="0"/>
              <a:t>(10);</a:t>
            </a:r>
            <a:br>
              <a:rPr lang="en-US" dirty="0"/>
            </a:br>
            <a:r>
              <a:rPr lang="en-US" dirty="0" err="1"/>
              <a:t>deque.offerLast</a:t>
            </a:r>
            <a:r>
              <a:rPr lang="en-US" dirty="0"/>
              <a:t>(20);</a:t>
            </a:r>
            <a:br>
              <a:rPr lang="en-US" dirty="0"/>
            </a:br>
            <a:r>
              <a:rPr lang="en-US" dirty="0" err="1"/>
              <a:t>deque.offerLast</a:t>
            </a:r>
            <a:r>
              <a:rPr lang="en-US" dirty="0"/>
              <a:t>(30);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deque.pollFirst</a:t>
            </a:r>
            <a:r>
              <a:rPr lang="en-US" dirty="0"/>
              <a:t>()); // 10</a:t>
            </a:r>
            <a:br>
              <a:rPr lang="en-US" dirty="0"/>
            </a:br>
            <a:r>
              <a:rPr lang="en-US" dirty="0" err="1"/>
              <a:t>deque.offerFirst</a:t>
            </a:r>
            <a:r>
              <a:rPr lang="en-US" dirty="0"/>
              <a:t>(5);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deque.pollFirst</a:t>
            </a:r>
            <a:r>
              <a:rPr lang="en-US" dirty="0"/>
              <a:t>()); // 5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deque.offerLast</a:t>
            </a:r>
            <a:r>
              <a:rPr lang="en-US" dirty="0"/>
              <a:t>(4);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deque.pollLast</a:t>
            </a:r>
            <a:r>
              <a:rPr lang="en-US" dirty="0"/>
              <a:t>()); // 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886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E5DA-53F0-1C22-A6EB-71367EFB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CC787-1522-8E0B-FEC5-C2BD18D6B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443827" cy="3678303"/>
          </a:xfrm>
        </p:spPr>
        <p:txBody>
          <a:bodyPr/>
          <a:lstStyle/>
          <a:p>
            <a:r>
              <a:rPr lang="en-US" dirty="0"/>
              <a:t>Sets are:</a:t>
            </a:r>
          </a:p>
          <a:p>
            <a:pPr lvl="1"/>
            <a:r>
              <a:rPr lang="en-US" dirty="0"/>
              <a:t>Collections that store unique elements</a:t>
            </a:r>
          </a:p>
          <a:p>
            <a:pPr lvl="1"/>
            <a:r>
              <a:rPr lang="en-US" dirty="0"/>
              <a:t>Not indexed </a:t>
            </a:r>
          </a:p>
          <a:p>
            <a:pPr lvl="1"/>
            <a:r>
              <a:rPr lang="en-US" dirty="0"/>
              <a:t>Only ordered based on implementation</a:t>
            </a:r>
          </a:p>
          <a:p>
            <a:pPr lvl="2"/>
            <a:r>
              <a:rPr lang="en-US" dirty="0"/>
              <a:t>HashSet – not ordered</a:t>
            </a:r>
          </a:p>
          <a:p>
            <a:pPr lvl="2"/>
            <a:r>
              <a:rPr lang="en-US" dirty="0" err="1"/>
              <a:t>LikedHashSet</a:t>
            </a:r>
            <a:r>
              <a:rPr lang="en-US" dirty="0"/>
              <a:t> – ordered based on how elements were inserted</a:t>
            </a:r>
          </a:p>
          <a:p>
            <a:pPr lvl="2"/>
            <a:r>
              <a:rPr lang="en-US" dirty="0" err="1"/>
              <a:t>TreeSet</a:t>
            </a:r>
            <a:r>
              <a:rPr lang="en-US" dirty="0"/>
              <a:t> – sorted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931C69-8BC0-DF01-F51C-BF541C2B0035}"/>
              </a:ext>
            </a:extLst>
          </p:cNvPr>
          <p:cNvSpPr txBox="1"/>
          <p:nvPr/>
        </p:nvSpPr>
        <p:spPr>
          <a:xfrm>
            <a:off x="6096000" y="1849305"/>
            <a:ext cx="60970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Set&lt;Integer&gt; numbers = new HashSet&lt;&gt;();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numbers.add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(10);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numbers.add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(20);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numbers.remove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(20);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2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numbers.contains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(10)); // true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Set&lt;String&gt; names = new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LinkedHashSet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&lt;&gt;();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("Charlie");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("Alice");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("Bob");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for(String s : names) {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2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(s); // Charlie, Alice, Bob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Set&lt;Integer&gt; numbers2 = new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TreeSet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&lt;&gt;();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numbers2.add(50);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numbers2.add(10);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numbers2.add(30);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numbers2.add(20);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for(Integer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: numbers2) {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2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200" dirty="0" err="1">
                <a:solidFill>
                  <a:schemeClr val="tx1"/>
                </a:solidFill>
                <a:effectLst/>
                <a:latin typeface="+mn-lt"/>
              </a:rPr>
              <a:t>i</a:t>
            </a: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); // 10, 20, 30, 50</a:t>
            </a:r>
            <a:br>
              <a:rPr lang="en-US" sz="12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20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200" dirty="0">
              <a:solidFill>
                <a:srgbClr val="BCBEC4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85179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D5AE7-FBC8-C297-B06E-FF2C0989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921E6-8D9A-D1F2-274D-1E7563FE1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984545" cy="3678303"/>
          </a:xfrm>
        </p:spPr>
        <p:txBody>
          <a:bodyPr/>
          <a:lstStyle/>
          <a:p>
            <a:r>
              <a:rPr lang="en-US" dirty="0"/>
              <a:t>Maps are:</a:t>
            </a:r>
          </a:p>
          <a:p>
            <a:pPr lvl="1"/>
            <a:r>
              <a:rPr lang="en-US" dirty="0"/>
              <a:t>Collections of key/value pairs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D66A-9A6C-7BA8-4664-8C83DB03F642}"/>
              </a:ext>
            </a:extLst>
          </p:cNvPr>
          <p:cNvSpPr txBox="1"/>
          <p:nvPr/>
        </p:nvSpPr>
        <p:spPr>
          <a:xfrm>
            <a:off x="5382241" y="2390001"/>
            <a:ext cx="609704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Map&lt;Integer, String&gt; students = new HashMap&lt;&gt;();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students.put</a:t>
            </a:r>
            <a:r>
              <a:rPr lang="en-US" dirty="0"/>
              <a:t>(101, "Alice");</a:t>
            </a:r>
            <a:br>
              <a:rPr lang="en-US" dirty="0"/>
            </a:br>
            <a:r>
              <a:rPr lang="en-US" dirty="0" err="1"/>
              <a:t>students.put</a:t>
            </a:r>
            <a:r>
              <a:rPr lang="en-US" dirty="0"/>
              <a:t>(102, "Bob");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students.get</a:t>
            </a:r>
            <a:r>
              <a:rPr lang="en-US" dirty="0"/>
              <a:t>(101)); // Alice</a:t>
            </a:r>
            <a:br>
              <a:rPr lang="en-US" dirty="0"/>
            </a:br>
            <a:r>
              <a:rPr lang="en-US" dirty="0" err="1"/>
              <a:t>students.put</a:t>
            </a:r>
            <a:r>
              <a:rPr lang="en-US" dirty="0"/>
              <a:t>(101, "Hal");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students.get</a:t>
            </a:r>
            <a:r>
              <a:rPr lang="en-US" dirty="0"/>
              <a:t>(101)); // Hal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students.containsKey</a:t>
            </a:r>
            <a:r>
              <a:rPr lang="en-US" dirty="0"/>
              <a:t>(101)); // true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students.containsValue</a:t>
            </a:r>
            <a:r>
              <a:rPr lang="en-US" dirty="0"/>
              <a:t>("Bob")); /true</a:t>
            </a:r>
            <a:br>
              <a:rPr lang="en-US" dirty="0"/>
            </a:br>
            <a:r>
              <a:rPr lang="en-US" dirty="0" err="1"/>
              <a:t>students.remove</a:t>
            </a:r>
            <a:r>
              <a:rPr lang="en-US" dirty="0"/>
              <a:t>(102);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students.containsValue</a:t>
            </a:r>
            <a:r>
              <a:rPr lang="en-US" dirty="0"/>
              <a:t>("Bob")); // false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students.size</a:t>
            </a:r>
            <a:r>
              <a:rPr lang="en-US" dirty="0"/>
              <a:t>()); // 1</a:t>
            </a:r>
            <a:br>
              <a:rPr lang="en-US" dirty="0"/>
            </a:br>
            <a:r>
              <a:rPr lang="en-US" dirty="0" err="1"/>
              <a:t>System.</a:t>
            </a:r>
            <a:r>
              <a:rPr lang="en-US" i="1" dirty="0" err="1"/>
              <a:t>out</a:t>
            </a:r>
            <a:r>
              <a:rPr lang="en-US" dirty="0" err="1"/>
              <a:t>.println</a:t>
            </a:r>
            <a:r>
              <a:rPr lang="en-US" dirty="0"/>
              <a:t>(</a:t>
            </a:r>
            <a:r>
              <a:rPr lang="en-US" dirty="0" err="1"/>
              <a:t>students.isEmpty</a:t>
            </a:r>
            <a:r>
              <a:rPr lang="en-US" dirty="0"/>
              <a:t>()); // false</a:t>
            </a:r>
          </a:p>
        </p:txBody>
      </p:sp>
    </p:spTree>
    <p:extLst>
      <p:ext uri="{BB962C8B-B14F-4D97-AF65-F5344CB8AC3E}">
        <p14:creationId xmlns:p14="http://schemas.microsoft.com/office/powerpoint/2010/main" val="3424674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CE1-8666-53E8-54E0-D7A216E97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- iteration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336A1-F8A6-09E7-4389-2B4886BEA7A2}"/>
              </a:ext>
            </a:extLst>
          </p:cNvPr>
          <p:cNvSpPr txBox="1"/>
          <p:nvPr/>
        </p:nvSpPr>
        <p:spPr>
          <a:xfrm>
            <a:off x="831414" y="2161157"/>
            <a:ext cx="6097044" cy="4351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Map&lt;Integer, String&gt; students = new HashMap&lt;&gt;();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students.put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(101, "Alice");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students.put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(102, "Bob");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for 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Map.Entry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&lt;Integer, String&gt; entry :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students.entrySet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()) {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entry.getKey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 + " = " +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entry.getValue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for (Integer id :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students.keySet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()){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(id);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}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for (String name :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students.values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()){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    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System.</a:t>
            </a:r>
            <a:r>
              <a:rPr lang="en-US" sz="1800" i="1" dirty="0" err="1">
                <a:solidFill>
                  <a:schemeClr val="tx1"/>
                </a:solidFill>
                <a:effectLst/>
                <a:latin typeface="+mn-lt"/>
              </a:rPr>
              <a:t>out</a:t>
            </a:r>
            <a:r>
              <a:rPr lang="en-US" sz="1800" dirty="0" err="1">
                <a:solidFill>
                  <a:schemeClr val="tx1"/>
                </a:solidFill>
                <a:effectLst/>
                <a:latin typeface="+mn-lt"/>
              </a:rPr>
              <a:t>.println</a:t>
            </a: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(name);</a:t>
            </a:r>
            <a:br>
              <a:rPr lang="en-US" sz="1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US" sz="1800" dirty="0">
                <a:solidFill>
                  <a:schemeClr val="tx1"/>
                </a:solidFill>
                <a:effectLst/>
                <a:latin typeface="+mn-lt"/>
              </a:rPr>
              <a:t>}</a:t>
            </a:r>
            <a:endParaRPr lang="en-US" sz="173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CC30F-2B28-C82F-A72C-92A9F8639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5083" y="3077007"/>
            <a:ext cx="1657581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88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FC8A-9F45-CE8D-7D89-3D3CCEC0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87622-E695-186E-902E-D80D92502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003334" cy="3678303"/>
          </a:xfrm>
        </p:spPr>
        <p:txBody>
          <a:bodyPr/>
          <a:lstStyle/>
          <a:p>
            <a:r>
              <a:rPr lang="en-US" dirty="0" err="1"/>
              <a:t>LinkedHashMap</a:t>
            </a:r>
            <a:r>
              <a:rPr lang="en-US" dirty="0"/>
              <a:t> – retains insertion order</a:t>
            </a:r>
          </a:p>
          <a:p>
            <a:r>
              <a:rPr lang="en-US" dirty="0" err="1"/>
              <a:t>TreeMap</a:t>
            </a:r>
            <a:r>
              <a:rPr lang="en-US" dirty="0"/>
              <a:t> – keeps keys sorted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E8A02B-A4B5-335C-C69E-0063CBBA752C}"/>
              </a:ext>
            </a:extLst>
          </p:cNvPr>
          <p:cNvSpPr txBox="1"/>
          <p:nvPr/>
        </p:nvSpPr>
        <p:spPr>
          <a:xfrm>
            <a:off x="5334522" y="2433552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Map&lt;String, Integer&gt; ages = new </a:t>
            </a:r>
            <a:r>
              <a:rPr lang="en-US" dirty="0" err="1"/>
              <a:t>LinkedHashMap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 err="1"/>
              <a:t>ages.put</a:t>
            </a:r>
            <a:r>
              <a:rPr lang="en-US" dirty="0"/>
              <a:t>("Charlie", 22);</a:t>
            </a:r>
          </a:p>
          <a:p>
            <a:r>
              <a:rPr lang="en-US" dirty="0" err="1"/>
              <a:t>ages.put</a:t>
            </a:r>
            <a:r>
              <a:rPr lang="en-US" dirty="0"/>
              <a:t>("Alice", 25);</a:t>
            </a:r>
          </a:p>
          <a:p>
            <a:r>
              <a:rPr lang="en-US" dirty="0" err="1"/>
              <a:t>ages.put</a:t>
            </a:r>
            <a:r>
              <a:rPr lang="en-US" dirty="0"/>
              <a:t>("Bob", 30);</a:t>
            </a:r>
          </a:p>
          <a:p>
            <a:endParaRPr lang="en-US" dirty="0"/>
          </a:p>
          <a:p>
            <a:r>
              <a:rPr lang="en-US" dirty="0"/>
              <a:t>Map&lt;Integer, String&gt; students = new </a:t>
            </a:r>
            <a:r>
              <a:rPr lang="en-US" dirty="0" err="1"/>
              <a:t>TreeMap</a:t>
            </a:r>
            <a:r>
              <a:rPr lang="en-US" dirty="0"/>
              <a:t>&lt;&gt;();</a:t>
            </a:r>
          </a:p>
          <a:p>
            <a:endParaRPr lang="en-US" dirty="0"/>
          </a:p>
          <a:p>
            <a:r>
              <a:rPr lang="en-US" dirty="0" err="1"/>
              <a:t>students.put</a:t>
            </a:r>
            <a:r>
              <a:rPr lang="en-US" dirty="0"/>
              <a:t>(103, "Charlie");</a:t>
            </a:r>
          </a:p>
          <a:p>
            <a:r>
              <a:rPr lang="en-US" dirty="0" err="1"/>
              <a:t>students.put</a:t>
            </a:r>
            <a:r>
              <a:rPr lang="en-US" dirty="0"/>
              <a:t>(101, "Alice");</a:t>
            </a:r>
          </a:p>
          <a:p>
            <a:r>
              <a:rPr lang="en-US" dirty="0" err="1"/>
              <a:t>students.put</a:t>
            </a:r>
            <a:r>
              <a:rPr lang="en-US" dirty="0"/>
              <a:t>(102, "Bob");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571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190F-B1E5-5DD2-2CA0-36E7F3EB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203FF8-96F5-11FE-C546-2596475A0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out the following:</a:t>
            </a:r>
          </a:p>
          <a:p>
            <a:pPr lvl="1"/>
            <a:r>
              <a:rPr lang="en-US" dirty="0" err="1"/>
              <a:t>ArrayDeque</a:t>
            </a:r>
            <a:r>
              <a:rPr lang="en-US" dirty="0"/>
              <a:t> and </a:t>
            </a:r>
            <a:r>
              <a:rPr lang="en-US" dirty="0" err="1"/>
              <a:t>PriorityQueue</a:t>
            </a:r>
            <a:endParaRPr lang="en-US" dirty="0"/>
          </a:p>
          <a:p>
            <a:pPr lvl="1"/>
            <a:r>
              <a:rPr lang="en-US" dirty="0"/>
              <a:t>Comparable + Comparator Interface</a:t>
            </a:r>
          </a:p>
        </p:txBody>
      </p:sp>
    </p:spTree>
    <p:extLst>
      <p:ext uri="{BB962C8B-B14F-4D97-AF65-F5344CB8AC3E}">
        <p14:creationId xmlns:p14="http://schemas.microsoft.com/office/powerpoint/2010/main" val="3234950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F211-E992-4BCA-16B2-3B2942A9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Equals() &amp;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64C9B-1A70-1C63-EF7A-8B38953C3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0950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equals() – are these two objects logically equal?</a:t>
            </a:r>
          </a:p>
          <a:p>
            <a:r>
              <a:rPr lang="en-US" dirty="0" err="1"/>
              <a:t>hashCode</a:t>
            </a:r>
            <a:r>
              <a:rPr lang="en-US" dirty="0"/>
              <a:t>() – which hash bucket should this object belong to?</a:t>
            </a:r>
          </a:p>
          <a:p>
            <a:r>
              <a:rPr lang="en-US" dirty="0"/>
              <a:t>If equals() = true, then so should their </a:t>
            </a:r>
            <a:r>
              <a:rPr lang="en-US" dirty="0" err="1"/>
              <a:t>hashCodes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A6B4A-F62C-3E06-76AB-64375C6DC8D6}"/>
              </a:ext>
            </a:extLst>
          </p:cNvPr>
          <p:cNvSpPr txBox="1"/>
          <p:nvPr/>
        </p:nvSpPr>
        <p:spPr>
          <a:xfrm>
            <a:off x="3292780" y="4343059"/>
            <a:ext cx="60970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String a = new String("hello");</a:t>
            </a:r>
          </a:p>
          <a:p>
            <a:r>
              <a:rPr lang="en-US" dirty="0"/>
              <a:t>String b = new String("hello");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a.equals</a:t>
            </a:r>
            <a:r>
              <a:rPr lang="en-US" dirty="0"/>
              <a:t>(b));    // true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a.hashCode</a:t>
            </a:r>
            <a:r>
              <a:rPr lang="en-US" dirty="0"/>
              <a:t>());   // same value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b.hashCode</a:t>
            </a:r>
            <a:r>
              <a:rPr lang="en-US" dirty="0"/>
              <a:t>());   // same value</a:t>
            </a:r>
          </a:p>
        </p:txBody>
      </p:sp>
    </p:spTree>
    <p:extLst>
      <p:ext uri="{BB962C8B-B14F-4D97-AF65-F5344CB8AC3E}">
        <p14:creationId xmlns:p14="http://schemas.microsoft.com/office/powerpoint/2010/main" val="546217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21330-9DCE-3722-E1E0-6245B279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Equals() &amp;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008C3-5890-8404-FF2A-56FA2B6D1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16690"/>
            <a:ext cx="11029615" cy="88308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equals() – based on object identity </a:t>
            </a:r>
          </a:p>
          <a:p>
            <a:r>
              <a:rPr lang="en-US" dirty="0"/>
              <a:t>Notice the previous example with strings showed true, this is because it’s pulling the same string from the String Pool</a:t>
            </a:r>
          </a:p>
          <a:p>
            <a:r>
              <a:rPr lang="en-US" dirty="0"/>
              <a:t>Here we are showing false, because its checking equality based on the memory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99AA7-EBDF-D691-CBA8-60064804A515}"/>
              </a:ext>
            </a:extLst>
          </p:cNvPr>
          <p:cNvSpPr txBox="1"/>
          <p:nvPr/>
        </p:nvSpPr>
        <p:spPr>
          <a:xfrm>
            <a:off x="3630982" y="3105680"/>
            <a:ext cx="60970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String name;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Person p1 = new Person();</a:t>
            </a:r>
          </a:p>
          <a:p>
            <a:r>
              <a:rPr lang="en-US" dirty="0"/>
              <a:t>Person p2 = new Person();</a:t>
            </a:r>
          </a:p>
          <a:p>
            <a:endParaRPr lang="en-US" dirty="0"/>
          </a:p>
          <a:p>
            <a:r>
              <a:rPr lang="en-US" dirty="0"/>
              <a:t>p1.name = "John";</a:t>
            </a:r>
          </a:p>
          <a:p>
            <a:r>
              <a:rPr lang="en-US" dirty="0"/>
              <a:t>p2.name = "John";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(p1.equals(p2)); // false</a:t>
            </a:r>
          </a:p>
        </p:txBody>
      </p:sp>
    </p:spTree>
    <p:extLst>
      <p:ext uri="{BB962C8B-B14F-4D97-AF65-F5344CB8AC3E}">
        <p14:creationId xmlns:p14="http://schemas.microsoft.com/office/powerpoint/2010/main" val="3445006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AC07-C34E-0712-14DD-DE8DF4FF2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Equals() &amp;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8B65E-775B-495C-85F3-2C75C271E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4974"/>
            <a:ext cx="11029615" cy="1013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can override both equals() +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  <a:p>
            <a:r>
              <a:rPr lang="en-US" dirty="0"/>
              <a:t>Here we override equals() so that the name of the person determines equality, not the default implementation which only looks at the memory address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D8CCC-717D-FA8F-C6CB-08369D199BBE}"/>
              </a:ext>
            </a:extLst>
          </p:cNvPr>
          <p:cNvSpPr txBox="1"/>
          <p:nvPr/>
        </p:nvSpPr>
        <p:spPr>
          <a:xfrm>
            <a:off x="3047477" y="3186385"/>
            <a:ext cx="609704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class Person {</a:t>
            </a:r>
          </a:p>
          <a:p>
            <a:r>
              <a:rPr lang="en-US" dirty="0"/>
              <a:t>    String name;</a:t>
            </a:r>
          </a:p>
          <a:p>
            <a:endParaRPr lang="en-US" dirty="0"/>
          </a:p>
          <a:p>
            <a:r>
              <a:rPr lang="en-US" dirty="0"/>
              <a:t>    @Override</a:t>
            </a:r>
          </a:p>
          <a:p>
            <a:r>
              <a:rPr lang="en-US" dirty="0"/>
              <a:t>    public </a:t>
            </a:r>
            <a:r>
              <a:rPr lang="en-US" dirty="0" err="1"/>
              <a:t>boolean</a:t>
            </a:r>
            <a:r>
              <a:rPr lang="en-US" dirty="0"/>
              <a:t> equals(Object obj) {</a:t>
            </a:r>
          </a:p>
          <a:p>
            <a:r>
              <a:rPr lang="en-US" dirty="0"/>
              <a:t>        if (this == obj) return true;</a:t>
            </a:r>
          </a:p>
          <a:p>
            <a:r>
              <a:rPr lang="en-US" dirty="0"/>
              <a:t>        if (!(obj </a:t>
            </a:r>
            <a:r>
              <a:rPr lang="en-US" dirty="0" err="1"/>
              <a:t>instanceof</a:t>
            </a:r>
            <a:r>
              <a:rPr lang="en-US" dirty="0"/>
              <a:t> Person)) return false;</a:t>
            </a:r>
          </a:p>
          <a:p>
            <a:endParaRPr lang="en-US" dirty="0"/>
          </a:p>
          <a:p>
            <a:r>
              <a:rPr lang="en-US" dirty="0"/>
              <a:t>        Person other = (Person) obj;</a:t>
            </a:r>
          </a:p>
          <a:p>
            <a:r>
              <a:rPr lang="en-US" dirty="0"/>
              <a:t>        return </a:t>
            </a:r>
            <a:r>
              <a:rPr lang="en-US" dirty="0" err="1"/>
              <a:t>name.equals</a:t>
            </a:r>
            <a:r>
              <a:rPr lang="en-US" dirty="0"/>
              <a:t>(other.name);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49452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D69B8-7E68-E896-FFA0-B0D94282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Equals() &amp;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4B6FB-58F1-3C1F-EF94-435C6EC6B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35064"/>
            <a:ext cx="5356145" cy="4320780"/>
          </a:xfrm>
        </p:spPr>
        <p:txBody>
          <a:bodyPr>
            <a:normAutofit/>
          </a:bodyPr>
          <a:lstStyle/>
          <a:p>
            <a:r>
              <a:rPr lang="en-US" dirty="0"/>
              <a:t>Why does Java need both methods?</a:t>
            </a:r>
          </a:p>
          <a:p>
            <a:r>
              <a:rPr lang="en-US" dirty="0"/>
              <a:t>Consider </a:t>
            </a:r>
            <a:r>
              <a:rPr lang="en-US" dirty="0" err="1"/>
              <a:t>HashMaps</a:t>
            </a:r>
            <a:r>
              <a:rPr lang="en-US" dirty="0"/>
              <a:t>/</a:t>
            </a:r>
            <a:r>
              <a:rPr lang="en-US" dirty="0" err="1"/>
              <a:t>HashSets</a:t>
            </a:r>
            <a:endParaRPr lang="en-US" dirty="0"/>
          </a:p>
          <a:p>
            <a:r>
              <a:rPr lang="en-US" dirty="0"/>
              <a:t>If we implemented equals(), and ‘Alice’ defines equality, then we’d expect a size of 1</a:t>
            </a:r>
          </a:p>
          <a:p>
            <a:r>
              <a:rPr lang="en-US" dirty="0"/>
              <a:t>But if we only implemented equals(), and not also </a:t>
            </a:r>
            <a:r>
              <a:rPr lang="en-US" dirty="0" err="1"/>
              <a:t>hashCode</a:t>
            </a:r>
            <a:r>
              <a:rPr lang="en-US" dirty="0"/>
              <a:t>(), size() may return 2</a:t>
            </a:r>
          </a:p>
          <a:p>
            <a:r>
              <a:rPr lang="en-US" dirty="0"/>
              <a:t>As a result, if we override equals(), it is best practice to also override </a:t>
            </a:r>
            <a:r>
              <a:rPr lang="en-US" dirty="0" err="1"/>
              <a:t>hashCode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D90F2-17CF-9495-8D23-AE88E715F56A}"/>
              </a:ext>
            </a:extLst>
          </p:cNvPr>
          <p:cNvSpPr txBox="1"/>
          <p:nvPr/>
        </p:nvSpPr>
        <p:spPr>
          <a:xfrm>
            <a:off x="6612178" y="2463752"/>
            <a:ext cx="426667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Set&lt;Person&gt; people = new HashSet&lt;&gt;();</a:t>
            </a:r>
          </a:p>
          <a:p>
            <a:endParaRPr lang="en-US" dirty="0"/>
          </a:p>
          <a:p>
            <a:r>
              <a:rPr lang="en-US" dirty="0"/>
              <a:t>Person p1 = new Person();</a:t>
            </a:r>
          </a:p>
          <a:p>
            <a:r>
              <a:rPr lang="en-US" dirty="0"/>
              <a:t>p1.name = "Alice";</a:t>
            </a:r>
          </a:p>
          <a:p>
            <a:endParaRPr lang="en-US" dirty="0"/>
          </a:p>
          <a:p>
            <a:r>
              <a:rPr lang="en-US" dirty="0"/>
              <a:t>Person p2 = new Person();</a:t>
            </a:r>
          </a:p>
          <a:p>
            <a:r>
              <a:rPr lang="en-US" dirty="0"/>
              <a:t>p2.name = "Alice";</a:t>
            </a:r>
          </a:p>
          <a:p>
            <a:endParaRPr lang="en-US" dirty="0"/>
          </a:p>
          <a:p>
            <a:r>
              <a:rPr lang="en-US" dirty="0" err="1"/>
              <a:t>people.add</a:t>
            </a:r>
            <a:r>
              <a:rPr lang="en-US" dirty="0"/>
              <a:t>(p1);</a:t>
            </a:r>
          </a:p>
          <a:p>
            <a:r>
              <a:rPr lang="en-US" dirty="0" err="1"/>
              <a:t>people.add</a:t>
            </a:r>
            <a:r>
              <a:rPr lang="en-US" dirty="0"/>
              <a:t>(p2);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people.size</a:t>
            </a:r>
            <a:r>
              <a:rPr lang="en-US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920188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7990-4772-64E2-E7A0-97D948E97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0EBA2-7E10-8B6E-8F3A-20C0CD2FB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17526" cy="3678303"/>
          </a:xfrm>
        </p:spPr>
        <p:txBody>
          <a:bodyPr/>
          <a:lstStyle/>
          <a:p>
            <a:r>
              <a:rPr lang="en-US" dirty="0"/>
              <a:t>Some methods accept Lambda Expressions as input, such as the </a:t>
            </a:r>
            <a:r>
              <a:rPr lang="en-US" dirty="0" err="1"/>
              <a:t>Iterable</a:t>
            </a:r>
            <a:r>
              <a:rPr lang="en-US" dirty="0"/>
              <a:t> interface .</a:t>
            </a:r>
            <a:r>
              <a:rPr lang="en-US" dirty="0" err="1"/>
              <a:t>forEach</a:t>
            </a:r>
            <a:r>
              <a:rPr lang="en-US" dirty="0"/>
              <a:t>() method</a:t>
            </a:r>
          </a:p>
          <a:p>
            <a:r>
              <a:rPr lang="en-US" dirty="0"/>
              <a:t>For multiple parameters, parenthesis are required</a:t>
            </a:r>
          </a:p>
          <a:p>
            <a:r>
              <a:rPr lang="en-US" dirty="0"/>
              <a:t>Curly braces are required if using multiple statements </a:t>
            </a:r>
          </a:p>
          <a:p>
            <a:r>
              <a:rPr lang="en-US" dirty="0"/>
              <a:t>Return keyword is optional if using a single statement because that is what will be returned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F9FEE-43FD-3860-3572-A6036DC18463}"/>
              </a:ext>
            </a:extLst>
          </p:cNvPr>
          <p:cNvSpPr txBox="1"/>
          <p:nvPr/>
        </p:nvSpPr>
        <p:spPr>
          <a:xfrm>
            <a:off x="6029717" y="2841260"/>
            <a:ext cx="5187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latinLnBrk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List&lt;String&gt; names = new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ArrayList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&lt;&gt;();</a:t>
            </a:r>
          </a:p>
          <a:p>
            <a:pPr marL="0" marR="0" indent="0" algn="l" rtl="0" latinLnBrk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("Alice");</a:t>
            </a:r>
          </a:p>
          <a:p>
            <a:pPr marL="0" marR="0" indent="0" algn="l" rtl="0" latinLnBrk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("Bob");</a:t>
            </a:r>
          </a:p>
          <a:p>
            <a:pPr marL="0" marR="0" indent="0" algn="l" rtl="0" latinLnBrk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names.add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("Charlie");</a:t>
            </a:r>
          </a:p>
          <a:p>
            <a:pPr indent="0" algn="l" rtl="0">
              <a:lnSpc>
                <a:spcPct val="100000"/>
              </a:lnSpc>
              <a:spcAft>
                <a:spcPts val="1500"/>
              </a:spcAft>
              <a:buNone/>
            </a:pP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names.forEach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(str -&gt; </a:t>
            </a:r>
            <a:r>
              <a:rPr lang="en-US" sz="1800" i="0" dirty="0" err="1">
                <a:solidFill>
                  <a:schemeClr val="tx1"/>
                </a:solidFill>
                <a:effectLst/>
                <a:latin typeface="+mn-lt"/>
              </a:rPr>
              <a:t>System.out.println</a:t>
            </a:r>
            <a:r>
              <a:rPr lang="en-US" sz="1800" i="0" dirty="0">
                <a:solidFill>
                  <a:schemeClr val="tx1"/>
                </a:solidFill>
                <a:effectLst/>
                <a:latin typeface="+mn-lt"/>
              </a:rPr>
              <a:t>(str));</a:t>
            </a:r>
            <a:endParaRPr lang="en-US" sz="975" i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439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5137-05B2-72EA-BBE2-40180D52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4C880-F5DC-131B-92F2-64C093ED0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860" y="1956888"/>
            <a:ext cx="11029615" cy="2961549"/>
          </a:xfrm>
        </p:spPr>
        <p:txBody>
          <a:bodyPr>
            <a:normAutofit/>
          </a:bodyPr>
          <a:lstStyle/>
          <a:p>
            <a:r>
              <a:rPr lang="en-US" dirty="0"/>
              <a:t>Functional interfaces are interfaces that have exactly one abstract method.</a:t>
            </a:r>
          </a:p>
          <a:p>
            <a:r>
              <a:rPr lang="en-US" dirty="0"/>
              <a:t>A lambda expression can be used as an implementation of that abstract method. The lambda's parameters and return value must be compatible with the functional interface's method declaration.</a:t>
            </a:r>
          </a:p>
          <a:p>
            <a:r>
              <a:rPr lang="en-US" dirty="0"/>
              <a:t>Functional interfaces allow us to pass not only data into a method, but also behavior. This allows a method to receive instructions about what it should do, rather than having that behavior hardcoded inside the method.</a:t>
            </a:r>
          </a:p>
          <a:p>
            <a:r>
              <a:rPr lang="en-US" dirty="0"/>
              <a:t>We don’t often need to create our own (although we can), instead you will likely run into these common built-in functional interfaces: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B705E5-5392-6551-54C9-3C046B59B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502605"/>
              </p:ext>
            </p:extLst>
          </p:nvPr>
        </p:nvGraphicFramePr>
        <p:xfrm>
          <a:off x="581192" y="4690753"/>
          <a:ext cx="11029948" cy="1987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7487">
                  <a:extLst>
                    <a:ext uri="{9D8B030D-6E8A-4147-A177-3AD203B41FA5}">
                      <a16:colId xmlns:a16="http://schemas.microsoft.com/office/drawing/2014/main" val="3009705556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3666803598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852919607"/>
                    </a:ext>
                  </a:extLst>
                </a:gridCol>
                <a:gridCol w="2757487">
                  <a:extLst>
                    <a:ext uri="{9D8B030D-6E8A-4147-A177-3AD203B41FA5}">
                      <a16:colId xmlns:a16="http://schemas.microsoft.com/office/drawing/2014/main" val="1709041381"/>
                    </a:ext>
                  </a:extLst>
                </a:gridCol>
              </a:tblGrid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1">
                          <a:effectLst/>
                        </a:rPr>
                        <a:t>Interface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1">
                          <a:effectLst/>
                        </a:rPr>
                        <a:t>Input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1">
                          <a:effectLst/>
                        </a:rPr>
                        <a:t>Output</a:t>
                      </a:r>
                      <a:endParaRPr lang="en-US" sz="1000" b="1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Example</a:t>
                      </a:r>
                      <a:endParaRPr lang="en-US" sz="1000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1630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Predicate&lt;T&gt;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boolean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dirty="0">
                          <a:effectLst/>
                        </a:rPr>
                        <a:t>name -&gt; </a:t>
                      </a:r>
                      <a:r>
                        <a:rPr lang="en-US" sz="1000" dirty="0" err="1">
                          <a:effectLst/>
                        </a:rPr>
                        <a:t>name.startsWith</a:t>
                      </a:r>
                      <a:r>
                        <a:rPr lang="en-US" sz="1000" dirty="0">
                          <a:effectLst/>
                        </a:rPr>
                        <a:t>("A")</a:t>
                      </a:r>
                      <a:endParaRPr lang="en-US" sz="10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4037599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Function&lt;T,R&gt;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anything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name -&gt; name.length()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1171055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Consumer&lt;T&gt;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void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name -&gt; System.out.println(name)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1013947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Supplier&lt;T&gt;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1 value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() -&gt; "Hello"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1603401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UnaryOperator&lt;T&gt;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same type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n -&gt; n * 2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4793414"/>
                  </a:ext>
                </a:extLst>
              </a:tr>
              <a:tr h="283986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BinaryOperator&lt;T&gt;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>
                          <a:effectLst/>
                        </a:rPr>
                        <a:t>same type</a:t>
                      </a:r>
                      <a:endParaRPr lang="en-US" sz="1000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000" dirty="0">
                          <a:effectLst/>
                        </a:rPr>
                        <a:t>(</a:t>
                      </a:r>
                      <a:r>
                        <a:rPr lang="en-US" sz="1000" dirty="0" err="1">
                          <a:effectLst/>
                        </a:rPr>
                        <a:t>a,b</a:t>
                      </a:r>
                      <a:r>
                        <a:rPr lang="en-US" sz="1000" dirty="0">
                          <a:effectLst/>
                        </a:rPr>
                        <a:t>) -&gt; a + b</a:t>
                      </a:r>
                      <a:endParaRPr lang="en-US" sz="1000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539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397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6D08039-6C4E-4870-9E3D-6218263D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31D2E-CBC8-4C4A-917F-DCB48EA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CF4F09-0D96-42BE-AE16-84AB4E0B5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F87EE-372A-438E-B086-63D494ECA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B38E65-3AFD-404A-BEFC-3006BCB7A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598562-3047-4BC2-BFF9-F3942047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C6AA9E-A55E-577E-89B1-C8436EB5B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98" y="1754022"/>
            <a:ext cx="3081576" cy="20858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Functional Interface </a:t>
            </a:r>
            <a:br>
              <a:rPr lang="en-US" sz="3600" dirty="0">
                <a:solidFill>
                  <a:srgbClr val="FFFFFF"/>
                </a:solidFill>
              </a:rPr>
            </a:br>
            <a:br>
              <a:rPr lang="en-US" sz="3600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Predicate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9E0D66-E86B-461B-B58E-7FB356BB0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2C7D57-D78E-413F-958A-00ABC8504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596FEE5-A0CD-4B5D-B4C1-785801908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8A81341-6C47-4992-BD01-6BCF3A34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22E98E0-C725-A500-0278-5B8DB90F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050" y="723899"/>
            <a:ext cx="5482581" cy="5955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A2451F-19E5-54E8-C7C3-6B6E818A5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858" y="4780301"/>
            <a:ext cx="2495898" cy="103837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C265AD-2B67-D1C4-F273-4B0F2C8BAD95}"/>
              </a:ext>
            </a:extLst>
          </p:cNvPr>
          <p:cNvSpPr txBox="1"/>
          <p:nvPr/>
        </p:nvSpPr>
        <p:spPr>
          <a:xfrm>
            <a:off x="8314206" y="4306827"/>
            <a:ext cx="3431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Built-in – essentially looks like this:</a:t>
            </a:r>
          </a:p>
        </p:txBody>
      </p:sp>
    </p:spTree>
    <p:extLst>
      <p:ext uri="{BB962C8B-B14F-4D97-AF65-F5344CB8AC3E}">
        <p14:creationId xmlns:p14="http://schemas.microsoft.com/office/powerpoint/2010/main" val="2665326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7A737-9E71-EC24-3E3B-AE26C8A7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Interfaces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8B69E1-6B81-3946-1120-D1381585DC5A}"/>
              </a:ext>
            </a:extLst>
          </p:cNvPr>
          <p:cNvSpPr txBox="1"/>
          <p:nvPr/>
        </p:nvSpPr>
        <p:spPr>
          <a:xfrm>
            <a:off x="720355" y="2690336"/>
            <a:ext cx="609797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Function&lt;String, Integer&gt; </a:t>
            </a:r>
            <a:r>
              <a:rPr lang="en-US" dirty="0" err="1"/>
              <a:t>getLength</a:t>
            </a:r>
            <a:r>
              <a:rPr lang="en-US" dirty="0"/>
              <a:t> = text -&gt; </a:t>
            </a:r>
            <a:r>
              <a:rPr lang="en-US" dirty="0" err="1"/>
              <a:t>text.length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int length = </a:t>
            </a:r>
            <a:r>
              <a:rPr lang="en-US" dirty="0" err="1"/>
              <a:t>getLength.apply</a:t>
            </a:r>
            <a:r>
              <a:rPr lang="en-US" dirty="0"/>
              <a:t>("Hello");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(length); //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3B7032-A484-946F-D1E0-17C9FB069793}"/>
              </a:ext>
            </a:extLst>
          </p:cNvPr>
          <p:cNvSpPr txBox="1"/>
          <p:nvPr/>
        </p:nvSpPr>
        <p:spPr>
          <a:xfrm>
            <a:off x="720355" y="4922764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Consumer&lt;String&gt; print = text -&gt; </a:t>
            </a:r>
            <a:r>
              <a:rPr lang="en-US" dirty="0" err="1"/>
              <a:t>System.out.println</a:t>
            </a:r>
            <a:r>
              <a:rPr lang="en-US" dirty="0"/>
              <a:t>(text);</a:t>
            </a:r>
          </a:p>
          <a:p>
            <a:endParaRPr lang="en-US" dirty="0"/>
          </a:p>
          <a:p>
            <a:r>
              <a:rPr lang="en-US" dirty="0" err="1"/>
              <a:t>print.accept</a:t>
            </a:r>
            <a:r>
              <a:rPr lang="en-US" dirty="0"/>
              <a:t>("Hello");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753F8-32F6-958C-5682-D268D58E7D86}"/>
              </a:ext>
            </a:extLst>
          </p:cNvPr>
          <p:cNvSpPr txBox="1"/>
          <p:nvPr/>
        </p:nvSpPr>
        <p:spPr>
          <a:xfrm>
            <a:off x="6951035" y="3160292"/>
            <a:ext cx="41812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Supplier&lt;String&gt; greeting = () -&gt; "Hello!";</a:t>
            </a:r>
          </a:p>
          <a:p>
            <a:endParaRPr lang="en-US" dirty="0"/>
          </a:p>
          <a:p>
            <a:r>
              <a:rPr lang="en-US" dirty="0"/>
              <a:t>String message = </a:t>
            </a:r>
            <a:r>
              <a:rPr lang="en-US" dirty="0" err="1"/>
              <a:t>greeting.get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(message);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6732E4-B9C6-BDFC-CAC7-C862F3336EDF}"/>
              </a:ext>
            </a:extLst>
          </p:cNvPr>
          <p:cNvSpPr/>
          <p:nvPr/>
        </p:nvSpPr>
        <p:spPr>
          <a:xfrm>
            <a:off x="720355" y="4922764"/>
            <a:ext cx="5733608" cy="92333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D82B92-A141-B22C-9276-492BFFE90201}"/>
              </a:ext>
            </a:extLst>
          </p:cNvPr>
          <p:cNvSpPr/>
          <p:nvPr/>
        </p:nvSpPr>
        <p:spPr>
          <a:xfrm>
            <a:off x="720355" y="2628272"/>
            <a:ext cx="5733608" cy="16460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5C62C4-28F1-D160-0A42-5E7F78B36074}"/>
              </a:ext>
            </a:extLst>
          </p:cNvPr>
          <p:cNvSpPr/>
          <p:nvPr/>
        </p:nvSpPr>
        <p:spPr>
          <a:xfrm>
            <a:off x="6951035" y="3160292"/>
            <a:ext cx="4181253" cy="147732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EB9EB4-2269-7CE3-748C-97501827618D}"/>
              </a:ext>
            </a:extLst>
          </p:cNvPr>
          <p:cNvSpPr txBox="1"/>
          <p:nvPr/>
        </p:nvSpPr>
        <p:spPr>
          <a:xfrm>
            <a:off x="967563" y="2232837"/>
            <a:ext cx="1607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Function&lt;T, R&gt;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91698-F0C0-84A7-D968-99619C3CA860}"/>
              </a:ext>
            </a:extLst>
          </p:cNvPr>
          <p:cNvSpPr txBox="1"/>
          <p:nvPr/>
        </p:nvSpPr>
        <p:spPr>
          <a:xfrm>
            <a:off x="967562" y="455343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Consumer&lt;T&gt;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E657F1-F22D-63A8-D735-A631F29D30EC}"/>
              </a:ext>
            </a:extLst>
          </p:cNvPr>
          <p:cNvSpPr txBox="1"/>
          <p:nvPr/>
        </p:nvSpPr>
        <p:spPr>
          <a:xfrm>
            <a:off x="6951035" y="2738096"/>
            <a:ext cx="1350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Supplier&lt;T&gt;</a:t>
            </a:r>
          </a:p>
        </p:txBody>
      </p:sp>
    </p:spTree>
    <p:extLst>
      <p:ext uri="{BB962C8B-B14F-4D97-AF65-F5344CB8AC3E}">
        <p14:creationId xmlns:p14="http://schemas.microsoft.com/office/powerpoint/2010/main" val="254353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42437-ADD0-31B0-A258-34951065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5723-8367-C4F3-B900-4CC3B731B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0028"/>
            <a:ext cx="11029615" cy="159414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Java Stream is a way to process a sequence of data declaratively</a:t>
            </a:r>
          </a:p>
          <a:p>
            <a:r>
              <a:rPr lang="en-US" dirty="0"/>
              <a:t>Stream Pipeline: Source </a:t>
            </a:r>
            <a:r>
              <a:rPr lang="en-US" dirty="0">
                <a:sym typeface="Wingdings" panose="05000000000000000000" pitchFamily="2" charset="2"/>
              </a:rPr>
              <a:t> Intermediate Operations  Terminal Operations</a:t>
            </a:r>
            <a:r>
              <a:rPr lang="en-US" dirty="0"/>
              <a:t> </a:t>
            </a:r>
          </a:p>
          <a:p>
            <a:r>
              <a:rPr lang="en-US" dirty="0" err="1"/>
              <a:t>names.stream</a:t>
            </a:r>
            <a:r>
              <a:rPr lang="en-US" dirty="0"/>
              <a:t>() </a:t>
            </a:r>
            <a:r>
              <a:rPr lang="en-US" dirty="0">
                <a:sym typeface="Wingdings" panose="05000000000000000000" pitchFamily="2" charset="2"/>
              </a:rPr>
              <a:t> source</a:t>
            </a:r>
          </a:p>
          <a:p>
            <a:r>
              <a:rPr lang="en-US" dirty="0"/>
              <a:t>Filter(), map(), sorted(), distinct(), limit(), skip(), etc. </a:t>
            </a:r>
            <a:r>
              <a:rPr lang="en-US" dirty="0">
                <a:sym typeface="Wingdings" panose="05000000000000000000" pitchFamily="2" charset="2"/>
              </a:rPr>
              <a:t> intermediate operations</a:t>
            </a:r>
          </a:p>
          <a:p>
            <a:r>
              <a:rPr lang="en-US" dirty="0" err="1"/>
              <a:t>forEach</a:t>
            </a:r>
            <a:r>
              <a:rPr lang="en-US" dirty="0"/>
              <a:t>(), </a:t>
            </a:r>
            <a:r>
              <a:rPr lang="en-US" dirty="0" err="1"/>
              <a:t>toList</a:t>
            </a:r>
            <a:r>
              <a:rPr lang="en-US" dirty="0"/>
              <a:t>(), collect(), reduce() </a:t>
            </a:r>
            <a:r>
              <a:rPr lang="en-US" dirty="0">
                <a:sym typeface="Wingdings" panose="05000000000000000000" pitchFamily="2" charset="2"/>
              </a:rPr>
              <a:t> terminal operations; </a:t>
            </a:r>
            <a:r>
              <a:rPr lang="en-US" dirty="0" err="1">
                <a:sym typeface="Wingdings" panose="05000000000000000000" pitchFamily="2" charset="2"/>
              </a:rPr>
              <a:t>toList</a:t>
            </a:r>
            <a:r>
              <a:rPr lang="en-US" dirty="0">
                <a:sym typeface="Wingdings" panose="05000000000000000000" pitchFamily="2" charset="2"/>
              </a:rPr>
              <a:t>() more modern than collect()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4B7AE-07BF-3A91-B053-F9970D17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" y="4036162"/>
            <a:ext cx="10151059" cy="205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228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BD6C3-2766-D619-B43E-0E5B8850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API – another example with </a:t>
            </a:r>
            <a:r>
              <a:rPr lang="en-US" dirty="0" err="1"/>
              <a:t>toList</a:t>
            </a:r>
            <a:r>
              <a:rPr lang="en-US" dirty="0"/>
              <a:t>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174CEB-2008-1349-FDF4-5A781952DC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0284" y="2853009"/>
            <a:ext cx="7211431" cy="1486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E97AB1-31A2-52DB-9797-44865A4AF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208" y="4996333"/>
            <a:ext cx="1295581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05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47C0A-14E6-8DA1-176F-5646F37D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37CB2-D4D4-6A4D-F1D2-8BD66E87E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Big O notation is a tool to describe the efficiency and scalability of an algorithm </a:t>
            </a:r>
          </a:p>
          <a:p>
            <a:r>
              <a:rPr lang="en-US" dirty="0"/>
              <a:t>It measures how the execution time (Time Complexity) or memory usage (Space Complexity) of your code grows as the input size (usually denoted as ‘n’) increases </a:t>
            </a:r>
          </a:p>
          <a:p>
            <a:r>
              <a:rPr lang="en-US" dirty="0"/>
              <a:t>Big O doesn’t measure exact time to completion – it focuses on a worse-case scenario and how many operations are required to complete an algorithm </a:t>
            </a:r>
          </a:p>
        </p:txBody>
      </p:sp>
    </p:spTree>
    <p:extLst>
      <p:ext uri="{BB962C8B-B14F-4D97-AF65-F5344CB8AC3E}">
        <p14:creationId xmlns:p14="http://schemas.microsoft.com/office/powerpoint/2010/main" val="646298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2683-834F-A979-2793-2D544D9CF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O(1) – constant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F9D09-34CC-158D-3546-765C23BC8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The runtime does not change, no matter how large the output grows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6A021-5F9A-75C5-992B-1684FC7CF5E7}"/>
              </a:ext>
            </a:extLst>
          </p:cNvPr>
          <p:cNvSpPr txBox="1"/>
          <p:nvPr/>
        </p:nvSpPr>
        <p:spPr>
          <a:xfrm>
            <a:off x="4166251" y="3698441"/>
            <a:ext cx="38594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u="none" strike="noStrike" dirty="0">
                <a:effectLst/>
                <a:latin typeface="+mn-lt"/>
              </a:rPr>
              <a:t>public int </a:t>
            </a:r>
            <a:r>
              <a:rPr lang="en-US" sz="1800" b="0" u="none" strike="noStrike" dirty="0" err="1">
                <a:effectLst/>
                <a:latin typeface="+mn-lt"/>
              </a:rPr>
              <a:t>getFirstElement</a:t>
            </a:r>
            <a:r>
              <a:rPr lang="en-US" sz="1800" b="0" u="none" strike="noStrike" dirty="0">
                <a:effectLst/>
                <a:latin typeface="+mn-lt"/>
              </a:rPr>
              <a:t>(int[] array) { </a:t>
            </a:r>
          </a:p>
          <a:p>
            <a:r>
              <a:rPr lang="en-US" sz="1800" b="0" u="none" strike="noStrike" dirty="0">
                <a:effectLst/>
                <a:latin typeface="+mn-lt"/>
              </a:rPr>
              <a:t>	return array[0]; </a:t>
            </a:r>
          </a:p>
          <a:p>
            <a:r>
              <a:rPr lang="en-US" sz="1800" b="0" u="none" strike="noStrike" dirty="0">
                <a:effectLst/>
                <a:latin typeface="+mn-lt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545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3939-AC54-19B8-18AB-28C94D89F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</a:t>
            </a:r>
            <a:r>
              <a:rPr lang="en-US" dirty="0" err="1"/>
              <a:t>logn</a:t>
            </a:r>
            <a:r>
              <a:rPr lang="en-US" dirty="0"/>
              <a:t>) – logarithmic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A09AC-3791-528D-5872-EE2F43EC7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6626"/>
            <a:ext cx="11029615" cy="7014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problem is cut in half with each step</a:t>
            </a:r>
          </a:p>
          <a:p>
            <a:r>
              <a:rPr lang="en-US" dirty="0"/>
              <a:t>Such as with a binary search on a sorted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ACAC8-72CC-9B24-B0EF-6B7D7843682C}"/>
              </a:ext>
            </a:extLst>
          </p:cNvPr>
          <p:cNvSpPr txBox="1"/>
          <p:nvPr/>
        </p:nvSpPr>
        <p:spPr>
          <a:xfrm>
            <a:off x="3361672" y="2886474"/>
            <a:ext cx="60970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public int </a:t>
            </a:r>
            <a:r>
              <a:rPr lang="en-US" dirty="0" err="1"/>
              <a:t>binarySearch</a:t>
            </a:r>
            <a:r>
              <a:rPr lang="en-US" dirty="0"/>
              <a:t>(int[] </a:t>
            </a:r>
            <a:r>
              <a:rPr lang="en-US" dirty="0" err="1"/>
              <a:t>sortedArray</a:t>
            </a:r>
            <a:r>
              <a:rPr lang="en-US" dirty="0"/>
              <a:t>, int target) {</a:t>
            </a:r>
          </a:p>
          <a:p>
            <a:r>
              <a:rPr lang="en-US" dirty="0"/>
              <a:t>    int left = 0;</a:t>
            </a:r>
          </a:p>
          <a:p>
            <a:r>
              <a:rPr lang="en-US" dirty="0"/>
              <a:t>    int right = </a:t>
            </a:r>
            <a:r>
              <a:rPr lang="en-US" dirty="0" err="1"/>
              <a:t>sortedArray.length</a:t>
            </a:r>
            <a:r>
              <a:rPr lang="en-US" dirty="0"/>
              <a:t> - 1;</a:t>
            </a:r>
          </a:p>
          <a:p>
            <a:r>
              <a:rPr lang="en-US" dirty="0"/>
              <a:t>    while (left &lt;= right) {</a:t>
            </a:r>
          </a:p>
          <a:p>
            <a:r>
              <a:rPr lang="en-US" dirty="0"/>
              <a:t>        int mid = left + (right - left) / 2;</a:t>
            </a:r>
          </a:p>
          <a:p>
            <a:r>
              <a:rPr lang="en-US" dirty="0"/>
              <a:t>        if (</a:t>
            </a:r>
            <a:r>
              <a:rPr lang="en-US" dirty="0" err="1"/>
              <a:t>sortedArray</a:t>
            </a:r>
            <a:r>
              <a:rPr lang="en-US" dirty="0"/>
              <a:t>[mid] == target) return mid;</a:t>
            </a:r>
          </a:p>
          <a:p>
            <a:r>
              <a:rPr lang="en-US" dirty="0"/>
              <a:t>        if (</a:t>
            </a:r>
            <a:r>
              <a:rPr lang="en-US" dirty="0" err="1"/>
              <a:t>sortedArray</a:t>
            </a:r>
            <a:r>
              <a:rPr lang="en-US" dirty="0"/>
              <a:t>[mid] &lt; target) left = mid + 1;</a:t>
            </a:r>
          </a:p>
          <a:p>
            <a:r>
              <a:rPr lang="en-US" dirty="0"/>
              <a:t>        else right = mid - 1;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-1; // Halves the search space each iteration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78572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2E8DF-2916-8082-2E23-B0F3F46D6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O(n) – linear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3875-7E35-A465-CA38-1C6424618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763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execution time grows proportionally with the input size</a:t>
            </a:r>
          </a:p>
          <a:p>
            <a:r>
              <a:rPr lang="en-US" dirty="0"/>
              <a:t>If your data doubles, the time doubles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C35C2-DC24-AFBF-8918-BAE23404F501}"/>
              </a:ext>
            </a:extLst>
          </p:cNvPr>
          <p:cNvSpPr txBox="1"/>
          <p:nvPr/>
        </p:nvSpPr>
        <p:spPr>
          <a:xfrm>
            <a:off x="3047478" y="3278246"/>
            <a:ext cx="60970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u="none" strike="noStrike" dirty="0">
                <a:effectLst/>
                <a:latin typeface="+mn-lt"/>
              </a:rPr>
              <a:t>// A simple loop visiting every item in an array is O(n) </a:t>
            </a:r>
          </a:p>
          <a:p>
            <a:r>
              <a:rPr lang="en-US" sz="1800" b="0" u="none" strike="noStrike" dirty="0">
                <a:effectLst/>
                <a:latin typeface="+mn-lt"/>
              </a:rPr>
              <a:t>public void </a:t>
            </a:r>
            <a:r>
              <a:rPr lang="en-US" sz="1800" b="0" u="none" strike="noStrike" dirty="0" err="1">
                <a:effectLst/>
                <a:latin typeface="+mn-lt"/>
              </a:rPr>
              <a:t>printAllItems</a:t>
            </a:r>
            <a:r>
              <a:rPr lang="en-US" sz="1800" b="0" u="none" strike="noStrike" dirty="0">
                <a:effectLst/>
                <a:latin typeface="+mn-lt"/>
              </a:rPr>
              <a:t>(int[] array) { </a:t>
            </a:r>
          </a:p>
          <a:p>
            <a:r>
              <a:rPr lang="en-US" dirty="0"/>
              <a:t>	</a:t>
            </a:r>
            <a:r>
              <a:rPr lang="en-US" sz="1800" b="0" u="none" strike="noStrike" dirty="0">
                <a:effectLst/>
                <a:latin typeface="+mn-lt"/>
              </a:rPr>
              <a:t>for (int item : array) { </a:t>
            </a:r>
          </a:p>
          <a:p>
            <a:r>
              <a:rPr lang="en-US" dirty="0"/>
              <a:t>		</a:t>
            </a:r>
            <a:r>
              <a:rPr lang="en-US" sz="1800" b="0" u="none" strike="noStrike" dirty="0" err="1">
                <a:effectLst/>
                <a:latin typeface="+mn-lt"/>
              </a:rPr>
              <a:t>System.out.println</a:t>
            </a:r>
            <a:r>
              <a:rPr lang="en-US" sz="1800" b="0" u="none" strike="noStrike" dirty="0">
                <a:effectLst/>
                <a:latin typeface="+mn-lt"/>
              </a:rPr>
              <a:t>(item); </a:t>
            </a:r>
          </a:p>
          <a:p>
            <a:r>
              <a:rPr lang="en-US" sz="1800" b="0" u="none" strike="noStrike" dirty="0">
                <a:effectLst/>
                <a:latin typeface="+mn-lt"/>
              </a:rPr>
              <a:t>	} </a:t>
            </a:r>
          </a:p>
          <a:p>
            <a:r>
              <a:rPr lang="en-US" sz="1800" b="0" u="none" strike="noStrike" dirty="0">
                <a:effectLst/>
                <a:latin typeface="+mn-lt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060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A55D-7FF3-84C4-9981-46AB1337D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O(n^2) – quadratic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EC281-E294-E2F7-0DC0-EEA7C695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182742"/>
          </a:xfrm>
        </p:spPr>
        <p:txBody>
          <a:bodyPr/>
          <a:lstStyle/>
          <a:p>
            <a:r>
              <a:rPr lang="en-US" dirty="0"/>
              <a:t>Performance is dependent on the square of the input size</a:t>
            </a:r>
          </a:p>
          <a:p>
            <a:r>
              <a:rPr lang="en-US" dirty="0"/>
              <a:t>Examples include nested loops</a:t>
            </a:r>
          </a:p>
          <a:p>
            <a:r>
              <a:rPr lang="en-US" dirty="0"/>
              <a:t>If data doubles, execution time quadruples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61B38-3F3C-FA2C-E0A4-8F4A4D863F5C}"/>
              </a:ext>
            </a:extLst>
          </p:cNvPr>
          <p:cNvSpPr txBox="1"/>
          <p:nvPr/>
        </p:nvSpPr>
        <p:spPr>
          <a:xfrm>
            <a:off x="2985892" y="3938102"/>
            <a:ext cx="60516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// Nested loops results in O(n^2)</a:t>
            </a:r>
          </a:p>
          <a:p>
            <a:r>
              <a:rPr lang="en-US" dirty="0"/>
              <a:t>public void </a:t>
            </a:r>
            <a:r>
              <a:rPr lang="en-US" dirty="0" err="1"/>
              <a:t>printAllPairs</a:t>
            </a:r>
            <a:r>
              <a:rPr lang="en-US" dirty="0"/>
              <a:t>(int[] array) {    </a:t>
            </a:r>
          </a:p>
          <a:p>
            <a:r>
              <a:rPr lang="en-US" dirty="0"/>
              <a:t>	for (int </a:t>
            </a:r>
            <a:r>
              <a:rPr lang="en-US" dirty="0" err="1"/>
              <a:t>i</a:t>
            </a:r>
            <a:r>
              <a:rPr lang="en-US" dirty="0"/>
              <a:t> : array) {        </a:t>
            </a:r>
          </a:p>
          <a:p>
            <a:r>
              <a:rPr lang="en-US" dirty="0"/>
              <a:t>		for (int j : array) {            </a:t>
            </a:r>
          </a:p>
          <a:p>
            <a:r>
              <a:rPr lang="en-US" dirty="0"/>
              <a:t>			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 + ", " + j);        </a:t>
            </a:r>
          </a:p>
          <a:p>
            <a:r>
              <a:rPr lang="en-US" dirty="0"/>
              <a:t>		}    </a:t>
            </a:r>
          </a:p>
          <a:p>
            <a:r>
              <a:rPr lang="en-US" dirty="0"/>
              <a:t>	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965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964AA-34D7-B655-0503-2B5F515A5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8EB5-AC94-6C41-9866-E1C8F9F54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80306"/>
            <a:ext cx="11029615" cy="537652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refactoring.guru</a:t>
            </a:r>
            <a:r>
              <a:rPr lang="en-US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18F67D-FB63-0C7B-B185-619D57262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824" y="2317958"/>
            <a:ext cx="8390351" cy="430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363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1156B-670B-77FB-E852-81F6501F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Singleton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A69E4-07E2-F96E-1739-7FDB38E0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5"/>
            <a:ext cx="3683570" cy="3664349"/>
          </a:xfrm>
        </p:spPr>
        <p:txBody>
          <a:bodyPr>
            <a:normAutofit/>
          </a:bodyPr>
          <a:lstStyle/>
          <a:p>
            <a:r>
              <a:rPr lang="en-US" dirty="0"/>
              <a:t>A Singleton allows the creation of an object in memory that is shared across the application</a:t>
            </a:r>
          </a:p>
          <a:p>
            <a:r>
              <a:rPr lang="en-US" dirty="0"/>
              <a:t>We don’t often create these ourselves, but instead consume pre-built singletons as part of frameworks</a:t>
            </a:r>
          </a:p>
          <a:p>
            <a:r>
              <a:rPr lang="en-US" dirty="0"/>
              <a:t>For example, in Spring, as part of dependency injection, a singleton will automatically be provided when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59924-9FF1-E1A6-E62E-98ACF62F4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495" y="1945844"/>
            <a:ext cx="4833241" cy="475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3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08039-6C4E-4870-9E3D-6218263D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31D2E-CBC8-4C4A-917F-DCB48EA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F4F09-0D96-42BE-AE16-84AB4E0B5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F87EE-372A-438E-B086-63D494ECA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B38E65-3AFD-404A-BEFC-3006BCB7A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98562-3047-4BC2-BFF9-F3942047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09A857-D6FB-4FD3-61CC-62BB775E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0543" y="774268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FACTORY Design Pattern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9E0D66-E86B-461B-B58E-7FB356BB0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2C7D57-D78E-413F-958A-00ABC8504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96FEE5-A0CD-4B5D-B4C1-785801908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81341-6C47-4992-BD01-6BCF3A34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5F450E6-7365-1A18-B7E5-99F725323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999" y="723899"/>
            <a:ext cx="5594684" cy="58562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15A9D0-71A2-6409-FE86-9871E4A4BCD0}"/>
              </a:ext>
            </a:extLst>
          </p:cNvPr>
          <p:cNvSpPr txBox="1"/>
          <p:nvPr/>
        </p:nvSpPr>
        <p:spPr>
          <a:xfrm>
            <a:off x="8160543" y="3031839"/>
            <a:ext cx="3466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is also rare for standard CLEAN code Java API applications. We wouldn’t often need this, but one good example is payment processors.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I.e. Stripe vs PayPal vs Debit transactions may need a different concretion based on what the user selects at runtime</a:t>
            </a:r>
          </a:p>
        </p:txBody>
      </p:sp>
    </p:spTree>
    <p:extLst>
      <p:ext uri="{BB962C8B-B14F-4D97-AF65-F5344CB8AC3E}">
        <p14:creationId xmlns:p14="http://schemas.microsoft.com/office/powerpoint/2010/main" val="1045868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50F2-8DF2-22C8-E112-18FF051A0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 Pattern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25053-4C80-3E22-C94F-561F6F21B815}"/>
              </a:ext>
            </a:extLst>
          </p:cNvPr>
          <p:cNvSpPr txBox="1"/>
          <p:nvPr/>
        </p:nvSpPr>
        <p:spPr>
          <a:xfrm>
            <a:off x="2674307" y="1793716"/>
            <a:ext cx="21623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public interface Observer {</a:t>
            </a:r>
          </a:p>
          <a:p>
            <a:r>
              <a:rPr lang="en-US" sz="1000" dirty="0"/>
              <a:t>    void update(String message);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0CD12-5FA5-8214-07F2-F6699F15D6FC}"/>
              </a:ext>
            </a:extLst>
          </p:cNvPr>
          <p:cNvSpPr txBox="1"/>
          <p:nvPr/>
        </p:nvSpPr>
        <p:spPr>
          <a:xfrm>
            <a:off x="2674307" y="2309684"/>
            <a:ext cx="397857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import </a:t>
            </a:r>
            <a:r>
              <a:rPr lang="en-US" sz="1000" dirty="0" err="1"/>
              <a:t>java.util.ArrayList</a:t>
            </a:r>
            <a:r>
              <a:rPr lang="en-US" sz="1000" dirty="0"/>
              <a:t>;</a:t>
            </a:r>
          </a:p>
          <a:p>
            <a:r>
              <a:rPr lang="en-US" sz="1000" dirty="0"/>
              <a:t>import </a:t>
            </a:r>
            <a:r>
              <a:rPr lang="en-US" sz="1000" dirty="0" err="1"/>
              <a:t>java.util.List</a:t>
            </a:r>
            <a:r>
              <a:rPr lang="en-US" sz="1000" dirty="0"/>
              <a:t>;</a:t>
            </a:r>
          </a:p>
          <a:p>
            <a:endParaRPr lang="en-US" sz="1000" dirty="0"/>
          </a:p>
          <a:p>
            <a:r>
              <a:rPr lang="en-US" sz="1000" dirty="0"/>
              <a:t>public class Order {</a:t>
            </a:r>
          </a:p>
          <a:p>
            <a:endParaRPr lang="en-US" sz="1000" dirty="0"/>
          </a:p>
          <a:p>
            <a:r>
              <a:rPr lang="en-US" sz="1000" dirty="0"/>
              <a:t>    private final List&lt;Observer&gt; observers = new </a:t>
            </a:r>
            <a:r>
              <a:rPr lang="en-US" sz="1000" dirty="0" err="1"/>
              <a:t>ArrayList</a:t>
            </a:r>
            <a:r>
              <a:rPr lang="en-US" sz="1000" dirty="0"/>
              <a:t>&lt;&gt;();</a:t>
            </a:r>
          </a:p>
          <a:p>
            <a:endParaRPr lang="en-US" sz="1000" dirty="0"/>
          </a:p>
          <a:p>
            <a:r>
              <a:rPr lang="en-US" sz="1000" dirty="0"/>
              <a:t>    public void </a:t>
            </a:r>
            <a:r>
              <a:rPr lang="en-US" sz="1000" dirty="0" err="1"/>
              <a:t>addObserver</a:t>
            </a:r>
            <a:r>
              <a:rPr lang="en-US" sz="1000" dirty="0"/>
              <a:t>(Observer observer) {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observers.add</a:t>
            </a:r>
            <a:r>
              <a:rPr lang="en-US" sz="1000" dirty="0"/>
              <a:t>(observer);</a:t>
            </a:r>
          </a:p>
          <a:p>
            <a:r>
              <a:rPr lang="en-US" sz="1000" dirty="0"/>
              <a:t>    }</a:t>
            </a:r>
          </a:p>
          <a:p>
            <a:endParaRPr lang="en-US" sz="1000" dirty="0"/>
          </a:p>
          <a:p>
            <a:r>
              <a:rPr lang="en-US" sz="1000" dirty="0"/>
              <a:t>    public void </a:t>
            </a:r>
            <a:r>
              <a:rPr lang="en-US" sz="1000" dirty="0" err="1"/>
              <a:t>removeObserver</a:t>
            </a:r>
            <a:r>
              <a:rPr lang="en-US" sz="1000" dirty="0"/>
              <a:t>(Observer observer) {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observers.remove</a:t>
            </a:r>
            <a:r>
              <a:rPr lang="en-US" sz="1000" dirty="0"/>
              <a:t>(observer);</a:t>
            </a:r>
          </a:p>
          <a:p>
            <a:r>
              <a:rPr lang="en-US" sz="1000" dirty="0"/>
              <a:t>    }</a:t>
            </a:r>
          </a:p>
          <a:p>
            <a:endParaRPr lang="en-US" sz="1000" dirty="0"/>
          </a:p>
          <a:p>
            <a:r>
              <a:rPr lang="en-US" sz="1000" dirty="0"/>
              <a:t>    public void ship() {</a:t>
            </a:r>
          </a:p>
          <a:p>
            <a:r>
              <a:rPr lang="en-US" sz="1000" dirty="0"/>
              <a:t>        // change state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System.out.println</a:t>
            </a:r>
            <a:r>
              <a:rPr lang="en-US" sz="1000" dirty="0"/>
              <a:t>("Order shipped");</a:t>
            </a:r>
          </a:p>
          <a:p>
            <a:endParaRPr lang="en-US" sz="1000" dirty="0"/>
          </a:p>
          <a:p>
            <a:r>
              <a:rPr lang="en-US" sz="1000" dirty="0"/>
              <a:t>        </a:t>
            </a:r>
            <a:r>
              <a:rPr lang="en-US" sz="1000" dirty="0" err="1"/>
              <a:t>notifyObservers</a:t>
            </a:r>
            <a:r>
              <a:rPr lang="en-US" sz="1000" dirty="0"/>
              <a:t>("Order has shipped");</a:t>
            </a:r>
          </a:p>
          <a:p>
            <a:r>
              <a:rPr lang="en-US" sz="1000" dirty="0"/>
              <a:t>    }</a:t>
            </a:r>
          </a:p>
          <a:p>
            <a:endParaRPr lang="en-US" sz="1000" dirty="0"/>
          </a:p>
          <a:p>
            <a:r>
              <a:rPr lang="en-US" sz="1000" dirty="0"/>
              <a:t>    private void </a:t>
            </a:r>
            <a:r>
              <a:rPr lang="en-US" sz="1000" dirty="0" err="1"/>
              <a:t>notifyObservers</a:t>
            </a:r>
            <a:r>
              <a:rPr lang="en-US" sz="1000" dirty="0"/>
              <a:t>(String message) {</a:t>
            </a:r>
          </a:p>
          <a:p>
            <a:r>
              <a:rPr lang="en-US" sz="1000" dirty="0"/>
              <a:t>        for (Observer </a:t>
            </a:r>
            <a:r>
              <a:rPr lang="en-US" sz="1000" dirty="0" err="1"/>
              <a:t>observer</a:t>
            </a:r>
            <a:r>
              <a:rPr lang="en-US" sz="1000" dirty="0"/>
              <a:t> : observers) {</a:t>
            </a:r>
          </a:p>
          <a:p>
            <a:r>
              <a:rPr lang="en-US" sz="1000" dirty="0"/>
              <a:t>            </a:t>
            </a:r>
            <a:r>
              <a:rPr lang="en-US" sz="1000" dirty="0" err="1"/>
              <a:t>observer.update</a:t>
            </a:r>
            <a:r>
              <a:rPr lang="en-US" sz="1000" dirty="0"/>
              <a:t>(message);</a:t>
            </a:r>
          </a:p>
          <a:p>
            <a:r>
              <a:rPr lang="en-US" sz="1000" dirty="0"/>
              <a:t>        }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70BA1-08ED-E02B-A831-3E2DE8F2E121}"/>
              </a:ext>
            </a:extLst>
          </p:cNvPr>
          <p:cNvSpPr txBox="1"/>
          <p:nvPr/>
        </p:nvSpPr>
        <p:spPr>
          <a:xfrm>
            <a:off x="6919064" y="1934899"/>
            <a:ext cx="355269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public class </a:t>
            </a:r>
            <a:r>
              <a:rPr lang="en-US" sz="1000" dirty="0" err="1"/>
              <a:t>EmailNotifier</a:t>
            </a:r>
            <a:r>
              <a:rPr lang="en-US" sz="1000" dirty="0"/>
              <a:t> implements Observer {</a:t>
            </a:r>
          </a:p>
          <a:p>
            <a:endParaRPr lang="en-US" sz="1000" dirty="0"/>
          </a:p>
          <a:p>
            <a:r>
              <a:rPr lang="en-US" sz="1000" dirty="0"/>
              <a:t>    @Override</a:t>
            </a:r>
          </a:p>
          <a:p>
            <a:r>
              <a:rPr lang="en-US" sz="1000" dirty="0"/>
              <a:t>    public void update(String message) {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System.out.println</a:t>
            </a:r>
            <a:r>
              <a:rPr lang="en-US" sz="1000" dirty="0"/>
              <a:t>("Sending email: " + message);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551FC5-7477-8752-2A3A-1FD1387889B5}"/>
              </a:ext>
            </a:extLst>
          </p:cNvPr>
          <p:cNvSpPr txBox="1"/>
          <p:nvPr/>
        </p:nvSpPr>
        <p:spPr>
          <a:xfrm>
            <a:off x="6919064" y="3429000"/>
            <a:ext cx="342743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public class </a:t>
            </a:r>
            <a:r>
              <a:rPr lang="en-US" sz="1000" dirty="0" err="1"/>
              <a:t>AuditLogger</a:t>
            </a:r>
            <a:r>
              <a:rPr lang="en-US" sz="1000" dirty="0"/>
              <a:t> implements Observer {</a:t>
            </a:r>
          </a:p>
          <a:p>
            <a:endParaRPr lang="en-US" sz="1000" dirty="0"/>
          </a:p>
          <a:p>
            <a:r>
              <a:rPr lang="en-US" sz="1000" dirty="0"/>
              <a:t>    @Override</a:t>
            </a:r>
          </a:p>
          <a:p>
            <a:r>
              <a:rPr lang="en-US" sz="1000" dirty="0"/>
              <a:t>    public void update(String message) {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System.out.println</a:t>
            </a:r>
            <a:r>
              <a:rPr lang="en-US" sz="1000" dirty="0"/>
              <a:t>("AUDIT: " + message);</a:t>
            </a:r>
          </a:p>
          <a:p>
            <a:r>
              <a:rPr lang="en-US" sz="1000" dirty="0"/>
              <a:t>    }</a:t>
            </a:r>
          </a:p>
          <a:p>
            <a:r>
              <a:rPr lang="en-US" sz="1000" dirty="0"/>
              <a:t>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9F27C-0154-C687-7808-B580FA9A3504}"/>
              </a:ext>
            </a:extLst>
          </p:cNvPr>
          <p:cNvSpPr txBox="1"/>
          <p:nvPr/>
        </p:nvSpPr>
        <p:spPr>
          <a:xfrm>
            <a:off x="6919064" y="4923101"/>
            <a:ext cx="37155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Order </a:t>
            </a:r>
            <a:r>
              <a:rPr lang="en-US" sz="1000" dirty="0" err="1"/>
              <a:t>order</a:t>
            </a:r>
            <a:r>
              <a:rPr lang="en-US" sz="1000" dirty="0"/>
              <a:t> = new Order();</a:t>
            </a:r>
          </a:p>
          <a:p>
            <a:endParaRPr lang="en-US" sz="1000" dirty="0"/>
          </a:p>
          <a:p>
            <a:r>
              <a:rPr lang="en-US" sz="1000" dirty="0" err="1"/>
              <a:t>order.addObserver</a:t>
            </a:r>
            <a:r>
              <a:rPr lang="en-US" sz="1000" dirty="0"/>
              <a:t>(new </a:t>
            </a:r>
            <a:r>
              <a:rPr lang="en-US" sz="1000" dirty="0" err="1"/>
              <a:t>EmailNotifier</a:t>
            </a:r>
            <a:r>
              <a:rPr lang="en-US" sz="1000" dirty="0"/>
              <a:t>());</a:t>
            </a:r>
          </a:p>
          <a:p>
            <a:r>
              <a:rPr lang="en-US" sz="1000" dirty="0" err="1"/>
              <a:t>order.addObserver</a:t>
            </a:r>
            <a:r>
              <a:rPr lang="en-US" sz="1000" dirty="0"/>
              <a:t>(new </a:t>
            </a:r>
            <a:r>
              <a:rPr lang="en-US" sz="1000" dirty="0" err="1"/>
              <a:t>AuditLogger</a:t>
            </a:r>
            <a:r>
              <a:rPr lang="en-US" sz="1000" dirty="0"/>
              <a:t>());</a:t>
            </a:r>
          </a:p>
          <a:p>
            <a:endParaRPr lang="en-US" sz="1000" dirty="0"/>
          </a:p>
          <a:p>
            <a:r>
              <a:rPr lang="en-US" sz="1000" dirty="0" err="1"/>
              <a:t>order.ship</a:t>
            </a:r>
            <a:r>
              <a:rPr lang="en-US" sz="1000" dirty="0"/>
              <a:t>();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0BB32-552C-D233-ADBA-3445C8AE5D9C}"/>
              </a:ext>
            </a:extLst>
          </p:cNvPr>
          <p:cNvSpPr txBox="1"/>
          <p:nvPr/>
        </p:nvSpPr>
        <p:spPr>
          <a:xfrm>
            <a:off x="294362" y="2816634"/>
            <a:ext cx="203547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Observer pattern is useful for pub/sub designs – still rare for most Java API CLEAN code apps. </a:t>
            </a:r>
          </a:p>
          <a:p>
            <a:endParaRPr lang="en-US" sz="1400" dirty="0"/>
          </a:p>
          <a:p>
            <a:r>
              <a:rPr lang="en-US" sz="1400" dirty="0"/>
              <a:t>Use Observer when the publisher shouldn’t need to know who is interested in its state changes, and the set of interested parties can vary.</a:t>
            </a:r>
          </a:p>
        </p:txBody>
      </p:sp>
    </p:spTree>
    <p:extLst>
      <p:ext uri="{BB962C8B-B14F-4D97-AF65-F5344CB8AC3E}">
        <p14:creationId xmlns:p14="http://schemas.microsoft.com/office/powerpoint/2010/main" val="3435221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9290-B701-E5B2-7551-31CE96F5D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DAO (data access object)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EC87E-F2D2-87B7-A235-08A7927FE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57" y="2187811"/>
            <a:ext cx="4071275" cy="4176463"/>
          </a:xfrm>
        </p:spPr>
        <p:txBody>
          <a:bodyPr>
            <a:normAutofit/>
          </a:bodyPr>
          <a:lstStyle/>
          <a:p>
            <a:r>
              <a:rPr lang="en-US" dirty="0"/>
              <a:t>The DAO pattern separates data-access code from the rest of the application</a:t>
            </a:r>
          </a:p>
          <a:p>
            <a:r>
              <a:rPr lang="en-US" dirty="0"/>
              <a:t>Very close conceptually to the repository design pattern, but emphasis varies:</a:t>
            </a:r>
          </a:p>
          <a:p>
            <a:pPr lvl="1"/>
            <a:r>
              <a:rPr lang="en-US" dirty="0"/>
              <a:t>DAO – an abstraction over how you access the database;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i.e. Service </a:t>
            </a:r>
            <a:r>
              <a:rPr lang="en-US" dirty="0">
                <a:sym typeface="Wingdings" panose="05000000000000000000" pitchFamily="2" charset="2"/>
              </a:rPr>
              <a:t> DAO  JDBC</a:t>
            </a:r>
            <a:endParaRPr lang="en-US" dirty="0"/>
          </a:p>
          <a:p>
            <a:pPr lvl="1"/>
            <a:r>
              <a:rPr lang="en-US" dirty="0"/>
              <a:t>Repository – an abstraction over the collection of Domain objects;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i.e. Service </a:t>
            </a:r>
            <a:r>
              <a:rPr lang="en-US" dirty="0">
                <a:sym typeface="Wingdings" panose="05000000000000000000" pitchFamily="2" charset="2"/>
              </a:rPr>
              <a:t> Repo  JPA/Hibernate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B5827-B357-A0BD-008D-2BAAA6B85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844" y="2280118"/>
            <a:ext cx="2785584" cy="29733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2DF097-3BF5-F0E9-F8E8-2096E7478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978" y="1976325"/>
            <a:ext cx="3261171" cy="3580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A1937-A30F-09F2-B190-1F1BF4BF2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954" y="5642023"/>
            <a:ext cx="4328349" cy="113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415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D355D-62AC-E24C-7DA7-19CFB2B34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7184-E38C-5BEB-CC3E-817D39308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8251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2 broad categories:</a:t>
            </a:r>
          </a:p>
          <a:p>
            <a:pPr lvl="1"/>
            <a:r>
              <a:rPr lang="en-US" dirty="0"/>
              <a:t>Streams – read/write bytes</a:t>
            </a:r>
          </a:p>
          <a:p>
            <a:pPr lvl="1"/>
            <a:r>
              <a:rPr lang="en-US" dirty="0"/>
              <a:t>Reader/Writer – read/write characters</a:t>
            </a:r>
          </a:p>
          <a:p>
            <a:pPr lvl="0"/>
            <a:r>
              <a:rPr lang="en-US" dirty="0" err="1"/>
              <a:t>FileInputStream</a:t>
            </a:r>
            <a:r>
              <a:rPr lang="en-US" dirty="0"/>
              <a:t> - reads raw bytes from a file</a:t>
            </a:r>
          </a:p>
          <a:p>
            <a:pPr lvl="0"/>
            <a:r>
              <a:rPr lang="en-US" dirty="0" err="1"/>
              <a:t>FileOutputStream</a:t>
            </a:r>
            <a:r>
              <a:rPr lang="en-US" dirty="0"/>
              <a:t> - writes raw bytes to a file</a:t>
            </a:r>
          </a:p>
          <a:p>
            <a:pPr lvl="0"/>
            <a:r>
              <a:rPr lang="en-US" dirty="0" err="1"/>
              <a:t>FileReader</a:t>
            </a:r>
            <a:r>
              <a:rPr lang="en-US" dirty="0"/>
              <a:t> - reads characters from a file</a:t>
            </a:r>
          </a:p>
          <a:p>
            <a:pPr lvl="0"/>
            <a:r>
              <a:rPr lang="en-US" dirty="0" err="1"/>
              <a:t>FileWriter</a:t>
            </a:r>
            <a:r>
              <a:rPr lang="en-US" dirty="0"/>
              <a:t> - writes characters to a file</a:t>
            </a:r>
          </a:p>
          <a:p>
            <a:pPr lvl="0"/>
            <a:r>
              <a:rPr lang="en-US" dirty="0" err="1"/>
              <a:t>BufferedReader</a:t>
            </a:r>
            <a:r>
              <a:rPr lang="en-US" dirty="0"/>
              <a:t> - reads a file line by line, needs an instance of a </a:t>
            </a:r>
            <a:r>
              <a:rPr lang="en-US" dirty="0" err="1"/>
              <a:t>FileReader</a:t>
            </a:r>
            <a:r>
              <a:rPr lang="en-US" dirty="0"/>
              <a:t> with a path to the resource to be read in the constructor</a:t>
            </a:r>
          </a:p>
          <a:p>
            <a:pPr lvl="0"/>
            <a:r>
              <a:rPr lang="en-US" dirty="0" err="1"/>
              <a:t>BufferedWriter</a:t>
            </a:r>
            <a:r>
              <a:rPr lang="en-US" dirty="0"/>
              <a:t> - writes to a file line by line, needs an instance of a </a:t>
            </a:r>
            <a:r>
              <a:rPr lang="en-US" dirty="0" err="1"/>
              <a:t>FileWriter</a:t>
            </a:r>
            <a:r>
              <a:rPr lang="en-US" dirty="0"/>
              <a:t> with a path to the destination file in the constructor</a:t>
            </a:r>
          </a:p>
          <a:p>
            <a:pPr lvl="0"/>
            <a:r>
              <a:rPr lang="en-US" dirty="0"/>
              <a:t>Scanner - can read from an </a:t>
            </a:r>
            <a:r>
              <a:rPr lang="en-US" dirty="0" err="1"/>
              <a:t>InputStream</a:t>
            </a:r>
            <a:r>
              <a:rPr lang="en-US" dirty="0"/>
              <a:t>, useful methods for character reading</a:t>
            </a:r>
          </a:p>
        </p:txBody>
      </p:sp>
    </p:spTree>
    <p:extLst>
      <p:ext uri="{BB962C8B-B14F-4D97-AF65-F5344CB8AC3E}">
        <p14:creationId xmlns:p14="http://schemas.microsoft.com/office/powerpoint/2010/main" val="21418092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08039-6C4E-4870-9E3D-6218263D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B31D2E-CBC8-4C4A-917F-DCB48EAEB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CF4F09-0D96-42BE-AE16-84AB4E0B5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AF87EE-372A-438E-B086-63D494ECA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2B38E65-3AFD-404A-BEFC-3006BCB7A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98562-3047-4BC2-BFF9-F39420474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A540B3-49C9-FA8E-6E61-CE45A111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92163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Serialization &amp; Deserialization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19E0D66-E86B-461B-B58E-7FB356BB0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2C7D57-D78E-413F-958A-00ABC8504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596FEE5-A0CD-4B5D-B4C1-785801908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A81341-6C47-4992-BD01-6BCF3A34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FCC405-7110-E41A-E0E0-A0EE291A8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32" y="635426"/>
            <a:ext cx="6281443" cy="6222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91D71C-806B-2520-0CDA-A5CF150A8A95}"/>
              </a:ext>
            </a:extLst>
          </p:cNvPr>
          <p:cNvSpPr txBox="1"/>
          <p:nvPr/>
        </p:nvSpPr>
        <p:spPr>
          <a:xfrm>
            <a:off x="8296275" y="2650369"/>
            <a:ext cx="30815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Serialization – turning an object in memory into bytes so we can save/send it somewhere (we don’t necessarily need to save things in bytes, we could use normal text, this is just one option)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Deserialization -  turning those bytes back into an object</a:t>
            </a:r>
          </a:p>
        </p:txBody>
      </p:sp>
    </p:spTree>
    <p:extLst>
      <p:ext uri="{BB962C8B-B14F-4D97-AF65-F5344CB8AC3E}">
        <p14:creationId xmlns:p14="http://schemas.microsoft.com/office/powerpoint/2010/main" val="1683600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39D47-47E8-2F2E-DDEC-43063406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Code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821DE6-2FF4-B7AC-0158-81FDABDB1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339338"/>
            <a:ext cx="5565680" cy="4075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3B1BC-E740-F04B-9316-9D4712CA4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295" y="2396084"/>
            <a:ext cx="4896165" cy="396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671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7F20-A33D-7EEB-6111-DE3035437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50423-479E-2736-8E50-F6B7D6DC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checkpoint</a:t>
            </a:r>
          </a:p>
          <a:p>
            <a:r>
              <a:rPr lang="en-US" dirty="0"/>
              <a:t>Create a CLEAN code app that reads/writes to files here</a:t>
            </a:r>
          </a:p>
          <a:p>
            <a:r>
              <a:rPr lang="en-US" dirty="0"/>
              <a:t>See the ‘</a:t>
            </a:r>
            <a:r>
              <a:rPr lang="en-US" dirty="0" err="1"/>
              <a:t>cleancode</a:t>
            </a:r>
            <a:r>
              <a:rPr lang="en-US" dirty="0"/>
              <a:t>’ project in your course materials as reference</a:t>
            </a:r>
          </a:p>
          <a:p>
            <a:endParaRPr lang="en-US" dirty="0"/>
          </a:p>
          <a:p>
            <a:r>
              <a:rPr lang="en-US" dirty="0"/>
              <a:t>To run app with an interactive console (VSCODE won’t automatically do this):</a:t>
            </a:r>
          </a:p>
          <a:p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exec:java</a:t>
            </a:r>
            <a:r>
              <a:rPr lang="en-US" dirty="0"/>
              <a:t> "-</a:t>
            </a:r>
            <a:r>
              <a:rPr lang="en-US" dirty="0" err="1"/>
              <a:t>Dexec.mainClass</a:t>
            </a:r>
            <a:r>
              <a:rPr lang="en-US" dirty="0"/>
              <a:t>=</a:t>
            </a:r>
            <a:r>
              <a:rPr lang="en-US" dirty="0" err="1"/>
              <a:t>com.cleancode.api.Main</a:t>
            </a:r>
            <a:r>
              <a:rPr lang="en-US" dirty="0"/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28031526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3B464-4EC1-9BB9-389C-90DF1D701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E7895-F540-E89F-1950-ABECA8C1A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01988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Java Database Connectivity, or JDBC, is a Java API that allows our applications to connect and interact with different databases, such as PostgreSQL, MySQL, Microsoft SQL, etc.</a:t>
            </a:r>
          </a:p>
          <a:p>
            <a:r>
              <a:rPr lang="en-US" dirty="0"/>
              <a:t>It consists of classes and interfaces that enable the application to access and send requests to the database made by users.</a:t>
            </a:r>
          </a:p>
          <a:p>
            <a:r>
              <a:rPr lang="en-US" dirty="0"/>
              <a:t>JDBC has four main components used to connect to the database.</a:t>
            </a:r>
          </a:p>
          <a:p>
            <a:pPr lvl="1"/>
            <a:r>
              <a:rPr lang="en-US" dirty="0"/>
              <a:t>JDBC API</a:t>
            </a:r>
          </a:p>
          <a:p>
            <a:pPr lvl="2"/>
            <a:r>
              <a:rPr lang="en-US" dirty="0"/>
              <a:t>A collection of various classes, methods, and interfaces to communicate with a database, packaged in the </a:t>
            </a:r>
            <a:r>
              <a:rPr lang="en-US" sz="1000" dirty="0" err="1"/>
              <a:t>java.sql</a:t>
            </a:r>
            <a:r>
              <a:rPr lang="en-US" dirty="0"/>
              <a:t> and </a:t>
            </a:r>
            <a:r>
              <a:rPr lang="en-US" sz="1000" dirty="0" err="1"/>
              <a:t>javax.sql</a:t>
            </a:r>
            <a:r>
              <a:rPr lang="en-US" dirty="0"/>
              <a:t> packages.</a:t>
            </a:r>
          </a:p>
          <a:p>
            <a:pPr lvl="1"/>
            <a:r>
              <a:rPr lang="en-US" dirty="0"/>
              <a:t>JDBC Driver Manager</a:t>
            </a:r>
          </a:p>
          <a:p>
            <a:pPr lvl="2"/>
            <a:r>
              <a:rPr lang="en-US" dirty="0"/>
              <a:t>A class within the JDBC API that loads database-specific drivers in the Java application to establish a connection with the database by making a call to a specific database to process a user's request.</a:t>
            </a:r>
          </a:p>
          <a:p>
            <a:pPr lvl="1"/>
            <a:r>
              <a:rPr lang="en-US" dirty="0"/>
              <a:t>JDBC Test Suite</a:t>
            </a:r>
          </a:p>
          <a:p>
            <a:pPr lvl="2"/>
            <a:r>
              <a:rPr lang="en-US" dirty="0"/>
              <a:t>Used to test operations performed on the database using the JDBC drivers.</a:t>
            </a:r>
          </a:p>
          <a:p>
            <a:pPr lvl="1"/>
            <a:r>
              <a:rPr lang="en-US" dirty="0"/>
              <a:t>Database Server</a:t>
            </a:r>
          </a:p>
          <a:p>
            <a:pPr lvl="2"/>
            <a:r>
              <a:rPr lang="en-US" dirty="0"/>
              <a:t>The database server that the JDBC client will communicate with.</a:t>
            </a:r>
          </a:p>
        </p:txBody>
      </p:sp>
    </p:spTree>
    <p:extLst>
      <p:ext uri="{BB962C8B-B14F-4D97-AF65-F5344CB8AC3E}">
        <p14:creationId xmlns:p14="http://schemas.microsoft.com/office/powerpoint/2010/main" val="3542974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2253-8012-218E-B580-503D3B39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4E938-B644-B4CA-396D-FD4D6015C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4164"/>
            <a:ext cx="11029615" cy="453442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Driver</a:t>
            </a:r>
          </a:p>
          <a:p>
            <a:pPr lvl="1"/>
            <a:r>
              <a:rPr lang="en-US" dirty="0"/>
              <a:t>An interface that is the base interface for every driver class. If you want to create your own driver class, you would implement this interface. Loading a driver class will create an instance of itself and register it with the </a:t>
            </a:r>
            <a:r>
              <a:rPr lang="en-US" dirty="0" err="1"/>
              <a:t>DriverManager</a:t>
            </a:r>
            <a:r>
              <a:rPr lang="en-US" dirty="0"/>
              <a:t>.</a:t>
            </a:r>
          </a:p>
          <a:p>
            <a:r>
              <a:rPr lang="en-US" dirty="0"/>
              <a:t>Statement</a:t>
            </a:r>
          </a:p>
          <a:p>
            <a:pPr lvl="1"/>
            <a:r>
              <a:rPr lang="en-US" dirty="0"/>
              <a:t>An interface that represents a static SQL statement, allowing you to execute that statement and obtain the results.</a:t>
            </a:r>
          </a:p>
          <a:p>
            <a:r>
              <a:rPr lang="en-US" dirty="0" err="1"/>
              <a:t>PreparedStatement</a:t>
            </a:r>
            <a:endParaRPr lang="en-US" dirty="0"/>
          </a:p>
          <a:p>
            <a:pPr lvl="1"/>
            <a:r>
              <a:rPr lang="en-US" dirty="0"/>
              <a:t>Represents a pre-compiled statement that you can execute multiple times. You can get an object from this interface using the method of the connection interface </a:t>
            </a:r>
            <a:r>
              <a:rPr lang="en-US" dirty="0" err="1"/>
              <a:t>prepareStatement</a:t>
            </a:r>
            <a:r>
              <a:rPr lang="en-US" dirty="0"/>
              <a:t>(). It allows you to get and set values for the variables of the prepared statement.</a:t>
            </a:r>
          </a:p>
          <a:p>
            <a:r>
              <a:rPr lang="en-US" dirty="0" err="1"/>
              <a:t>CallableStatement</a:t>
            </a:r>
            <a:endParaRPr lang="en-US" dirty="0"/>
          </a:p>
          <a:p>
            <a:pPr lvl="1"/>
            <a:r>
              <a:rPr lang="en-US" dirty="0"/>
              <a:t>This object allows for the execution of stored procedures. It returns a single or multiple results and will accept input parameters as well. It is created using the </a:t>
            </a:r>
            <a:r>
              <a:rPr lang="en-US" dirty="0" err="1"/>
              <a:t>prepareCall</a:t>
            </a:r>
            <a:r>
              <a:rPr lang="en-US" dirty="0"/>
              <a:t>() method of the Connection interface. Like the </a:t>
            </a:r>
            <a:r>
              <a:rPr lang="en-US" dirty="0" err="1"/>
              <a:t>PreparedStatement</a:t>
            </a:r>
            <a:r>
              <a:rPr lang="en-US" dirty="0"/>
              <a:t> interface, it provides get and set methods for those variable values to pass input parameters.</a:t>
            </a:r>
          </a:p>
          <a:p>
            <a:r>
              <a:rPr lang="en-US" dirty="0"/>
              <a:t>Connection</a:t>
            </a:r>
          </a:p>
          <a:p>
            <a:pPr lvl="1"/>
            <a:r>
              <a:rPr lang="en-US" dirty="0"/>
              <a:t>An interface that represents the connection with a specific database, through which SQL statements are executed. It includes additional transactional methods to handle commits and rollbacks.</a:t>
            </a:r>
          </a:p>
          <a:p>
            <a:r>
              <a:rPr lang="en-US" dirty="0" err="1"/>
              <a:t>ResultSet</a:t>
            </a:r>
            <a:endParaRPr lang="en-US" dirty="0"/>
          </a:p>
          <a:p>
            <a:pPr lvl="1"/>
            <a:r>
              <a:rPr lang="en-US" dirty="0"/>
              <a:t>Represents the database result set, a table generated by executing the SQL statements, and provides getter and update methods to retrieve and update its content, respectively.</a:t>
            </a:r>
          </a:p>
          <a:p>
            <a:r>
              <a:rPr lang="en-US" dirty="0" err="1"/>
              <a:t>ResultSetMetaData</a:t>
            </a:r>
            <a:endParaRPr lang="en-US" dirty="0"/>
          </a:p>
          <a:p>
            <a:pPr lvl="1"/>
            <a:r>
              <a:rPr lang="en-US" dirty="0"/>
              <a:t>An interface used to get information about the result set, such as the number of columns, the names of the columns, data types of the columns,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766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C209-FBBB-F231-35B3-E1A449259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Execute, </a:t>
            </a:r>
            <a:r>
              <a:rPr lang="en-US" dirty="0" err="1"/>
              <a:t>excetuteQUery</a:t>
            </a:r>
            <a:r>
              <a:rPr lang="en-US" dirty="0"/>
              <a:t>, &amp; </a:t>
            </a:r>
            <a:r>
              <a:rPr lang="en-US" dirty="0" err="1"/>
              <a:t>executeupdate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0C60F4-AFF7-220A-6CC9-8B18C34158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680216"/>
              </p:ext>
            </p:extLst>
          </p:nvPr>
        </p:nvGraphicFramePr>
        <p:xfrm>
          <a:off x="581192" y="2837887"/>
          <a:ext cx="1102995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6650">
                  <a:extLst>
                    <a:ext uri="{9D8B030D-6E8A-4147-A177-3AD203B41FA5}">
                      <a16:colId xmlns:a16="http://schemas.microsoft.com/office/drawing/2014/main" val="2148184435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210868792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379740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Method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SQL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b="1" dirty="0">
                          <a:effectLst/>
                        </a:rPr>
                        <a:t>Returns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896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executeQuery()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SELECT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ResultSet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59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executeUpdate()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INSERT, UPDATE, DELETE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int (rows affected)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19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execute()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>
                          <a:effectLst/>
                        </a:rPr>
                        <a:t>SQL where result type may vary</a:t>
                      </a:r>
                      <a:endParaRPr lang="en-US" b="0" i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dirty="0" err="1">
                          <a:effectLst/>
                        </a:rPr>
                        <a:t>boolean</a:t>
                      </a:r>
                      <a:endParaRPr lang="en-US" b="0" i="0" dirty="0">
                        <a:solidFill>
                          <a:srgbClr val="FFFFFF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369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555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9135-6FF1-FC10-8C8D-959FE14D8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Resultlset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03841-528E-CF1A-F652-72C68E551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66796"/>
            <a:ext cx="11029615" cy="470978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next()</a:t>
            </a:r>
          </a:p>
          <a:p>
            <a:pPr lvl="1"/>
            <a:r>
              <a:rPr lang="en-US" dirty="0"/>
              <a:t>Moves the cursor to the next row in the result set and returns true if a valid row exists. This method is typically used in a loop to iterate through all rows.</a:t>
            </a:r>
          </a:p>
          <a:p>
            <a:r>
              <a:rPr lang="en-US" dirty="0"/>
              <a:t>previous()</a:t>
            </a:r>
          </a:p>
          <a:p>
            <a:pPr lvl="1"/>
            <a:r>
              <a:rPr lang="en-US" dirty="0"/>
              <a:t>Moves the cursor to the previous row in the result set and returns true if a valid row exists.</a:t>
            </a:r>
          </a:p>
          <a:p>
            <a:r>
              <a:rPr lang="en-US" dirty="0"/>
              <a:t>first()</a:t>
            </a:r>
          </a:p>
          <a:p>
            <a:pPr lvl="1"/>
            <a:r>
              <a:rPr lang="en-US" dirty="0"/>
              <a:t>Moves the cursor to the first row in the result set and returns true if a valid row exists.</a:t>
            </a:r>
          </a:p>
          <a:p>
            <a:r>
              <a:rPr lang="en-US" dirty="0"/>
              <a:t>last()</a:t>
            </a:r>
          </a:p>
          <a:p>
            <a:pPr lvl="1"/>
            <a:r>
              <a:rPr lang="en-US" dirty="0"/>
              <a:t>Moves the cursor to the last row in the result set and returns true if a valid row exists.</a:t>
            </a:r>
          </a:p>
          <a:p>
            <a:r>
              <a:rPr lang="en-US" dirty="0"/>
              <a:t>absolute(int row)</a:t>
            </a:r>
          </a:p>
          <a:p>
            <a:pPr lvl="1"/>
            <a:r>
              <a:rPr lang="en-US" dirty="0"/>
              <a:t>Moves the cursor to the specified row number, where the first row is 1. Returns true if the specified row is valid.</a:t>
            </a:r>
          </a:p>
          <a:p>
            <a:r>
              <a:rPr lang="en-US" dirty="0"/>
              <a:t>relative(int rows)</a:t>
            </a:r>
          </a:p>
          <a:p>
            <a:pPr lvl="1"/>
            <a:r>
              <a:rPr lang="en-US" dirty="0"/>
              <a:t>Moves the cursor forward or backward by the specified number of rows. The argument can be positive or negative, indicating the direction and magnitude of movement.</a:t>
            </a:r>
          </a:p>
          <a:p>
            <a:r>
              <a:rPr lang="en-US" dirty="0" err="1"/>
              <a:t>isFirst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true if the cursor is currently positioned at the first row in the result set.</a:t>
            </a:r>
          </a:p>
          <a:p>
            <a:r>
              <a:rPr lang="en-US" dirty="0" err="1"/>
              <a:t>isLast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Returns true if the cursor is currently positioned at the last row in the result set.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3847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154ED-13F7-7C62-E9BF-F4BAA098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Callable statement example – in &amp; out param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6532B1-11CA-E156-CF29-10285234C8D6}"/>
              </a:ext>
            </a:extLst>
          </p:cNvPr>
          <p:cNvSpPr txBox="1"/>
          <p:nvPr/>
        </p:nvSpPr>
        <p:spPr>
          <a:xfrm>
            <a:off x="3047478" y="2556722"/>
            <a:ext cx="59837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CallableStatement</a:t>
            </a:r>
            <a:r>
              <a:rPr lang="en-US" dirty="0"/>
              <a:t> statement =</a:t>
            </a:r>
          </a:p>
          <a:p>
            <a:r>
              <a:rPr lang="en-US" dirty="0"/>
              <a:t>    </a:t>
            </a:r>
            <a:r>
              <a:rPr lang="en-US" dirty="0" err="1"/>
              <a:t>connection.prepareCall</a:t>
            </a:r>
            <a:r>
              <a:rPr lang="en-US" dirty="0"/>
              <a:t>("{call </a:t>
            </a:r>
            <a:r>
              <a:rPr lang="en-US" dirty="0" err="1"/>
              <a:t>calculate_gpa</a:t>
            </a:r>
            <a:r>
              <a:rPr lang="en-US" dirty="0"/>
              <a:t>(?, ?)}");</a:t>
            </a:r>
          </a:p>
          <a:p>
            <a:endParaRPr lang="en-US" dirty="0"/>
          </a:p>
          <a:p>
            <a:r>
              <a:rPr lang="en-US" dirty="0" err="1"/>
              <a:t>statement.setInt</a:t>
            </a:r>
            <a:r>
              <a:rPr lang="en-US" dirty="0"/>
              <a:t>(1, 42);</a:t>
            </a:r>
          </a:p>
          <a:p>
            <a:r>
              <a:rPr lang="en-US" dirty="0" err="1"/>
              <a:t>statement.registerOutParameter</a:t>
            </a:r>
            <a:r>
              <a:rPr lang="en-US" dirty="0"/>
              <a:t>(2, </a:t>
            </a:r>
            <a:r>
              <a:rPr lang="en-US" dirty="0" err="1"/>
              <a:t>Types.DOUBLE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 err="1"/>
              <a:t>statement.execute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double </a:t>
            </a:r>
            <a:r>
              <a:rPr lang="en-US" dirty="0" err="1"/>
              <a:t>gpa</a:t>
            </a:r>
            <a:r>
              <a:rPr lang="en-US" dirty="0"/>
              <a:t> = </a:t>
            </a:r>
            <a:r>
              <a:rPr lang="en-US" dirty="0" err="1"/>
              <a:t>statement.getDouble</a:t>
            </a:r>
            <a:r>
              <a:rPr lang="en-US" dirty="0"/>
              <a:t>(2);</a:t>
            </a:r>
          </a:p>
        </p:txBody>
      </p:sp>
    </p:spTree>
    <p:extLst>
      <p:ext uri="{BB962C8B-B14F-4D97-AF65-F5344CB8AC3E}">
        <p14:creationId xmlns:p14="http://schemas.microsoft.com/office/powerpoint/2010/main" val="4094025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0C4E4-3750-2EAB-3F03-BD994187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</a:t>
            </a:r>
            <a:r>
              <a:rPr lang="en-US" dirty="0" err="1"/>
              <a:t>connectionfactory</a:t>
            </a:r>
            <a:r>
              <a:rPr lang="en-US" dirty="0"/>
              <a:t> utility class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27215C-EA41-AC98-0477-5226A68BA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22744" y="1860480"/>
            <a:ext cx="4366673" cy="42953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586557-E5F7-111B-0588-D51ACE800C94}"/>
              </a:ext>
            </a:extLst>
          </p:cNvPr>
          <p:cNvSpPr txBox="1"/>
          <p:nvPr/>
        </p:nvSpPr>
        <p:spPr>
          <a:xfrm>
            <a:off x="792447" y="2851099"/>
            <a:ext cx="46283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java.util.Properties</a:t>
            </a:r>
            <a:r>
              <a:rPr lang="en-US" dirty="0"/>
              <a:t> – allows us to keep secrets safe in a </a:t>
            </a:r>
            <a:r>
              <a:rPr lang="en-US" dirty="0" err="1"/>
              <a:t>db.properties</a:t>
            </a:r>
            <a:r>
              <a:rPr lang="en-US" dirty="0"/>
              <a:t> file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can use this utility class to generate a connection whenever we need to execute commands against our database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If using AWS RDS: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The user/password is your RDS master user + master password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 will see how to find the URL later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BE40EA-C454-05B7-4CDC-697F71D05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7624" y="6214365"/>
            <a:ext cx="8241793" cy="56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049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E475-84B6-3B5B-F38E-FC2EA34D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Using our utility class, </a:t>
            </a:r>
            <a:r>
              <a:rPr lang="en-US" sz="2400" dirty="0" err="1"/>
              <a:t>preparedstatements</a:t>
            </a:r>
            <a:r>
              <a:rPr lang="en-US" sz="2400" dirty="0"/>
              <a:t>, &amp; 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B6D36-4FDA-9090-64C7-A315151C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333" y="2641228"/>
            <a:ext cx="3749406" cy="398634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our DAO concretion, we can get a connection from our factory</a:t>
            </a:r>
          </a:p>
          <a:p>
            <a:r>
              <a:rPr lang="en-US" dirty="0"/>
              <a:t>Prepared statements let us dynamically inject values into SQL queries while treating the injected data as data, and not more SQL code</a:t>
            </a:r>
          </a:p>
          <a:p>
            <a:pPr lvl="1"/>
            <a:r>
              <a:rPr lang="en-US" dirty="0"/>
              <a:t>THIS HELPS PREVENTS SQL INJECTION</a:t>
            </a:r>
          </a:p>
          <a:p>
            <a:pPr lvl="1"/>
            <a:r>
              <a:rPr lang="en-US" dirty="0"/>
              <a:t>Statement is more prone to SQL injection attacks because SQL is constructed as a complete string before execution, allowing user input to become part of the SQL syntax</a:t>
            </a:r>
          </a:p>
          <a:p>
            <a:pPr lvl="1"/>
            <a:r>
              <a:rPr lang="en-US" dirty="0" err="1"/>
              <a:t>PreparedStatement</a:t>
            </a:r>
            <a:r>
              <a:rPr lang="en-US" dirty="0"/>
              <a:t> separates SQL from user-supplied data, preventing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E325F-358C-016F-CD61-FBFD5720D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79" y="3099016"/>
            <a:ext cx="6683033" cy="2418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B4A2B-10FF-BD7B-1C76-DE5B9AB4E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755" y="2025975"/>
            <a:ext cx="8666490" cy="20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246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B6C9-49D4-D877-0036-396DA4FA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JDBC with RDS - Postgres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A6A38-6402-C103-E535-F61B35162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493916"/>
          </a:xfrm>
        </p:spPr>
        <p:txBody>
          <a:bodyPr>
            <a:normAutofit/>
          </a:bodyPr>
          <a:lstStyle/>
          <a:p>
            <a:r>
              <a:rPr lang="en-US" dirty="0"/>
              <a:t>Get PEM public key so we can enable encrypted traffic (place in project root)</a:t>
            </a:r>
          </a:p>
          <a:p>
            <a:pPr lvl="1"/>
            <a:r>
              <a:rPr lang="en-US" dirty="0">
                <a:hlinkClick r:id="rId2"/>
              </a:rPr>
              <a:t>https://truststore.pki.rds.amazonaws.com/global/global-bundle.pem</a:t>
            </a:r>
            <a:endParaRPr lang="en-US" dirty="0"/>
          </a:p>
          <a:p>
            <a:pPr lvl="1"/>
            <a:r>
              <a:rPr lang="en-US" dirty="0"/>
              <a:t>We can see when AWS will rotate these at ‘Aurora and RDS </a:t>
            </a:r>
            <a:r>
              <a:rPr lang="en-US" dirty="0">
                <a:sym typeface="Wingdings" panose="05000000000000000000" pitchFamily="2" charset="2"/>
              </a:rPr>
              <a:t> Certificate update’</a:t>
            </a:r>
            <a:endParaRPr lang="en-US" dirty="0"/>
          </a:p>
          <a:p>
            <a:r>
              <a:rPr lang="en-US" dirty="0"/>
              <a:t>On the ‘Connectivity &amp; Security’ tab within RDS, they provide code snippets</a:t>
            </a:r>
          </a:p>
          <a:p>
            <a:r>
              <a:rPr lang="en-US" dirty="0"/>
              <a:t>You can find the link for the above on some of those snippets</a:t>
            </a:r>
          </a:p>
          <a:p>
            <a:r>
              <a:rPr lang="en-US" dirty="0"/>
              <a:t>Check out the JDBC code snippet to get your unique server URL, with enabled encryption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665B1-0D32-F6E0-5CD4-F0457C21F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638" y="5062668"/>
            <a:ext cx="9748723" cy="118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33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08A6-791A-7C16-1D37-B012060E8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150D3-FC5F-640E-D3BF-15F67530E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checkpoint</a:t>
            </a:r>
          </a:p>
          <a:p>
            <a:r>
              <a:rPr lang="en-US" dirty="0"/>
              <a:t>Create a CLEAN code app that reads/writes to Postgres here</a:t>
            </a:r>
          </a:p>
          <a:p>
            <a:r>
              <a:rPr lang="en-US" dirty="0"/>
              <a:t>See the ‘</a:t>
            </a:r>
            <a:r>
              <a:rPr lang="en-US" dirty="0" err="1"/>
              <a:t>cleancodeWithJDBC</a:t>
            </a:r>
            <a:r>
              <a:rPr lang="en-US" dirty="0"/>
              <a:t>’ project in your course materials as reference</a:t>
            </a:r>
          </a:p>
          <a:p>
            <a:endParaRPr lang="en-US" dirty="0"/>
          </a:p>
          <a:p>
            <a:r>
              <a:rPr lang="en-US" dirty="0"/>
              <a:t>To run app with an interactive console (VSCODE won’t automatically do this):</a:t>
            </a:r>
          </a:p>
          <a:p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exec:java</a:t>
            </a:r>
            <a:r>
              <a:rPr lang="en-US" dirty="0"/>
              <a:t> "-</a:t>
            </a:r>
            <a:r>
              <a:rPr lang="en-US" dirty="0" err="1"/>
              <a:t>Dexec.mainClass</a:t>
            </a:r>
            <a:r>
              <a:rPr lang="en-US" dirty="0"/>
              <a:t>=</a:t>
            </a:r>
            <a:r>
              <a:rPr lang="en-US" dirty="0" err="1"/>
              <a:t>com.cleancode.api.Main</a:t>
            </a:r>
            <a:r>
              <a:rPr lang="en-US"/>
              <a:t>" </a:t>
            </a:r>
          </a:p>
        </p:txBody>
      </p:sp>
    </p:spTree>
    <p:extLst>
      <p:ext uri="{BB962C8B-B14F-4D97-AF65-F5344CB8AC3E}">
        <p14:creationId xmlns:p14="http://schemas.microsoft.com/office/powerpoint/2010/main" val="19609923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4085</TotalTime>
  <Words>4410</Words>
  <Application>Microsoft Office PowerPoint</Application>
  <PresentationFormat>Widescreen</PresentationFormat>
  <Paragraphs>450</Paragraphs>
  <Slides>46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-apple-system-body</vt:lpstr>
      <vt:lpstr>Consolas</vt:lpstr>
      <vt:lpstr>Gill Sans MT</vt:lpstr>
      <vt:lpstr>JetBrains Mono</vt:lpstr>
      <vt:lpstr>Wingdings</vt:lpstr>
      <vt:lpstr>Wingdings 2</vt:lpstr>
      <vt:lpstr>Dividend</vt:lpstr>
      <vt:lpstr>Advanced Java, Design Patterns, &amp; JDBC</vt:lpstr>
      <vt:lpstr>Collections</vt:lpstr>
      <vt:lpstr>Collections API</vt:lpstr>
      <vt:lpstr>Collection API Hierarchy</vt:lpstr>
      <vt:lpstr>Iterable</vt:lpstr>
      <vt:lpstr>List</vt:lpstr>
      <vt:lpstr>LinkedList – queue, deque, &amp; stack</vt:lpstr>
      <vt:lpstr>Set</vt:lpstr>
      <vt:lpstr>Map</vt:lpstr>
      <vt:lpstr>Map - iteration</vt:lpstr>
      <vt:lpstr>Map</vt:lpstr>
      <vt:lpstr>Further reading</vt:lpstr>
      <vt:lpstr>Equals() &amp; Hashcode()</vt:lpstr>
      <vt:lpstr>Equals() &amp; Hashcode()</vt:lpstr>
      <vt:lpstr>Equals() &amp; Hashcode()</vt:lpstr>
      <vt:lpstr>Equals() &amp; Hashcode()</vt:lpstr>
      <vt:lpstr>Lambda Expressions</vt:lpstr>
      <vt:lpstr>Functional interfaces </vt:lpstr>
      <vt:lpstr>Functional Interface   Predicate</vt:lpstr>
      <vt:lpstr>Functional Interfaces</vt:lpstr>
      <vt:lpstr>Stream API</vt:lpstr>
      <vt:lpstr>Stream API – another example with toList()</vt:lpstr>
      <vt:lpstr>Big O notation</vt:lpstr>
      <vt:lpstr>O(1) – constant time</vt:lpstr>
      <vt:lpstr>O(logn) – logarithmic Time</vt:lpstr>
      <vt:lpstr>O(n) – linear time</vt:lpstr>
      <vt:lpstr>O(n^2) – quadratic time</vt:lpstr>
      <vt:lpstr>Design Patterns</vt:lpstr>
      <vt:lpstr>Singleton</vt:lpstr>
      <vt:lpstr>FACTORY Design Pattern</vt:lpstr>
      <vt:lpstr>Observer Pattern</vt:lpstr>
      <vt:lpstr>DAO (data access object) Pattern</vt:lpstr>
      <vt:lpstr>I/o</vt:lpstr>
      <vt:lpstr>Serialization &amp; Deserialization</vt:lpstr>
      <vt:lpstr>CLEAN Code</vt:lpstr>
      <vt:lpstr>STOP</vt:lpstr>
      <vt:lpstr>JDBC</vt:lpstr>
      <vt:lpstr>JDBC interfaces</vt:lpstr>
      <vt:lpstr>Execute, excetuteQUery, &amp; executeupdate</vt:lpstr>
      <vt:lpstr>Resultlset methods</vt:lpstr>
      <vt:lpstr>Callable statement example – in &amp; out param</vt:lpstr>
      <vt:lpstr>Creating a connectionfactory utility class</vt:lpstr>
      <vt:lpstr>Using our utility class, preparedstatements, &amp; SQL Injection</vt:lpstr>
      <vt:lpstr>Connecting JDBC with RDS - Postgres</vt:lpstr>
      <vt:lpstr>STOP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612</cp:revision>
  <dcterms:created xsi:type="dcterms:W3CDTF">2025-02-12T19:53:45Z</dcterms:created>
  <dcterms:modified xsi:type="dcterms:W3CDTF">2026-09-24T16:35:48Z</dcterms:modified>
</cp:coreProperties>
</file>