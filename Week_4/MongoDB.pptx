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84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6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Nosql</a:t>
            </a:r>
            <a:r>
              <a:rPr lang="en-US" dirty="0"/>
              <a:t> &amp; MongoDB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B5F5-E1C8-8D79-76C3-B21797FF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creating a </a:t>
            </a:r>
            <a:r>
              <a:rPr lang="en-US" dirty="0" err="1"/>
              <a:t>mongodb</a:t>
            </a:r>
            <a:r>
              <a:rPr lang="en-US" dirty="0"/>
              <a:t> sandbox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AAB70-301F-035D-DBFF-A4F7B6DAC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" y="2258777"/>
            <a:ext cx="10288044" cy="627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91B78E-F6E0-7AAC-9536-ED9A37522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006" y="3284950"/>
            <a:ext cx="2745936" cy="3271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C288B3-9F72-42FC-6206-C9FC7B2A2EED}"/>
              </a:ext>
            </a:extLst>
          </p:cNvPr>
          <p:cNvSpPr txBox="1"/>
          <p:nvPr/>
        </p:nvSpPr>
        <p:spPr>
          <a:xfrm>
            <a:off x="1484334" y="3775125"/>
            <a:ext cx="50980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use the MongoDB VS code extension to interact with our database</a:t>
            </a:r>
          </a:p>
          <a:p>
            <a:endParaRPr lang="en-US" dirty="0"/>
          </a:p>
          <a:p>
            <a:r>
              <a:rPr lang="en-US" dirty="0"/>
              <a:t>Files ending with the ‘.mongodb.js’ extension will be recognized as a ‘MongoDB Playground’ </a:t>
            </a:r>
          </a:p>
        </p:txBody>
      </p:sp>
    </p:spTree>
    <p:extLst>
      <p:ext uri="{BB962C8B-B14F-4D97-AF65-F5344CB8AC3E}">
        <p14:creationId xmlns:p14="http://schemas.microsoft.com/office/powerpoint/2010/main" val="6296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0C25-E210-B378-BDBC-71E444A3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1C2A-6BA9-814E-0275-FFCE55CA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examples and a deeper dive on the options/syntax can be found in your course materials</a:t>
            </a:r>
          </a:p>
          <a:p>
            <a:r>
              <a:rPr lang="en-US" dirty="0"/>
              <a:t>‘sandbox.mongodb.js’ in your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399909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149D-02A9-14F8-1316-86B6EFCB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MongoDB?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D70F-1F43-A135-0FF4-67475B12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 is a popular, open-source </a:t>
            </a:r>
            <a:r>
              <a:rPr lang="en-US" b="1" dirty="0"/>
              <a:t>NoSQL database</a:t>
            </a:r>
            <a:r>
              <a:rPr lang="en-US" dirty="0"/>
              <a:t> designed to store data in flexible, JSON-like documents rather than traditional rows and tables. This architecture makes it highly scalable, fast, and adaptable for modern applications handling unstructured or rapidly evolving data.</a:t>
            </a:r>
          </a:p>
        </p:txBody>
      </p:sp>
    </p:spTree>
    <p:extLst>
      <p:ext uri="{BB962C8B-B14F-4D97-AF65-F5344CB8AC3E}">
        <p14:creationId xmlns:p14="http://schemas.microsoft.com/office/powerpoint/2010/main" val="25792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03CE-4517-E673-8E98-EBEEBAAE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4F35-6D5C-FF6B-80DE-069097BC9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449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understand how MongoDB organizes information, it helps to look at its fundamental building blocks and how they function:</a:t>
            </a:r>
          </a:p>
          <a:p>
            <a:pPr lvl="1"/>
            <a:r>
              <a:rPr lang="en-US" b="1" dirty="0"/>
              <a:t>Database:</a:t>
            </a:r>
            <a:r>
              <a:rPr lang="en-US" dirty="0"/>
              <a:t> A physical container for collections. Each database occupies its own set of files on the file system, and a single MongoDB instance can host multiple independent databases.</a:t>
            </a:r>
          </a:p>
          <a:p>
            <a:pPr lvl="1"/>
            <a:r>
              <a:rPr lang="en-US" b="1" dirty="0"/>
              <a:t>Collection:</a:t>
            </a:r>
            <a:r>
              <a:rPr lang="en-US" dirty="0"/>
              <a:t> A grouping of MongoDB documents. Collections are analogous to </a:t>
            </a:r>
            <a:r>
              <a:rPr lang="en-US" b="1" dirty="0"/>
              <a:t>tables</a:t>
            </a:r>
            <a:r>
              <a:rPr lang="en-US" dirty="0"/>
              <a:t> in relational databases. However, unlike tables, collections do not enforce a rigid schema, meaning documents within the same collection can have entirely different structures.</a:t>
            </a:r>
          </a:p>
          <a:p>
            <a:pPr lvl="1"/>
            <a:r>
              <a:rPr lang="en-US" b="1" dirty="0"/>
              <a:t>Document:</a:t>
            </a:r>
            <a:r>
              <a:rPr lang="en-US" dirty="0"/>
              <a:t> The basic unit of data in MongoDB, consisting of field-value pairs. Documents are stored in </a:t>
            </a:r>
            <a:r>
              <a:rPr lang="en-US" b="1" dirty="0"/>
              <a:t>BSON</a:t>
            </a:r>
            <a:r>
              <a:rPr lang="en-US" dirty="0"/>
              <a:t> (Binary JSON) format and are equivalent to </a:t>
            </a:r>
            <a:r>
              <a:rPr lang="en-US" b="1" dirty="0"/>
              <a:t>rows</a:t>
            </a:r>
            <a:r>
              <a:rPr lang="en-US" dirty="0"/>
              <a:t> in relational databases. They can easily represent complex hierarchical relationships using embedded sub-documents and arrays.</a:t>
            </a:r>
          </a:p>
          <a:p>
            <a:pPr lvl="1"/>
            <a:r>
              <a:rPr lang="en-US" b="1" dirty="0"/>
              <a:t>Field:</a:t>
            </a:r>
            <a:r>
              <a:rPr lang="en-US" dirty="0"/>
              <a:t> A key-value pair within a document. A field name is a string, and its value can range from standard data types (strings, numbers, </a:t>
            </a:r>
            <a:r>
              <a:rPr lang="en-US" dirty="0" err="1"/>
              <a:t>booleans</a:t>
            </a:r>
            <a:r>
              <a:rPr lang="en-US" dirty="0"/>
              <a:t>) to arrays or nested documents. Fields are equivalent to </a:t>
            </a:r>
            <a:r>
              <a:rPr lang="en-US" b="1" dirty="0"/>
              <a:t>columns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_id Field:</a:t>
            </a:r>
            <a:r>
              <a:rPr lang="en-US" dirty="0"/>
              <a:t> A mandatory unique identifier required for every document in a collection. It functions as the primary key and defaults to a 12-byte </a:t>
            </a:r>
            <a:r>
              <a:rPr lang="en-US" b="1" dirty="0" err="1"/>
              <a:t>ObjectId</a:t>
            </a:r>
            <a:r>
              <a:rPr lang="en-US" dirty="0"/>
              <a:t> if no custom ID is provided during creation.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8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9679-74C7-52A4-B58B-C7A14C7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Schema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CF8A-D091-0370-6908-ECB7E5CBB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26567"/>
          </a:xfrm>
        </p:spPr>
        <p:txBody>
          <a:bodyPr>
            <a:normAutofit/>
          </a:bodyPr>
          <a:lstStyle/>
          <a:p>
            <a:r>
              <a:rPr lang="en-US" dirty="0"/>
              <a:t>Because MongoDB is schema-less, your application code manages the data structure, offering incredible flexibility when your application requirements change over time.</a:t>
            </a:r>
          </a:p>
          <a:p>
            <a:r>
              <a:rPr lang="en-US" dirty="0"/>
              <a:t>This means that fields can be added dynamically (with the option to create defined, enforced schemas if needed) </a:t>
            </a:r>
          </a:p>
          <a:p>
            <a:r>
              <a:rPr lang="en-US" dirty="0"/>
              <a:t>So, by default: MongoDB operates on a </a:t>
            </a:r>
            <a:r>
              <a:rPr lang="en-US" b="1" dirty="0"/>
              <a:t>dynamic schema</a:t>
            </a:r>
            <a:r>
              <a:rPr lang="en-US" dirty="0"/>
              <a:t> (often called schema-less). You do not need to alter a table definition or pre-define columns before inserting data.</a:t>
            </a:r>
          </a:p>
          <a:p>
            <a:pPr lvl="1"/>
            <a:r>
              <a:rPr lang="en-US" dirty="0"/>
              <a:t>Here is how MongoDB handles your data and subsequent CRUD operations when fields change:</a:t>
            </a:r>
          </a:p>
          <a:p>
            <a:pPr lvl="1"/>
            <a:r>
              <a:rPr lang="en-US" b="1" dirty="0"/>
              <a:t>During Insertion:</a:t>
            </a:r>
            <a:r>
              <a:rPr lang="en-US" dirty="0"/>
              <a:t> If you insert a document with a brand-new field (e.g., adding </a:t>
            </a:r>
            <a:r>
              <a:rPr lang="en-US" dirty="0" err="1"/>
              <a:t>twitterHandle</a:t>
            </a:r>
            <a:r>
              <a:rPr lang="en-US" dirty="0"/>
              <a:t>: "@</a:t>
            </a:r>
            <a:r>
              <a:rPr lang="en-US" dirty="0" err="1"/>
              <a:t>johndoe</a:t>
            </a:r>
            <a:r>
              <a:rPr lang="en-US" dirty="0"/>
              <a:t>" to one user document while others don't have it), MongoDB accepts it immediately without complaints.</a:t>
            </a:r>
          </a:p>
          <a:p>
            <a:pPr lvl="1"/>
            <a:r>
              <a:rPr lang="en-US" b="1" dirty="0"/>
              <a:t>During Reads (Queries):</a:t>
            </a:r>
            <a:r>
              <a:rPr lang="en-US" dirty="0"/>
              <a:t> If you run a query looking for a field that doesn't exist in a particular document, MongoDB won't crash or throw an error. It simply ignores that document or treats the missing field as null or undefined.</a:t>
            </a:r>
          </a:p>
          <a:p>
            <a:pPr lvl="1"/>
            <a:r>
              <a:rPr lang="en-US" b="1" dirty="0"/>
              <a:t>During Updates:</a:t>
            </a:r>
            <a:r>
              <a:rPr lang="en-US" dirty="0"/>
              <a:t> You can add new fields to existing documents on the fly using update operators like $set, or remove them using $unset.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1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F143-45BD-D340-65EB-18C9B7A8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Enforcing Shema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100D-01A0-7DF3-9237-EB08C63D7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95205"/>
            <a:ext cx="11029615" cy="56270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can either enforce validation while creating a collection, or add validation after the collection already exists</a:t>
            </a:r>
          </a:p>
          <a:p>
            <a:r>
              <a:rPr lang="en-US" dirty="0" err="1"/>
              <a:t>additonalProperties</a:t>
            </a:r>
            <a:r>
              <a:rPr lang="en-US" dirty="0"/>
              <a:t> + </a:t>
            </a:r>
            <a:r>
              <a:rPr lang="en-US" dirty="0" err="1"/>
              <a:t>validationAction</a:t>
            </a:r>
            <a:r>
              <a:rPr lang="en-US" dirty="0"/>
              <a:t> – work in tandem to enforce the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B42AA-8E0C-46F1-2809-01392478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23" y="2457909"/>
            <a:ext cx="8124749" cy="430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92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A8AA-CD70-DF27-97A5-A15AA4E8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collection that is completely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6920-0841-342E-F06F-FD04E0C0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013799"/>
          </a:xfrm>
        </p:spPr>
        <p:txBody>
          <a:bodyPr>
            <a:normAutofit/>
          </a:bodyPr>
          <a:lstStyle/>
          <a:p>
            <a:r>
              <a:rPr lang="en-US" dirty="0"/>
              <a:t>These types of collections have no validation</a:t>
            </a:r>
          </a:p>
          <a:p>
            <a:r>
              <a:rPr lang="en-US" dirty="0"/>
              <a:t>We can also list the collections on a particular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E28EA-C3F4-4553-5F7D-9A2806A2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5" y="3995699"/>
            <a:ext cx="4648849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547670-4669-E12A-8894-C00C1536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355" y="4140630"/>
            <a:ext cx="4620270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E84F-58EA-E54C-6A2A-46FFFF06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basics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919F02-3719-9CA1-09F9-4ED0A65DC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887" y="2281789"/>
            <a:ext cx="10212225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6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2979-7028-0C41-82AD-29D09D20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basics – analogous to foreign keys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AB99BB-69D8-CF74-B0ED-CFA2BD685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179" y="2829553"/>
            <a:ext cx="728764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4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7E2D-9648-756B-4827-0F90EAFB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basics &amp; comparison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FA50-3608-F0E1-2AC6-FF437B40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256" y="3819101"/>
            <a:ext cx="9583487" cy="27132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Aside from $</a:t>
            </a:r>
            <a:r>
              <a:rPr lang="en-US" dirty="0" err="1"/>
              <a:t>gte</a:t>
            </a:r>
            <a:r>
              <a:rPr lang="en-US" dirty="0"/>
              <a:t>, there are many other comparison operators:</a:t>
            </a:r>
          </a:p>
          <a:p>
            <a:pPr marL="594000" lvl="2" indent="0">
              <a:buNone/>
            </a:pPr>
            <a:r>
              <a:rPr lang="en-US" dirty="0"/>
              <a:t>$</a:t>
            </a:r>
            <a:r>
              <a:rPr lang="en-US" dirty="0" err="1"/>
              <a:t>gt</a:t>
            </a:r>
            <a:r>
              <a:rPr lang="en-US" dirty="0"/>
              <a:t>: Greater than (e.g., { age: { $</a:t>
            </a:r>
            <a:r>
              <a:rPr lang="en-US" dirty="0" err="1"/>
              <a:t>gt</a:t>
            </a:r>
            <a:r>
              <a:rPr lang="en-US" dirty="0"/>
              <a:t>: 21 } })</a:t>
            </a:r>
          </a:p>
          <a:p>
            <a:pPr marL="594000" lvl="2" indent="0">
              <a:buNone/>
            </a:pPr>
            <a:r>
              <a:rPr lang="en-US" dirty="0"/>
              <a:t>$</a:t>
            </a:r>
            <a:r>
              <a:rPr lang="en-US" dirty="0" err="1"/>
              <a:t>lt</a:t>
            </a:r>
            <a:r>
              <a:rPr lang="en-US" dirty="0"/>
              <a:t>: Less than (e.g., { age: { $</a:t>
            </a:r>
            <a:r>
              <a:rPr lang="en-US" dirty="0" err="1"/>
              <a:t>lt</a:t>
            </a:r>
            <a:r>
              <a:rPr lang="en-US" dirty="0"/>
              <a:t>: 18 } })</a:t>
            </a:r>
          </a:p>
          <a:p>
            <a:pPr marL="594000" lvl="2" indent="0">
              <a:buNone/>
            </a:pPr>
            <a:r>
              <a:rPr lang="en-US" dirty="0"/>
              <a:t>$</a:t>
            </a:r>
            <a:r>
              <a:rPr lang="en-US" dirty="0" err="1"/>
              <a:t>lte</a:t>
            </a:r>
            <a:r>
              <a:rPr lang="en-US" dirty="0"/>
              <a:t>: Less than or equal to (e.g., { age: { $</a:t>
            </a:r>
            <a:r>
              <a:rPr lang="en-US" dirty="0" err="1"/>
              <a:t>lte</a:t>
            </a:r>
            <a:r>
              <a:rPr lang="en-US" dirty="0"/>
              <a:t>: 30 } })</a:t>
            </a:r>
          </a:p>
          <a:p>
            <a:pPr marL="594000" lvl="2" indent="0">
              <a:buNone/>
            </a:pPr>
            <a:r>
              <a:rPr lang="en-US" dirty="0"/>
              <a:t>$ne: Not equal to (e.g., { status: { $ne: 'graduated' } })</a:t>
            </a:r>
          </a:p>
          <a:p>
            <a:pPr marL="594000" lvl="2" indent="0">
              <a:buNone/>
            </a:pPr>
            <a:r>
              <a:rPr lang="en-US" dirty="0"/>
              <a:t>$in: Matches any value in an array. Perfect for checking multiple options at once.</a:t>
            </a:r>
          </a:p>
          <a:p>
            <a:pPr marL="594000" lvl="2" indent="0">
              <a:buNone/>
            </a:pPr>
            <a:r>
              <a:rPr lang="en-US" dirty="0"/>
              <a:t>Example: find students whose major is Computer Science or Mathematics</a:t>
            </a:r>
          </a:p>
          <a:p>
            <a:pPr marL="594000" lvl="2" indent="0">
              <a:buNone/>
            </a:pPr>
            <a:r>
              <a:rPr lang="en-US" dirty="0" err="1"/>
              <a:t>schoolDB.students.find</a:t>
            </a:r>
            <a:r>
              <a:rPr lang="en-US" dirty="0"/>
              <a:t>({ major: { $in: ['Computer Science', 'Mathematics'] } });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CFAC4-2A8F-0BD6-C083-1A9877F7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56" y="2266934"/>
            <a:ext cx="9583487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2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D33E-4AC3-75FA-B1C4-2AC88AFB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BA958-6C06-3CE4-5390-D3968507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students who are either majoring in CS or are older than 25</a:t>
            </a:r>
          </a:p>
          <a:p>
            <a:r>
              <a:rPr lang="en-US" dirty="0" err="1"/>
              <a:t>schoolDB.students.find</a:t>
            </a:r>
            <a:r>
              <a:rPr lang="en-US" dirty="0"/>
              <a:t>({ $or: [{ major: 'Computer Science' }, { age: { $</a:t>
            </a:r>
            <a:r>
              <a:rPr lang="en-US" dirty="0" err="1"/>
              <a:t>gt</a:t>
            </a:r>
            <a:r>
              <a:rPr lang="en-US" dirty="0"/>
              <a:t>: 25 } }] });</a:t>
            </a:r>
          </a:p>
          <a:p>
            <a:r>
              <a:rPr lang="en-US" dirty="0"/>
              <a:t>There is also:</a:t>
            </a:r>
          </a:p>
          <a:p>
            <a:pPr lvl="1"/>
            <a:r>
              <a:rPr lang="en-US" dirty="0"/>
              <a:t>$and: Joins query clauses with a logical AND (though MongoDB implicitly uses an AND if you list multiple fields, $and is helpful when you need to apply multiple conditions to the same field).</a:t>
            </a:r>
          </a:p>
          <a:p>
            <a:pPr lvl="1"/>
            <a:r>
              <a:rPr lang="en-US" dirty="0"/>
              <a:t>$not: Inverts the effect of a query expression.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29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D7D8-D04B-7BA6-78A2-F4C1F771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0DDF0-F390-76CA-3D93-8E13AC6DC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students who have a twitter handle saved</a:t>
            </a:r>
          </a:p>
          <a:p>
            <a:r>
              <a:rPr lang="en-US" dirty="0" err="1"/>
              <a:t>schoolDB.students.find</a:t>
            </a:r>
            <a:r>
              <a:rPr lang="en-US" dirty="0"/>
              <a:t>({ </a:t>
            </a:r>
            <a:r>
              <a:rPr lang="en-US" dirty="0" err="1"/>
              <a:t>twitterHandle</a:t>
            </a:r>
            <a:r>
              <a:rPr lang="en-US" dirty="0"/>
              <a:t>: { $exists: true } });</a:t>
            </a:r>
          </a:p>
          <a:p>
            <a:r>
              <a:rPr lang="en-US" dirty="0"/>
              <a:t>There is also:</a:t>
            </a:r>
          </a:p>
          <a:p>
            <a:pPr lvl="1"/>
            <a:r>
              <a:rPr lang="en-US" dirty="0"/>
              <a:t>$type: Matches documents where a field is of a specific BSON data type (like "string" or "int").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04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525F-C9FA-7074-6289-8BEA1E05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nested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72D3-2C6B-F5C1-73C8-B0A050C0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0761" y="4922729"/>
            <a:ext cx="6336455" cy="1405796"/>
          </a:xfrm>
        </p:spPr>
        <p:txBody>
          <a:bodyPr>
            <a:normAutofit/>
          </a:bodyPr>
          <a:lstStyle/>
          <a:p>
            <a:r>
              <a:rPr lang="en-US" dirty="0"/>
              <a:t>We can use dot notation to find all students living in </a:t>
            </a:r>
            <a:r>
              <a:rPr lang="en-US" dirty="0" err="1"/>
              <a:t>boston</a:t>
            </a:r>
            <a:r>
              <a:rPr lang="en-US" dirty="0"/>
              <a:t>:</a:t>
            </a:r>
          </a:p>
          <a:p>
            <a:r>
              <a:rPr lang="en-US" dirty="0" err="1"/>
              <a:t>schoolDB.students.find</a:t>
            </a:r>
            <a:r>
              <a:rPr lang="en-US" dirty="0"/>
              <a:t>({ "</a:t>
            </a:r>
            <a:r>
              <a:rPr lang="en-US" dirty="0" err="1"/>
              <a:t>address.city</a:t>
            </a:r>
            <a:r>
              <a:rPr lang="en-US" dirty="0"/>
              <a:t>": "Boston" });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7C2C9-D241-A31A-8B84-50BD35107485}"/>
              </a:ext>
            </a:extLst>
          </p:cNvPr>
          <p:cNvSpPr txBox="1"/>
          <p:nvPr/>
        </p:nvSpPr>
        <p:spPr>
          <a:xfrm>
            <a:off x="3681087" y="2274838"/>
            <a:ext cx="37405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Imagine a document like this: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   name: "Alice",</a:t>
            </a:r>
          </a:p>
          <a:p>
            <a:pPr marL="0" indent="0">
              <a:buNone/>
            </a:pPr>
            <a:r>
              <a:rPr lang="en-US" sz="1800" dirty="0"/>
              <a:t>   address: {</a:t>
            </a:r>
          </a:p>
          <a:p>
            <a:pPr marL="0" indent="0">
              <a:buNone/>
            </a:pPr>
            <a:r>
              <a:rPr lang="en-US" sz="1800" dirty="0"/>
              <a:t>      city: "Boston",</a:t>
            </a:r>
          </a:p>
          <a:p>
            <a:pPr marL="0" indent="0">
              <a:buNone/>
            </a:pPr>
            <a:r>
              <a:rPr lang="en-US" sz="1800" dirty="0"/>
              <a:t>      zip: "02115"</a:t>
            </a:r>
          </a:p>
          <a:p>
            <a:pPr marL="0" indent="0">
              <a:buNone/>
            </a:pPr>
            <a:r>
              <a:rPr lang="en-US" sz="1800" dirty="0"/>
              <a:t>   }</a:t>
            </a:r>
          </a:p>
          <a:p>
            <a:pPr marL="0" indent="0">
              <a:buNone/>
            </a:pPr>
            <a:r>
              <a:rPr lang="en-US" sz="18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186448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C8D0-B4A3-F7C2-871B-9B4AF8EC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nested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4003-9BEA-0D91-D6A6-3D4A6AE8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any student who has 'CS101' anywhere in their </a:t>
            </a:r>
            <a:r>
              <a:rPr lang="en-US" dirty="0" err="1"/>
              <a:t>enrolledCourses</a:t>
            </a:r>
            <a:r>
              <a:rPr lang="en-US" dirty="0"/>
              <a:t> array</a:t>
            </a:r>
          </a:p>
          <a:p>
            <a:r>
              <a:rPr lang="en-US" dirty="0" err="1"/>
              <a:t>schoolDB.students.find</a:t>
            </a:r>
            <a:r>
              <a:rPr lang="en-US" dirty="0"/>
              <a:t>({ </a:t>
            </a:r>
            <a:r>
              <a:rPr lang="en-US" dirty="0" err="1"/>
              <a:t>enrolledCourses</a:t>
            </a:r>
            <a:r>
              <a:rPr lang="en-US" dirty="0"/>
              <a:t>: "CS101" });</a:t>
            </a:r>
          </a:p>
          <a:p>
            <a:endParaRPr lang="en-US" dirty="0"/>
          </a:p>
          <a:p>
            <a:r>
              <a:rPr lang="en-US" dirty="0"/>
              <a:t>Find students who are enrolled in BOTH CS101 and MATH201</a:t>
            </a:r>
          </a:p>
          <a:p>
            <a:r>
              <a:rPr lang="en-US" dirty="0" err="1"/>
              <a:t>schoolDB.students.find</a:t>
            </a:r>
            <a:r>
              <a:rPr lang="en-US" dirty="0"/>
              <a:t>({ </a:t>
            </a:r>
            <a:r>
              <a:rPr lang="en-US" dirty="0" err="1"/>
              <a:t>enrolledCourses</a:t>
            </a:r>
            <a:r>
              <a:rPr lang="en-US" dirty="0"/>
              <a:t>: { $all: ["CS101", "MATH201"] } 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13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FE4F-A56E-59E2-A417-1D41E054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arrays of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E0B06-2F46-6A9A-1E36-6E21A389990F}"/>
              </a:ext>
            </a:extLst>
          </p:cNvPr>
          <p:cNvSpPr txBox="1"/>
          <p:nvPr/>
        </p:nvSpPr>
        <p:spPr>
          <a:xfrm>
            <a:off x="718681" y="2780514"/>
            <a:ext cx="37405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Consider the following document: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name: "Alice",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grades: [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   { course: "CS101", score: 75 },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   { course: "MATH201", score: 92 }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]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} </a:t>
            </a: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44607-9746-A618-D274-59F08A73FEB3}"/>
              </a:ext>
            </a:extLst>
          </p:cNvPr>
          <p:cNvSpPr txBox="1"/>
          <p:nvPr/>
        </p:nvSpPr>
        <p:spPr>
          <a:xfrm>
            <a:off x="5240577" y="2494067"/>
            <a:ext cx="60970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We could find a student who has a course matching both criteria (course is "CS101" and score is greater than 80), a regular query might accidentally match across different elements in the array. To guarantee the conditions are met by the same single object inside the array, you use $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elemMatch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schoolDB.students.find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 grades: 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    $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elemMatch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: { course: "CS101", score: { $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gt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: 80 } }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   }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});</a:t>
            </a: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1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ABF2-8160-F71A-A5AF-E1018E50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basics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ED56A-E51B-A428-9FF2-6040E63D1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966" y="2076261"/>
            <a:ext cx="10336067" cy="2705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5C1E7-6CDC-CE01-E57A-023CA6273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40" y="5038206"/>
            <a:ext cx="854511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39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6892-2B00-3388-3038-0C15CB0D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61E60-2E5D-BBDC-AFA1-551B216AF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970751"/>
            <a:ext cx="11029615" cy="2411259"/>
          </a:xfrm>
        </p:spPr>
        <p:txBody>
          <a:bodyPr>
            <a:normAutofit/>
          </a:bodyPr>
          <a:lstStyle/>
          <a:p>
            <a:r>
              <a:rPr lang="en-US" dirty="0"/>
              <a:t>$push = adds items to arrays (and creates the array if it </a:t>
            </a:r>
            <a:r>
              <a:rPr lang="en-US" dirty="0" err="1"/>
              <a:t>doesnt's</a:t>
            </a:r>
            <a:r>
              <a:rPr lang="en-US" dirty="0"/>
              <a:t> exist and JSON validation allows it)</a:t>
            </a:r>
          </a:p>
          <a:p>
            <a:r>
              <a:rPr lang="en-US" dirty="0"/>
              <a:t>$</a:t>
            </a:r>
            <a:r>
              <a:rPr lang="en-US" dirty="0" err="1"/>
              <a:t>addToSet</a:t>
            </a:r>
            <a:r>
              <a:rPr lang="en-US" dirty="0"/>
              <a:t> = adds an item to an array only if it doesn't already exist, i.e. prevents duplicates</a:t>
            </a:r>
          </a:p>
          <a:p>
            <a:r>
              <a:rPr lang="en-US" dirty="0"/>
              <a:t>$pull = { $pull: { </a:t>
            </a:r>
            <a:r>
              <a:rPr lang="en-US" dirty="0" err="1"/>
              <a:t>enrolledCourses</a:t>
            </a:r>
            <a:r>
              <a:rPr lang="en-US" dirty="0"/>
              <a:t>: 'CS101' } } --- removes specific item from array by value or condition</a:t>
            </a:r>
          </a:p>
          <a:p>
            <a:r>
              <a:rPr lang="en-US" dirty="0"/>
              <a:t>$</a:t>
            </a:r>
            <a:r>
              <a:rPr lang="en-US" dirty="0" err="1"/>
              <a:t>pullAll</a:t>
            </a:r>
            <a:r>
              <a:rPr lang="en-US" dirty="0"/>
              <a:t> = remove more than one item  ex: { $</a:t>
            </a:r>
            <a:r>
              <a:rPr lang="en-US" dirty="0" err="1"/>
              <a:t>pullAll</a:t>
            </a:r>
            <a:r>
              <a:rPr lang="en-US" dirty="0"/>
              <a:t>: { </a:t>
            </a:r>
            <a:r>
              <a:rPr lang="en-US" dirty="0" err="1"/>
              <a:t>enrolledCourses</a:t>
            </a:r>
            <a:r>
              <a:rPr lang="en-US" dirty="0"/>
              <a:t>: ['CS101', 'MATH201'] } }</a:t>
            </a:r>
          </a:p>
          <a:p>
            <a:r>
              <a:rPr lang="en-US" dirty="0"/>
              <a:t>$pop = removes items from front of array with '-1' or end of array with '1'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3E3CF-37AE-52EF-BEBF-7D3F6FF92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3" y="2092568"/>
            <a:ext cx="9107171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04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D6B8-FA3E-08DE-780A-73E51867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basics + dropping a collection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10994A-3F35-C958-D25E-4F484CFCB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495" y="3469403"/>
            <a:ext cx="633500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38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075E-33D6-5395-D093-01567409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F01A-D2E6-98A7-2D67-3C5A62EE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8403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$lookup – left join </a:t>
            </a:r>
          </a:p>
          <a:p>
            <a:r>
              <a:rPr lang="en-US" dirty="0"/>
              <a:t>$unwind – flattens array</a:t>
            </a:r>
          </a:p>
          <a:p>
            <a:r>
              <a:rPr lang="en-US" dirty="0"/>
              <a:t>$project -  decides what fields appear in final output</a:t>
            </a:r>
          </a:p>
          <a:p>
            <a:r>
              <a:rPr lang="en-US" dirty="0"/>
              <a:t>Note: other JOIN types discussed in provided course materials: ‘sandbox.mongodb.js’</a:t>
            </a:r>
          </a:p>
          <a:p>
            <a:pPr lvl="1"/>
            <a:r>
              <a:rPr lang="en-US" dirty="0"/>
              <a:t>TLDR: Mongo has no equivalent RIGHT JOIN or FULL OUTER JOIN. We could do a CROSS JOIN (expensive) or INNER JOIN (with $match)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A64D4-2A0C-6842-7E8E-2009E983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8" y="4156072"/>
            <a:ext cx="8201000" cy="1684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67A87E-0FD4-EFF2-3238-8349E7F45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452" y="4284907"/>
            <a:ext cx="264832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03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86D6-838F-9332-4DE8-274E3C17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Sort, limit, &amp; aggregate basics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EF654-E3E5-1997-6881-55E62EE8D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940" y="3234422"/>
            <a:ext cx="10174120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98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1574-1968-1C00-6C7D-CB2EBE11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query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D16A-0597-6541-98DB-A26FF2FA4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62406"/>
            <a:ext cx="11029615" cy="3663862"/>
          </a:xfrm>
        </p:spPr>
        <p:txBody>
          <a:bodyPr>
            <a:normAutofit/>
          </a:bodyPr>
          <a:lstStyle/>
          <a:p>
            <a:r>
              <a:rPr lang="en-US" dirty="0" err="1"/>
              <a:t>schoolDB.students.find</a:t>
            </a:r>
            <a:r>
              <a:rPr lang="en-US" dirty="0"/>
              <a:t>(...).explain()</a:t>
            </a:r>
          </a:p>
          <a:p>
            <a:pPr lvl="1"/>
            <a:r>
              <a:rPr lang="en-US" dirty="0"/>
              <a:t>What it does: Shows you the planned path (e.g., whether it chose a collection scan COLLSCAN or an index scan IXSCAN) without actually running the query.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schoolDB.students.find</a:t>
            </a:r>
            <a:r>
              <a:rPr lang="en-US" dirty="0"/>
              <a:t>(...).explain('</a:t>
            </a:r>
            <a:r>
              <a:rPr lang="en-US" dirty="0" err="1"/>
              <a:t>executionStats</a:t>
            </a:r>
            <a:r>
              <a:rPr lang="en-US" dirty="0"/>
              <a:t>')</a:t>
            </a:r>
          </a:p>
          <a:p>
            <a:pPr lvl="1"/>
            <a:r>
              <a:rPr lang="en-US" dirty="0"/>
              <a:t>What it does: Runs the query, measures the exact time, and shows execution metrics. This is the one you will use 90% of the time to tune performance.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schoolDB.students.find</a:t>
            </a:r>
            <a:r>
              <a:rPr lang="en-US" dirty="0"/>
              <a:t>(...).explain('</a:t>
            </a:r>
            <a:r>
              <a:rPr lang="en-US" dirty="0" err="1"/>
              <a:t>allPlansExecution</a:t>
            </a:r>
            <a:r>
              <a:rPr lang="en-US" dirty="0"/>
              <a:t>')</a:t>
            </a:r>
          </a:p>
          <a:p>
            <a:pPr lvl="1"/>
            <a:r>
              <a:rPr lang="en-US" dirty="0"/>
              <a:t>What it does: Runs the winning plan plus all the other candidate plans MongoDB considered, showing why it chose the one it did.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FEB0A0-70A9-CEDB-BC23-5F2829E4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73" y="2277411"/>
            <a:ext cx="8449854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9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mini-project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726446"/>
            <a:ext cx="5317584" cy="1681246"/>
          </a:xfrm>
        </p:spPr>
        <p:txBody>
          <a:bodyPr/>
          <a:lstStyle/>
          <a:p>
            <a:r>
              <a:rPr lang="en-US" dirty="0"/>
              <a:t>To test everything you've learned, you are now the lead database architect for </a:t>
            </a:r>
            <a:r>
              <a:rPr lang="en-US" b="1" dirty="0" err="1"/>
              <a:t>GadgetGalaxy</a:t>
            </a:r>
            <a:r>
              <a:rPr lang="en-US" dirty="0"/>
              <a:t>, a fast-growing online tech store. You will build and manage a new database called </a:t>
            </a:r>
            <a:r>
              <a:rPr lang="en-US" dirty="0" err="1"/>
              <a:t>gadgetStore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6" y="2402747"/>
            <a:ext cx="2720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Requirements: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3315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a collection named </a:t>
            </a:r>
            <a:r>
              <a:rPr lang="en-US" b="1" dirty="0"/>
              <a:t>products</a:t>
            </a:r>
            <a:r>
              <a:rPr lang="en-US" dirty="0"/>
              <a:t> with a JSON Schema validator requiring:</a:t>
            </a:r>
          </a:p>
          <a:p>
            <a:pPr lvl="1"/>
            <a:r>
              <a:rPr lang="en-US" dirty="0"/>
              <a:t>name (must be a string)</a:t>
            </a:r>
          </a:p>
          <a:p>
            <a:pPr lvl="1"/>
            <a:r>
              <a:rPr lang="en-US" dirty="0"/>
              <a:t>price (must be an integer or double)</a:t>
            </a:r>
          </a:p>
          <a:p>
            <a:pPr lvl="1"/>
            <a:r>
              <a:rPr lang="en-US" dirty="0" err="1"/>
              <a:t>inStock</a:t>
            </a:r>
            <a:r>
              <a:rPr lang="en-US" dirty="0"/>
              <a:t> (must be a </a:t>
            </a:r>
            <a:r>
              <a:rPr lang="en-US" dirty="0" err="1"/>
              <a:t>boolean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Use </a:t>
            </a:r>
            <a:r>
              <a:rPr lang="en-US" b="1" dirty="0" err="1"/>
              <a:t>insertMany</a:t>
            </a:r>
            <a:r>
              <a:rPr lang="en-US" b="1" dirty="0"/>
              <a:t>()</a:t>
            </a:r>
            <a:r>
              <a:rPr lang="en-US" dirty="0"/>
              <a:t> to add at least </a:t>
            </a:r>
            <a:r>
              <a:rPr lang="en-US" b="1" dirty="0"/>
              <a:t>three different gadgets</a:t>
            </a:r>
            <a:r>
              <a:rPr lang="en-US" dirty="0"/>
              <a:t> (e.g., Wireless Mouse, Mechanical Keyboard, Gaming Monitor).</a:t>
            </a:r>
          </a:p>
          <a:p>
            <a:pPr lvl="0"/>
            <a:r>
              <a:rPr lang="en-US" dirty="0"/>
              <a:t>Make sure they match your schema, and include a nested </a:t>
            </a:r>
            <a:r>
              <a:rPr lang="en-US" b="1" dirty="0"/>
              <a:t>specs</a:t>
            </a:r>
            <a:r>
              <a:rPr lang="en-US" dirty="0"/>
              <a:t> sub-document with a brand field (e.g., specs: { brand: "Logitech" }).</a:t>
            </a:r>
          </a:p>
          <a:p>
            <a:pPr lvl="0"/>
            <a:r>
              <a:rPr lang="en-US" dirty="0"/>
              <a:t>Test your validation by trying to </a:t>
            </a:r>
            <a:r>
              <a:rPr lang="en-US" b="1" dirty="0" err="1"/>
              <a:t>insertOne</a:t>
            </a:r>
            <a:r>
              <a:rPr lang="en-US" b="1" dirty="0"/>
              <a:t>()</a:t>
            </a:r>
            <a:r>
              <a:rPr lang="en-US" dirty="0"/>
              <a:t> a product that violates your rules (like missing the price field or giving it the wrong data type).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8482-6D4E-0684-863C-2F0FF686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1812-B363-8154-63EA-299F6D5B3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- continued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6DD8B-41A3-6CD0-F916-BCBAC474E0F5}"/>
              </a:ext>
            </a:extLst>
          </p:cNvPr>
          <p:cNvSpPr txBox="1"/>
          <p:nvPr/>
        </p:nvSpPr>
        <p:spPr>
          <a:xfrm>
            <a:off x="4489536" y="1920852"/>
            <a:ext cx="3212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Requirements - continued: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B6A8E6-D756-A41C-84F9-FD725C65AD16}"/>
              </a:ext>
            </a:extLst>
          </p:cNvPr>
          <p:cNvSpPr txBox="1">
            <a:spLocks/>
          </p:cNvSpPr>
          <p:nvPr/>
        </p:nvSpPr>
        <p:spPr>
          <a:xfrm>
            <a:off x="581192" y="2840274"/>
            <a:ext cx="4661642" cy="3315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Choose one product and use </a:t>
            </a:r>
            <a:r>
              <a:rPr lang="en-US" b="1" dirty="0" err="1"/>
              <a:t>updateOne</a:t>
            </a:r>
            <a:r>
              <a:rPr lang="en-US" b="1" dirty="0"/>
              <a:t>()</a:t>
            </a:r>
            <a:r>
              <a:rPr lang="en-US" dirty="0"/>
              <a:t> with </a:t>
            </a:r>
            <a:r>
              <a:rPr lang="en-US" b="1" dirty="0"/>
              <a:t>$set</a:t>
            </a:r>
            <a:r>
              <a:rPr lang="en-US" dirty="0"/>
              <a:t> to add a new top-level field called category with the value "Accessories".</a:t>
            </a:r>
          </a:p>
          <a:p>
            <a:pPr lvl="0"/>
            <a:r>
              <a:rPr lang="en-US" dirty="0"/>
              <a:t>Use </a:t>
            </a:r>
            <a:r>
              <a:rPr lang="en-US" b="1" dirty="0"/>
              <a:t>$</a:t>
            </a:r>
            <a:r>
              <a:rPr lang="en-US" b="1" dirty="0" err="1"/>
              <a:t>inc</a:t>
            </a:r>
            <a:r>
              <a:rPr lang="en-US" dirty="0"/>
              <a:t> to increase its price by 15 dollars.</a:t>
            </a:r>
          </a:p>
          <a:p>
            <a:pPr lvl="0"/>
            <a:r>
              <a:rPr lang="en-US" dirty="0"/>
              <a:t>Add an array field called </a:t>
            </a:r>
            <a:r>
              <a:rPr lang="en-US" b="1" dirty="0"/>
              <a:t>tags</a:t>
            </a:r>
            <a:r>
              <a:rPr lang="en-US" dirty="0"/>
              <a:t> to that product using </a:t>
            </a:r>
            <a:r>
              <a:rPr lang="en-US" b="1" dirty="0"/>
              <a:t>$push</a:t>
            </a:r>
            <a:r>
              <a:rPr lang="en-US" dirty="0"/>
              <a:t> to add "wireless". Then, use </a:t>
            </a:r>
            <a:r>
              <a:rPr lang="en-US" b="1" dirty="0"/>
              <a:t>$push</a:t>
            </a:r>
            <a:r>
              <a:rPr lang="en-US" dirty="0"/>
              <a:t> again to add "bestseller".</a:t>
            </a:r>
          </a:p>
          <a:p>
            <a:pPr lvl="0"/>
            <a:r>
              <a:rPr lang="en-US" dirty="0"/>
              <a:t>Decide you don't want "wireless" after all, and use </a:t>
            </a:r>
            <a:r>
              <a:rPr lang="en-US" b="1" dirty="0"/>
              <a:t>$pull</a:t>
            </a:r>
            <a:r>
              <a:rPr lang="en-US" dirty="0"/>
              <a:t> to remove it from the tags array.</a:t>
            </a:r>
          </a:p>
          <a:p>
            <a:pPr lvl="0"/>
            <a:r>
              <a:rPr lang="en-US" dirty="0"/>
              <a:t>Find all products priced greater than or equal to a certain amount using </a:t>
            </a:r>
            <a:r>
              <a:rPr lang="en-US" b="1" dirty="0"/>
              <a:t>$</a:t>
            </a:r>
            <a:r>
              <a:rPr lang="en-US" b="1" dirty="0" err="1"/>
              <a:t>gte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Find all products made by a specific brand using </a:t>
            </a:r>
            <a:r>
              <a:rPr lang="en-US" b="1" dirty="0"/>
              <a:t>dot notation</a:t>
            </a:r>
            <a:r>
              <a:rPr lang="en-US" dirty="0"/>
              <a:t> (e.g., "</a:t>
            </a:r>
            <a:r>
              <a:rPr lang="en-US" dirty="0" err="1"/>
              <a:t>specs.brand</a:t>
            </a:r>
            <a:r>
              <a:rPr lang="en-US" dirty="0"/>
              <a:t>").</a:t>
            </a:r>
          </a:p>
          <a:p>
            <a:pPr lvl="0"/>
            <a:r>
              <a:rPr lang="en-US" dirty="0"/>
              <a:t>Find products whose category matches one in a list using </a:t>
            </a:r>
            <a:r>
              <a:rPr lang="en-US" b="1" dirty="0"/>
              <a:t>$in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D10D9-ED19-5E75-8990-A0B1C63DE63C}"/>
              </a:ext>
            </a:extLst>
          </p:cNvPr>
          <p:cNvSpPr txBox="1"/>
          <p:nvPr/>
        </p:nvSpPr>
        <p:spPr>
          <a:xfrm>
            <a:off x="5597569" y="2922391"/>
            <a:ext cx="60970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Create a second collection named </a:t>
            </a:r>
            <a:r>
              <a:rPr lang="en-US" sz="1400" b="1" dirty="0"/>
              <a:t>orders</a:t>
            </a:r>
            <a:r>
              <a:rPr lang="en-US" sz="1400" dirty="0"/>
              <a:t>.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Insert a document into orders that links a product's _id to an order (e.g., { </a:t>
            </a:r>
            <a:r>
              <a:rPr lang="en-US" sz="1400" dirty="0" err="1"/>
              <a:t>productId</a:t>
            </a:r>
            <a:r>
              <a:rPr lang="en-US" sz="1400" dirty="0"/>
              <a:t>: &lt;</a:t>
            </a:r>
            <a:r>
              <a:rPr lang="en-US" sz="1400" dirty="0" err="1"/>
              <a:t>ObjectId_from_product</a:t>
            </a:r>
            <a:r>
              <a:rPr lang="en-US" sz="1400" dirty="0"/>
              <a:t>&gt;, quantity: 2 }).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Write an aggregation pipeline on the orders collection using </a:t>
            </a:r>
            <a:r>
              <a:rPr lang="en-US" sz="1400" b="1" dirty="0"/>
              <a:t>$lookup</a:t>
            </a:r>
            <a:r>
              <a:rPr lang="en-US" sz="1400" dirty="0"/>
              <a:t> and </a:t>
            </a:r>
            <a:r>
              <a:rPr lang="en-US" sz="1400" b="1" dirty="0"/>
              <a:t>$unwind</a:t>
            </a:r>
            <a:r>
              <a:rPr lang="en-US" sz="1400" dirty="0"/>
              <a:t> to join orders with products.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Use </a:t>
            </a:r>
            <a:r>
              <a:rPr lang="en-US" sz="1400" b="1" dirty="0"/>
              <a:t>$project</a:t>
            </a:r>
            <a:r>
              <a:rPr lang="en-US" sz="1400" dirty="0"/>
              <a:t> to output a clean customer receipt showing: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The product name ($product.name)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The ordered quantity (quantity)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Hiding the _id field.</a:t>
            </a:r>
          </a:p>
        </p:txBody>
      </p:sp>
    </p:spTree>
    <p:extLst>
      <p:ext uri="{BB962C8B-B14F-4D97-AF65-F5344CB8AC3E}">
        <p14:creationId xmlns:p14="http://schemas.microsoft.com/office/powerpoint/2010/main" val="106630639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3294</TotalTime>
  <Words>1903</Words>
  <Application>Microsoft Office PowerPoint</Application>
  <PresentationFormat>Widescreen</PresentationFormat>
  <Paragraphs>135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Consolas</vt:lpstr>
      <vt:lpstr>Gill Sans MT</vt:lpstr>
      <vt:lpstr>Wingdings</vt:lpstr>
      <vt:lpstr>Wingdings 2</vt:lpstr>
      <vt:lpstr>Dividend</vt:lpstr>
      <vt:lpstr>Nosql &amp; MongoDB</vt:lpstr>
      <vt:lpstr>Docker – creating a mongodb sandbox</vt:lpstr>
      <vt:lpstr>Note</vt:lpstr>
      <vt:lpstr>What is MongoDB?</vt:lpstr>
      <vt:lpstr>MongoDB constructs</vt:lpstr>
      <vt:lpstr>Mongodb Schema concerns</vt:lpstr>
      <vt:lpstr>Enforcing Shema validation</vt:lpstr>
      <vt:lpstr>Creating a collection that is completely dynamic</vt:lpstr>
      <vt:lpstr>Insert basics</vt:lpstr>
      <vt:lpstr>Reference basics – analogous to foreign keys</vt:lpstr>
      <vt:lpstr>Query basics &amp; comparison operators</vt:lpstr>
      <vt:lpstr>Logical Operators</vt:lpstr>
      <vt:lpstr>Element Operators</vt:lpstr>
      <vt:lpstr>Querying nested objects</vt:lpstr>
      <vt:lpstr>Querying nested arrays</vt:lpstr>
      <vt:lpstr>Querying arrays of objects</vt:lpstr>
      <vt:lpstr>Update basics</vt:lpstr>
      <vt:lpstr>Working with arrays</vt:lpstr>
      <vt:lpstr>Delete basics + dropping a collection</vt:lpstr>
      <vt:lpstr>Performing joins</vt:lpstr>
      <vt:lpstr>Sort, limit, &amp; aggregate basics</vt:lpstr>
      <vt:lpstr>Measuring query performance</vt:lpstr>
      <vt:lpstr>Challenge – mini-project</vt:lpstr>
      <vt:lpstr>Challenge -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622</cp:revision>
  <dcterms:created xsi:type="dcterms:W3CDTF">2025-02-12T19:53:45Z</dcterms:created>
  <dcterms:modified xsi:type="dcterms:W3CDTF">2026-09-19T22:59:37Z</dcterms:modified>
</cp:coreProperties>
</file>