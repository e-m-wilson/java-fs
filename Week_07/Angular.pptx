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346" r:id="rId3"/>
    <p:sldId id="263" r:id="rId4"/>
    <p:sldId id="264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262" r:id="rId13"/>
    <p:sldId id="354" r:id="rId14"/>
    <p:sldId id="355" r:id="rId15"/>
    <p:sldId id="364" r:id="rId16"/>
    <p:sldId id="305" r:id="rId17"/>
    <p:sldId id="356" r:id="rId18"/>
    <p:sldId id="357" r:id="rId19"/>
    <p:sldId id="358" r:id="rId20"/>
    <p:sldId id="359" r:id="rId21"/>
    <p:sldId id="360" r:id="rId22"/>
    <p:sldId id="361" r:id="rId23"/>
    <p:sldId id="362" r:id="rId24"/>
    <p:sldId id="366" r:id="rId25"/>
    <p:sldId id="36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54" d="100"/>
          <a:sy n="54" d="100"/>
        </p:scale>
        <p:origin x="6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Angular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B767D-9794-541A-3195-1CF4492B1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MPA vs SPA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3475F-E790-9AAC-4210-92A9275F3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Single-Page Application</a:t>
            </a:r>
            <a:r>
              <a:rPr lang="en-US" dirty="0"/>
              <a:t> is a web application that loads </a:t>
            </a:r>
            <a:r>
              <a:rPr lang="en-US" b="1" dirty="0"/>
              <a:t>one main HTML page</a:t>
            </a:r>
            <a:r>
              <a:rPr lang="en-US" dirty="0"/>
              <a:t> and dynamically updates its content as the user interacts with it, without fully reloading the page.</a:t>
            </a:r>
          </a:p>
          <a:p>
            <a:pPr lvl="1"/>
            <a:r>
              <a:rPr lang="en-US" b="1" dirty="0"/>
              <a:t>How it works:</a:t>
            </a:r>
            <a:endParaRPr lang="en-US" dirty="0"/>
          </a:p>
          <a:p>
            <a:pPr lvl="1"/>
            <a:r>
              <a:rPr lang="en-US" dirty="0"/>
              <a:t>The browser initially loads the application.</a:t>
            </a:r>
          </a:p>
          <a:p>
            <a:pPr lvl="1"/>
            <a:r>
              <a:rPr lang="en-US" dirty="0"/>
              <a:t>JavaScript retrieves and displays new data as needed.</a:t>
            </a:r>
          </a:p>
          <a:p>
            <a:pPr lvl="1"/>
            <a:r>
              <a:rPr lang="en-US" dirty="0"/>
              <a:t>Navigation usually happens without a complete page refresh.</a:t>
            </a:r>
          </a:p>
          <a:p>
            <a:pPr lvl="1"/>
            <a:r>
              <a:rPr lang="en-US" dirty="0"/>
              <a:t>Frameworks such as React, Angular, and Vue are commonly used.</a:t>
            </a:r>
          </a:p>
          <a:p>
            <a:r>
              <a:rPr lang="en-US" dirty="0"/>
              <a:t>A </a:t>
            </a:r>
            <a:r>
              <a:rPr lang="en-US" b="1" dirty="0"/>
              <a:t>Multi-Page Application</a:t>
            </a:r>
            <a:r>
              <a:rPr lang="en-US" dirty="0"/>
              <a:t> is a web application consisting of </a:t>
            </a:r>
            <a:r>
              <a:rPr lang="en-US" b="1" dirty="0"/>
              <a:t>multiple HTML pages</a:t>
            </a:r>
            <a:r>
              <a:rPr lang="en-US" dirty="0"/>
              <a:t>. When the user navigates to a different section, the browser generally requests a new page from the server and reloads the document.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627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A80A3-4D51-B75A-C30A-4DD6B5B66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67102-C53B-06A8-A207-E1506722E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NPM</a:t>
            </a:r>
          </a:p>
          <a:p>
            <a:r>
              <a:rPr lang="en-US" dirty="0" err="1"/>
              <a:t>npm</a:t>
            </a:r>
            <a:r>
              <a:rPr lang="en-US" dirty="0"/>
              <a:t> install -g </a:t>
            </a:r>
            <a:r>
              <a:rPr lang="en-US" dirty="0" err="1"/>
              <a:t>npm@latest</a:t>
            </a:r>
            <a:endParaRPr lang="en-US" dirty="0"/>
          </a:p>
          <a:p>
            <a:r>
              <a:rPr lang="en-US" dirty="0"/>
              <a:t>ng new my-angular-app</a:t>
            </a:r>
          </a:p>
          <a:p>
            <a:r>
              <a:rPr lang="en-US" dirty="0"/>
              <a:t>cd my-angular-app</a:t>
            </a:r>
          </a:p>
          <a:p>
            <a:r>
              <a:rPr lang="en-US" dirty="0" err="1"/>
              <a:t>npm</a:t>
            </a:r>
            <a:r>
              <a:rPr lang="en-US" dirty="0"/>
              <a:t> run start</a:t>
            </a:r>
          </a:p>
          <a:p>
            <a:r>
              <a:rPr lang="en-US" dirty="0"/>
              <a:t>Generating components (always us camelCase when generating components):</a:t>
            </a:r>
          </a:p>
          <a:p>
            <a:pPr lvl="1"/>
            <a:r>
              <a:rPr lang="en-US" dirty="0"/>
              <a:t>Within app folder: ng generate component </a:t>
            </a:r>
            <a:r>
              <a:rPr lang="en-US" dirty="0" err="1"/>
              <a:t>componentName</a:t>
            </a:r>
            <a:endParaRPr lang="en-US" dirty="0"/>
          </a:p>
          <a:p>
            <a:pPr lvl="1"/>
            <a:r>
              <a:rPr lang="en-US" dirty="0"/>
              <a:t>Nested within app folder: ng generate component nested/</a:t>
            </a:r>
            <a:r>
              <a:rPr lang="en-US" dirty="0" err="1"/>
              <a:t>componentName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942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9BE7C-EA47-D5AD-C0FD-D8DB5CC4B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component?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E42B9-BACC-C8EC-4F59-D408A375B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10795644" cy="3678303"/>
          </a:xfrm>
        </p:spPr>
        <p:txBody>
          <a:bodyPr/>
          <a:lstStyle/>
          <a:p>
            <a:r>
              <a:rPr lang="en-US" dirty="0"/>
              <a:t>In </a:t>
            </a:r>
            <a:r>
              <a:rPr lang="en-US" b="1" dirty="0"/>
              <a:t>Angular</a:t>
            </a:r>
            <a:r>
              <a:rPr lang="en-US" dirty="0"/>
              <a:t>, a </a:t>
            </a:r>
            <a:r>
              <a:rPr lang="en-US" b="1" dirty="0"/>
              <a:t>component</a:t>
            </a:r>
            <a:r>
              <a:rPr lang="en-US" dirty="0"/>
              <a:t> is a building block of an application that controls a specific part of the </a:t>
            </a:r>
            <a:r>
              <a:rPr lang="en-US" b="1" dirty="0"/>
              <a:t>user interface (UI)</a:t>
            </a:r>
            <a:r>
              <a:rPr lang="en-US" dirty="0"/>
              <a:t>.</a:t>
            </a:r>
          </a:p>
          <a:p>
            <a:r>
              <a:rPr lang="en-US" dirty="0"/>
              <a:t>A component typically consists of three main things:</a:t>
            </a:r>
          </a:p>
          <a:p>
            <a:pPr lvl="1"/>
            <a:r>
              <a:rPr lang="en-US" b="1" dirty="0"/>
              <a:t>HTML template</a:t>
            </a:r>
            <a:r>
              <a:rPr lang="en-US" dirty="0"/>
              <a:t> — defines what appears on the screen.</a:t>
            </a:r>
          </a:p>
          <a:p>
            <a:pPr lvl="1"/>
            <a:r>
              <a:rPr lang="en-US" b="1" dirty="0"/>
              <a:t>TypeScript class</a:t>
            </a:r>
            <a:r>
              <a:rPr lang="en-US" dirty="0"/>
              <a:t> — contains the component's data and behavior.</a:t>
            </a:r>
          </a:p>
          <a:p>
            <a:pPr lvl="1"/>
            <a:r>
              <a:rPr lang="en-US" b="1" dirty="0"/>
              <a:t>CSS styles</a:t>
            </a:r>
            <a:r>
              <a:rPr lang="en-US" dirty="0"/>
              <a:t> — defines how the component looks.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167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F5337-3DBD-A5F3-DCA6-40FDE9B7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3574E-3EA3-202D-C0E5-E13B8B847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128492" cy="4337262"/>
          </a:xfrm>
        </p:spPr>
        <p:txBody>
          <a:bodyPr/>
          <a:lstStyle/>
          <a:p>
            <a:r>
              <a:rPr lang="en-US" dirty="0"/>
              <a:t>Selector – determines how we can reference the component inside other components</a:t>
            </a:r>
          </a:p>
          <a:p>
            <a:pPr lvl="1"/>
            <a:r>
              <a:rPr lang="en-US" dirty="0"/>
              <a:t>E.g. &lt;app-user&gt;&lt;/app-user&gt;</a:t>
            </a:r>
          </a:p>
          <a:p>
            <a:r>
              <a:rPr lang="en-US" dirty="0"/>
              <a:t>Template – the markup for the component </a:t>
            </a:r>
          </a:p>
          <a:p>
            <a:pPr lvl="1"/>
            <a:r>
              <a:rPr lang="en-US" dirty="0"/>
              <a:t>More commonly, we may use </a:t>
            </a:r>
            <a:r>
              <a:rPr lang="en-US" dirty="0" err="1"/>
              <a:t>templateUrl</a:t>
            </a:r>
            <a:r>
              <a:rPr lang="en-US" dirty="0"/>
              <a:t> instead to point to a separate template file</a:t>
            </a:r>
          </a:p>
          <a:p>
            <a:r>
              <a:rPr lang="en-US" dirty="0"/>
              <a:t>Styles – </a:t>
            </a:r>
            <a:r>
              <a:rPr lang="en-US" dirty="0" err="1"/>
              <a:t>css</a:t>
            </a:r>
            <a:r>
              <a:rPr lang="en-US" dirty="0"/>
              <a:t> for the component </a:t>
            </a:r>
          </a:p>
          <a:p>
            <a:pPr lvl="1"/>
            <a:r>
              <a:rPr lang="en-US" dirty="0"/>
              <a:t>More commonly, we may use </a:t>
            </a:r>
            <a:r>
              <a:rPr lang="en-US" dirty="0" err="1"/>
              <a:t>styleUrl</a:t>
            </a:r>
            <a:r>
              <a:rPr lang="en-US" dirty="0"/>
              <a:t> instead to point to a separate CSS stylesheet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0F63B3-4293-4BE3-6C9B-133B9EE1E0DA}"/>
              </a:ext>
            </a:extLst>
          </p:cNvPr>
          <p:cNvSpPr txBox="1"/>
          <p:nvPr/>
        </p:nvSpPr>
        <p:spPr>
          <a:xfrm>
            <a:off x="6206756" y="2180496"/>
            <a:ext cx="502122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import { Component } from '@angular/core';</a:t>
            </a:r>
          </a:p>
          <a:p>
            <a:pPr indent="0" algn="l">
              <a:buNone/>
            </a:pPr>
            <a:endParaRPr lang="en-US" sz="1400" b="0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@Component({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selector: 'app-user',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template: `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  &lt;h1&gt;Hello, {{ name }}!&lt;/h1&gt;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  &lt;button (click)="</a:t>
            </a:r>
            <a:r>
              <a:rPr lang="en-US" sz="1400" b="0" i="0" dirty="0" err="1">
                <a:solidFill>
                  <a:schemeClr val="tx1"/>
                </a:solidFill>
                <a:effectLst/>
                <a:latin typeface="+mn-lt"/>
              </a:rPr>
              <a:t>changeName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()"&gt;Change Name&lt;/button&gt;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`,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styles: [`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  h1 {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    color: blue;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  }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`]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})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export class </a:t>
            </a:r>
            <a:r>
              <a:rPr lang="en-US" sz="1400" b="0" i="0" dirty="0" err="1">
                <a:solidFill>
                  <a:schemeClr val="tx1"/>
                </a:solidFill>
                <a:effectLst/>
                <a:latin typeface="+mn-lt"/>
              </a:rPr>
              <a:t>UserComponent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{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name = 'John';</a:t>
            </a:r>
          </a:p>
          <a:p>
            <a:pPr indent="0" algn="l">
              <a:buNone/>
            </a:pPr>
            <a:endParaRPr lang="en-US" sz="1400" b="0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400" b="0" i="0" dirty="0" err="1">
                <a:solidFill>
                  <a:schemeClr val="tx1"/>
                </a:solidFill>
                <a:effectLst/>
                <a:latin typeface="+mn-lt"/>
              </a:rPr>
              <a:t>changeName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() {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  this.name = 'Jane';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}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050" b="0" i="0" dirty="0">
              <a:solidFill>
                <a:srgbClr val="FFFFFF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029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6404-B61A-438C-DD48-BC4201AA0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look at angular components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C49DF-370B-D363-14E1-78B3B39E7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596863" cy="408208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Here we are using separate files for the template and CSS </a:t>
            </a:r>
          </a:p>
          <a:p>
            <a:r>
              <a:rPr lang="en-US" dirty="0"/>
              <a:t>We are also including ‘</a:t>
            </a:r>
            <a:r>
              <a:rPr lang="en-US" dirty="0" err="1"/>
              <a:t>StudentCard</a:t>
            </a:r>
            <a:r>
              <a:rPr lang="en-US" dirty="0"/>
              <a:t>’ – another component</a:t>
            </a:r>
          </a:p>
          <a:p>
            <a:pPr lvl="1"/>
            <a:r>
              <a:rPr lang="en-US" dirty="0"/>
              <a:t>Note that if we want to use one component inside another, we must import a reference to it in the parent component </a:t>
            </a:r>
          </a:p>
          <a:p>
            <a:r>
              <a:rPr lang="en-US" dirty="0">
                <a:solidFill>
                  <a:schemeClr val="accent2"/>
                </a:solidFill>
              </a:rPr>
              <a:t>Component Composition </a:t>
            </a:r>
            <a:r>
              <a:rPr lang="en-US" dirty="0"/>
              <a:t>– the term we use to describe how components are nested and structured to compose our application</a:t>
            </a:r>
          </a:p>
          <a:p>
            <a:r>
              <a:rPr lang="en-US" dirty="0"/>
              <a:t>Inside the class, we will have functions and variables that may be referenced in the component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B1254F-0C70-81C1-C8F6-28C28886E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41885"/>
            <a:ext cx="4797223" cy="412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26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3E84A-5181-C0EA-E47E-CA174DCF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A393A-121B-B157-BD42-D85FEC334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514808" cy="3678303"/>
          </a:xfrm>
        </p:spPr>
        <p:txBody>
          <a:bodyPr/>
          <a:lstStyle/>
          <a:p>
            <a:r>
              <a:rPr lang="en-US" dirty="0"/>
              <a:t>We use interfaces to define custom datatypes we’d like to use in our app</a:t>
            </a:r>
          </a:p>
          <a:p>
            <a:r>
              <a:rPr lang="en-US" dirty="0"/>
              <a:t>You may have noticed ‘Student’ in our last example – that is an interface</a:t>
            </a:r>
          </a:p>
          <a:p>
            <a:r>
              <a:rPr lang="en-US" dirty="0"/>
              <a:t>To generate: </a:t>
            </a:r>
            <a:r>
              <a:rPr lang="en-US" dirty="0" err="1"/>
              <a:t>npm</a:t>
            </a:r>
            <a:r>
              <a:rPr lang="en-US" dirty="0"/>
              <a:t> run ng generate interface Student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0DA48A-BE56-3D39-5F0F-29D3C8AD3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646" y="2849005"/>
            <a:ext cx="3200847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748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472C9-61E4-C4E3-919F-F23D59237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card &amp; Component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1C8A6-8B5E-6588-70A1-CEFB5B906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050184" cy="44435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{{ student().name }} – this is </a:t>
            </a:r>
            <a:r>
              <a:rPr lang="en-US" dirty="0">
                <a:solidFill>
                  <a:schemeClr val="accent2"/>
                </a:solidFill>
              </a:rPr>
              <a:t>interpolation</a:t>
            </a:r>
          </a:p>
          <a:p>
            <a:r>
              <a:rPr lang="en-US" dirty="0">
                <a:solidFill>
                  <a:schemeClr val="accent2"/>
                </a:solidFill>
              </a:rPr>
              <a:t>Interpolation </a:t>
            </a:r>
            <a:r>
              <a:rPr lang="en-US" dirty="0">
                <a:solidFill>
                  <a:schemeClr val="tx1"/>
                </a:solidFill>
              </a:rPr>
              <a:t>– is the process of reading data from component logic, i.e. the </a:t>
            </a:r>
            <a:r>
              <a:rPr lang="en-US" dirty="0" err="1">
                <a:solidFill>
                  <a:schemeClr val="tx1"/>
                </a:solidFill>
              </a:rPr>
              <a:t>ts</a:t>
            </a:r>
            <a:r>
              <a:rPr lang="en-US" dirty="0">
                <a:solidFill>
                  <a:schemeClr val="tx1"/>
                </a:solidFill>
              </a:rPr>
              <a:t> file </a:t>
            </a:r>
          </a:p>
          <a:p>
            <a:r>
              <a:rPr lang="en-US" dirty="0">
                <a:solidFill>
                  <a:schemeClr val="tx1"/>
                </a:solidFill>
              </a:rPr>
              <a:t>Since the data is coming from an input, we use ‘signal’ syntax, i.e. ‘student()’ (more on signal later)</a:t>
            </a:r>
          </a:p>
          <a:p>
            <a:r>
              <a:rPr lang="en-US" dirty="0">
                <a:solidFill>
                  <a:schemeClr val="tx1"/>
                </a:solidFill>
              </a:rPr>
              <a:t>Regular properties may be called directly, i.e. ‘</a:t>
            </a:r>
            <a:r>
              <a:rPr lang="en-US" dirty="0" err="1">
                <a:solidFill>
                  <a:schemeClr val="tx1"/>
                </a:solidFill>
              </a:rPr>
              <a:t>regularProp</a:t>
            </a:r>
            <a:r>
              <a:rPr lang="en-US" dirty="0">
                <a:solidFill>
                  <a:schemeClr val="tx1"/>
                </a:solidFill>
              </a:rPr>
              <a:t>’</a:t>
            </a:r>
          </a:p>
          <a:p>
            <a:r>
              <a:rPr lang="en-US" dirty="0">
                <a:solidFill>
                  <a:schemeClr val="tx1"/>
                </a:solidFill>
              </a:rPr>
              <a:t>Input – allows us to take in data from a parent component</a:t>
            </a:r>
          </a:p>
          <a:p>
            <a:r>
              <a:rPr lang="en-US" dirty="0">
                <a:solidFill>
                  <a:schemeClr val="tx1"/>
                </a:solidFill>
              </a:rPr>
              <a:t>Output – allows us to emit data to a parent component </a:t>
            </a:r>
          </a:p>
          <a:p>
            <a:r>
              <a:rPr lang="en-US" dirty="0">
                <a:solidFill>
                  <a:schemeClr val="tx1"/>
                </a:solidFill>
              </a:rPr>
              <a:t>@Input &amp; @Output – in older code you may see this syntax, it won’t benefit however from </a:t>
            </a:r>
            <a:r>
              <a:rPr lang="en-US" dirty="0" err="1">
                <a:solidFill>
                  <a:schemeClr val="tx1"/>
                </a:solidFill>
              </a:rPr>
              <a:t>Angular’s</a:t>
            </a:r>
            <a:r>
              <a:rPr lang="en-US" dirty="0">
                <a:solidFill>
                  <a:schemeClr val="tx1"/>
                </a:solidFill>
              </a:rPr>
              <a:t> signal API and reactivity (more on that later)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8AB20F-FD37-DB58-7AB4-C948FB4B89C3}"/>
              </a:ext>
            </a:extLst>
          </p:cNvPr>
          <p:cNvSpPr txBox="1"/>
          <p:nvPr/>
        </p:nvSpPr>
        <p:spPr>
          <a:xfrm>
            <a:off x="5231941" y="1796852"/>
            <a:ext cx="2565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Template (html file):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BB7298-959A-37BE-64D7-2386C76050FC}"/>
              </a:ext>
            </a:extLst>
          </p:cNvPr>
          <p:cNvSpPr txBox="1"/>
          <p:nvPr/>
        </p:nvSpPr>
        <p:spPr>
          <a:xfrm flipH="1">
            <a:off x="5231941" y="3059668"/>
            <a:ext cx="2194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StudentCard</a:t>
            </a:r>
            <a:r>
              <a:rPr lang="en-US" dirty="0"/>
              <a:t> </a:t>
            </a:r>
            <a:r>
              <a:rPr lang="en-US" dirty="0" err="1"/>
              <a:t>ts</a:t>
            </a:r>
            <a:r>
              <a:rPr lang="en-US" dirty="0"/>
              <a:t> file: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B497D4-E6B0-78DB-F63A-3611159E9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941" y="2166184"/>
            <a:ext cx="5308096" cy="9289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90547ED-37BD-342A-2A7B-1ACAB99C3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021" y="3429000"/>
            <a:ext cx="3969935" cy="342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573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6D123-2065-07F5-E05C-458EABA4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component &amp; component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51B84-04D9-2F57-A75B-56F466FA2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24494"/>
            <a:ext cx="6202380" cy="207749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[student]=“student” – this is </a:t>
            </a:r>
            <a:r>
              <a:rPr lang="en-US" dirty="0">
                <a:solidFill>
                  <a:schemeClr val="accent2"/>
                </a:solidFill>
              </a:rPr>
              <a:t>property binding</a:t>
            </a:r>
            <a:r>
              <a:rPr lang="en-US" dirty="0"/>
              <a:t>, it is passing the value of student down to the input expected in the child component </a:t>
            </a:r>
          </a:p>
          <a:p>
            <a:r>
              <a:rPr lang="en-US" dirty="0"/>
              <a:t>(selected)=“</a:t>
            </a:r>
            <a:r>
              <a:rPr lang="en-US" dirty="0" err="1"/>
              <a:t>onStudentSelected</a:t>
            </a:r>
            <a:r>
              <a:rPr lang="en-US" dirty="0"/>
              <a:t>” – this is </a:t>
            </a:r>
            <a:r>
              <a:rPr lang="en-US" dirty="0">
                <a:solidFill>
                  <a:schemeClr val="accent2"/>
                </a:solidFill>
              </a:rPr>
              <a:t>event binding</a:t>
            </a:r>
            <a:r>
              <a:rPr lang="en-US" dirty="0"/>
              <a:t>, it is listening for the ‘selected’ even emitted in the child component</a:t>
            </a:r>
          </a:p>
          <a:p>
            <a:r>
              <a:rPr lang="en-US" dirty="0"/>
              <a:t>@if – control flow block for conditional rendering</a:t>
            </a:r>
          </a:p>
          <a:p>
            <a:r>
              <a:rPr lang="en-US" dirty="0"/>
              <a:t>@for – control flow block for iteration; important to use ‘track’ on unique elements so Angular can make changes to single items and doesn’t need to rebuild/regenerate the entire list when the collection changes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87A6A8-04F5-D0EE-6682-B7E181B0A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78" y="4353580"/>
            <a:ext cx="3949959" cy="23235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D60E2D-68E0-4BFF-44AF-7AB006145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550" y="2180497"/>
            <a:ext cx="3991772" cy="45028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A2AD0E-D72D-6352-EEF4-BB0F566647B7}"/>
              </a:ext>
            </a:extLst>
          </p:cNvPr>
          <p:cNvSpPr txBox="1"/>
          <p:nvPr/>
        </p:nvSpPr>
        <p:spPr>
          <a:xfrm>
            <a:off x="1710047" y="4001984"/>
            <a:ext cx="129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Home.html: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8B7BBF-84FD-9B4E-BFAA-FB5B0E02C966}"/>
              </a:ext>
            </a:extLst>
          </p:cNvPr>
          <p:cNvSpPr txBox="1"/>
          <p:nvPr/>
        </p:nvSpPr>
        <p:spPr>
          <a:xfrm>
            <a:off x="6982550" y="1811165"/>
            <a:ext cx="1040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Home.ts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711382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64EE9-0B13-5029-2811-088A0D6F7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Control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967E8-7177-0710-E314-884EA6C833F4}"/>
              </a:ext>
            </a:extLst>
          </p:cNvPr>
          <p:cNvSpPr txBox="1"/>
          <p:nvPr/>
        </p:nvSpPr>
        <p:spPr>
          <a:xfrm>
            <a:off x="581192" y="2150332"/>
            <a:ext cx="609777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+mn-lt"/>
              </a:rPr>
              <a:t>1. @if — conditional rendering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@if 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isLoggedIn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&lt;p&gt;Welcome!&lt;/p&gt;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 @else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&lt;p&gt;Please log in.&lt;/p&gt;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</a:p>
          <a:p>
            <a:pPr indent="0" algn="l">
              <a:buNone/>
            </a:pPr>
            <a:endParaRPr lang="en-US" dirty="0"/>
          </a:p>
          <a:p>
            <a:pPr indent="0" algn="l">
              <a:buNone/>
            </a:pPr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if / else if / else</a:t>
            </a: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@if (user)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&lt;p&gt;{{ user.name }}&lt;/p&gt;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 @else if (loading)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&lt;p&gt;Loading...&lt;/p&gt;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 @else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&lt;p&gt;No user found.&lt;/p&gt;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FFFFFF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61BC42-5112-8254-76C6-3ACFD62709E5}"/>
              </a:ext>
            </a:extLst>
          </p:cNvPr>
          <p:cNvSpPr txBox="1"/>
          <p:nvPr/>
        </p:nvSpPr>
        <p:spPr>
          <a:xfrm>
            <a:off x="6096000" y="2523023"/>
            <a:ext cx="609777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+mn-lt"/>
              </a:rPr>
              <a:t>2. @for — looping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@for (user of users; track user.id)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&lt;p&gt;{{ user.name }}&lt;/p&gt;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</a:p>
          <a:p>
            <a:pPr indent="0" algn="l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l">
              <a:buNone/>
            </a:pPr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for each item in a collection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You'll commonly see:</a:t>
            </a:r>
          </a:p>
          <a:p>
            <a:pPr indent="0" algn="l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@for (item of items; track item.id)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{{ item.name }}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 @empty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&lt;p&gt;No items found.&lt;/p&gt;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FFFFFF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936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F5527-7CFD-5F94-6B4E-238402F4D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control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DB9EDB-527F-8E6E-CACB-E7BB88818AAF}"/>
              </a:ext>
            </a:extLst>
          </p:cNvPr>
          <p:cNvSpPr txBox="1"/>
          <p:nvPr/>
        </p:nvSpPr>
        <p:spPr>
          <a:xfrm>
            <a:off x="4611872" y="2249660"/>
            <a:ext cx="609777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@switch (status)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@case ('loading')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  &lt;p&gt;Loading...&lt;/p&gt;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}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@case ('success')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  &lt;p&gt;Success!&lt;/p&gt;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}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@case ('error')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  &lt;p&gt;Error!&lt;/p&gt;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}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@default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  &lt;p&gt;Unknown status&lt;/p&gt;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}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FFFFFF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459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Challenge – components, control flow, &amp;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Delete students from the student 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25334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can use our previous examples to build off of</a:t>
            </a:r>
          </a:p>
          <a:p>
            <a:r>
              <a:rPr lang="en-US" dirty="0"/>
              <a:t>Instead of a ‘Select’ button, use a ‘Delete’ button instead on the student card</a:t>
            </a:r>
          </a:p>
          <a:p>
            <a:r>
              <a:rPr lang="en-US" dirty="0"/>
              <a:t>If no students are in the list, then print to the page: ‘No students found…’</a:t>
            </a:r>
          </a:p>
          <a:p>
            <a:r>
              <a:rPr lang="en-US" dirty="0"/>
              <a:t>Hint: use the standard JavaScript filter() method to help remove items from the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27A20E-6D1E-E6A8-E8A0-859EC9537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531" y="3890007"/>
            <a:ext cx="1498453" cy="25708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0F8269-74F2-5714-0FD6-366D878FD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984" y="4914955"/>
            <a:ext cx="2162477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30CB9-FF70-7B90-3B91-0805FF891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C7E3B-8986-9925-5969-B1531C77E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969003" cy="4337262"/>
          </a:xfrm>
        </p:spPr>
        <p:txBody>
          <a:bodyPr/>
          <a:lstStyle/>
          <a:p>
            <a:r>
              <a:rPr lang="en-US" i="1" dirty="0"/>
              <a:t>Angular services</a:t>
            </a:r>
            <a:r>
              <a:rPr lang="en-US" dirty="0"/>
              <a:t> provide a way for you to separate Angular app data and functions that can be used by multiple components in your app. To be used by multiple components, a service must be made </a:t>
            </a:r>
            <a:r>
              <a:rPr lang="en-US" i="1" dirty="0"/>
              <a:t>injectable</a:t>
            </a:r>
            <a:r>
              <a:rPr lang="en-US" dirty="0"/>
              <a:t>. </a:t>
            </a:r>
          </a:p>
          <a:p>
            <a:r>
              <a:rPr lang="en-US" i="1" dirty="0"/>
              <a:t>Dependency injection</a:t>
            </a:r>
            <a:r>
              <a:rPr lang="en-US" dirty="0"/>
              <a:t> is the mechanism that manages the dependencies of an app's components and the services that other components can use.</a:t>
            </a:r>
          </a:p>
          <a:p>
            <a:r>
              <a:rPr lang="en-US" dirty="0" err="1"/>
              <a:t>npm</a:t>
            </a:r>
            <a:r>
              <a:rPr lang="en-US" dirty="0"/>
              <a:t> run ng generate service </a:t>
            </a:r>
            <a:r>
              <a:rPr lang="en-US" dirty="0" err="1"/>
              <a:t>studentService</a:t>
            </a:r>
            <a:endParaRPr lang="en-US" dirty="0"/>
          </a:p>
          <a:p>
            <a:r>
              <a:rPr lang="en-US" dirty="0"/>
              <a:t>We are hardcoding data into our service; we will build on this later - we can use our service to fetch the data dynamically!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26997B-E545-C0CD-A634-859CA0F1F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171" y="888290"/>
            <a:ext cx="4450286" cy="584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47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107C0-3284-723B-998B-A4D19D82C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Injecting our service into </a:t>
            </a:r>
            <a:r>
              <a:rPr lang="en-US" dirty="0" err="1"/>
              <a:t>home.ts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FB85D8-523E-D224-7707-2C2CD4A201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6914" y="1925428"/>
            <a:ext cx="5915752" cy="48484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BF61F3-B847-B2CC-27E6-1545109D4DE0}"/>
              </a:ext>
            </a:extLst>
          </p:cNvPr>
          <p:cNvSpPr txBox="1"/>
          <p:nvPr/>
        </p:nvSpPr>
        <p:spPr>
          <a:xfrm>
            <a:off x="391886" y="3681350"/>
            <a:ext cx="3847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now get our students from our service!</a:t>
            </a:r>
          </a:p>
        </p:txBody>
      </p:sp>
    </p:spTree>
    <p:extLst>
      <p:ext uri="{BB962C8B-B14F-4D97-AF65-F5344CB8AC3E}">
        <p14:creationId xmlns:p14="http://schemas.microsoft.com/office/powerpoint/2010/main" val="1016770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DB13B-D3A0-E461-FCFC-B18751E9D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FE7F8-539B-3379-0FF5-C4694320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379A0-FBC3-620F-83C7-0C2580D51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Update our delete functionality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5BB53D-221E-23E3-53EE-B2EE99B6429E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70B269-F4B7-61DD-DBC8-D65A8CD1F9AD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AC8D5CF-652D-8DA4-029F-D7430F017467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2694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Create a method in our service to handle delete functionality</a:t>
            </a:r>
          </a:p>
          <a:p>
            <a:r>
              <a:rPr lang="en-US" dirty="0"/>
              <a:t>In our home method, once we hear a child card call to delete the student, we should instead call our new </a:t>
            </a:r>
            <a:r>
              <a:rPr lang="en-US" dirty="0" err="1"/>
              <a:t>deleteStudent</a:t>
            </a:r>
            <a:r>
              <a:rPr lang="en-US" dirty="0"/>
              <a:t> service method</a:t>
            </a:r>
          </a:p>
          <a:p>
            <a:r>
              <a:rPr lang="en-US" dirty="0"/>
              <a:t>Make sure you sync the list!</a:t>
            </a:r>
          </a:p>
          <a:p>
            <a:r>
              <a:rPr lang="en-US" dirty="0"/>
              <a:t>We are starting to worry about state management!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1233CE-9A5F-67B5-C022-3FA361B17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531" y="3890007"/>
            <a:ext cx="1498453" cy="25708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8474F6-A99C-C1AE-7ECB-A85E7FC1C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984" y="4914955"/>
            <a:ext cx="2162477" cy="3905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6052D7-BAC2-19B3-A684-94559AAB9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409" y="5565407"/>
            <a:ext cx="4601217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773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7E6B-545C-B91E-1784-1B8AE8B37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angular Routing? What is Deep linking?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7F7FAB-49DF-A039-C8FE-2835C650B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4353"/>
            <a:ext cx="5389302" cy="3974619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Routing </a:t>
            </a:r>
            <a:r>
              <a:rPr lang="en-US" dirty="0"/>
              <a:t>is the process to provide easy navigation between different views based on the browser URL</a:t>
            </a:r>
          </a:p>
          <a:p>
            <a:pPr lvl="1"/>
            <a:r>
              <a:rPr lang="en-US" dirty="0"/>
              <a:t>This enables deep linking</a:t>
            </a:r>
          </a:p>
          <a:p>
            <a:pPr lvl="1"/>
            <a:r>
              <a:rPr lang="en-US" dirty="0"/>
              <a:t>Handle URL parameters and query strings</a:t>
            </a:r>
          </a:p>
          <a:p>
            <a:pPr lvl="1"/>
            <a:r>
              <a:rPr lang="en-US" dirty="0"/>
              <a:t>Manage browser history &amp; navigation</a:t>
            </a:r>
          </a:p>
          <a:p>
            <a:pPr lvl="1"/>
            <a:r>
              <a:rPr lang="en-US" dirty="0"/>
              <a:t>Create nested routes and layouts</a:t>
            </a:r>
          </a:p>
          <a:p>
            <a:pPr lvl="1"/>
            <a:r>
              <a:rPr lang="en-US" dirty="0"/>
              <a:t>Implement protected routes for authentication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3D5F76-B2C3-5605-B374-F0F18426EE53}"/>
              </a:ext>
            </a:extLst>
          </p:cNvPr>
          <p:cNvSpPr txBox="1">
            <a:spLocks/>
          </p:cNvSpPr>
          <p:nvPr/>
        </p:nvSpPr>
        <p:spPr>
          <a:xfrm>
            <a:off x="6096000" y="2763866"/>
            <a:ext cx="5389300" cy="3391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Deep Linking </a:t>
            </a:r>
            <a:r>
              <a:rPr lang="en-US" dirty="0">
                <a:solidFill>
                  <a:schemeClr val="tx1"/>
                </a:solidFill>
              </a:rPr>
              <a:t>is the practice of using hyperlinks to send users directly to specific content within our applications </a:t>
            </a:r>
          </a:p>
          <a:p>
            <a:r>
              <a:rPr lang="en-US" dirty="0"/>
              <a:t>1-2 levels deep: most apps</a:t>
            </a:r>
          </a:p>
          <a:p>
            <a:pPr lvl="1"/>
            <a:r>
              <a:rPr lang="en-US" dirty="0"/>
              <a:t>/dashboard</a:t>
            </a:r>
          </a:p>
          <a:p>
            <a:pPr lvl="1"/>
            <a:r>
              <a:rPr lang="en-US" dirty="0"/>
              <a:t>/products/45</a:t>
            </a:r>
          </a:p>
          <a:p>
            <a:r>
              <a:rPr lang="en-US" dirty="0"/>
              <a:t>3-4 levels deeps: common for structured apps</a:t>
            </a:r>
          </a:p>
          <a:p>
            <a:pPr lvl="1"/>
            <a:r>
              <a:rPr lang="en-US" dirty="0"/>
              <a:t>/dashboard/reports/weekly</a:t>
            </a:r>
          </a:p>
          <a:p>
            <a:pPr lvl="1"/>
            <a:r>
              <a:rPr lang="en-US" dirty="0"/>
              <a:t>/shop/products/46/reviews</a:t>
            </a:r>
          </a:p>
          <a:p>
            <a:r>
              <a:rPr lang="en-US" dirty="0"/>
              <a:t>5+ levels deep: Rare but possible, usually in enterprise </a:t>
            </a:r>
          </a:p>
          <a:p>
            <a:pPr lvl="1"/>
            <a:r>
              <a:rPr lang="en-US" dirty="0"/>
              <a:t>/orgs/12/projects/55/tasks/34/comments/2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455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74241-6623-DEC2-CD99-377046258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angular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1B787-2252-975A-9D7F-5A7F5341D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416110" cy="430536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Your build tool will typically autogenerate </a:t>
            </a:r>
            <a:r>
              <a:rPr lang="en-US" dirty="0" err="1"/>
              <a:t>app.config.ts</a:t>
            </a:r>
            <a:r>
              <a:rPr lang="en-US" dirty="0"/>
              <a:t> &amp; </a:t>
            </a:r>
            <a:r>
              <a:rPr lang="en-US" dirty="0" err="1"/>
              <a:t>app.routes.ts</a:t>
            </a:r>
            <a:r>
              <a:rPr lang="en-US" dirty="0"/>
              <a:t> which pre-configures routing</a:t>
            </a:r>
          </a:p>
          <a:p>
            <a:r>
              <a:rPr lang="en-US" dirty="0"/>
              <a:t>We just need to add routes to </a:t>
            </a:r>
            <a:r>
              <a:rPr lang="en-US" dirty="0" err="1"/>
              <a:t>app.routes.ts</a:t>
            </a:r>
            <a:endParaRPr lang="en-US" dirty="0"/>
          </a:p>
          <a:p>
            <a:r>
              <a:rPr lang="en-US" dirty="0"/>
              <a:t>The path represents your endpoint, i.e. localhost:1234/about </a:t>
            </a:r>
          </a:p>
          <a:p>
            <a:r>
              <a:rPr lang="en-US" dirty="0"/>
              <a:t>‘Home’ showcases eager loading, ‘about’ showcases lazy loading </a:t>
            </a:r>
          </a:p>
          <a:p>
            <a:r>
              <a:rPr lang="en-US" dirty="0"/>
              <a:t>Lazy loading ensures the client doesn’t need to download the JavaScript until they visit that page </a:t>
            </a:r>
          </a:p>
          <a:p>
            <a:r>
              <a:rPr lang="en-US" dirty="0"/>
              <a:t>This is great for optimization of large sites &amp; rarely used views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3E5486-9E15-B0F4-A5D0-9E1D2BF9B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057" y="4304168"/>
            <a:ext cx="3838939" cy="23941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971DE6-9520-B713-4131-572D45D74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015" y="2180496"/>
            <a:ext cx="5987021" cy="17654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39812C-10A9-AA67-B33F-3890D0EE6060}"/>
              </a:ext>
            </a:extLst>
          </p:cNvPr>
          <p:cNvSpPr txBox="1"/>
          <p:nvPr/>
        </p:nvSpPr>
        <p:spPr>
          <a:xfrm>
            <a:off x="5190015" y="1811164"/>
            <a:ext cx="1431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App.config.ts</a:t>
            </a:r>
            <a:r>
              <a:rPr lang="en-US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63081-20AD-DA0D-5A21-A10A814A31C7}"/>
              </a:ext>
            </a:extLst>
          </p:cNvPr>
          <p:cNvSpPr txBox="1"/>
          <p:nvPr/>
        </p:nvSpPr>
        <p:spPr>
          <a:xfrm>
            <a:off x="6096000" y="3945991"/>
            <a:ext cx="1484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App.routes.ts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840816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C674D-1406-6C89-E295-420D2518A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angular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63DD9-9CAA-B105-23B3-1A887602F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09433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Now we can use ‘</a:t>
            </a:r>
            <a:r>
              <a:rPr lang="en-US" dirty="0" err="1"/>
              <a:t>routerLink</a:t>
            </a:r>
            <a:r>
              <a:rPr lang="en-US" dirty="0"/>
              <a:t>’ to set our activated route</a:t>
            </a:r>
          </a:p>
          <a:p>
            <a:r>
              <a:rPr lang="en-US" dirty="0"/>
              <a:t>We need to bring in ‘</a:t>
            </a:r>
            <a:r>
              <a:rPr lang="en-US" dirty="0" err="1"/>
              <a:t>RouterLink</a:t>
            </a:r>
            <a:r>
              <a:rPr lang="en-US" dirty="0"/>
              <a:t>’ to create router linked anchor tags for the component</a:t>
            </a:r>
          </a:p>
          <a:p>
            <a:r>
              <a:rPr lang="en-US" dirty="0"/>
              <a:t>The activated route will render the view(component) in the &lt;router-outlet&gt;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F7877-3398-FB6D-BF9E-AA10C701E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97" y="4172905"/>
            <a:ext cx="4067743" cy="2191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2BF3D3-AA93-116F-73B5-B8345247C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855" y="3936345"/>
            <a:ext cx="4376940" cy="26156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DACA8A-878B-2D57-6B3E-C51C9EF555D5}"/>
              </a:ext>
            </a:extLst>
          </p:cNvPr>
          <p:cNvSpPr txBox="1"/>
          <p:nvPr/>
        </p:nvSpPr>
        <p:spPr>
          <a:xfrm>
            <a:off x="1223158" y="3633849"/>
            <a:ext cx="1086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App.html: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316542-FC67-3CCF-3893-7478A6E1E315}"/>
              </a:ext>
            </a:extLst>
          </p:cNvPr>
          <p:cNvSpPr txBox="1"/>
          <p:nvPr/>
        </p:nvSpPr>
        <p:spPr>
          <a:xfrm>
            <a:off x="6162855" y="3471875"/>
            <a:ext cx="830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App.ts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470590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26C6D-8A13-5BC2-F9DA-08B389AD5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routing with route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551F5-5592-3C27-73F0-978A6C70E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867" y="2361869"/>
            <a:ext cx="5985863" cy="2114438"/>
          </a:xfrm>
        </p:spPr>
        <p:txBody>
          <a:bodyPr/>
          <a:lstStyle/>
          <a:p>
            <a:r>
              <a:rPr lang="en-US" dirty="0"/>
              <a:t>This is a new component that reads route params and then uses our service to get details about the student (it’s really just showing an extra field compared to our card - email)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29DE1D-23EE-1877-5A3B-3FC6C6157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855" y="5355632"/>
            <a:ext cx="4220164" cy="800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B6CA2B-2FD3-0C4F-619A-D036762F2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335" y="2361869"/>
            <a:ext cx="4602473" cy="40343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FDC81D-D71A-3CBF-4424-84157D2C4D68}"/>
              </a:ext>
            </a:extLst>
          </p:cNvPr>
          <p:cNvSpPr txBox="1"/>
          <p:nvPr/>
        </p:nvSpPr>
        <p:spPr>
          <a:xfrm>
            <a:off x="1271855" y="4880758"/>
            <a:ext cx="245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Student-details.html: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C6E51F-0BE6-952B-EB5F-D7A0AFE2A08B}"/>
              </a:ext>
            </a:extLst>
          </p:cNvPr>
          <p:cNvSpPr txBox="1"/>
          <p:nvPr/>
        </p:nvSpPr>
        <p:spPr>
          <a:xfrm>
            <a:off x="7008335" y="1879286"/>
            <a:ext cx="245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Student-</a:t>
            </a:r>
            <a:r>
              <a:rPr lang="en-US" dirty="0" err="1"/>
              <a:t>details.ts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483581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36608-9A34-CB07-2F78-5178871B7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routing with route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07E37-56E9-FCCF-842B-4D573F0C8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216" y="2167120"/>
            <a:ext cx="5688474" cy="4071448"/>
          </a:xfrm>
        </p:spPr>
        <p:txBody>
          <a:bodyPr>
            <a:normAutofit/>
          </a:bodyPr>
          <a:lstStyle/>
          <a:p>
            <a:r>
              <a:rPr lang="en-US" dirty="0"/>
              <a:t>Now our </a:t>
            </a:r>
            <a:r>
              <a:rPr lang="en-US" dirty="0" err="1"/>
              <a:t>StudentCard</a:t>
            </a:r>
            <a:r>
              <a:rPr lang="en-US" dirty="0"/>
              <a:t> component can have a link to details for that particular student!</a:t>
            </a:r>
          </a:p>
          <a:p>
            <a:r>
              <a:rPr lang="en-US" dirty="0"/>
              <a:t>Don’t forget to bring in ‘</a:t>
            </a:r>
            <a:r>
              <a:rPr lang="en-US" dirty="0" err="1"/>
              <a:t>RouterLink</a:t>
            </a:r>
            <a:r>
              <a:rPr lang="en-US" dirty="0"/>
              <a:t>’ in its associated TypeScript file!</a:t>
            </a:r>
          </a:p>
          <a:p>
            <a:r>
              <a:rPr lang="en-US" dirty="0"/>
              <a:t>And if you have nested routes:</a:t>
            </a:r>
          </a:p>
          <a:p>
            <a:pPr lvl="1"/>
            <a:r>
              <a:rPr lang="en-US" dirty="0"/>
              <a:t>For example, if your route is:</a:t>
            </a:r>
          </a:p>
          <a:p>
            <a:pPr lvl="1"/>
            <a:r>
              <a:rPr lang="en-US" dirty="0"/>
              <a:t>{ path: 'students/:</a:t>
            </a:r>
            <a:r>
              <a:rPr lang="en-US" dirty="0" err="1"/>
              <a:t>studentId</a:t>
            </a:r>
            <a:r>
              <a:rPr lang="en-US" dirty="0"/>
              <a:t>/courses/:</a:t>
            </a:r>
            <a:r>
              <a:rPr lang="en-US" dirty="0" err="1"/>
              <a:t>courseId</a:t>
            </a:r>
            <a:r>
              <a:rPr lang="en-US" dirty="0"/>
              <a:t>', component: ... }</a:t>
            </a:r>
          </a:p>
          <a:p>
            <a:pPr lvl="1"/>
            <a:r>
              <a:rPr lang="en-US" dirty="0"/>
              <a:t>Your </a:t>
            </a:r>
            <a:r>
              <a:rPr lang="en-US" dirty="0" err="1"/>
              <a:t>routerLink</a:t>
            </a:r>
            <a:r>
              <a:rPr lang="en-US" dirty="0"/>
              <a:t> would be:</a:t>
            </a:r>
          </a:p>
          <a:p>
            <a:pPr lvl="1"/>
            <a:r>
              <a:rPr lang="en-US" dirty="0"/>
              <a:t>&lt;a [</a:t>
            </a:r>
            <a:r>
              <a:rPr lang="en-US" dirty="0" err="1"/>
              <a:t>routerLink</a:t>
            </a:r>
            <a:r>
              <a:rPr lang="en-US" dirty="0"/>
              <a:t>]="['/students', student().id, 'courses', course.id]"&gt;Course Details&lt;/a&gt;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CA780A-0CFB-4A7E-7A45-0DFA11EEB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311" y="3737270"/>
            <a:ext cx="5504121" cy="93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211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EC5A3-BBC1-22A2-7E7F-64EE85FFD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CB7F9-326B-1E7C-E4C2-287C9BEA4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Challenge – catch-up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2481C-DCD4-18A7-7883-81DC90B28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Make sure to stop here and catch 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D48B54-DB4F-9FA2-00A5-38CE6A910D87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2875CB-28F0-0EDE-8E65-E7C56825A34B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532C02B-F837-144B-F34A-5D7325F9448E}"/>
              </a:ext>
            </a:extLst>
          </p:cNvPr>
          <p:cNvSpPr txBox="1">
            <a:spLocks/>
          </p:cNvSpPr>
          <p:nvPr/>
        </p:nvSpPr>
        <p:spPr>
          <a:xfrm>
            <a:off x="6545749" y="2772078"/>
            <a:ext cx="4661642" cy="3012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Implement </a:t>
            </a:r>
            <a:r>
              <a:rPr lang="en-US" dirty="0" err="1"/>
              <a:t>StudentService</a:t>
            </a:r>
            <a:endParaRPr lang="en-US" dirty="0"/>
          </a:p>
          <a:p>
            <a:r>
              <a:rPr lang="en-US" dirty="0"/>
              <a:t>Create an ‘About’ component to act as a view to describe our website</a:t>
            </a:r>
          </a:p>
          <a:p>
            <a:r>
              <a:rPr lang="en-US" dirty="0"/>
              <a:t>Create a ‘</a:t>
            </a:r>
            <a:r>
              <a:rPr lang="en-US" dirty="0" err="1"/>
              <a:t>StudentDetails</a:t>
            </a:r>
            <a:r>
              <a:rPr lang="en-US" dirty="0"/>
              <a:t>’ component that displays all fields of student</a:t>
            </a:r>
          </a:p>
          <a:p>
            <a:pPr lvl="1"/>
            <a:r>
              <a:rPr lang="en-US" dirty="0"/>
              <a:t>It should use route parameter, routing to dynamically populate this info </a:t>
            </a:r>
          </a:p>
        </p:txBody>
      </p:sp>
    </p:spTree>
    <p:extLst>
      <p:ext uri="{BB962C8B-B14F-4D97-AF65-F5344CB8AC3E}">
        <p14:creationId xmlns:p14="http://schemas.microsoft.com/office/powerpoint/2010/main" val="3066534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2F184-CC13-C332-765D-D283A3A9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B5D526-8783-CBF8-692E-438D0287549F}"/>
              </a:ext>
            </a:extLst>
          </p:cNvPr>
          <p:cNvSpPr txBox="1"/>
          <p:nvPr/>
        </p:nvSpPr>
        <p:spPr>
          <a:xfrm>
            <a:off x="1225774" y="2006930"/>
            <a:ext cx="4225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use </a:t>
            </a:r>
            <a:r>
              <a:rPr lang="en-US" dirty="0" err="1"/>
              <a:t>FormGroup</a:t>
            </a:r>
            <a:r>
              <a:rPr lang="en-US" dirty="0"/>
              <a:t> to create forms.</a:t>
            </a:r>
          </a:p>
          <a:p>
            <a:r>
              <a:rPr lang="en-US" dirty="0"/>
              <a:t>These changes are in home.html &amp; </a:t>
            </a:r>
            <a:r>
              <a:rPr lang="en-US" dirty="0" err="1"/>
              <a:t>home.ts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CE63C3-60FC-AD96-8620-176036E3C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06" y="2653261"/>
            <a:ext cx="5090580" cy="41000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3ADB93-CA56-EBE8-E5C1-17EB4BBD4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354" y="28100"/>
            <a:ext cx="4848902" cy="680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317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28AA-3096-2C3D-0403-C58429AB6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 – our service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8EF25-F4FF-5CBE-58B1-02CD17D10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976460" cy="3678303"/>
          </a:xfrm>
        </p:spPr>
        <p:txBody>
          <a:bodyPr>
            <a:normAutofit/>
          </a:bodyPr>
          <a:lstStyle/>
          <a:p>
            <a:r>
              <a:rPr lang="en-US" dirty="0"/>
              <a:t>This method was added to student-</a:t>
            </a:r>
            <a:r>
              <a:rPr lang="en-US" dirty="0" err="1"/>
              <a:t>service.ts</a:t>
            </a:r>
            <a:endParaRPr lang="en-US" dirty="0"/>
          </a:p>
          <a:p>
            <a:r>
              <a:rPr lang="en-US" dirty="0"/>
              <a:t>Now we can create students, and our list will dynamically populate!</a:t>
            </a:r>
          </a:p>
          <a:p>
            <a:r>
              <a:rPr lang="en-US" dirty="0"/>
              <a:t>There are still a few issues…. </a:t>
            </a:r>
          </a:p>
          <a:p>
            <a:pPr lvl="1"/>
            <a:r>
              <a:rPr lang="en-US" dirty="0"/>
              <a:t>Clicking details for a new student won’t work</a:t>
            </a:r>
          </a:p>
          <a:p>
            <a:pPr lvl="1"/>
            <a:r>
              <a:rPr lang="en-US" dirty="0"/>
              <a:t>Navigating to the ‘about’ view, and then back to ‘home’ resets the state </a:t>
            </a:r>
          </a:p>
          <a:p>
            <a:pPr lvl="1"/>
            <a:r>
              <a:rPr lang="en-US" dirty="0"/>
              <a:t>Delete does not persist, even for new records not present in our service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1C3CAC-CBCF-F22C-4BDE-04EED5736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752" y="2448373"/>
            <a:ext cx="5087060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332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289FC-4ED3-495D-677F-62A6B6D97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1A1A5-04DF-92BE-6BDD-D944842AE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Challenge – catch-up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763CA-55D4-4DDC-51EC-C29F8E6A1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Make sure to stop here and catch 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9781B4-3B36-5630-7D8F-8F1A55B535C2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44E4EB-3FD5-E666-393B-CB84E9B0729B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C563911-B263-3102-26D6-86BBCC36E4E4}"/>
              </a:ext>
            </a:extLst>
          </p:cNvPr>
          <p:cNvSpPr txBox="1">
            <a:spLocks/>
          </p:cNvSpPr>
          <p:nvPr/>
        </p:nvSpPr>
        <p:spPr>
          <a:xfrm>
            <a:off x="6545749" y="2772078"/>
            <a:ext cx="4661642" cy="3012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Implement a feature to create new students with a form</a:t>
            </a:r>
          </a:p>
          <a:p>
            <a:r>
              <a:rPr lang="en-US" dirty="0"/>
              <a:t>Our app does NOT need to be pretty at this stage, we are just worried about functionality and grasping basics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9456BD-2B62-1658-F6C2-B4F4D0255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48" y="3532048"/>
            <a:ext cx="4658061" cy="322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098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7876D-A0BA-495F-FB75-EDE29F428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2011F-0D74-69DF-65CB-08EEAFDB4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633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680</TotalTime>
  <Words>1909</Words>
  <Application>Microsoft Office PowerPoint</Application>
  <PresentationFormat>Widescreen</PresentationFormat>
  <Paragraphs>213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Courier New</vt:lpstr>
      <vt:lpstr>Gill Sans MT</vt:lpstr>
      <vt:lpstr>Wingdings 2</vt:lpstr>
      <vt:lpstr>Dividend</vt:lpstr>
      <vt:lpstr>Angular</vt:lpstr>
      <vt:lpstr>MPA vs SPA</vt:lpstr>
      <vt:lpstr>Getting started</vt:lpstr>
      <vt:lpstr>What is a component?</vt:lpstr>
      <vt:lpstr>Angular components</vt:lpstr>
      <vt:lpstr>Another look at angular components </vt:lpstr>
      <vt:lpstr>interfaces</vt:lpstr>
      <vt:lpstr>Student card &amp; Component communication</vt:lpstr>
      <vt:lpstr>Home component &amp; component communication</vt:lpstr>
      <vt:lpstr>Angular Control flow</vt:lpstr>
      <vt:lpstr>Angular control flow</vt:lpstr>
      <vt:lpstr>Challenge – components, control flow, &amp; communication</vt:lpstr>
      <vt:lpstr>Angular services</vt:lpstr>
      <vt:lpstr>Injecting our service into home.ts</vt:lpstr>
      <vt:lpstr>Challenge</vt:lpstr>
      <vt:lpstr>What is angular Routing? What is Deep linking?</vt:lpstr>
      <vt:lpstr>Implementing angular routing</vt:lpstr>
      <vt:lpstr>Implementing angular routing</vt:lpstr>
      <vt:lpstr>Angular routing with route parameters</vt:lpstr>
      <vt:lpstr>Angular routing with route parameters</vt:lpstr>
      <vt:lpstr>Challenge – catch-up</vt:lpstr>
      <vt:lpstr>forms</vt:lpstr>
      <vt:lpstr>Forms – our service method</vt:lpstr>
      <vt:lpstr>Challenge – catch-up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606</cp:revision>
  <dcterms:created xsi:type="dcterms:W3CDTF">2025-02-12T19:53:45Z</dcterms:created>
  <dcterms:modified xsi:type="dcterms:W3CDTF">2026-10-06T21:28:33Z</dcterms:modified>
</cp:coreProperties>
</file>