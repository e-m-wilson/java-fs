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3" r:id="rId3"/>
    <p:sldId id="264" r:id="rId4"/>
    <p:sldId id="265" r:id="rId5"/>
    <p:sldId id="266" r:id="rId6"/>
    <p:sldId id="267" r:id="rId7"/>
    <p:sldId id="268" r:id="rId8"/>
    <p:sldId id="269" r:id="rId9"/>
    <p:sldId id="270" r:id="rId10"/>
    <p:sldId id="271" r:id="rId11"/>
    <p:sldId id="297"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62" r:id="rId38"/>
    <p:sldId id="298" r:id="rId39"/>
    <p:sldId id="299" r:id="rId40"/>
    <p:sldId id="300" r:id="rId41"/>
    <p:sldId id="301" r:id="rId42"/>
    <p:sldId id="342" r:id="rId43"/>
    <p:sldId id="302" r:id="rId44"/>
    <p:sldId id="303" r:id="rId45"/>
    <p:sldId id="311" r:id="rId46"/>
    <p:sldId id="312" r:id="rId47"/>
    <p:sldId id="313" r:id="rId48"/>
    <p:sldId id="314" r:id="rId49"/>
    <p:sldId id="315" r:id="rId50"/>
    <p:sldId id="316" r:id="rId51"/>
    <p:sldId id="317" r:id="rId52"/>
    <p:sldId id="318" r:id="rId53"/>
    <p:sldId id="304" r:id="rId54"/>
    <p:sldId id="305" r:id="rId55"/>
    <p:sldId id="306" r:id="rId56"/>
    <p:sldId id="307" r:id="rId57"/>
    <p:sldId id="308" r:id="rId58"/>
    <p:sldId id="310" r:id="rId59"/>
    <p:sldId id="309" r:id="rId60"/>
    <p:sldId id="319" r:id="rId61"/>
    <p:sldId id="320" r:id="rId62"/>
    <p:sldId id="321" r:id="rId63"/>
    <p:sldId id="322" r:id="rId64"/>
    <p:sldId id="323" r:id="rId65"/>
    <p:sldId id="324" r:id="rId66"/>
    <p:sldId id="325" r:id="rId67"/>
    <p:sldId id="326" r:id="rId68"/>
    <p:sldId id="327" r:id="rId69"/>
    <p:sldId id="328" r:id="rId70"/>
    <p:sldId id="329" r:id="rId71"/>
    <p:sldId id="330" r:id="rId72"/>
    <p:sldId id="331" r:id="rId73"/>
    <p:sldId id="332" r:id="rId74"/>
    <p:sldId id="333" r:id="rId75"/>
    <p:sldId id="343" r:id="rId76"/>
    <p:sldId id="334" r:id="rId77"/>
    <p:sldId id="336" r:id="rId78"/>
    <p:sldId id="337" r:id="rId79"/>
    <p:sldId id="339" r:id="rId80"/>
    <p:sldId id="340" r:id="rId81"/>
    <p:sldId id="341" r:id="rId82"/>
    <p:sldId id="335" r:id="rId83"/>
    <p:sldId id="338"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8EF453-3095-AE8A-2F6D-B0378CA79EC1}" v="28" dt="2025-06-02T16:07:27.587"/>
    <p1510:client id="{DEF17522-F9FC-8578-697D-16CF15692E13}" v="5" dt="2025-06-03T14:51:56.486"/>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652" autoAdjust="0"/>
    <p:restoredTop sz="94660"/>
  </p:normalViewPr>
  <p:slideViewPr>
    <p:cSldViewPr snapToGrid="0">
      <p:cViewPr varScale="1">
        <p:scale>
          <a:sx n="60" d="100"/>
          <a:sy n="60" d="100"/>
        </p:scale>
        <p:origin x="58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9/21/2026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88113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1587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9/21/2026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47375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9/21/2026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26509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9/21/2026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92248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9/21/2026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59988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98299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dirty="0"/>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9/21/2026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37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dirty="0"/>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79716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09061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9/21/2026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855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9/21/2026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766156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github.com/lerocha/chinook-database" TargetMode="External"/><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SQL</a:t>
            </a:r>
          </a:p>
        </p:txBody>
      </p:sp>
      <p:sp>
        <p:nvSpPr>
          <p:cNvPr id="3" name="Subtitle 2"/>
          <p:cNvSpPr>
            <a:spLocks noGrp="1"/>
          </p:cNvSpPr>
          <p:nvPr>
            <p:ph type="subTitle" idx="1"/>
          </p:nvPr>
        </p:nvSpPr>
        <p:spPr/>
        <p:txBody>
          <a:bodyPr/>
          <a:lstStyle/>
          <a:p>
            <a:r>
              <a:rPr lang="en-US" dirty="0"/>
              <a:t>Postgres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C72FB-4820-8DCE-13AA-AB3228BE8B23}"/>
              </a:ext>
            </a:extLst>
          </p:cNvPr>
          <p:cNvSpPr>
            <a:spLocks noGrp="1"/>
          </p:cNvSpPr>
          <p:nvPr>
            <p:ph type="title"/>
          </p:nvPr>
        </p:nvSpPr>
        <p:spPr/>
        <p:txBody>
          <a:bodyPr/>
          <a:lstStyle/>
          <a:p>
            <a:r>
              <a:rPr lang="en-US" dirty="0"/>
              <a:t>Types of Databases</a:t>
            </a:r>
          </a:p>
        </p:txBody>
      </p:sp>
      <p:sp>
        <p:nvSpPr>
          <p:cNvPr id="3" name="Content Placeholder 2">
            <a:extLst>
              <a:ext uri="{FF2B5EF4-FFF2-40B4-BE49-F238E27FC236}">
                <a16:creationId xmlns:a16="http://schemas.microsoft.com/office/drawing/2014/main" id="{547A2131-4B0C-623B-D031-3F5006EB80B2}"/>
              </a:ext>
            </a:extLst>
          </p:cNvPr>
          <p:cNvSpPr>
            <a:spLocks noGrp="1"/>
          </p:cNvSpPr>
          <p:nvPr>
            <p:ph idx="1"/>
          </p:nvPr>
        </p:nvSpPr>
        <p:spPr/>
        <p:txBody>
          <a:bodyPr/>
          <a:lstStyle/>
          <a:p>
            <a:pPr>
              <a:lnSpc>
                <a:spcPct val="100000"/>
              </a:lnSpc>
            </a:pPr>
            <a:r>
              <a:rPr lang="en-US" dirty="0">
                <a:solidFill>
                  <a:schemeClr val="tx1"/>
                </a:solidFill>
                <a:latin typeface="Arial"/>
                <a:ea typeface="Arial"/>
              </a:rPr>
              <a:t>Relational Databases : Organized data in tables, with row and columns. Usually, some flavor of SQL may be used to query and manipulate the database (e.g. MySQL, PostgreSQL, Oracle)</a:t>
            </a:r>
            <a:endParaRPr lang="en-US" dirty="0">
              <a:solidFill>
                <a:schemeClr val="tx1"/>
              </a:solidFill>
              <a:latin typeface="Arial"/>
            </a:endParaRPr>
          </a:p>
          <a:p>
            <a:pPr>
              <a:lnSpc>
                <a:spcPct val="100000"/>
              </a:lnSpc>
            </a:pPr>
            <a:endParaRPr lang="en-US" dirty="0">
              <a:solidFill>
                <a:schemeClr val="tx1"/>
              </a:solidFill>
              <a:latin typeface="Arial"/>
            </a:endParaRPr>
          </a:p>
          <a:p>
            <a:pPr>
              <a:lnSpc>
                <a:spcPct val="100000"/>
              </a:lnSpc>
            </a:pPr>
            <a:r>
              <a:rPr lang="en-US" dirty="0">
                <a:solidFill>
                  <a:schemeClr val="tx1"/>
                </a:solidFill>
                <a:latin typeface="Arial"/>
                <a:ea typeface="Arial"/>
              </a:rPr>
              <a:t>NoSQL Databases : Designed for handling unstructured, semi-structured, or rapidly changing data. (e.g. MongoDB, Cassandra, Redis)</a:t>
            </a:r>
            <a:endParaRPr lang="en-US" dirty="0">
              <a:solidFill>
                <a:schemeClr val="tx1"/>
              </a:solidFill>
              <a:latin typeface="Arial"/>
            </a:endParaRPr>
          </a:p>
        </p:txBody>
      </p:sp>
    </p:spTree>
    <p:extLst>
      <p:ext uri="{BB962C8B-B14F-4D97-AF65-F5344CB8AC3E}">
        <p14:creationId xmlns:p14="http://schemas.microsoft.com/office/powerpoint/2010/main" val="1318121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67575-2CC1-F97D-7BE2-B62076BCBE0E}"/>
              </a:ext>
            </a:extLst>
          </p:cNvPr>
          <p:cNvSpPr>
            <a:spLocks noGrp="1"/>
          </p:cNvSpPr>
          <p:nvPr>
            <p:ph type="title"/>
          </p:nvPr>
        </p:nvSpPr>
        <p:spPr/>
        <p:txBody>
          <a:bodyPr/>
          <a:lstStyle/>
          <a:p>
            <a:r>
              <a:rPr lang="en-US" dirty="0"/>
              <a:t>Docker Desktop Install</a:t>
            </a:r>
          </a:p>
        </p:txBody>
      </p:sp>
      <p:sp>
        <p:nvSpPr>
          <p:cNvPr id="3" name="Content Placeholder 2">
            <a:extLst>
              <a:ext uri="{FF2B5EF4-FFF2-40B4-BE49-F238E27FC236}">
                <a16:creationId xmlns:a16="http://schemas.microsoft.com/office/drawing/2014/main" id="{62894D08-379C-28B1-0381-2CF0C3FB4D29}"/>
              </a:ext>
            </a:extLst>
          </p:cNvPr>
          <p:cNvSpPr>
            <a:spLocks noGrp="1"/>
          </p:cNvSpPr>
          <p:nvPr>
            <p:ph idx="1"/>
          </p:nvPr>
        </p:nvSpPr>
        <p:spPr>
          <a:xfrm>
            <a:off x="581192" y="1970468"/>
            <a:ext cx="11029615" cy="4887532"/>
          </a:xfrm>
        </p:spPr>
        <p:txBody>
          <a:bodyPr>
            <a:normAutofit fontScale="70000" lnSpcReduction="20000"/>
          </a:bodyPr>
          <a:lstStyle/>
          <a:p>
            <a:pPr>
              <a:buFont typeface="Wingdings" panose="05000000000000000000" pitchFamily="2" charset="2"/>
              <a:buChar char="§"/>
            </a:pPr>
            <a:r>
              <a:rPr lang="en-US" b="1" dirty="0">
                <a:solidFill>
                  <a:schemeClr val="tx1"/>
                </a:solidFill>
              </a:rPr>
              <a:t>Before install</a:t>
            </a:r>
          </a:p>
          <a:p>
            <a:pPr>
              <a:buFont typeface="Wingdings" panose="05000000000000000000" pitchFamily="2" charset="2"/>
              <a:buChar char="§"/>
            </a:pPr>
            <a:r>
              <a:rPr lang="en-US" dirty="0">
                <a:solidFill>
                  <a:schemeClr val="tx1"/>
                </a:solidFill>
              </a:rPr>
              <a:t>Check/Enable virtualization in BIOS </a:t>
            </a:r>
          </a:p>
          <a:p>
            <a:pPr>
              <a:buFont typeface="Wingdings" panose="05000000000000000000" pitchFamily="2" charset="2"/>
              <a:buChar char="§"/>
            </a:pPr>
            <a:r>
              <a:rPr lang="en-US" dirty="0">
                <a:solidFill>
                  <a:schemeClr val="tx1"/>
                </a:solidFill>
              </a:rPr>
              <a:t>Install WSL2 (</a:t>
            </a:r>
            <a:r>
              <a:rPr lang="en-US" dirty="0" err="1">
                <a:solidFill>
                  <a:schemeClr val="tx1"/>
                </a:solidFill>
              </a:rPr>
              <a:t>wsl</a:t>
            </a:r>
            <a:r>
              <a:rPr lang="en-US" dirty="0">
                <a:solidFill>
                  <a:schemeClr val="tx1"/>
                </a:solidFill>
              </a:rPr>
              <a:t> --install) </a:t>
            </a:r>
          </a:p>
          <a:p>
            <a:pPr>
              <a:buFont typeface="Wingdings" panose="05000000000000000000" pitchFamily="2" charset="2"/>
              <a:buChar char="§"/>
            </a:pPr>
            <a:r>
              <a:rPr lang="en-US" dirty="0">
                <a:solidFill>
                  <a:schemeClr val="tx1"/>
                </a:solidFill>
              </a:rPr>
              <a:t>Reboot </a:t>
            </a:r>
          </a:p>
          <a:p>
            <a:pPr>
              <a:buFont typeface="Wingdings" panose="05000000000000000000" pitchFamily="2" charset="2"/>
              <a:buChar char="§"/>
            </a:pPr>
            <a:r>
              <a:rPr lang="en-US" b="1" dirty="0">
                <a:solidFill>
                  <a:schemeClr val="tx1"/>
                </a:solidFill>
              </a:rPr>
              <a:t>Install Docker Desktop</a:t>
            </a:r>
          </a:p>
          <a:p>
            <a:pPr>
              <a:buFont typeface="Wingdings" panose="05000000000000000000" pitchFamily="2" charset="2"/>
              <a:buChar char="§"/>
            </a:pPr>
            <a:r>
              <a:rPr lang="en-US" dirty="0">
                <a:solidFill>
                  <a:schemeClr val="tx1"/>
                </a:solidFill>
              </a:rPr>
              <a:t>Run installer </a:t>
            </a:r>
            <a:r>
              <a:rPr lang="en-US" b="1" dirty="0">
                <a:solidFill>
                  <a:schemeClr val="tx1"/>
                </a:solidFill>
              </a:rPr>
              <a:t>as admin</a:t>
            </a:r>
            <a:r>
              <a:rPr lang="en-US" dirty="0">
                <a:solidFill>
                  <a:schemeClr val="tx1"/>
                </a:solidFill>
              </a:rPr>
              <a:t> </a:t>
            </a:r>
          </a:p>
          <a:p>
            <a:pPr>
              <a:buFont typeface="Wingdings" panose="05000000000000000000" pitchFamily="2" charset="2"/>
              <a:buChar char="§"/>
            </a:pPr>
            <a:r>
              <a:rPr lang="en-US" dirty="0">
                <a:solidFill>
                  <a:schemeClr val="tx1"/>
                </a:solidFill>
              </a:rPr>
              <a:t>Use default settings </a:t>
            </a:r>
          </a:p>
          <a:p>
            <a:pPr>
              <a:buFont typeface="Wingdings" panose="05000000000000000000" pitchFamily="2" charset="2"/>
              <a:buChar char="§"/>
            </a:pPr>
            <a:r>
              <a:rPr lang="en-US" b="1" dirty="0">
                <a:solidFill>
                  <a:schemeClr val="tx1"/>
                </a:solidFill>
              </a:rPr>
              <a:t>After install</a:t>
            </a:r>
          </a:p>
          <a:p>
            <a:pPr>
              <a:buFont typeface="Wingdings" panose="05000000000000000000" pitchFamily="2" charset="2"/>
              <a:buChar char="§"/>
            </a:pPr>
            <a:r>
              <a:rPr lang="en-US" dirty="0">
                <a:solidFill>
                  <a:schemeClr val="tx1"/>
                </a:solidFill>
              </a:rPr>
              <a:t>Ensure: </a:t>
            </a:r>
          </a:p>
          <a:p>
            <a:pPr marL="742950" lvl="1" indent="-285750">
              <a:buFont typeface="Wingdings" panose="05000000000000000000" pitchFamily="2" charset="2"/>
              <a:buChar char="§"/>
            </a:pPr>
            <a:r>
              <a:rPr lang="en-US" dirty="0">
                <a:solidFill>
                  <a:schemeClr val="tx1"/>
                </a:solidFill>
              </a:rPr>
              <a:t>Docker Desktop starts </a:t>
            </a:r>
          </a:p>
          <a:p>
            <a:pPr marL="742950" lvl="1" indent="-285750">
              <a:buFont typeface="Wingdings" panose="05000000000000000000" pitchFamily="2" charset="2"/>
              <a:buChar char="§"/>
            </a:pPr>
            <a:r>
              <a:rPr lang="en-US" dirty="0">
                <a:solidFill>
                  <a:schemeClr val="tx1"/>
                </a:solidFill>
              </a:rPr>
              <a:t>docker run hello-world works </a:t>
            </a:r>
          </a:p>
          <a:p>
            <a:pPr>
              <a:buFont typeface="Wingdings" panose="05000000000000000000" pitchFamily="2" charset="2"/>
              <a:buChar char="§"/>
            </a:pPr>
            <a:r>
              <a:rPr lang="en-US" b="1" dirty="0">
                <a:solidFill>
                  <a:schemeClr val="tx1"/>
                </a:solidFill>
              </a:rPr>
              <a:t>If it fails</a:t>
            </a:r>
          </a:p>
          <a:p>
            <a:pPr>
              <a:buFont typeface="Wingdings" panose="05000000000000000000" pitchFamily="2" charset="2"/>
              <a:buChar char="§"/>
            </a:pPr>
            <a:r>
              <a:rPr lang="en-US" dirty="0">
                <a:solidFill>
                  <a:schemeClr val="tx1"/>
                </a:solidFill>
              </a:rPr>
              <a:t>Check: </a:t>
            </a:r>
          </a:p>
          <a:p>
            <a:pPr marL="742950" lvl="1" indent="-285750">
              <a:buFont typeface="Wingdings" panose="05000000000000000000" pitchFamily="2" charset="2"/>
              <a:buChar char="§"/>
            </a:pPr>
            <a:r>
              <a:rPr lang="en-US" dirty="0" err="1">
                <a:solidFill>
                  <a:schemeClr val="tx1"/>
                </a:solidFill>
              </a:rPr>
              <a:t>wsl</a:t>
            </a:r>
            <a:r>
              <a:rPr lang="en-US" dirty="0">
                <a:solidFill>
                  <a:schemeClr val="tx1"/>
                </a:solidFill>
              </a:rPr>
              <a:t> -l -v </a:t>
            </a:r>
          </a:p>
          <a:p>
            <a:pPr marL="742950" lvl="1" indent="-285750">
              <a:buFont typeface="Wingdings" panose="05000000000000000000" pitchFamily="2" charset="2"/>
              <a:buChar char="§"/>
            </a:pPr>
            <a:r>
              <a:rPr lang="en-US" dirty="0">
                <a:solidFill>
                  <a:schemeClr val="tx1"/>
                </a:solidFill>
              </a:rPr>
              <a:t>Docker Desktop running </a:t>
            </a:r>
          </a:p>
          <a:p>
            <a:pPr marL="742950" lvl="1" indent="-285750">
              <a:buFont typeface="Wingdings" panose="05000000000000000000" pitchFamily="2" charset="2"/>
              <a:buChar char="§"/>
            </a:pPr>
            <a:r>
              <a:rPr lang="en-US" dirty="0">
                <a:solidFill>
                  <a:schemeClr val="tx1"/>
                </a:solidFill>
              </a:rPr>
              <a:t>user in docker-users </a:t>
            </a:r>
          </a:p>
          <a:p>
            <a:pPr>
              <a:buFont typeface="Wingdings" panose="05000000000000000000" pitchFamily="2" charset="2"/>
              <a:buChar char="§"/>
            </a:pPr>
            <a:r>
              <a:rPr lang="en-US" dirty="0">
                <a:solidFill>
                  <a:schemeClr val="tx1"/>
                </a:solidFill>
              </a:rPr>
              <a:t>Try uninstalling docker desktop first via control panel and restarting if you still have issues. This is the nuclear option: </a:t>
            </a:r>
          </a:p>
          <a:p>
            <a:pPr>
              <a:buFont typeface="Wingdings" panose="05000000000000000000" pitchFamily="2" charset="2"/>
              <a:buChar char="§"/>
            </a:pPr>
            <a:r>
              <a:rPr lang="en-US" dirty="0">
                <a:solidFill>
                  <a:schemeClr val="tx1"/>
                </a:solidFill>
              </a:rPr>
              <a:t>Remove-Item -Path "C:\ProgramData\DockerDesktop" -Recurse -Force</a:t>
            </a:r>
          </a:p>
        </p:txBody>
      </p:sp>
      <p:pic>
        <p:nvPicPr>
          <p:cNvPr id="5" name="Picture 4">
            <a:extLst>
              <a:ext uri="{FF2B5EF4-FFF2-40B4-BE49-F238E27FC236}">
                <a16:creationId xmlns:a16="http://schemas.microsoft.com/office/drawing/2014/main" id="{6C2264AB-F7E6-0C2D-BDD7-D93354B50148}"/>
              </a:ext>
            </a:extLst>
          </p:cNvPr>
          <p:cNvPicPr>
            <a:picLocks noChangeAspect="1"/>
          </p:cNvPicPr>
          <p:nvPr/>
        </p:nvPicPr>
        <p:blipFill>
          <a:blip r:embed="rId2"/>
          <a:stretch>
            <a:fillRect/>
          </a:stretch>
        </p:blipFill>
        <p:spPr>
          <a:xfrm>
            <a:off x="6095999" y="4542484"/>
            <a:ext cx="4698173" cy="890439"/>
          </a:xfrm>
          <a:prstGeom prst="rect">
            <a:avLst/>
          </a:prstGeom>
        </p:spPr>
      </p:pic>
      <p:sp>
        <p:nvSpPr>
          <p:cNvPr id="7" name="TextBox 6">
            <a:extLst>
              <a:ext uri="{FF2B5EF4-FFF2-40B4-BE49-F238E27FC236}">
                <a16:creationId xmlns:a16="http://schemas.microsoft.com/office/drawing/2014/main" id="{2348B3DE-AD2C-4334-E78F-418600304229}"/>
              </a:ext>
            </a:extLst>
          </p:cNvPr>
          <p:cNvSpPr txBox="1"/>
          <p:nvPr/>
        </p:nvSpPr>
        <p:spPr>
          <a:xfrm>
            <a:off x="5760660" y="2315516"/>
            <a:ext cx="5033512" cy="1477328"/>
          </a:xfrm>
          <a:prstGeom prst="rect">
            <a:avLst/>
          </a:prstGeom>
          <a:noFill/>
        </p:spPr>
        <p:txBody>
          <a:bodyPr wrap="square">
            <a:spAutoFit/>
          </a:bodyPr>
          <a:lstStyle/>
          <a:p>
            <a:r>
              <a:rPr lang="en-US" b="0" i="0" dirty="0">
                <a:solidFill>
                  <a:schemeClr val="accent2"/>
                </a:solidFill>
                <a:effectLst/>
                <a:latin typeface="Google Sans"/>
              </a:rPr>
              <a:t>Windows Subsystem for Linux (WSL) </a:t>
            </a:r>
            <a:r>
              <a:rPr lang="en-US" b="0" i="0" dirty="0">
                <a:effectLst/>
                <a:latin typeface="Google Sans"/>
              </a:rPr>
              <a:t>is </a:t>
            </a:r>
            <a:r>
              <a:rPr lang="en-US" dirty="0"/>
              <a:t>a Microsoft feature that allows users to run a native GNU/Linux environment—including command-line tools, utilities, and applications—directly on Windows 10/11 or Windows Server</a:t>
            </a:r>
          </a:p>
        </p:txBody>
      </p:sp>
      <p:cxnSp>
        <p:nvCxnSpPr>
          <p:cNvPr id="9" name="Straight Arrow Connector 8">
            <a:extLst>
              <a:ext uri="{FF2B5EF4-FFF2-40B4-BE49-F238E27FC236}">
                <a16:creationId xmlns:a16="http://schemas.microsoft.com/office/drawing/2014/main" id="{1B7D17FE-7899-B791-1150-5C3738432B5D}"/>
              </a:ext>
            </a:extLst>
          </p:cNvPr>
          <p:cNvCxnSpPr>
            <a:cxnSpLocks/>
          </p:cNvCxnSpPr>
          <p:nvPr/>
        </p:nvCxnSpPr>
        <p:spPr>
          <a:xfrm flipV="1">
            <a:off x="2653048" y="5177307"/>
            <a:ext cx="3322749" cy="94015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810993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151C0-36BB-6AF4-8765-7EA5849BE06C}"/>
              </a:ext>
            </a:extLst>
          </p:cNvPr>
          <p:cNvSpPr>
            <a:spLocks noGrp="1"/>
          </p:cNvSpPr>
          <p:nvPr>
            <p:ph type="title"/>
          </p:nvPr>
        </p:nvSpPr>
        <p:spPr/>
        <p:txBody>
          <a:bodyPr/>
          <a:lstStyle/>
          <a:p>
            <a:r>
              <a:rPr lang="en-US" dirty="0"/>
              <a:t>Docker Key Terms</a:t>
            </a:r>
          </a:p>
        </p:txBody>
      </p:sp>
      <p:sp>
        <p:nvSpPr>
          <p:cNvPr id="5" name="Content Placeholder 4">
            <a:extLst>
              <a:ext uri="{FF2B5EF4-FFF2-40B4-BE49-F238E27FC236}">
                <a16:creationId xmlns:a16="http://schemas.microsoft.com/office/drawing/2014/main" id="{D5F35D24-439E-1C13-D502-05F6E6D122F5}"/>
              </a:ext>
            </a:extLst>
          </p:cNvPr>
          <p:cNvSpPr txBox="1">
            <a:spLocks noGrp="1"/>
          </p:cNvSpPr>
          <p:nvPr>
            <p:ph idx="1"/>
          </p:nvPr>
        </p:nvSpPr>
        <p:spPr>
          <a:xfrm>
            <a:off x="581193" y="2026011"/>
            <a:ext cx="11029615" cy="2416046"/>
          </a:xfrm>
          <a:prstGeom prst="rect">
            <a:avLst/>
          </a:prstGeom>
          <a:noFill/>
        </p:spPr>
        <p:txBody>
          <a:bodyPr wrap="square" rtlCol="0">
            <a:spAutoFit/>
          </a:bodyPr>
          <a:lstStyle/>
          <a:p>
            <a:r>
              <a:rPr lang="en-US" dirty="0">
                <a:solidFill>
                  <a:schemeClr val="tx1"/>
                </a:solidFill>
              </a:rPr>
              <a:t>Docker Hub = think of it as similar to </a:t>
            </a:r>
            <a:r>
              <a:rPr lang="en-US" dirty="0" err="1">
                <a:solidFill>
                  <a:schemeClr val="tx1"/>
                </a:solidFill>
              </a:rPr>
              <a:t>github</a:t>
            </a:r>
            <a:r>
              <a:rPr lang="en-US" dirty="0">
                <a:solidFill>
                  <a:schemeClr val="tx1"/>
                </a:solidFill>
              </a:rPr>
              <a:t> but for Docker Images</a:t>
            </a:r>
          </a:p>
          <a:p>
            <a:endParaRPr lang="en-US" dirty="0">
              <a:solidFill>
                <a:schemeClr val="tx1"/>
              </a:solidFill>
            </a:endParaRPr>
          </a:p>
          <a:p>
            <a:r>
              <a:rPr lang="en-US" dirty="0">
                <a:solidFill>
                  <a:schemeClr val="tx1"/>
                </a:solidFill>
              </a:rPr>
              <a:t>Docker Images = are snapshots and instructions bundled together; we use these to create a docker container</a:t>
            </a:r>
          </a:p>
          <a:p>
            <a:endParaRPr lang="en-US" dirty="0">
              <a:solidFill>
                <a:schemeClr val="tx1"/>
              </a:solidFill>
            </a:endParaRPr>
          </a:p>
          <a:p>
            <a:r>
              <a:rPr lang="en-US" dirty="0">
                <a:solidFill>
                  <a:schemeClr val="tx1"/>
                </a:solidFill>
              </a:rPr>
              <a:t>Docker container = is a running instance of a docker image</a:t>
            </a:r>
          </a:p>
          <a:p>
            <a:endParaRPr lang="en-US" dirty="0">
              <a:solidFill>
                <a:schemeClr val="tx1"/>
              </a:solidFill>
            </a:endParaRPr>
          </a:p>
        </p:txBody>
      </p:sp>
      <p:pic>
        <p:nvPicPr>
          <p:cNvPr id="7" name="Picture 6">
            <a:extLst>
              <a:ext uri="{FF2B5EF4-FFF2-40B4-BE49-F238E27FC236}">
                <a16:creationId xmlns:a16="http://schemas.microsoft.com/office/drawing/2014/main" id="{ED4F5179-704D-BB62-7D70-7780530F4B0D}"/>
              </a:ext>
            </a:extLst>
          </p:cNvPr>
          <p:cNvPicPr>
            <a:picLocks noChangeAspect="1"/>
          </p:cNvPicPr>
          <p:nvPr/>
        </p:nvPicPr>
        <p:blipFill>
          <a:blip r:embed="rId2"/>
          <a:stretch>
            <a:fillRect/>
          </a:stretch>
        </p:blipFill>
        <p:spPr>
          <a:xfrm>
            <a:off x="830686" y="4555060"/>
            <a:ext cx="4213123" cy="2086228"/>
          </a:xfrm>
          <a:prstGeom prst="rect">
            <a:avLst/>
          </a:prstGeom>
        </p:spPr>
      </p:pic>
      <p:sp>
        <p:nvSpPr>
          <p:cNvPr id="9" name="TextBox 8">
            <a:extLst>
              <a:ext uri="{FF2B5EF4-FFF2-40B4-BE49-F238E27FC236}">
                <a16:creationId xmlns:a16="http://schemas.microsoft.com/office/drawing/2014/main" id="{D6AA53A4-F586-3968-194E-DC491E9364E6}"/>
              </a:ext>
            </a:extLst>
          </p:cNvPr>
          <p:cNvSpPr txBox="1"/>
          <p:nvPr/>
        </p:nvSpPr>
        <p:spPr>
          <a:xfrm>
            <a:off x="5976627" y="5228842"/>
            <a:ext cx="3929217" cy="369332"/>
          </a:xfrm>
          <a:prstGeom prst="rect">
            <a:avLst/>
          </a:prstGeom>
          <a:noFill/>
        </p:spPr>
        <p:txBody>
          <a:bodyPr wrap="none" rtlCol="0">
            <a:spAutoFit/>
          </a:bodyPr>
          <a:lstStyle/>
          <a:p>
            <a:r>
              <a:rPr lang="en-US" dirty="0"/>
              <a:t>Tags = are different versions (branches) </a:t>
            </a:r>
          </a:p>
        </p:txBody>
      </p:sp>
    </p:spTree>
    <p:extLst>
      <p:ext uri="{BB962C8B-B14F-4D97-AF65-F5344CB8AC3E}">
        <p14:creationId xmlns:p14="http://schemas.microsoft.com/office/powerpoint/2010/main" val="3897200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2A47E-1D0A-E27B-D449-A03125460814}"/>
              </a:ext>
            </a:extLst>
          </p:cNvPr>
          <p:cNvSpPr>
            <a:spLocks noGrp="1"/>
          </p:cNvSpPr>
          <p:nvPr>
            <p:ph type="title"/>
          </p:nvPr>
        </p:nvSpPr>
        <p:spPr/>
        <p:txBody>
          <a:bodyPr/>
          <a:lstStyle/>
          <a:p>
            <a:r>
              <a:rPr lang="en-US" dirty="0"/>
              <a:t>PostgreSQL Docker Desktop setup</a:t>
            </a:r>
          </a:p>
        </p:txBody>
      </p:sp>
      <p:sp>
        <p:nvSpPr>
          <p:cNvPr id="3" name="Content Placeholder 2">
            <a:extLst>
              <a:ext uri="{FF2B5EF4-FFF2-40B4-BE49-F238E27FC236}">
                <a16:creationId xmlns:a16="http://schemas.microsoft.com/office/drawing/2014/main" id="{1748E01D-167C-852A-12E2-3FD1049E6DAE}"/>
              </a:ext>
            </a:extLst>
          </p:cNvPr>
          <p:cNvSpPr>
            <a:spLocks noGrp="1"/>
          </p:cNvSpPr>
          <p:nvPr>
            <p:ph idx="1"/>
          </p:nvPr>
        </p:nvSpPr>
        <p:spPr>
          <a:xfrm>
            <a:off x="581192" y="3170776"/>
            <a:ext cx="11029615" cy="1697438"/>
          </a:xfrm>
        </p:spPr>
        <p:txBody>
          <a:bodyPr/>
          <a:lstStyle/>
          <a:p>
            <a:r>
              <a:rPr lang="en-US" dirty="0"/>
              <a:t>PostgreSQL uses port 5432 by default, here we are just setting the Docker container port to match:</a:t>
            </a:r>
          </a:p>
          <a:p>
            <a:pPr lvl="1"/>
            <a:r>
              <a:rPr lang="en-US" dirty="0"/>
              <a:t>-p &lt;</a:t>
            </a:r>
            <a:r>
              <a:rPr lang="en-US" dirty="0" err="1"/>
              <a:t>host_port</a:t>
            </a:r>
            <a:r>
              <a:rPr lang="en-US" dirty="0"/>
              <a:t>&gt;:&lt;</a:t>
            </a:r>
            <a:r>
              <a:rPr lang="en-US" dirty="0" err="1"/>
              <a:t>container_port</a:t>
            </a:r>
            <a:r>
              <a:rPr lang="en-US" dirty="0"/>
              <a:t>&gt;</a:t>
            </a:r>
          </a:p>
          <a:p>
            <a:pPr lvl="1"/>
            <a:r>
              <a:rPr lang="en-US" dirty="0"/>
              <a:t>Traffic sent through port 5432 on host is forwarded to port 5432 inside the container </a:t>
            </a:r>
          </a:p>
          <a:p>
            <a:pPr lvl="1"/>
            <a:r>
              <a:rPr lang="en-US" dirty="0"/>
              <a:t>We could supply a ‘-v’ flag here to setup a named volume (but without docker will provide an </a:t>
            </a:r>
            <a:r>
              <a:rPr lang="en-US"/>
              <a:t>anonymous volume)</a:t>
            </a:r>
            <a:endParaRPr lang="en-US" dirty="0"/>
          </a:p>
        </p:txBody>
      </p:sp>
      <p:pic>
        <p:nvPicPr>
          <p:cNvPr id="5" name="Picture 4">
            <a:extLst>
              <a:ext uri="{FF2B5EF4-FFF2-40B4-BE49-F238E27FC236}">
                <a16:creationId xmlns:a16="http://schemas.microsoft.com/office/drawing/2014/main" id="{BD488572-934F-6BDB-D5DC-60672AC09BD2}"/>
              </a:ext>
            </a:extLst>
          </p:cNvPr>
          <p:cNvPicPr>
            <a:picLocks noChangeAspect="1"/>
          </p:cNvPicPr>
          <p:nvPr/>
        </p:nvPicPr>
        <p:blipFill>
          <a:blip r:embed="rId2"/>
          <a:stretch>
            <a:fillRect/>
          </a:stretch>
        </p:blipFill>
        <p:spPr>
          <a:xfrm>
            <a:off x="766293" y="2252832"/>
            <a:ext cx="10659414" cy="802889"/>
          </a:xfrm>
          <a:prstGeom prst="rect">
            <a:avLst/>
          </a:prstGeom>
        </p:spPr>
      </p:pic>
      <p:pic>
        <p:nvPicPr>
          <p:cNvPr id="6" name="Picture 5">
            <a:extLst>
              <a:ext uri="{FF2B5EF4-FFF2-40B4-BE49-F238E27FC236}">
                <a16:creationId xmlns:a16="http://schemas.microsoft.com/office/drawing/2014/main" id="{DAEB15F0-320D-2795-0DEA-A246F167EB59}"/>
              </a:ext>
            </a:extLst>
          </p:cNvPr>
          <p:cNvPicPr>
            <a:picLocks noChangeAspect="1"/>
          </p:cNvPicPr>
          <p:nvPr/>
        </p:nvPicPr>
        <p:blipFill>
          <a:blip r:embed="rId3"/>
          <a:stretch>
            <a:fillRect/>
          </a:stretch>
        </p:blipFill>
        <p:spPr>
          <a:xfrm>
            <a:off x="3830038" y="4868214"/>
            <a:ext cx="1593739" cy="1885475"/>
          </a:xfrm>
          <a:prstGeom prst="rect">
            <a:avLst/>
          </a:prstGeom>
        </p:spPr>
      </p:pic>
      <p:pic>
        <p:nvPicPr>
          <p:cNvPr id="8" name="Picture 7">
            <a:extLst>
              <a:ext uri="{FF2B5EF4-FFF2-40B4-BE49-F238E27FC236}">
                <a16:creationId xmlns:a16="http://schemas.microsoft.com/office/drawing/2014/main" id="{82069584-DDEF-EBAF-59FF-AB87C06AEB30}"/>
              </a:ext>
            </a:extLst>
          </p:cNvPr>
          <p:cNvPicPr>
            <a:picLocks noChangeAspect="1"/>
          </p:cNvPicPr>
          <p:nvPr/>
        </p:nvPicPr>
        <p:blipFill>
          <a:blip r:embed="rId4"/>
          <a:stretch>
            <a:fillRect/>
          </a:stretch>
        </p:blipFill>
        <p:spPr>
          <a:xfrm>
            <a:off x="5874106" y="5287583"/>
            <a:ext cx="1831926" cy="234219"/>
          </a:xfrm>
          <a:prstGeom prst="rect">
            <a:avLst/>
          </a:prstGeom>
        </p:spPr>
      </p:pic>
      <p:pic>
        <p:nvPicPr>
          <p:cNvPr id="10" name="Picture 9">
            <a:extLst>
              <a:ext uri="{FF2B5EF4-FFF2-40B4-BE49-F238E27FC236}">
                <a16:creationId xmlns:a16="http://schemas.microsoft.com/office/drawing/2014/main" id="{0BED039E-BD91-126F-1EB8-BAF071E5230E}"/>
              </a:ext>
            </a:extLst>
          </p:cNvPr>
          <p:cNvPicPr>
            <a:picLocks noChangeAspect="1"/>
          </p:cNvPicPr>
          <p:nvPr/>
        </p:nvPicPr>
        <p:blipFill>
          <a:blip r:embed="rId5"/>
          <a:stretch>
            <a:fillRect/>
          </a:stretch>
        </p:blipFill>
        <p:spPr>
          <a:xfrm>
            <a:off x="5816477" y="6188362"/>
            <a:ext cx="1965765" cy="234219"/>
          </a:xfrm>
          <a:prstGeom prst="rect">
            <a:avLst/>
          </a:prstGeom>
        </p:spPr>
      </p:pic>
    </p:spTree>
    <p:extLst>
      <p:ext uri="{BB962C8B-B14F-4D97-AF65-F5344CB8AC3E}">
        <p14:creationId xmlns:p14="http://schemas.microsoft.com/office/powerpoint/2010/main" val="2187667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F9966-8CF0-98E6-C464-74F7DC4AB003}"/>
              </a:ext>
            </a:extLst>
          </p:cNvPr>
          <p:cNvSpPr>
            <a:spLocks noGrp="1"/>
          </p:cNvSpPr>
          <p:nvPr>
            <p:ph type="title"/>
          </p:nvPr>
        </p:nvSpPr>
        <p:spPr/>
        <p:txBody>
          <a:bodyPr/>
          <a:lstStyle/>
          <a:p>
            <a:r>
              <a:rPr lang="en-US" dirty="0"/>
              <a:t>Database setup - tools</a:t>
            </a:r>
          </a:p>
        </p:txBody>
      </p:sp>
      <p:sp>
        <p:nvSpPr>
          <p:cNvPr id="3" name="Content Placeholder 2">
            <a:extLst>
              <a:ext uri="{FF2B5EF4-FFF2-40B4-BE49-F238E27FC236}">
                <a16:creationId xmlns:a16="http://schemas.microsoft.com/office/drawing/2014/main" id="{CF261CA3-1EB6-D809-8288-03287D7BB17A}"/>
              </a:ext>
            </a:extLst>
          </p:cNvPr>
          <p:cNvSpPr>
            <a:spLocks noGrp="1"/>
          </p:cNvSpPr>
          <p:nvPr>
            <p:ph idx="1"/>
          </p:nvPr>
        </p:nvSpPr>
        <p:spPr>
          <a:xfrm>
            <a:off x="581192" y="2180497"/>
            <a:ext cx="11029615" cy="783961"/>
          </a:xfrm>
        </p:spPr>
        <p:txBody>
          <a:bodyPr/>
          <a:lstStyle/>
          <a:p>
            <a:r>
              <a:rPr lang="en-US" dirty="0"/>
              <a:t>Tools like </a:t>
            </a:r>
            <a:r>
              <a:rPr lang="en-US" dirty="0" err="1"/>
              <a:t>pgAdmin</a:t>
            </a:r>
            <a:r>
              <a:rPr lang="en-US" dirty="0"/>
              <a:t> and the PostgreSQL VS Code extension, can be used to help manage our database</a:t>
            </a:r>
          </a:p>
        </p:txBody>
      </p:sp>
      <p:pic>
        <p:nvPicPr>
          <p:cNvPr id="5" name="Picture 4">
            <a:extLst>
              <a:ext uri="{FF2B5EF4-FFF2-40B4-BE49-F238E27FC236}">
                <a16:creationId xmlns:a16="http://schemas.microsoft.com/office/drawing/2014/main" id="{D4FAD755-2BF6-A153-A37E-21D07D867D23}"/>
              </a:ext>
            </a:extLst>
          </p:cNvPr>
          <p:cNvPicPr>
            <a:picLocks noChangeAspect="1"/>
          </p:cNvPicPr>
          <p:nvPr/>
        </p:nvPicPr>
        <p:blipFill>
          <a:blip r:embed="rId2"/>
          <a:stretch>
            <a:fillRect/>
          </a:stretch>
        </p:blipFill>
        <p:spPr>
          <a:xfrm>
            <a:off x="447939" y="3851466"/>
            <a:ext cx="6025780" cy="1652076"/>
          </a:xfrm>
          <a:prstGeom prst="rect">
            <a:avLst/>
          </a:prstGeom>
        </p:spPr>
      </p:pic>
      <p:pic>
        <p:nvPicPr>
          <p:cNvPr id="7" name="Picture 6">
            <a:extLst>
              <a:ext uri="{FF2B5EF4-FFF2-40B4-BE49-F238E27FC236}">
                <a16:creationId xmlns:a16="http://schemas.microsoft.com/office/drawing/2014/main" id="{277B25FA-4415-7309-F87A-C8C12C6AC024}"/>
              </a:ext>
            </a:extLst>
          </p:cNvPr>
          <p:cNvPicPr>
            <a:picLocks noChangeAspect="1"/>
          </p:cNvPicPr>
          <p:nvPr/>
        </p:nvPicPr>
        <p:blipFill>
          <a:blip r:embed="rId3"/>
          <a:stretch>
            <a:fillRect/>
          </a:stretch>
        </p:blipFill>
        <p:spPr>
          <a:xfrm>
            <a:off x="6690406" y="3483756"/>
            <a:ext cx="5258481" cy="2387496"/>
          </a:xfrm>
          <a:prstGeom prst="rect">
            <a:avLst/>
          </a:prstGeom>
        </p:spPr>
      </p:pic>
    </p:spTree>
    <p:extLst>
      <p:ext uri="{BB962C8B-B14F-4D97-AF65-F5344CB8AC3E}">
        <p14:creationId xmlns:p14="http://schemas.microsoft.com/office/powerpoint/2010/main" val="2655439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B7B17-C202-3AEC-1DFC-03D2D0C82982}"/>
              </a:ext>
            </a:extLst>
          </p:cNvPr>
          <p:cNvSpPr>
            <a:spLocks noGrp="1"/>
          </p:cNvSpPr>
          <p:nvPr>
            <p:ph type="title"/>
          </p:nvPr>
        </p:nvSpPr>
        <p:spPr/>
        <p:txBody>
          <a:bodyPr/>
          <a:lstStyle/>
          <a:p>
            <a:r>
              <a:rPr lang="en-US" dirty="0"/>
              <a:t>PostgreSQL hierarchy </a:t>
            </a:r>
          </a:p>
        </p:txBody>
      </p:sp>
      <p:sp>
        <p:nvSpPr>
          <p:cNvPr id="3" name="Content Placeholder 2">
            <a:extLst>
              <a:ext uri="{FF2B5EF4-FFF2-40B4-BE49-F238E27FC236}">
                <a16:creationId xmlns:a16="http://schemas.microsoft.com/office/drawing/2014/main" id="{A1600BAC-36F4-2DAF-BE21-78555CB3E858}"/>
              </a:ext>
            </a:extLst>
          </p:cNvPr>
          <p:cNvSpPr>
            <a:spLocks noGrp="1"/>
          </p:cNvSpPr>
          <p:nvPr>
            <p:ph idx="1"/>
          </p:nvPr>
        </p:nvSpPr>
        <p:spPr>
          <a:xfrm>
            <a:off x="581192" y="1957589"/>
            <a:ext cx="11029615" cy="4900411"/>
          </a:xfrm>
        </p:spPr>
        <p:txBody>
          <a:bodyPr>
            <a:normAutofit/>
          </a:bodyPr>
          <a:lstStyle/>
          <a:p>
            <a:r>
              <a:rPr lang="en-US" sz="2000" dirty="0"/>
              <a:t>Database – top level container for application’s data </a:t>
            </a:r>
          </a:p>
          <a:p>
            <a:pPr lvl="1"/>
            <a:r>
              <a:rPr lang="en-US" sz="2000" dirty="0"/>
              <a:t>Schema – namespace inside a database</a:t>
            </a:r>
          </a:p>
          <a:p>
            <a:pPr lvl="2"/>
            <a:r>
              <a:rPr lang="en-US" sz="2000" dirty="0"/>
              <a:t>Table – what stores the actual data</a:t>
            </a:r>
          </a:p>
          <a:p>
            <a:pPr lvl="3"/>
            <a:r>
              <a:rPr lang="en-US" sz="2000" dirty="0"/>
              <a:t>Columns – defines the data type</a:t>
            </a:r>
          </a:p>
          <a:p>
            <a:pPr lvl="3"/>
            <a:r>
              <a:rPr lang="en-US" sz="2000" dirty="0"/>
              <a:t>Constraints – puts limits on what data is allowed</a:t>
            </a:r>
          </a:p>
          <a:p>
            <a:pPr lvl="3"/>
            <a:r>
              <a:rPr lang="en-US" sz="2000" dirty="0"/>
              <a:t>Indexes – optimizations that make queries faster</a:t>
            </a:r>
          </a:p>
          <a:p>
            <a:pPr lvl="2"/>
            <a:r>
              <a:rPr lang="en-US" sz="2000" dirty="0"/>
              <a:t>Views – essentially a saved query </a:t>
            </a:r>
          </a:p>
          <a:p>
            <a:pPr lvl="2"/>
            <a:r>
              <a:rPr lang="en-US" sz="2000" dirty="0"/>
              <a:t>Functions – reusable operation that lives in the database</a:t>
            </a:r>
          </a:p>
        </p:txBody>
      </p:sp>
    </p:spTree>
    <p:extLst>
      <p:ext uri="{BB962C8B-B14F-4D97-AF65-F5344CB8AC3E}">
        <p14:creationId xmlns:p14="http://schemas.microsoft.com/office/powerpoint/2010/main" val="2442193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EE791-1639-1E54-D4C9-32F398A7392E}"/>
              </a:ext>
            </a:extLst>
          </p:cNvPr>
          <p:cNvSpPr>
            <a:spLocks noGrp="1"/>
          </p:cNvSpPr>
          <p:nvPr>
            <p:ph type="title"/>
          </p:nvPr>
        </p:nvSpPr>
        <p:spPr/>
        <p:txBody>
          <a:bodyPr/>
          <a:lstStyle/>
          <a:p>
            <a:r>
              <a:rPr lang="en-US" dirty="0"/>
              <a:t>Beginner commands</a:t>
            </a:r>
          </a:p>
        </p:txBody>
      </p:sp>
      <p:sp>
        <p:nvSpPr>
          <p:cNvPr id="3" name="Content Placeholder 2">
            <a:extLst>
              <a:ext uri="{FF2B5EF4-FFF2-40B4-BE49-F238E27FC236}">
                <a16:creationId xmlns:a16="http://schemas.microsoft.com/office/drawing/2014/main" id="{2A1623D2-FFF0-A0EB-880C-DB3D090EC74C}"/>
              </a:ext>
            </a:extLst>
          </p:cNvPr>
          <p:cNvSpPr>
            <a:spLocks noGrp="1"/>
          </p:cNvSpPr>
          <p:nvPr>
            <p:ph idx="1"/>
          </p:nvPr>
        </p:nvSpPr>
        <p:spPr/>
        <p:txBody>
          <a:bodyPr>
            <a:normAutofit fontScale="92500" lnSpcReduction="10000"/>
          </a:bodyPr>
          <a:lstStyle/>
          <a:p>
            <a:r>
              <a:rPr lang="en-US" dirty="0">
                <a:solidFill>
                  <a:schemeClr val="tx1"/>
                </a:solidFill>
              </a:rPr>
              <a:t>CREATE DATABASE </a:t>
            </a:r>
            <a:r>
              <a:rPr lang="en-US" dirty="0" err="1">
                <a:solidFill>
                  <a:schemeClr val="tx1"/>
                </a:solidFill>
              </a:rPr>
              <a:t>my_app</a:t>
            </a:r>
            <a:r>
              <a:rPr lang="en-US" dirty="0">
                <a:solidFill>
                  <a:schemeClr val="tx1"/>
                </a:solidFill>
              </a:rPr>
              <a:t>;</a:t>
            </a:r>
          </a:p>
          <a:p>
            <a:r>
              <a:rPr lang="en-US" dirty="0">
                <a:solidFill>
                  <a:schemeClr val="tx1"/>
                </a:solidFill>
              </a:rPr>
              <a:t>DROP DATABASE </a:t>
            </a:r>
            <a:r>
              <a:rPr lang="en-US" dirty="0" err="1">
                <a:solidFill>
                  <a:schemeClr val="tx1"/>
                </a:solidFill>
              </a:rPr>
              <a:t>my_app</a:t>
            </a:r>
            <a:r>
              <a:rPr lang="en-US" dirty="0">
                <a:solidFill>
                  <a:schemeClr val="tx1"/>
                </a:solidFill>
              </a:rPr>
              <a:t>;</a:t>
            </a:r>
          </a:p>
          <a:p>
            <a:r>
              <a:rPr lang="en-US" dirty="0">
                <a:solidFill>
                  <a:schemeClr val="tx1"/>
                </a:solidFill>
              </a:rPr>
              <a:t>CREATE SCHEMA billing;</a:t>
            </a:r>
          </a:p>
          <a:p>
            <a:endParaRPr lang="en-US" dirty="0">
              <a:solidFill>
                <a:schemeClr val="tx1"/>
              </a:solidFill>
            </a:endParaRPr>
          </a:p>
          <a:p>
            <a:pPr marL="0" indent="0">
              <a:buNone/>
            </a:pPr>
            <a:r>
              <a:rPr lang="en-US" dirty="0">
                <a:solidFill>
                  <a:schemeClr val="tx1"/>
                </a:solidFill>
              </a:rPr>
              <a:t>SET search path is the ordered list of schemas </a:t>
            </a:r>
            <a:r>
              <a:rPr lang="en-US" dirty="0" err="1">
                <a:solidFill>
                  <a:schemeClr val="tx1"/>
                </a:solidFill>
              </a:rPr>
              <a:t>psql</a:t>
            </a:r>
            <a:r>
              <a:rPr lang="en-US" dirty="0">
                <a:solidFill>
                  <a:schemeClr val="tx1"/>
                </a:solidFill>
              </a:rPr>
              <a:t> searches when you refer to an object without qualifying it. </a:t>
            </a:r>
          </a:p>
          <a:p>
            <a:pPr marL="0" indent="0">
              <a:buNone/>
            </a:pPr>
            <a:endParaRPr lang="en-US" dirty="0">
              <a:solidFill>
                <a:schemeClr val="tx1"/>
              </a:solidFill>
            </a:endParaRPr>
          </a:p>
          <a:p>
            <a:pPr marL="0" indent="0">
              <a:buNone/>
            </a:pPr>
            <a:r>
              <a:rPr lang="en-US" dirty="0">
                <a:solidFill>
                  <a:schemeClr val="tx1"/>
                </a:solidFill>
              </a:rPr>
              <a:t>I.e. SELECT * FROM Users; &lt;- which user? From what schema?</a:t>
            </a:r>
          </a:p>
          <a:p>
            <a:pPr marL="0" indent="0">
              <a:buNone/>
            </a:pPr>
            <a:r>
              <a:rPr lang="en-US" dirty="0">
                <a:solidFill>
                  <a:schemeClr val="tx1"/>
                </a:solidFill>
              </a:rPr>
              <a:t>SELECT * FROM </a:t>
            </a:r>
            <a:r>
              <a:rPr lang="en-US" dirty="0" err="1">
                <a:solidFill>
                  <a:schemeClr val="tx1"/>
                </a:solidFill>
              </a:rPr>
              <a:t>my_schema.users</a:t>
            </a:r>
            <a:r>
              <a:rPr lang="en-US" dirty="0">
                <a:solidFill>
                  <a:schemeClr val="tx1"/>
                </a:solidFill>
              </a:rPr>
              <a:t>; &lt;- You can be explicit.</a:t>
            </a:r>
          </a:p>
          <a:p>
            <a:endParaRPr lang="en-US" dirty="0">
              <a:solidFill>
                <a:schemeClr val="tx1"/>
              </a:solidFill>
            </a:endParaRPr>
          </a:p>
          <a:p>
            <a:r>
              <a:rPr lang="en-US" dirty="0">
                <a:solidFill>
                  <a:schemeClr val="tx1"/>
                </a:solidFill>
              </a:rPr>
              <a:t>SET </a:t>
            </a:r>
            <a:r>
              <a:rPr lang="en-US" dirty="0" err="1">
                <a:solidFill>
                  <a:schemeClr val="tx1"/>
                </a:solidFill>
              </a:rPr>
              <a:t>search_path</a:t>
            </a:r>
            <a:r>
              <a:rPr lang="en-US" dirty="0">
                <a:solidFill>
                  <a:schemeClr val="tx1"/>
                </a:solidFill>
              </a:rPr>
              <a:t> TO billing, public;</a:t>
            </a:r>
          </a:p>
        </p:txBody>
      </p:sp>
    </p:spTree>
    <p:extLst>
      <p:ext uri="{BB962C8B-B14F-4D97-AF65-F5344CB8AC3E}">
        <p14:creationId xmlns:p14="http://schemas.microsoft.com/office/powerpoint/2010/main" val="1589906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8B1F0-0BFB-CD40-8EDA-30D2E9C8E14E}"/>
              </a:ext>
            </a:extLst>
          </p:cNvPr>
          <p:cNvSpPr>
            <a:spLocks noGrp="1"/>
          </p:cNvSpPr>
          <p:nvPr>
            <p:ph type="title"/>
          </p:nvPr>
        </p:nvSpPr>
        <p:spPr/>
        <p:txBody>
          <a:bodyPr/>
          <a:lstStyle/>
          <a:p>
            <a:r>
              <a:rPr lang="en-US" dirty="0"/>
              <a:t>PostgreSQL UUID support &amp; Creating tables</a:t>
            </a:r>
          </a:p>
        </p:txBody>
      </p:sp>
      <p:sp>
        <p:nvSpPr>
          <p:cNvPr id="5" name="TextBox 3">
            <a:extLst>
              <a:ext uri="{FF2B5EF4-FFF2-40B4-BE49-F238E27FC236}">
                <a16:creationId xmlns:a16="http://schemas.microsoft.com/office/drawing/2014/main" id="{59E943F5-FAF7-2AC7-1049-C394F8C2AE07}"/>
              </a:ext>
            </a:extLst>
          </p:cNvPr>
          <p:cNvSpPr/>
          <p:nvPr/>
        </p:nvSpPr>
        <p:spPr>
          <a:xfrm>
            <a:off x="359909" y="2780661"/>
            <a:ext cx="647604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solidFill>
                  <a:schemeClr val="accent2"/>
                </a:solidFill>
                <a:effectLst/>
                <a:uFillTx/>
                <a:latin typeface="Arial"/>
                <a:ea typeface="Arial"/>
              </a:rPr>
              <a:t>Modern default:</a:t>
            </a:r>
          </a:p>
          <a:p>
            <a:pPr>
              <a:lnSpc>
                <a:spcPct val="100000"/>
              </a:lnSpc>
            </a:pPr>
            <a:r>
              <a:rPr lang="en-US" sz="1400" b="0" u="none" strike="noStrike" dirty="0">
                <a:effectLst/>
                <a:uFillTx/>
                <a:latin typeface="Arial"/>
                <a:ea typeface="Arial"/>
              </a:rPr>
              <a:t>CREATE EXTENSION IF NOT EXISTS "</a:t>
            </a:r>
            <a:r>
              <a:rPr lang="en-US" sz="1400" b="0" u="none" strike="noStrike" dirty="0" err="1">
                <a:effectLst/>
                <a:uFillTx/>
                <a:latin typeface="Arial"/>
                <a:ea typeface="Arial"/>
              </a:rPr>
              <a:t>pgcrypto</a:t>
            </a:r>
            <a:r>
              <a:rPr lang="en-US" sz="1400" b="0" u="none" strike="noStrike" dirty="0">
                <a:effectLst/>
                <a:uFillTx/>
                <a:latin typeface="Arial"/>
                <a:ea typeface="Arial"/>
              </a:rPr>
              <a:t>"; </a:t>
            </a:r>
            <a:endParaRPr lang="en-US" sz="1400" b="0" u="none" strike="noStrike" dirty="0">
              <a:effectLst/>
              <a:uFillTx/>
              <a:latin typeface="Arial"/>
            </a:endParaRPr>
          </a:p>
        </p:txBody>
      </p:sp>
      <p:sp>
        <p:nvSpPr>
          <p:cNvPr id="7" name="TextBox 5">
            <a:extLst>
              <a:ext uri="{FF2B5EF4-FFF2-40B4-BE49-F238E27FC236}">
                <a16:creationId xmlns:a16="http://schemas.microsoft.com/office/drawing/2014/main" id="{57CF87EE-88A1-D0A3-AB6D-C08F8C5DB30C}"/>
              </a:ext>
            </a:extLst>
          </p:cNvPr>
          <p:cNvSpPr/>
          <p:nvPr/>
        </p:nvSpPr>
        <p:spPr>
          <a:xfrm>
            <a:off x="359909" y="3429000"/>
            <a:ext cx="636480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CREATE TABLE customers (</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  </a:t>
            </a:r>
            <a:r>
              <a:rPr lang="en-US" sz="1400" b="0" u="none" strike="noStrike" dirty="0" err="1">
                <a:effectLst/>
                <a:uFillTx/>
                <a:latin typeface="Arial"/>
                <a:ea typeface="Arial"/>
              </a:rPr>
              <a:t>customer_id</a:t>
            </a:r>
            <a:r>
              <a:rPr lang="en-US" sz="1400" b="0" u="none" strike="noStrike" dirty="0">
                <a:effectLst/>
                <a:uFillTx/>
                <a:latin typeface="Arial"/>
                <a:ea typeface="Arial"/>
              </a:rPr>
              <a:t> UUID PRIMARY KEY DEFAULT </a:t>
            </a:r>
            <a:r>
              <a:rPr lang="en-US" sz="1400" b="0" u="none" strike="noStrike" dirty="0" err="1">
                <a:effectLst/>
                <a:uFillTx/>
                <a:latin typeface="Arial"/>
                <a:ea typeface="Arial"/>
              </a:rPr>
              <a:t>gen_random_uuid</a:t>
            </a:r>
            <a:r>
              <a:rPr lang="en-US" sz="1400" b="0" u="none" strike="noStrike" dirty="0">
                <a:effectLst/>
                <a:uFillTx/>
                <a:latin typeface="Arial"/>
                <a:ea typeface="Arial"/>
              </a:rPr>
              <a:t>(),</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  name TEXT NOT NULL</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a:t>
            </a:r>
            <a:endParaRPr lang="en-US" sz="1400" b="0" u="none" strike="noStrike" dirty="0">
              <a:effectLst/>
              <a:uFillTx/>
              <a:latin typeface="Arial"/>
            </a:endParaRPr>
          </a:p>
        </p:txBody>
      </p:sp>
      <p:sp>
        <p:nvSpPr>
          <p:cNvPr id="9" name="TextBox 7">
            <a:extLst>
              <a:ext uri="{FF2B5EF4-FFF2-40B4-BE49-F238E27FC236}">
                <a16:creationId xmlns:a16="http://schemas.microsoft.com/office/drawing/2014/main" id="{4CAB0836-1CA1-C803-3B1B-900CF6EAC2AF}"/>
              </a:ext>
            </a:extLst>
          </p:cNvPr>
          <p:cNvSpPr/>
          <p:nvPr/>
        </p:nvSpPr>
        <p:spPr>
          <a:xfrm>
            <a:off x="359909" y="4465273"/>
            <a:ext cx="6364800" cy="159898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400" dirty="0">
                <a:solidFill>
                  <a:schemeClr val="accent2"/>
                </a:solidFill>
                <a:latin typeface="Arial"/>
                <a:ea typeface="Arial"/>
              </a:rPr>
              <a:t>Only used if you want a specific UUID version spec:</a:t>
            </a:r>
            <a:endParaRPr lang="en-US" sz="1400" b="0" u="none" strike="noStrike" dirty="0">
              <a:solidFill>
                <a:schemeClr val="accent2"/>
              </a:solidFill>
              <a:effectLst/>
              <a:uFillTx/>
              <a:latin typeface="Arial"/>
              <a:ea typeface="Arial"/>
            </a:endParaRPr>
          </a:p>
          <a:p>
            <a:pPr>
              <a:lnSpc>
                <a:spcPct val="100000"/>
              </a:lnSpc>
            </a:pPr>
            <a:r>
              <a:rPr lang="en-US" sz="1400" b="0" u="none" strike="noStrike" dirty="0">
                <a:effectLst/>
                <a:uFillTx/>
                <a:latin typeface="Arial"/>
                <a:ea typeface="Arial"/>
              </a:rPr>
              <a:t>CREATE EXTENSION IF NOT EXISTS "</a:t>
            </a:r>
            <a:r>
              <a:rPr lang="en-US" sz="1400" b="0" u="none" strike="noStrike" dirty="0" err="1">
                <a:effectLst/>
                <a:uFillTx/>
                <a:latin typeface="Arial"/>
                <a:ea typeface="Arial"/>
              </a:rPr>
              <a:t>uuid-ossp</a:t>
            </a:r>
            <a:r>
              <a:rPr lang="en-US" sz="1400" b="0" u="none" strike="noStrike" dirty="0">
                <a:effectLst/>
                <a:uFillTx/>
                <a:latin typeface="Arial"/>
                <a:ea typeface="Arial"/>
              </a:rPr>
              <a:t>";</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CREATE TABLE customers (</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    </a:t>
            </a:r>
            <a:r>
              <a:rPr lang="en-US" sz="1400" b="0" u="none" strike="noStrike" dirty="0" err="1">
                <a:effectLst/>
                <a:uFillTx/>
                <a:latin typeface="Arial"/>
                <a:ea typeface="Arial"/>
              </a:rPr>
              <a:t>customer_id</a:t>
            </a:r>
            <a:r>
              <a:rPr lang="en-US" sz="1400" b="0" u="none" strike="noStrike" dirty="0">
                <a:effectLst/>
                <a:uFillTx/>
                <a:latin typeface="Arial"/>
                <a:ea typeface="Arial"/>
              </a:rPr>
              <a:t> UUID PRIMARY KEY DEFAULT uuid_generate_v4(),</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    name TEXT NOT NULL</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a:t>
            </a:r>
            <a:endParaRPr lang="en-US" sz="1400" b="0" u="none" strike="noStrike" dirty="0">
              <a:effectLst/>
              <a:uFillTx/>
              <a:latin typeface="Arial"/>
            </a:endParaRPr>
          </a:p>
        </p:txBody>
      </p:sp>
      <p:sp>
        <p:nvSpPr>
          <p:cNvPr id="10" name="TextBox 9">
            <a:extLst>
              <a:ext uri="{FF2B5EF4-FFF2-40B4-BE49-F238E27FC236}">
                <a16:creationId xmlns:a16="http://schemas.microsoft.com/office/drawing/2014/main" id="{7975C38E-16BE-E5CC-9C59-0B42480F8D06}"/>
              </a:ext>
            </a:extLst>
          </p:cNvPr>
          <p:cNvSpPr txBox="1"/>
          <p:nvPr/>
        </p:nvSpPr>
        <p:spPr>
          <a:xfrm>
            <a:off x="1553538" y="2023396"/>
            <a:ext cx="9084923" cy="369332"/>
          </a:xfrm>
          <a:prstGeom prst="rect">
            <a:avLst/>
          </a:prstGeom>
          <a:noFill/>
        </p:spPr>
        <p:txBody>
          <a:bodyPr wrap="none" rtlCol="0">
            <a:spAutoFit/>
          </a:bodyPr>
          <a:lstStyle/>
          <a:p>
            <a:r>
              <a:rPr lang="en-US" dirty="0"/>
              <a:t>Note: You shouldn’t need to manually create/install extensions for modern versions of </a:t>
            </a:r>
            <a:r>
              <a:rPr lang="en-US" dirty="0" err="1"/>
              <a:t>postgres</a:t>
            </a:r>
            <a:r>
              <a:rPr lang="en-US" dirty="0"/>
              <a:t>.</a:t>
            </a:r>
          </a:p>
        </p:txBody>
      </p:sp>
      <p:sp>
        <p:nvSpPr>
          <p:cNvPr id="12" name="TextBox 5">
            <a:extLst>
              <a:ext uri="{FF2B5EF4-FFF2-40B4-BE49-F238E27FC236}">
                <a16:creationId xmlns:a16="http://schemas.microsoft.com/office/drawing/2014/main" id="{45B3F040-B7C1-17BF-8BED-0BBB14CF1F06}"/>
              </a:ext>
            </a:extLst>
          </p:cNvPr>
          <p:cNvSpPr/>
          <p:nvPr/>
        </p:nvSpPr>
        <p:spPr>
          <a:xfrm>
            <a:off x="7283621" y="3515704"/>
            <a:ext cx="3354840" cy="116809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600" b="0" u="none" strike="noStrike" dirty="0">
                <a:solidFill>
                  <a:schemeClr val="accent2"/>
                </a:solidFill>
                <a:effectLst/>
                <a:uFillTx/>
                <a:latin typeface="Arial"/>
                <a:ea typeface="Arial"/>
              </a:rPr>
              <a:t>SQL Constraints </a:t>
            </a:r>
            <a:r>
              <a:rPr lang="en-US" sz="1600" b="0" u="none" strike="noStrike" dirty="0">
                <a:effectLst/>
                <a:uFillTx/>
                <a:latin typeface="Arial"/>
                <a:ea typeface="Arial"/>
              </a:rPr>
              <a:t>specify rules for data in a table. </a:t>
            </a:r>
            <a:endParaRPr lang="en-US" sz="16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200" b="0" u="none" strike="noStrike" dirty="0">
                <a:solidFill>
                  <a:schemeClr val="accent2"/>
                </a:solidFill>
                <a:effectLst/>
                <a:uFillTx/>
                <a:latin typeface="Arial"/>
                <a:ea typeface="Arial"/>
              </a:rPr>
              <a:t>PRIMARY KEY </a:t>
            </a:r>
            <a:r>
              <a:rPr lang="en-US" sz="1200" b="0" u="none" strike="noStrike" dirty="0">
                <a:effectLst/>
                <a:uFillTx/>
                <a:latin typeface="Arial"/>
                <a:ea typeface="Arial"/>
              </a:rPr>
              <a:t>= combo of ‘NOT NULL’ and ‘UNIQUE’. </a:t>
            </a:r>
            <a:endParaRPr lang="en-US" sz="1200" b="0" u="none" strike="noStrike" dirty="0">
              <a:effectLst/>
              <a:uFillTx/>
              <a:latin typeface="Arial"/>
            </a:endParaRPr>
          </a:p>
        </p:txBody>
      </p:sp>
    </p:spTree>
    <p:extLst>
      <p:ext uri="{BB962C8B-B14F-4D97-AF65-F5344CB8AC3E}">
        <p14:creationId xmlns:p14="http://schemas.microsoft.com/office/powerpoint/2010/main" val="2959068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DDE49-C6BF-074F-1875-B80BC65C7F88}"/>
              </a:ext>
            </a:extLst>
          </p:cNvPr>
          <p:cNvSpPr>
            <a:spLocks noGrp="1"/>
          </p:cNvSpPr>
          <p:nvPr>
            <p:ph type="title"/>
          </p:nvPr>
        </p:nvSpPr>
        <p:spPr/>
        <p:txBody>
          <a:bodyPr/>
          <a:lstStyle/>
          <a:p>
            <a:r>
              <a:rPr lang="en-US" dirty="0"/>
              <a:t>SQL Constraints – Examples</a:t>
            </a:r>
          </a:p>
        </p:txBody>
      </p:sp>
      <p:sp>
        <p:nvSpPr>
          <p:cNvPr id="3" name="Content Placeholder 2">
            <a:extLst>
              <a:ext uri="{FF2B5EF4-FFF2-40B4-BE49-F238E27FC236}">
                <a16:creationId xmlns:a16="http://schemas.microsoft.com/office/drawing/2014/main" id="{43660138-999F-84CA-ED4E-5F853D20BD7B}"/>
              </a:ext>
            </a:extLst>
          </p:cNvPr>
          <p:cNvSpPr>
            <a:spLocks noGrp="1"/>
          </p:cNvSpPr>
          <p:nvPr>
            <p:ph idx="1"/>
          </p:nvPr>
        </p:nvSpPr>
        <p:spPr>
          <a:xfrm>
            <a:off x="581193" y="2232842"/>
            <a:ext cx="11029615" cy="3678303"/>
          </a:xfrm>
        </p:spPr>
        <p:txBody>
          <a:bodyPr/>
          <a:lstStyle/>
          <a:p>
            <a:pPr>
              <a:lnSpc>
                <a:spcPct val="100000"/>
              </a:lnSpc>
            </a:pPr>
            <a:r>
              <a:rPr lang="en-US" dirty="0">
                <a:solidFill>
                  <a:schemeClr val="tx1"/>
                </a:solidFill>
                <a:latin typeface="Arial"/>
                <a:ea typeface="Arial"/>
              </a:rPr>
              <a:t>NOT NULL – Ensures that a column cannot have a NULL value.</a:t>
            </a:r>
            <a:endParaRPr lang="en-US" dirty="0">
              <a:solidFill>
                <a:schemeClr val="tx1"/>
              </a:solidFill>
              <a:latin typeface="Arial"/>
            </a:endParaRPr>
          </a:p>
          <a:p>
            <a:pPr>
              <a:lnSpc>
                <a:spcPct val="100000"/>
              </a:lnSpc>
            </a:pPr>
            <a:r>
              <a:rPr lang="en-US" dirty="0">
                <a:solidFill>
                  <a:schemeClr val="tx1"/>
                </a:solidFill>
                <a:latin typeface="Arial"/>
                <a:ea typeface="Arial"/>
              </a:rPr>
              <a:t>UNIQUE – Ensures that all values in a column are different.</a:t>
            </a:r>
            <a:endParaRPr lang="en-US" dirty="0">
              <a:solidFill>
                <a:schemeClr val="tx1"/>
              </a:solidFill>
              <a:latin typeface="Arial"/>
            </a:endParaRPr>
          </a:p>
          <a:p>
            <a:pPr>
              <a:lnSpc>
                <a:spcPct val="100000"/>
              </a:lnSpc>
            </a:pPr>
            <a:r>
              <a:rPr lang="en-US" dirty="0">
                <a:solidFill>
                  <a:schemeClr val="tx1"/>
                </a:solidFill>
                <a:latin typeface="Arial"/>
                <a:ea typeface="Arial"/>
              </a:rPr>
              <a:t>PRIMARY KEY – A combination of a NOT NULL and UNIQUE. Uniquely identifies each row in a table.</a:t>
            </a:r>
            <a:endParaRPr lang="en-US" dirty="0">
              <a:solidFill>
                <a:schemeClr val="tx1"/>
              </a:solidFill>
              <a:latin typeface="Arial"/>
            </a:endParaRPr>
          </a:p>
          <a:p>
            <a:pPr>
              <a:lnSpc>
                <a:spcPct val="100000"/>
              </a:lnSpc>
            </a:pPr>
            <a:r>
              <a:rPr lang="en-US" dirty="0">
                <a:solidFill>
                  <a:schemeClr val="tx1"/>
                </a:solidFill>
                <a:latin typeface="Arial"/>
                <a:ea typeface="Arial"/>
              </a:rPr>
              <a:t>FOREIGN KEY – Prevents actions that would destroy links between tables.</a:t>
            </a:r>
            <a:endParaRPr lang="en-US" dirty="0">
              <a:solidFill>
                <a:schemeClr val="tx1"/>
              </a:solidFill>
              <a:latin typeface="Arial"/>
            </a:endParaRPr>
          </a:p>
          <a:p>
            <a:pPr>
              <a:lnSpc>
                <a:spcPct val="100000"/>
              </a:lnSpc>
            </a:pPr>
            <a:r>
              <a:rPr lang="en-US" dirty="0">
                <a:solidFill>
                  <a:schemeClr val="tx1"/>
                </a:solidFill>
                <a:latin typeface="Arial"/>
                <a:ea typeface="Arial"/>
              </a:rPr>
              <a:t>CHECK – Ensures that the values in a column satisfies a specific condition.</a:t>
            </a:r>
            <a:endParaRPr lang="en-US" dirty="0">
              <a:solidFill>
                <a:schemeClr val="tx1"/>
              </a:solidFill>
              <a:latin typeface="Arial"/>
            </a:endParaRPr>
          </a:p>
          <a:p>
            <a:pPr>
              <a:lnSpc>
                <a:spcPct val="100000"/>
              </a:lnSpc>
            </a:pPr>
            <a:r>
              <a:rPr lang="en-US" dirty="0">
                <a:solidFill>
                  <a:schemeClr val="tx1"/>
                </a:solidFill>
                <a:latin typeface="Arial"/>
                <a:ea typeface="Arial"/>
              </a:rPr>
              <a:t>DEFAULT – Sets a default value for a column if no value is specified. </a:t>
            </a:r>
            <a:endParaRPr lang="en-US" dirty="0">
              <a:solidFill>
                <a:schemeClr val="tx1"/>
              </a:solidFill>
              <a:latin typeface="Arial"/>
            </a:endParaRPr>
          </a:p>
          <a:p>
            <a:pPr>
              <a:lnSpc>
                <a:spcPct val="100000"/>
              </a:lnSpc>
            </a:pPr>
            <a:r>
              <a:rPr lang="en-US" dirty="0">
                <a:solidFill>
                  <a:schemeClr val="tx1"/>
                </a:solidFill>
                <a:latin typeface="Arial"/>
                <a:ea typeface="Arial"/>
              </a:rPr>
              <a:t>CREATE INDEX – Used to create and retrieve data from the database very quickly. </a:t>
            </a:r>
            <a:endParaRPr lang="en-US" dirty="0">
              <a:solidFill>
                <a:schemeClr val="tx1"/>
              </a:solidFill>
              <a:latin typeface="Arial"/>
            </a:endParaRPr>
          </a:p>
        </p:txBody>
      </p:sp>
    </p:spTree>
    <p:extLst>
      <p:ext uri="{BB962C8B-B14F-4D97-AF65-F5344CB8AC3E}">
        <p14:creationId xmlns:p14="http://schemas.microsoft.com/office/powerpoint/2010/main" val="2445603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36839-EDA9-BD47-E561-9F85B3E271C3}"/>
              </a:ext>
            </a:extLst>
          </p:cNvPr>
          <p:cNvSpPr>
            <a:spLocks noGrp="1"/>
          </p:cNvSpPr>
          <p:nvPr>
            <p:ph type="title"/>
          </p:nvPr>
        </p:nvSpPr>
        <p:spPr/>
        <p:txBody>
          <a:bodyPr/>
          <a:lstStyle/>
          <a:p>
            <a:r>
              <a:rPr lang="en-US" dirty="0"/>
              <a:t>SQL - Comments</a:t>
            </a:r>
          </a:p>
        </p:txBody>
      </p:sp>
      <p:sp>
        <p:nvSpPr>
          <p:cNvPr id="3" name="Content Placeholder 2">
            <a:extLst>
              <a:ext uri="{FF2B5EF4-FFF2-40B4-BE49-F238E27FC236}">
                <a16:creationId xmlns:a16="http://schemas.microsoft.com/office/drawing/2014/main" id="{7FEB3C84-A9F7-C8FC-13A2-8833EA422782}"/>
              </a:ext>
            </a:extLst>
          </p:cNvPr>
          <p:cNvSpPr>
            <a:spLocks noGrp="1"/>
          </p:cNvSpPr>
          <p:nvPr>
            <p:ph idx="1"/>
          </p:nvPr>
        </p:nvSpPr>
        <p:spPr/>
        <p:txBody>
          <a:bodyPr/>
          <a:lstStyle/>
          <a:p>
            <a:pPr marL="0" indent="0">
              <a:buNone/>
            </a:pPr>
            <a:r>
              <a:rPr lang="en-US" dirty="0">
                <a:solidFill>
                  <a:schemeClr val="tx1"/>
                </a:solidFill>
              </a:rPr>
              <a:t>-- This is a single line comment</a:t>
            </a:r>
          </a:p>
          <a:p>
            <a:pPr marL="0" indent="0">
              <a:buNone/>
            </a:pPr>
            <a:r>
              <a:rPr lang="en-US" dirty="0">
                <a:solidFill>
                  <a:schemeClr val="tx1"/>
                </a:solidFill>
              </a:rPr>
              <a:t>/*    This is a multiline comment. */</a:t>
            </a:r>
          </a:p>
        </p:txBody>
      </p:sp>
    </p:spTree>
    <p:extLst>
      <p:ext uri="{BB962C8B-B14F-4D97-AF65-F5344CB8AC3E}">
        <p14:creationId xmlns:p14="http://schemas.microsoft.com/office/powerpoint/2010/main" val="4144813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E1A1C-7B52-4809-8C65-ADFC00EC55C7}"/>
              </a:ext>
            </a:extLst>
          </p:cNvPr>
          <p:cNvSpPr>
            <a:spLocks noGrp="1"/>
          </p:cNvSpPr>
          <p:nvPr>
            <p:ph type="title"/>
          </p:nvPr>
        </p:nvSpPr>
        <p:spPr/>
        <p:txBody>
          <a:bodyPr/>
          <a:lstStyle/>
          <a:p>
            <a:r>
              <a:rPr lang="en-US" dirty="0"/>
              <a:t>SQL Sublanguages</a:t>
            </a:r>
          </a:p>
        </p:txBody>
      </p:sp>
      <p:pic>
        <p:nvPicPr>
          <p:cNvPr id="5" name="Picture 3">
            <a:extLst>
              <a:ext uri="{FF2B5EF4-FFF2-40B4-BE49-F238E27FC236}">
                <a16:creationId xmlns:a16="http://schemas.microsoft.com/office/drawing/2014/main" id="{A14D5A12-8BCF-88B5-380E-30BF10F87288}"/>
              </a:ext>
            </a:extLst>
          </p:cNvPr>
          <p:cNvPicPr/>
          <p:nvPr/>
        </p:nvPicPr>
        <p:blipFill>
          <a:blip r:embed="rId2"/>
          <a:stretch/>
        </p:blipFill>
        <p:spPr>
          <a:xfrm>
            <a:off x="2954939" y="1893194"/>
            <a:ext cx="6282122" cy="4672162"/>
          </a:xfrm>
          <a:prstGeom prst="rect">
            <a:avLst/>
          </a:prstGeom>
          <a:noFill/>
          <a:ln w="0">
            <a:noFill/>
          </a:ln>
        </p:spPr>
      </p:pic>
    </p:spTree>
    <p:extLst>
      <p:ext uri="{BB962C8B-B14F-4D97-AF65-F5344CB8AC3E}">
        <p14:creationId xmlns:p14="http://schemas.microsoft.com/office/powerpoint/2010/main" val="620278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86667-B29C-D78B-C84C-C687B5B8CD34}"/>
              </a:ext>
            </a:extLst>
          </p:cNvPr>
          <p:cNvSpPr>
            <a:spLocks noGrp="1"/>
          </p:cNvSpPr>
          <p:nvPr>
            <p:ph type="title"/>
          </p:nvPr>
        </p:nvSpPr>
        <p:spPr/>
        <p:txBody>
          <a:bodyPr/>
          <a:lstStyle/>
          <a:p>
            <a:r>
              <a:rPr lang="en-US" dirty="0"/>
              <a:t>What is a database schema?</a:t>
            </a:r>
          </a:p>
        </p:txBody>
      </p:sp>
      <p:sp>
        <p:nvSpPr>
          <p:cNvPr id="3" name="Content Placeholder 2">
            <a:extLst>
              <a:ext uri="{FF2B5EF4-FFF2-40B4-BE49-F238E27FC236}">
                <a16:creationId xmlns:a16="http://schemas.microsoft.com/office/drawing/2014/main" id="{03117E7D-89F1-3B31-5589-F8BAFE410B3C}"/>
              </a:ext>
            </a:extLst>
          </p:cNvPr>
          <p:cNvSpPr>
            <a:spLocks noGrp="1"/>
          </p:cNvSpPr>
          <p:nvPr>
            <p:ph idx="1"/>
          </p:nvPr>
        </p:nvSpPr>
        <p:spPr>
          <a:xfrm>
            <a:off x="581192" y="2180496"/>
            <a:ext cx="11029615" cy="781645"/>
          </a:xfrm>
        </p:spPr>
        <p:txBody>
          <a:bodyPr/>
          <a:lstStyle/>
          <a:p>
            <a:r>
              <a:rPr lang="en-US" dirty="0">
                <a:solidFill>
                  <a:schemeClr val="tx1"/>
                </a:solidFill>
                <a:latin typeface="Arial"/>
                <a:ea typeface="Arial"/>
              </a:rPr>
              <a:t>According to Google AI Overview….</a:t>
            </a:r>
            <a:endParaRPr lang="en-US" dirty="0">
              <a:solidFill>
                <a:schemeClr val="tx1"/>
              </a:solidFill>
              <a:latin typeface="Arial"/>
            </a:endParaRPr>
          </a:p>
        </p:txBody>
      </p:sp>
      <p:pic>
        <p:nvPicPr>
          <p:cNvPr id="7" name="Picture 7">
            <a:extLst>
              <a:ext uri="{FF2B5EF4-FFF2-40B4-BE49-F238E27FC236}">
                <a16:creationId xmlns:a16="http://schemas.microsoft.com/office/drawing/2014/main" id="{5395020E-82B4-841E-86E5-D3F8FC238DDA}"/>
              </a:ext>
            </a:extLst>
          </p:cNvPr>
          <p:cNvPicPr/>
          <p:nvPr/>
        </p:nvPicPr>
        <p:blipFill>
          <a:blip r:embed="rId2"/>
          <a:stretch/>
        </p:blipFill>
        <p:spPr>
          <a:xfrm>
            <a:off x="2741699" y="3212868"/>
            <a:ext cx="6708600" cy="2728800"/>
          </a:xfrm>
          <a:prstGeom prst="rect">
            <a:avLst/>
          </a:prstGeom>
          <a:noFill/>
          <a:ln w="0">
            <a:noFill/>
          </a:ln>
        </p:spPr>
      </p:pic>
    </p:spTree>
    <p:extLst>
      <p:ext uri="{BB962C8B-B14F-4D97-AF65-F5344CB8AC3E}">
        <p14:creationId xmlns:p14="http://schemas.microsoft.com/office/powerpoint/2010/main" val="2153440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7B5BF-51DA-F1E9-A342-002C86330D9A}"/>
              </a:ext>
            </a:extLst>
          </p:cNvPr>
          <p:cNvSpPr>
            <a:spLocks noGrp="1"/>
          </p:cNvSpPr>
          <p:nvPr>
            <p:ph type="title"/>
          </p:nvPr>
        </p:nvSpPr>
        <p:spPr/>
        <p:txBody>
          <a:bodyPr/>
          <a:lstStyle/>
          <a:p>
            <a:r>
              <a:rPr lang="en-US" dirty="0"/>
              <a:t>Three-schema Approach</a:t>
            </a:r>
          </a:p>
        </p:txBody>
      </p:sp>
      <p:sp>
        <p:nvSpPr>
          <p:cNvPr id="5" name="TextBox 2">
            <a:extLst>
              <a:ext uri="{FF2B5EF4-FFF2-40B4-BE49-F238E27FC236}">
                <a16:creationId xmlns:a16="http://schemas.microsoft.com/office/drawing/2014/main" id="{42615285-2C54-9FDB-14D3-EE0DCEDFAE6E}"/>
              </a:ext>
            </a:extLst>
          </p:cNvPr>
          <p:cNvSpPr/>
          <p:nvPr/>
        </p:nvSpPr>
        <p:spPr>
          <a:xfrm>
            <a:off x="853239" y="2216304"/>
            <a:ext cx="3474061" cy="378419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600" b="1" u="none" strike="noStrike" dirty="0">
                <a:effectLst/>
                <a:uFillTx/>
                <a:latin typeface="Arial"/>
                <a:ea typeface="Arial"/>
              </a:rPr>
              <a:t>External – each one describes part of the database that a particular user group is interested in</a:t>
            </a:r>
            <a:br>
              <a:rPr sz="1600" dirty="0"/>
            </a:br>
            <a:br>
              <a:rPr sz="1600" dirty="0"/>
            </a:br>
            <a:r>
              <a:rPr lang="en-US" sz="1600" b="1" u="none" strike="noStrike" dirty="0">
                <a:effectLst/>
                <a:uFillTx/>
                <a:latin typeface="Arial"/>
                <a:ea typeface="Arial"/>
              </a:rPr>
              <a:t>Conceptual – describes the structure of the whole database including entities, relationships, data types, user operations, and constraints</a:t>
            </a:r>
            <a:br>
              <a:rPr sz="1600" dirty="0"/>
            </a:br>
            <a:br>
              <a:rPr sz="1600" dirty="0"/>
            </a:br>
            <a:r>
              <a:rPr lang="en-US" sz="1600" b="1" u="none" strike="noStrike" dirty="0">
                <a:effectLst/>
                <a:uFillTx/>
                <a:latin typeface="Arial"/>
                <a:ea typeface="Arial"/>
              </a:rPr>
              <a:t>Physical – describes the physical storage structure of the database, i.e. storage medium, exact implementation details</a:t>
            </a:r>
            <a:endParaRPr lang="en-US" sz="1600" b="0" u="none" strike="noStrike" dirty="0">
              <a:effectLst/>
              <a:uFillTx/>
              <a:latin typeface="Arial"/>
            </a:endParaRPr>
          </a:p>
        </p:txBody>
      </p:sp>
      <p:sp>
        <p:nvSpPr>
          <p:cNvPr id="7" name="TextBox 6">
            <a:extLst>
              <a:ext uri="{FF2B5EF4-FFF2-40B4-BE49-F238E27FC236}">
                <a16:creationId xmlns:a16="http://schemas.microsoft.com/office/drawing/2014/main" id="{2660E0E3-ED21-50B0-4038-39E6B3BFDEB5}"/>
              </a:ext>
            </a:extLst>
          </p:cNvPr>
          <p:cNvSpPr/>
          <p:nvPr/>
        </p:nvSpPr>
        <p:spPr>
          <a:xfrm>
            <a:off x="4226065" y="6155844"/>
            <a:ext cx="5018018" cy="3371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600" b="0" u="none" strike="noStrike">
                <a:effectLst/>
                <a:uFillTx/>
                <a:latin typeface="Arial"/>
                <a:ea typeface="Arial"/>
              </a:rPr>
              <a:t>Other specs may use: conceptual &gt; logical &gt; physical</a:t>
            </a:r>
            <a:endParaRPr lang="en-US" sz="1600" b="0" u="none" strike="noStrike">
              <a:effectLst/>
              <a:uFillTx/>
              <a:latin typeface="Arial"/>
            </a:endParaRPr>
          </a:p>
        </p:txBody>
      </p:sp>
      <p:pic>
        <p:nvPicPr>
          <p:cNvPr id="9" name="Picture 5">
            <a:extLst>
              <a:ext uri="{FF2B5EF4-FFF2-40B4-BE49-F238E27FC236}">
                <a16:creationId xmlns:a16="http://schemas.microsoft.com/office/drawing/2014/main" id="{F1FCC59D-3E1F-CB5B-D3E8-AB46BA02C77A}"/>
              </a:ext>
            </a:extLst>
          </p:cNvPr>
          <p:cNvPicPr/>
          <p:nvPr/>
        </p:nvPicPr>
        <p:blipFill>
          <a:blip r:embed="rId2"/>
          <a:stretch/>
        </p:blipFill>
        <p:spPr>
          <a:xfrm>
            <a:off x="5081091" y="2391680"/>
            <a:ext cx="4812840" cy="3088440"/>
          </a:xfrm>
          <a:prstGeom prst="rect">
            <a:avLst/>
          </a:prstGeom>
          <a:noFill/>
          <a:ln w="0">
            <a:noFill/>
          </a:ln>
        </p:spPr>
      </p:pic>
      <p:sp>
        <p:nvSpPr>
          <p:cNvPr id="3" name="Rectangle 2">
            <a:extLst>
              <a:ext uri="{FF2B5EF4-FFF2-40B4-BE49-F238E27FC236}">
                <a16:creationId xmlns:a16="http://schemas.microsoft.com/office/drawing/2014/main" id="{A4D87402-040A-FCBB-A6DE-11C4D2384276}"/>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7064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29C15-6121-3C82-AF2C-CCF7B6C93D2F}"/>
              </a:ext>
            </a:extLst>
          </p:cNvPr>
          <p:cNvSpPr>
            <a:spLocks noGrp="1"/>
          </p:cNvSpPr>
          <p:nvPr>
            <p:ph type="title"/>
          </p:nvPr>
        </p:nvSpPr>
        <p:spPr/>
        <p:txBody>
          <a:bodyPr/>
          <a:lstStyle/>
          <a:p>
            <a:r>
              <a:rPr lang="en-US" dirty="0"/>
              <a:t>ERD vs UML</a:t>
            </a:r>
          </a:p>
        </p:txBody>
      </p:sp>
      <p:sp>
        <p:nvSpPr>
          <p:cNvPr id="5" name="TextBox 2">
            <a:extLst>
              <a:ext uri="{FF2B5EF4-FFF2-40B4-BE49-F238E27FC236}">
                <a16:creationId xmlns:a16="http://schemas.microsoft.com/office/drawing/2014/main" id="{8FF35E7A-54CD-1CE4-08D2-ECA245B3A1C2}"/>
              </a:ext>
            </a:extLst>
          </p:cNvPr>
          <p:cNvSpPr/>
          <p:nvPr/>
        </p:nvSpPr>
        <p:spPr>
          <a:xfrm>
            <a:off x="1146220" y="2705698"/>
            <a:ext cx="4865070" cy="1752872"/>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b="1" u="none" strike="noStrike">
                <a:effectLst/>
                <a:uFillTx/>
                <a:latin typeface="Arial"/>
                <a:ea typeface="Arial"/>
              </a:rPr>
              <a:t>UML = Unified Modeling Language</a:t>
            </a:r>
            <a:endParaRPr lang="en-US" b="0" u="none" strike="noStrike">
              <a:effectLst/>
              <a:uFillTx/>
              <a:latin typeface="Arial"/>
            </a:endParaRPr>
          </a:p>
          <a:p>
            <a:pPr>
              <a:lnSpc>
                <a:spcPct val="100000"/>
              </a:lnSpc>
            </a:pPr>
            <a:endParaRPr lang="en-US" b="0" u="none" strike="noStrike">
              <a:effectLst/>
              <a:uFillTx/>
              <a:latin typeface="Arial"/>
            </a:endParaRPr>
          </a:p>
          <a:p>
            <a:pPr marL="285840" indent="-285840">
              <a:lnSpc>
                <a:spcPct val="100000"/>
              </a:lnSpc>
              <a:buClr>
                <a:srgbClr val="FFFFFF"/>
              </a:buClr>
              <a:buFont typeface="Arial"/>
              <a:buChar char="-"/>
            </a:pPr>
            <a:r>
              <a:rPr lang="en-US" b="0" u="none" strike="noStrike">
                <a:effectLst/>
                <a:uFillTx/>
                <a:latin typeface="Arial"/>
                <a:ea typeface="Arial"/>
              </a:rPr>
              <a:t>Broad modeling language for software development </a:t>
            </a:r>
            <a:endParaRPr lang="en-US" b="0" u="none" strike="noStrike">
              <a:effectLst/>
              <a:uFillTx/>
              <a:latin typeface="Arial"/>
            </a:endParaRPr>
          </a:p>
          <a:p>
            <a:pPr marL="285840" indent="-285840">
              <a:lnSpc>
                <a:spcPct val="100000"/>
              </a:lnSpc>
              <a:buClr>
                <a:srgbClr val="FFFFFF"/>
              </a:buClr>
              <a:buFont typeface="Arial"/>
              <a:buChar char="-"/>
            </a:pPr>
            <a:r>
              <a:rPr lang="en-US" b="0" u="none" strike="noStrike">
                <a:effectLst/>
                <a:uFillTx/>
                <a:latin typeface="Arial"/>
                <a:ea typeface="Arial"/>
              </a:rPr>
              <a:t>Includes use case diagrams, class diagrams, deployment diagrams, ect. </a:t>
            </a:r>
            <a:endParaRPr lang="en-US" b="0" u="none" strike="noStrike">
              <a:effectLst/>
              <a:uFillTx/>
              <a:latin typeface="Arial"/>
            </a:endParaRPr>
          </a:p>
        </p:txBody>
      </p:sp>
      <p:sp>
        <p:nvSpPr>
          <p:cNvPr id="7" name="TextBox 3">
            <a:extLst>
              <a:ext uri="{FF2B5EF4-FFF2-40B4-BE49-F238E27FC236}">
                <a16:creationId xmlns:a16="http://schemas.microsoft.com/office/drawing/2014/main" id="{C98BF8FC-AD0C-516E-F169-FC2CEA0E781B}"/>
              </a:ext>
            </a:extLst>
          </p:cNvPr>
          <p:cNvSpPr/>
          <p:nvPr/>
        </p:nvSpPr>
        <p:spPr>
          <a:xfrm>
            <a:off x="6096000" y="2705698"/>
            <a:ext cx="4865070" cy="1475873"/>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b="1" u="none" strike="noStrike" dirty="0">
                <a:effectLst/>
                <a:uFillTx/>
                <a:latin typeface="Arial"/>
                <a:ea typeface="Arial"/>
              </a:rPr>
              <a:t>ERD = Entity Relationship Diagram</a:t>
            </a:r>
            <a:endParaRPr lang="en-US" b="0" u="none" strike="noStrike" dirty="0">
              <a:effectLst/>
              <a:uFillTx/>
              <a:latin typeface="Arial"/>
            </a:endParaRPr>
          </a:p>
          <a:p>
            <a:pPr>
              <a:lnSpc>
                <a:spcPct val="100000"/>
              </a:lnSpc>
            </a:pPr>
            <a:endParaRPr lang="en-US" b="0" u="none" strike="noStrike" dirty="0">
              <a:effectLst/>
              <a:uFillTx/>
              <a:latin typeface="Arial"/>
            </a:endParaRPr>
          </a:p>
          <a:p>
            <a:pPr marL="285840" indent="-285840">
              <a:lnSpc>
                <a:spcPct val="100000"/>
              </a:lnSpc>
              <a:buClr>
                <a:srgbClr val="FFFFFF"/>
              </a:buClr>
              <a:buFont typeface="Arial"/>
              <a:buChar char="-"/>
            </a:pPr>
            <a:r>
              <a:rPr lang="en-US" b="0" u="none" strike="noStrike" dirty="0">
                <a:effectLst/>
                <a:uFillTx/>
                <a:latin typeface="Arial"/>
                <a:ea typeface="Arial"/>
              </a:rPr>
              <a:t>Focused on relational database design</a:t>
            </a:r>
            <a:endParaRPr lang="en-US" b="0" u="none" strike="noStrike" dirty="0">
              <a:effectLst/>
              <a:uFillTx/>
              <a:latin typeface="Arial"/>
            </a:endParaRPr>
          </a:p>
          <a:p>
            <a:pPr marL="285840" indent="-285840">
              <a:lnSpc>
                <a:spcPct val="100000"/>
              </a:lnSpc>
              <a:buClr>
                <a:srgbClr val="FFFFFF"/>
              </a:buClr>
              <a:buFont typeface="Arial"/>
              <a:buChar char="-"/>
            </a:pPr>
            <a:r>
              <a:rPr lang="en-US" b="0" u="none" strike="noStrike" dirty="0">
                <a:effectLst/>
                <a:uFillTx/>
                <a:latin typeface="Arial"/>
                <a:ea typeface="Arial"/>
              </a:rPr>
              <a:t>Part of the conceptual/external stage</a:t>
            </a:r>
            <a:endParaRPr lang="en-US" b="0" u="none" strike="noStrike" dirty="0">
              <a:effectLst/>
              <a:uFillTx/>
              <a:latin typeface="Arial"/>
            </a:endParaRPr>
          </a:p>
          <a:p>
            <a:pPr>
              <a:lnSpc>
                <a:spcPct val="100000"/>
              </a:lnSpc>
            </a:pPr>
            <a:endParaRPr lang="en-US" b="0" u="none" strike="noStrike" dirty="0">
              <a:effectLst/>
              <a:uFillTx/>
              <a:latin typeface="Arial"/>
            </a:endParaRPr>
          </a:p>
        </p:txBody>
      </p:sp>
      <p:sp>
        <p:nvSpPr>
          <p:cNvPr id="4" name="Rectangle 3">
            <a:extLst>
              <a:ext uri="{FF2B5EF4-FFF2-40B4-BE49-F238E27FC236}">
                <a16:creationId xmlns:a16="http://schemas.microsoft.com/office/drawing/2014/main" id="{F5B2E89C-A183-9093-9126-80A15EF8A784}"/>
              </a:ext>
            </a:extLst>
          </p:cNvPr>
          <p:cNvSpPr/>
          <p:nvPr/>
        </p:nvSpPr>
        <p:spPr>
          <a:xfrm>
            <a:off x="10649581" y="923306"/>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6625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B39B4-A21D-4376-C662-38F6F8DA052C}"/>
              </a:ext>
            </a:extLst>
          </p:cNvPr>
          <p:cNvSpPr>
            <a:spLocks noGrp="1"/>
          </p:cNvSpPr>
          <p:nvPr>
            <p:ph type="title"/>
          </p:nvPr>
        </p:nvSpPr>
        <p:spPr/>
        <p:txBody>
          <a:bodyPr/>
          <a:lstStyle/>
          <a:p>
            <a:r>
              <a:rPr lang="en-US" dirty="0"/>
              <a:t>External to Conceptual Level</a:t>
            </a:r>
          </a:p>
        </p:txBody>
      </p:sp>
      <p:sp>
        <p:nvSpPr>
          <p:cNvPr id="5" name="TextBox 8">
            <a:extLst>
              <a:ext uri="{FF2B5EF4-FFF2-40B4-BE49-F238E27FC236}">
                <a16:creationId xmlns:a16="http://schemas.microsoft.com/office/drawing/2014/main" id="{718A6E91-095A-719D-889A-4C7964B95AB1}"/>
              </a:ext>
            </a:extLst>
          </p:cNvPr>
          <p:cNvSpPr/>
          <p:nvPr/>
        </p:nvSpPr>
        <p:spPr>
          <a:xfrm>
            <a:off x="1024650" y="2438980"/>
            <a:ext cx="733191" cy="367878"/>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b="0" u="none" strike="noStrike" dirty="0">
                <a:effectLst/>
                <a:uFillTx/>
                <a:latin typeface="Arial"/>
                <a:ea typeface="Arial"/>
              </a:rPr>
              <a:t>ERD:</a:t>
            </a:r>
            <a:endParaRPr lang="en-US" b="0" u="none" strike="noStrike" dirty="0">
              <a:effectLst/>
              <a:uFillTx/>
              <a:latin typeface="Arial"/>
            </a:endParaRPr>
          </a:p>
        </p:txBody>
      </p:sp>
      <p:sp>
        <p:nvSpPr>
          <p:cNvPr id="7" name="TextBox 9">
            <a:extLst>
              <a:ext uri="{FF2B5EF4-FFF2-40B4-BE49-F238E27FC236}">
                <a16:creationId xmlns:a16="http://schemas.microsoft.com/office/drawing/2014/main" id="{D919F66B-AAEA-B9EA-74C2-0EEB7527876B}"/>
              </a:ext>
            </a:extLst>
          </p:cNvPr>
          <p:cNvSpPr/>
          <p:nvPr/>
        </p:nvSpPr>
        <p:spPr>
          <a:xfrm>
            <a:off x="6180114" y="2438980"/>
            <a:ext cx="2182305" cy="367878"/>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b="0" u="none" strike="noStrike">
                <a:effectLst/>
                <a:uFillTx/>
                <a:latin typeface="Arial"/>
                <a:ea typeface="Arial"/>
              </a:rPr>
              <a:t>Relational Schema:</a:t>
            </a:r>
            <a:endParaRPr lang="en-US" b="0" u="none" strike="noStrike">
              <a:effectLst/>
              <a:uFillTx/>
              <a:latin typeface="Arial"/>
            </a:endParaRPr>
          </a:p>
        </p:txBody>
      </p:sp>
      <p:pic>
        <p:nvPicPr>
          <p:cNvPr id="9" name="Picture 5">
            <a:extLst>
              <a:ext uri="{FF2B5EF4-FFF2-40B4-BE49-F238E27FC236}">
                <a16:creationId xmlns:a16="http://schemas.microsoft.com/office/drawing/2014/main" id="{E0B3447F-8127-8B1B-3CA2-918AACD2457B}"/>
              </a:ext>
            </a:extLst>
          </p:cNvPr>
          <p:cNvPicPr/>
          <p:nvPr/>
        </p:nvPicPr>
        <p:blipFill>
          <a:blip r:embed="rId2"/>
          <a:stretch/>
        </p:blipFill>
        <p:spPr>
          <a:xfrm>
            <a:off x="862885" y="2987899"/>
            <a:ext cx="4323427" cy="3424421"/>
          </a:xfrm>
          <a:prstGeom prst="rect">
            <a:avLst/>
          </a:prstGeom>
          <a:noFill/>
          <a:ln w="0">
            <a:noFill/>
          </a:ln>
        </p:spPr>
      </p:pic>
      <p:pic>
        <p:nvPicPr>
          <p:cNvPr id="11" name="Picture 7">
            <a:extLst>
              <a:ext uri="{FF2B5EF4-FFF2-40B4-BE49-F238E27FC236}">
                <a16:creationId xmlns:a16="http://schemas.microsoft.com/office/drawing/2014/main" id="{95C4D438-E5DF-CE6A-5041-A9198279C2A7}"/>
              </a:ext>
            </a:extLst>
          </p:cNvPr>
          <p:cNvPicPr/>
          <p:nvPr/>
        </p:nvPicPr>
        <p:blipFill>
          <a:blip r:embed="rId3"/>
          <a:stretch/>
        </p:blipFill>
        <p:spPr>
          <a:xfrm>
            <a:off x="6096000" y="2892582"/>
            <a:ext cx="5071402" cy="3263262"/>
          </a:xfrm>
          <a:prstGeom prst="rect">
            <a:avLst/>
          </a:prstGeom>
          <a:noFill/>
          <a:ln w="0">
            <a:noFill/>
          </a:ln>
        </p:spPr>
      </p:pic>
      <p:sp>
        <p:nvSpPr>
          <p:cNvPr id="4" name="Rectangle 3">
            <a:extLst>
              <a:ext uri="{FF2B5EF4-FFF2-40B4-BE49-F238E27FC236}">
                <a16:creationId xmlns:a16="http://schemas.microsoft.com/office/drawing/2014/main" id="{F8B17D45-7F99-F1B6-5316-27590AE0E6DF}"/>
              </a:ext>
            </a:extLst>
          </p:cNvPr>
          <p:cNvSpPr/>
          <p:nvPr/>
        </p:nvSpPr>
        <p:spPr>
          <a:xfrm>
            <a:off x="10611481" y="923306"/>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8912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2221D-0603-8B0D-C3DA-6D403236734C}"/>
              </a:ext>
            </a:extLst>
          </p:cNvPr>
          <p:cNvSpPr>
            <a:spLocks noGrp="1"/>
          </p:cNvSpPr>
          <p:nvPr>
            <p:ph type="title"/>
          </p:nvPr>
        </p:nvSpPr>
        <p:spPr/>
        <p:txBody>
          <a:bodyPr/>
          <a:lstStyle/>
          <a:p>
            <a:r>
              <a:rPr lang="en-US" dirty="0"/>
              <a:t>Entity Relationship Diagram</a:t>
            </a:r>
          </a:p>
        </p:txBody>
      </p:sp>
      <p:sp>
        <p:nvSpPr>
          <p:cNvPr id="3" name="Content Placeholder 2">
            <a:extLst>
              <a:ext uri="{FF2B5EF4-FFF2-40B4-BE49-F238E27FC236}">
                <a16:creationId xmlns:a16="http://schemas.microsoft.com/office/drawing/2014/main" id="{F65EFBB8-67D3-9610-B1DB-08F48F07E6A4}"/>
              </a:ext>
            </a:extLst>
          </p:cNvPr>
          <p:cNvSpPr>
            <a:spLocks noGrp="1"/>
          </p:cNvSpPr>
          <p:nvPr>
            <p:ph idx="1"/>
          </p:nvPr>
        </p:nvSpPr>
        <p:spPr>
          <a:xfrm>
            <a:off x="581192" y="1948226"/>
            <a:ext cx="11029615" cy="562704"/>
          </a:xfrm>
        </p:spPr>
        <p:txBody>
          <a:bodyPr/>
          <a:lstStyle/>
          <a:p>
            <a:r>
              <a:rPr lang="en-US" dirty="0"/>
              <a:t>ERDs describe entities, relationships, and attributes</a:t>
            </a:r>
          </a:p>
        </p:txBody>
      </p:sp>
      <p:pic>
        <p:nvPicPr>
          <p:cNvPr id="5" name="Picture 3">
            <a:extLst>
              <a:ext uri="{FF2B5EF4-FFF2-40B4-BE49-F238E27FC236}">
                <a16:creationId xmlns:a16="http://schemas.microsoft.com/office/drawing/2014/main" id="{4CC8D380-3040-6040-AF3F-FF370406C813}"/>
              </a:ext>
            </a:extLst>
          </p:cNvPr>
          <p:cNvPicPr/>
          <p:nvPr/>
        </p:nvPicPr>
        <p:blipFill>
          <a:blip r:embed="rId2"/>
          <a:stretch/>
        </p:blipFill>
        <p:spPr>
          <a:xfrm>
            <a:off x="1505682" y="2613961"/>
            <a:ext cx="4392841" cy="3909311"/>
          </a:xfrm>
          <a:prstGeom prst="rect">
            <a:avLst/>
          </a:prstGeom>
          <a:noFill/>
          <a:ln w="0">
            <a:noFill/>
          </a:ln>
        </p:spPr>
      </p:pic>
      <p:sp>
        <p:nvSpPr>
          <p:cNvPr id="7" name="Arrow: Right 2">
            <a:extLst>
              <a:ext uri="{FF2B5EF4-FFF2-40B4-BE49-F238E27FC236}">
                <a16:creationId xmlns:a16="http://schemas.microsoft.com/office/drawing/2014/main" id="{03E8F92A-24BC-8DC7-6746-A51CBD0A5FE4}"/>
              </a:ext>
            </a:extLst>
          </p:cNvPr>
          <p:cNvSpPr/>
          <p:nvPr/>
        </p:nvSpPr>
        <p:spPr>
          <a:xfrm flipH="1">
            <a:off x="5910495" y="3342671"/>
            <a:ext cx="402840" cy="237240"/>
          </a:xfrm>
          <a:prstGeom prst="rightArrow">
            <a:avLst>
              <a:gd name="adj1" fmla="val 50000"/>
              <a:gd name="adj2" fmla="val 50000"/>
            </a:avLst>
          </a:prstGeom>
          <a:solidFill>
            <a:schemeClr val="accent2"/>
          </a:solidFill>
          <a:ln>
            <a:solidFill>
              <a:schemeClr val="accent2"/>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effectLst/>
              <a:uFillTx/>
              <a:latin typeface="Arial"/>
            </a:endParaRPr>
          </a:p>
        </p:txBody>
      </p:sp>
      <p:sp>
        <p:nvSpPr>
          <p:cNvPr id="9" name="Arrow: Right 6">
            <a:extLst>
              <a:ext uri="{FF2B5EF4-FFF2-40B4-BE49-F238E27FC236}">
                <a16:creationId xmlns:a16="http://schemas.microsoft.com/office/drawing/2014/main" id="{0B4FF3B2-E84D-E0A2-2A71-49EA2BC21E36}"/>
              </a:ext>
            </a:extLst>
          </p:cNvPr>
          <p:cNvSpPr/>
          <p:nvPr/>
        </p:nvSpPr>
        <p:spPr>
          <a:xfrm flipH="1">
            <a:off x="5841735" y="3642191"/>
            <a:ext cx="472320" cy="237240"/>
          </a:xfrm>
          <a:prstGeom prst="rightArrow">
            <a:avLst>
              <a:gd name="adj1" fmla="val 50000"/>
              <a:gd name="adj2" fmla="val 50000"/>
            </a:avLst>
          </a:prstGeom>
          <a:solidFill>
            <a:schemeClr val="accent2"/>
          </a:solidFill>
          <a:ln>
            <a:solidFill>
              <a:schemeClr val="accent2"/>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effectLst/>
              <a:uFillTx/>
              <a:latin typeface="Arial"/>
            </a:endParaRPr>
          </a:p>
        </p:txBody>
      </p:sp>
      <p:sp>
        <p:nvSpPr>
          <p:cNvPr id="11" name="Arrow: Right 7">
            <a:extLst>
              <a:ext uri="{FF2B5EF4-FFF2-40B4-BE49-F238E27FC236}">
                <a16:creationId xmlns:a16="http://schemas.microsoft.com/office/drawing/2014/main" id="{BC5675FB-D9E4-1505-080A-CE21173AA783}"/>
              </a:ext>
            </a:extLst>
          </p:cNvPr>
          <p:cNvSpPr/>
          <p:nvPr/>
        </p:nvSpPr>
        <p:spPr>
          <a:xfrm flipH="1">
            <a:off x="5841735" y="4077431"/>
            <a:ext cx="472320" cy="237240"/>
          </a:xfrm>
          <a:prstGeom prst="rightArrow">
            <a:avLst>
              <a:gd name="adj1" fmla="val 50000"/>
              <a:gd name="adj2" fmla="val 50000"/>
            </a:avLst>
          </a:prstGeom>
          <a:solidFill>
            <a:schemeClr val="accent2"/>
          </a:solidFill>
          <a:ln>
            <a:solidFill>
              <a:schemeClr val="accent2"/>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effectLst/>
              <a:uFillTx/>
              <a:latin typeface="Arial"/>
            </a:endParaRPr>
          </a:p>
        </p:txBody>
      </p:sp>
      <p:sp>
        <p:nvSpPr>
          <p:cNvPr id="13" name="TextBox 8">
            <a:extLst>
              <a:ext uri="{FF2B5EF4-FFF2-40B4-BE49-F238E27FC236}">
                <a16:creationId xmlns:a16="http://schemas.microsoft.com/office/drawing/2014/main" id="{5D4A5C6F-41A2-9771-4843-FDE4A4266AE7}"/>
              </a:ext>
            </a:extLst>
          </p:cNvPr>
          <p:cNvSpPr/>
          <p:nvPr/>
        </p:nvSpPr>
        <p:spPr>
          <a:xfrm>
            <a:off x="6314415" y="3291191"/>
            <a:ext cx="385344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Keys are represented as underlined attributes.</a:t>
            </a:r>
            <a:endParaRPr lang="en-US" sz="1400" b="0" u="none" strike="noStrike">
              <a:effectLst/>
              <a:uFillTx/>
              <a:latin typeface="Arial"/>
            </a:endParaRPr>
          </a:p>
        </p:txBody>
      </p:sp>
      <p:sp>
        <p:nvSpPr>
          <p:cNvPr id="15" name="TextBox 9">
            <a:extLst>
              <a:ext uri="{FF2B5EF4-FFF2-40B4-BE49-F238E27FC236}">
                <a16:creationId xmlns:a16="http://schemas.microsoft.com/office/drawing/2014/main" id="{5933A10C-258A-F307-39D3-CD3E9B03A5AB}"/>
              </a:ext>
            </a:extLst>
          </p:cNvPr>
          <p:cNvSpPr/>
          <p:nvPr/>
        </p:nvSpPr>
        <p:spPr>
          <a:xfrm>
            <a:off x="6314415" y="3607271"/>
            <a:ext cx="324756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Entities are represented as rectangles.</a:t>
            </a:r>
            <a:endParaRPr lang="en-US" sz="1400" b="0" u="none" strike="noStrike">
              <a:effectLst/>
              <a:uFillTx/>
              <a:latin typeface="Arial"/>
            </a:endParaRPr>
          </a:p>
        </p:txBody>
      </p:sp>
      <p:sp>
        <p:nvSpPr>
          <p:cNvPr id="17" name="TextBox 10">
            <a:extLst>
              <a:ext uri="{FF2B5EF4-FFF2-40B4-BE49-F238E27FC236}">
                <a16:creationId xmlns:a16="http://schemas.microsoft.com/office/drawing/2014/main" id="{9EE1DA01-E756-1E2F-4992-C5F5364804BB}"/>
              </a:ext>
            </a:extLst>
          </p:cNvPr>
          <p:cNvSpPr/>
          <p:nvPr/>
        </p:nvSpPr>
        <p:spPr>
          <a:xfrm>
            <a:off x="6309375" y="4029911"/>
            <a:ext cx="36853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Relationships are represented as diamonds.</a:t>
            </a:r>
            <a:endParaRPr lang="en-US" sz="1400" b="0" u="none" strike="noStrike">
              <a:effectLst/>
              <a:uFillTx/>
              <a:latin typeface="Arial"/>
            </a:endParaRPr>
          </a:p>
        </p:txBody>
      </p:sp>
      <p:sp>
        <p:nvSpPr>
          <p:cNvPr id="19" name="TextBox 11">
            <a:extLst>
              <a:ext uri="{FF2B5EF4-FFF2-40B4-BE49-F238E27FC236}">
                <a16:creationId xmlns:a16="http://schemas.microsoft.com/office/drawing/2014/main" id="{26D059E3-A972-E730-AB8F-F3EB50BC5BAC}"/>
              </a:ext>
            </a:extLst>
          </p:cNvPr>
          <p:cNvSpPr/>
          <p:nvPr/>
        </p:nvSpPr>
        <p:spPr>
          <a:xfrm>
            <a:off x="6444735" y="4347071"/>
            <a:ext cx="3414960" cy="2246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A Key must have unique values for each individual entity within the entity set. </a:t>
            </a:r>
            <a:endParaRPr lang="en-US" sz="1400" b="0" u="none" strike="noStrike">
              <a:effectLst/>
              <a:uFillTx/>
              <a:latin typeface="Arial"/>
            </a:endParaRPr>
          </a:p>
          <a:p>
            <a:pPr>
              <a:lnSpc>
                <a:spcPct val="100000"/>
              </a:lnSpc>
            </a:pP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There can be more than one key at a time.</a:t>
            </a: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Composite attributes can make a key. i.e. a state + Drivers License #</a:t>
            </a: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An entity may have NO KEY, these are called weak entity types.</a:t>
            </a:r>
            <a:endParaRPr lang="en-US" sz="1400" b="0" u="none" strike="noStrike">
              <a:effectLst/>
              <a:uFillTx/>
              <a:latin typeface="Arial"/>
            </a:endParaRPr>
          </a:p>
          <a:p>
            <a:pPr>
              <a:lnSpc>
                <a:spcPct val="100000"/>
              </a:lnSpc>
            </a:pPr>
            <a:endParaRPr lang="en-US" sz="1400" b="0" u="none" strike="noStrike">
              <a:effectLst/>
              <a:uFillTx/>
              <a:latin typeface="Arial"/>
            </a:endParaRPr>
          </a:p>
        </p:txBody>
      </p:sp>
      <p:sp>
        <p:nvSpPr>
          <p:cNvPr id="21" name="TextBox 14">
            <a:extLst>
              <a:ext uri="{FF2B5EF4-FFF2-40B4-BE49-F238E27FC236}">
                <a16:creationId xmlns:a16="http://schemas.microsoft.com/office/drawing/2014/main" id="{27B4546D-0DCE-C4AD-5090-FB2FF3015C48}"/>
              </a:ext>
            </a:extLst>
          </p:cNvPr>
          <p:cNvSpPr/>
          <p:nvPr/>
        </p:nvSpPr>
        <p:spPr>
          <a:xfrm>
            <a:off x="6309375" y="3017951"/>
            <a:ext cx="304488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Attributes are represented as ovals.</a:t>
            </a:r>
            <a:endParaRPr lang="en-US" sz="1400" b="0" u="none" strike="noStrike">
              <a:effectLst/>
              <a:uFillTx/>
              <a:latin typeface="Arial"/>
            </a:endParaRPr>
          </a:p>
        </p:txBody>
      </p:sp>
      <p:sp>
        <p:nvSpPr>
          <p:cNvPr id="23" name="Arrow: Right 15">
            <a:extLst>
              <a:ext uri="{FF2B5EF4-FFF2-40B4-BE49-F238E27FC236}">
                <a16:creationId xmlns:a16="http://schemas.microsoft.com/office/drawing/2014/main" id="{2B69D7EA-59F1-F12D-1DB2-0461A7B8E802}"/>
              </a:ext>
            </a:extLst>
          </p:cNvPr>
          <p:cNvSpPr/>
          <p:nvPr/>
        </p:nvSpPr>
        <p:spPr>
          <a:xfrm flipH="1">
            <a:off x="5784495" y="3081311"/>
            <a:ext cx="523800" cy="237240"/>
          </a:xfrm>
          <a:prstGeom prst="rightArrow">
            <a:avLst>
              <a:gd name="adj1" fmla="val 50000"/>
              <a:gd name="adj2" fmla="val 50000"/>
            </a:avLst>
          </a:prstGeom>
          <a:solidFill>
            <a:schemeClr val="accent2"/>
          </a:solidFill>
          <a:ln>
            <a:solidFill>
              <a:schemeClr val="accent2"/>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dirty="0">
              <a:effectLst/>
              <a:uFillTx/>
              <a:latin typeface="Arial"/>
            </a:endParaRPr>
          </a:p>
        </p:txBody>
      </p:sp>
    </p:spTree>
    <p:extLst>
      <p:ext uri="{BB962C8B-B14F-4D97-AF65-F5344CB8AC3E}">
        <p14:creationId xmlns:p14="http://schemas.microsoft.com/office/powerpoint/2010/main" val="3669998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293FE-0843-8A27-3BAA-3B99EF7198F3}"/>
              </a:ext>
            </a:extLst>
          </p:cNvPr>
          <p:cNvSpPr>
            <a:spLocks noGrp="1"/>
          </p:cNvSpPr>
          <p:nvPr>
            <p:ph type="title"/>
          </p:nvPr>
        </p:nvSpPr>
        <p:spPr/>
        <p:txBody>
          <a:bodyPr/>
          <a:lstStyle/>
          <a:p>
            <a:r>
              <a:rPr lang="en-US" dirty="0"/>
              <a:t>ERDs</a:t>
            </a:r>
          </a:p>
        </p:txBody>
      </p:sp>
      <p:sp>
        <p:nvSpPr>
          <p:cNvPr id="5" name="TextBox 5">
            <a:extLst>
              <a:ext uri="{FF2B5EF4-FFF2-40B4-BE49-F238E27FC236}">
                <a16:creationId xmlns:a16="http://schemas.microsoft.com/office/drawing/2014/main" id="{0EBD1241-3F35-AF82-74D4-00285FD158D7}"/>
              </a:ext>
            </a:extLst>
          </p:cNvPr>
          <p:cNvSpPr/>
          <p:nvPr/>
        </p:nvSpPr>
        <p:spPr>
          <a:xfrm>
            <a:off x="7257244" y="2072555"/>
            <a:ext cx="3480120" cy="452286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1600" b="0" u="none" strike="noStrike" dirty="0">
              <a:effectLst/>
              <a:uFillTx/>
              <a:latin typeface="Arial"/>
            </a:endParaRPr>
          </a:p>
          <a:p>
            <a:pPr>
              <a:lnSpc>
                <a:spcPct val="100000"/>
              </a:lnSpc>
            </a:pPr>
            <a:r>
              <a:rPr lang="en-US" sz="1600" b="0" u="none" strike="noStrike" dirty="0">
                <a:effectLst/>
                <a:uFillTx/>
                <a:latin typeface="Arial"/>
                <a:ea typeface="Arial"/>
              </a:rPr>
              <a:t>There are several attribute types:</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Simple (atomic) attributes – data point that can’t be broken down further</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Composite attributes – an address</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Single-Valued – singular value</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Multi-Valued – multiple values in field, e.g. 2-tone cars may have multiple entries in a COLOR field</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Derived – Field that gets its value from other fields; e.g. AGE can be calculated from today’s date + BDAY field.</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Stored – Data is stored in database. Contrast to Derived.</a:t>
            </a:r>
            <a:endParaRPr lang="en-US" sz="1600" b="0" u="none" strike="noStrike" dirty="0">
              <a:effectLst/>
              <a:uFillTx/>
              <a:latin typeface="Arial"/>
            </a:endParaRPr>
          </a:p>
          <a:p>
            <a:pPr marL="285840" indent="-285840">
              <a:lnSpc>
                <a:spcPct val="100000"/>
              </a:lnSpc>
              <a:buClr>
                <a:schemeClr val="accent2"/>
              </a:buClr>
              <a:buFont typeface="Wingdings" panose="05000000000000000000" pitchFamily="2" charset="2"/>
              <a:buChar char="§"/>
            </a:pPr>
            <a:r>
              <a:rPr lang="en-US" sz="1600" b="0" u="none" strike="noStrike" dirty="0">
                <a:effectLst/>
                <a:uFillTx/>
                <a:latin typeface="Arial"/>
                <a:ea typeface="Arial"/>
              </a:rPr>
              <a:t>NULL- </a:t>
            </a:r>
            <a:endParaRPr lang="en-US" sz="1600" b="0" u="none" strike="noStrike" dirty="0">
              <a:effectLst/>
              <a:uFillTx/>
              <a:latin typeface="Arial"/>
            </a:endParaRPr>
          </a:p>
        </p:txBody>
      </p:sp>
      <p:pic>
        <p:nvPicPr>
          <p:cNvPr id="7" name="Picture 3">
            <a:extLst>
              <a:ext uri="{FF2B5EF4-FFF2-40B4-BE49-F238E27FC236}">
                <a16:creationId xmlns:a16="http://schemas.microsoft.com/office/drawing/2014/main" id="{569B7AF0-B75A-8A6B-097F-2543A2241100}"/>
              </a:ext>
            </a:extLst>
          </p:cNvPr>
          <p:cNvPicPr/>
          <p:nvPr/>
        </p:nvPicPr>
        <p:blipFill>
          <a:blip r:embed="rId2"/>
          <a:stretch/>
        </p:blipFill>
        <p:spPr>
          <a:xfrm>
            <a:off x="1326524" y="2278617"/>
            <a:ext cx="4911858" cy="4083289"/>
          </a:xfrm>
          <a:prstGeom prst="rect">
            <a:avLst/>
          </a:prstGeom>
          <a:noFill/>
          <a:ln w="0">
            <a:noFill/>
          </a:ln>
        </p:spPr>
      </p:pic>
      <p:sp>
        <p:nvSpPr>
          <p:cNvPr id="4" name="Rectangle 3">
            <a:extLst>
              <a:ext uri="{FF2B5EF4-FFF2-40B4-BE49-F238E27FC236}">
                <a16:creationId xmlns:a16="http://schemas.microsoft.com/office/drawing/2014/main" id="{E868FFED-7783-C528-66D3-390F76608390}"/>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7606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498C9-A937-398E-550B-DA3A422F010F}"/>
              </a:ext>
            </a:extLst>
          </p:cNvPr>
          <p:cNvSpPr>
            <a:spLocks noGrp="1"/>
          </p:cNvSpPr>
          <p:nvPr>
            <p:ph type="title"/>
          </p:nvPr>
        </p:nvSpPr>
        <p:spPr/>
        <p:txBody>
          <a:bodyPr/>
          <a:lstStyle/>
          <a:p>
            <a:r>
              <a:rPr lang="en-US" dirty="0"/>
              <a:t>Complex Attributes</a:t>
            </a:r>
          </a:p>
        </p:txBody>
      </p:sp>
      <p:sp>
        <p:nvSpPr>
          <p:cNvPr id="9" name="TextBox 6">
            <a:extLst>
              <a:ext uri="{FF2B5EF4-FFF2-40B4-BE49-F238E27FC236}">
                <a16:creationId xmlns:a16="http://schemas.microsoft.com/office/drawing/2014/main" id="{86F51A17-420A-5254-7979-D54276577522}"/>
              </a:ext>
            </a:extLst>
          </p:cNvPr>
          <p:cNvSpPr/>
          <p:nvPr/>
        </p:nvSpPr>
        <p:spPr>
          <a:xfrm>
            <a:off x="1975080" y="2201172"/>
            <a:ext cx="8241840" cy="313786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b="0" u="none" strike="noStrike" dirty="0">
                <a:effectLst/>
                <a:uFillTx/>
                <a:latin typeface="Arial"/>
                <a:ea typeface="Arial"/>
              </a:rPr>
              <a:t>Complex attributes – muti-valued and composite attributes may be nested arbitrarily:</a:t>
            </a:r>
            <a:endParaRPr lang="en-US" b="0" u="none" strike="noStrike" dirty="0">
              <a:effectLst/>
              <a:uFillTx/>
              <a:latin typeface="Arial"/>
            </a:endParaRPr>
          </a:p>
          <a:p>
            <a:pPr>
              <a:lnSpc>
                <a:spcPct val="100000"/>
              </a:lnSpc>
            </a:pPr>
            <a:endParaRPr lang="en-US" b="0" u="none" strike="noStrike" dirty="0">
              <a:effectLst/>
              <a:uFillTx/>
              <a:latin typeface="Arial"/>
            </a:endParaRPr>
          </a:p>
          <a:p>
            <a:pPr>
              <a:lnSpc>
                <a:spcPct val="100000"/>
              </a:lnSpc>
            </a:pPr>
            <a:r>
              <a:rPr lang="en-US" b="0" u="none" strike="noStrike" dirty="0">
                <a:effectLst/>
                <a:uFillTx/>
                <a:latin typeface="Arial"/>
                <a:ea typeface="Arial"/>
              </a:rPr>
              <a:t>{</a:t>
            </a:r>
            <a:endParaRPr lang="en-US" b="0" u="none" strike="noStrike" dirty="0">
              <a:effectLst/>
              <a:uFillTx/>
              <a:latin typeface="Arial"/>
            </a:endParaRPr>
          </a:p>
          <a:p>
            <a:pPr>
              <a:lnSpc>
                <a:spcPct val="100000"/>
              </a:lnSpc>
            </a:pPr>
            <a:r>
              <a:rPr lang="en-US" b="0" u="none" strike="noStrike" dirty="0">
                <a:effectLst/>
                <a:uFillTx/>
                <a:latin typeface="Arial"/>
                <a:ea typeface="Arial"/>
              </a:rPr>
              <a:t>	</a:t>
            </a:r>
            <a:r>
              <a:rPr lang="en-US" b="0" u="none" strike="noStrike" dirty="0" err="1">
                <a:effectLst/>
                <a:uFillTx/>
                <a:latin typeface="Arial"/>
                <a:ea typeface="Arial"/>
              </a:rPr>
              <a:t>Address_phone</a:t>
            </a:r>
            <a:r>
              <a:rPr lang="en-US" b="0" u="none" strike="noStrike" dirty="0">
                <a:effectLst/>
                <a:uFillTx/>
                <a:latin typeface="Arial"/>
                <a:ea typeface="Arial"/>
              </a:rPr>
              <a:t>( </a:t>
            </a:r>
            <a:endParaRPr lang="en-US" b="0" u="none" strike="noStrike" dirty="0">
              <a:effectLst/>
              <a:uFillTx/>
              <a:latin typeface="Arial"/>
            </a:endParaRPr>
          </a:p>
          <a:p>
            <a:pPr>
              <a:lnSpc>
                <a:spcPct val="100000"/>
              </a:lnSpc>
            </a:pPr>
            <a:r>
              <a:rPr lang="en-US" b="0" u="none" strike="noStrike" dirty="0">
                <a:effectLst/>
                <a:uFillTx/>
                <a:latin typeface="Arial"/>
                <a:ea typeface="Arial"/>
              </a:rPr>
              <a:t>		{Phone(</a:t>
            </a:r>
            <a:r>
              <a:rPr lang="en-US" b="0" u="none" strike="noStrike" dirty="0" err="1">
                <a:effectLst/>
                <a:uFillTx/>
                <a:latin typeface="Arial"/>
                <a:ea typeface="Arial"/>
              </a:rPr>
              <a:t>Area_code,Phone_number</a:t>
            </a:r>
            <a:r>
              <a:rPr lang="en-US" b="0" u="none" strike="noStrike" dirty="0">
                <a:effectLst/>
                <a:uFillTx/>
                <a:latin typeface="Arial"/>
                <a:ea typeface="Arial"/>
              </a:rPr>
              <a:t>)},</a:t>
            </a:r>
            <a:endParaRPr lang="en-US" b="0" u="none" strike="noStrike" dirty="0">
              <a:effectLst/>
              <a:uFillTx/>
              <a:latin typeface="Arial"/>
            </a:endParaRPr>
          </a:p>
          <a:p>
            <a:pPr>
              <a:lnSpc>
                <a:spcPct val="100000"/>
              </a:lnSpc>
            </a:pPr>
            <a:r>
              <a:rPr lang="en-US" b="0" u="none" strike="noStrike" dirty="0">
                <a:effectLst/>
                <a:uFillTx/>
                <a:latin typeface="Arial"/>
                <a:ea typeface="Arial"/>
              </a:rPr>
              <a:t>		Address(</a:t>
            </a:r>
            <a:r>
              <a:rPr lang="en-US" b="0" u="none" strike="noStrike" dirty="0" err="1">
                <a:effectLst/>
                <a:uFillTx/>
                <a:latin typeface="Arial"/>
                <a:ea typeface="Arial"/>
              </a:rPr>
              <a:t>Street_address</a:t>
            </a:r>
            <a:r>
              <a:rPr lang="en-US" b="0" u="none" strike="noStrike" dirty="0">
                <a:effectLst/>
                <a:uFillTx/>
                <a:latin typeface="Arial"/>
                <a:ea typeface="Arial"/>
              </a:rPr>
              <a:t>(</a:t>
            </a:r>
            <a:r>
              <a:rPr lang="en-US" b="0" u="none" strike="noStrike" dirty="0" err="1">
                <a:effectLst/>
                <a:uFillTx/>
                <a:latin typeface="Arial"/>
                <a:ea typeface="Arial"/>
              </a:rPr>
              <a:t>Number,Street,Apartment_number</a:t>
            </a:r>
            <a:r>
              <a:rPr lang="en-US" b="0" u="none" strike="noStrike" dirty="0">
                <a:effectLst/>
                <a:uFillTx/>
                <a:latin typeface="Arial"/>
                <a:ea typeface="Arial"/>
              </a:rPr>
              <a:t>),</a:t>
            </a:r>
            <a:r>
              <a:rPr lang="en-US" b="0" u="none" strike="noStrike" dirty="0" err="1">
                <a:effectLst/>
                <a:uFillTx/>
                <a:latin typeface="Arial"/>
                <a:ea typeface="Arial"/>
              </a:rPr>
              <a:t>City,State,Zip</a:t>
            </a:r>
            <a:r>
              <a:rPr lang="en-US" b="0" u="none" strike="noStrike" dirty="0">
                <a:effectLst/>
                <a:uFillTx/>
                <a:latin typeface="Arial"/>
                <a:ea typeface="Arial"/>
              </a:rPr>
              <a:t>) </a:t>
            </a:r>
            <a:endParaRPr lang="en-US" b="0" u="none" strike="noStrike" dirty="0">
              <a:effectLst/>
              <a:uFillTx/>
              <a:latin typeface="Arial"/>
            </a:endParaRPr>
          </a:p>
          <a:p>
            <a:pPr>
              <a:lnSpc>
                <a:spcPct val="100000"/>
              </a:lnSpc>
            </a:pPr>
            <a:r>
              <a:rPr lang="en-US" b="0" u="none" strike="noStrike" dirty="0">
                <a:effectLst/>
                <a:uFillTx/>
                <a:latin typeface="Arial"/>
                <a:ea typeface="Arial"/>
              </a:rPr>
              <a:t>	)</a:t>
            </a:r>
            <a:endParaRPr lang="en-US" b="0" u="none" strike="noStrike" dirty="0">
              <a:effectLst/>
              <a:uFillTx/>
              <a:latin typeface="Arial"/>
            </a:endParaRPr>
          </a:p>
          <a:p>
            <a:pPr>
              <a:lnSpc>
                <a:spcPct val="100000"/>
              </a:lnSpc>
            </a:pPr>
            <a:r>
              <a:rPr lang="en-US" b="0" u="none" strike="noStrike" dirty="0">
                <a:effectLst/>
                <a:uFillTx/>
                <a:latin typeface="Arial"/>
                <a:ea typeface="Arial"/>
              </a:rPr>
              <a:t>}</a:t>
            </a:r>
            <a:endParaRPr lang="en-US" b="0" u="none" strike="noStrike" dirty="0">
              <a:effectLst/>
              <a:uFillTx/>
              <a:latin typeface="Arial"/>
            </a:endParaRPr>
          </a:p>
        </p:txBody>
      </p:sp>
      <p:sp>
        <p:nvSpPr>
          <p:cNvPr id="11" name="TextBox 7">
            <a:extLst>
              <a:ext uri="{FF2B5EF4-FFF2-40B4-BE49-F238E27FC236}">
                <a16:creationId xmlns:a16="http://schemas.microsoft.com/office/drawing/2014/main" id="{AEE5A816-30DE-5F47-EBCB-192205ED50AC}"/>
              </a:ext>
            </a:extLst>
          </p:cNvPr>
          <p:cNvSpPr/>
          <p:nvPr/>
        </p:nvSpPr>
        <p:spPr>
          <a:xfrm>
            <a:off x="4708804" y="5698532"/>
            <a:ext cx="2774391" cy="644877"/>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b="0" u="none" strike="noStrike" dirty="0">
                <a:effectLst/>
                <a:uFillTx/>
                <a:latin typeface="Arial"/>
                <a:ea typeface="Arial"/>
              </a:rPr>
              <a:t>{} = Multi-Valued Attribute</a:t>
            </a:r>
            <a:endParaRPr lang="en-US" b="0" u="none" strike="noStrike" dirty="0">
              <a:effectLst/>
              <a:uFillTx/>
              <a:latin typeface="Arial"/>
            </a:endParaRPr>
          </a:p>
          <a:p>
            <a:pPr>
              <a:lnSpc>
                <a:spcPct val="100000"/>
              </a:lnSpc>
            </a:pPr>
            <a:r>
              <a:rPr lang="en-US" b="0" u="none" strike="noStrike" dirty="0">
                <a:effectLst/>
                <a:uFillTx/>
                <a:latin typeface="Arial"/>
                <a:ea typeface="Arial"/>
              </a:rPr>
              <a:t>() = Composite Attribute</a:t>
            </a:r>
            <a:endParaRPr lang="en-US" b="0" u="none" strike="noStrike" dirty="0">
              <a:effectLst/>
              <a:uFillTx/>
              <a:latin typeface="Arial"/>
            </a:endParaRPr>
          </a:p>
        </p:txBody>
      </p:sp>
      <p:sp>
        <p:nvSpPr>
          <p:cNvPr id="4" name="Rectangle 3">
            <a:extLst>
              <a:ext uri="{FF2B5EF4-FFF2-40B4-BE49-F238E27FC236}">
                <a16:creationId xmlns:a16="http://schemas.microsoft.com/office/drawing/2014/main" id="{2520BDC7-BB31-3AC7-AC31-81F155311791}"/>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39051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B039E-61C4-A6AD-B73C-BBE4B3F54578}"/>
              </a:ext>
            </a:extLst>
          </p:cNvPr>
          <p:cNvSpPr>
            <a:spLocks noGrp="1"/>
          </p:cNvSpPr>
          <p:nvPr>
            <p:ph type="title"/>
          </p:nvPr>
        </p:nvSpPr>
        <p:spPr/>
        <p:txBody>
          <a:bodyPr/>
          <a:lstStyle/>
          <a:p>
            <a:r>
              <a:rPr lang="en-US" dirty="0"/>
              <a:t>Relationships</a:t>
            </a:r>
          </a:p>
        </p:txBody>
      </p:sp>
      <p:sp>
        <p:nvSpPr>
          <p:cNvPr id="5" name="TextBox 10">
            <a:extLst>
              <a:ext uri="{FF2B5EF4-FFF2-40B4-BE49-F238E27FC236}">
                <a16:creationId xmlns:a16="http://schemas.microsoft.com/office/drawing/2014/main" id="{9840C0D9-01A5-200E-A18C-8B3C9FAE2CF2}"/>
              </a:ext>
            </a:extLst>
          </p:cNvPr>
          <p:cNvSpPr/>
          <p:nvPr/>
        </p:nvSpPr>
        <p:spPr>
          <a:xfrm>
            <a:off x="2411787" y="2280697"/>
            <a:ext cx="132876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effectLst/>
                <a:uFillTx/>
                <a:latin typeface="Arial"/>
                <a:ea typeface="Arial"/>
              </a:rPr>
              <a:t>Binary Degree</a:t>
            </a:r>
            <a:endParaRPr lang="en-US" sz="1400" b="0" u="none" strike="noStrike" dirty="0">
              <a:effectLst/>
              <a:uFillTx/>
              <a:latin typeface="Arial"/>
            </a:endParaRPr>
          </a:p>
        </p:txBody>
      </p:sp>
      <p:sp>
        <p:nvSpPr>
          <p:cNvPr id="7" name="TextBox 11">
            <a:extLst>
              <a:ext uri="{FF2B5EF4-FFF2-40B4-BE49-F238E27FC236}">
                <a16:creationId xmlns:a16="http://schemas.microsoft.com/office/drawing/2014/main" id="{51399621-0A91-2AFF-910D-6A8A57230CA0}"/>
              </a:ext>
            </a:extLst>
          </p:cNvPr>
          <p:cNvSpPr/>
          <p:nvPr/>
        </p:nvSpPr>
        <p:spPr>
          <a:xfrm>
            <a:off x="6831507" y="2280697"/>
            <a:ext cx="14364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effectLst/>
                <a:uFillTx/>
                <a:latin typeface="Arial"/>
                <a:ea typeface="Arial"/>
              </a:rPr>
              <a:t>Ternary Degree</a:t>
            </a:r>
            <a:endParaRPr lang="en-US" sz="1400" b="0" u="none" strike="noStrike" dirty="0">
              <a:effectLst/>
              <a:uFillTx/>
              <a:latin typeface="Arial"/>
            </a:endParaRPr>
          </a:p>
        </p:txBody>
      </p:sp>
      <p:pic>
        <p:nvPicPr>
          <p:cNvPr id="9" name="Picture 3">
            <a:extLst>
              <a:ext uri="{FF2B5EF4-FFF2-40B4-BE49-F238E27FC236}">
                <a16:creationId xmlns:a16="http://schemas.microsoft.com/office/drawing/2014/main" id="{98784E65-07DC-9F3D-0847-791EC4A1008B}"/>
              </a:ext>
            </a:extLst>
          </p:cNvPr>
          <p:cNvPicPr/>
          <p:nvPr/>
        </p:nvPicPr>
        <p:blipFill>
          <a:blip r:embed="rId2"/>
          <a:stretch/>
        </p:blipFill>
        <p:spPr>
          <a:xfrm>
            <a:off x="1652065" y="2691527"/>
            <a:ext cx="3542400" cy="2839320"/>
          </a:xfrm>
          <a:prstGeom prst="rect">
            <a:avLst/>
          </a:prstGeom>
          <a:noFill/>
          <a:ln w="0">
            <a:noFill/>
          </a:ln>
        </p:spPr>
      </p:pic>
      <p:pic>
        <p:nvPicPr>
          <p:cNvPr id="11" name="Picture 8">
            <a:extLst>
              <a:ext uri="{FF2B5EF4-FFF2-40B4-BE49-F238E27FC236}">
                <a16:creationId xmlns:a16="http://schemas.microsoft.com/office/drawing/2014/main" id="{C2C4D2FA-68CD-4821-9CAD-9094B84310CD}"/>
              </a:ext>
            </a:extLst>
          </p:cNvPr>
          <p:cNvPicPr/>
          <p:nvPr/>
        </p:nvPicPr>
        <p:blipFill>
          <a:blip r:embed="rId3"/>
          <a:stretch/>
        </p:blipFill>
        <p:spPr>
          <a:xfrm>
            <a:off x="5988985" y="2691527"/>
            <a:ext cx="3542400" cy="2909520"/>
          </a:xfrm>
          <a:prstGeom prst="rect">
            <a:avLst/>
          </a:prstGeom>
          <a:noFill/>
          <a:ln w="0">
            <a:noFill/>
          </a:ln>
        </p:spPr>
      </p:pic>
      <p:pic>
        <p:nvPicPr>
          <p:cNvPr id="13" name="Picture 16">
            <a:extLst>
              <a:ext uri="{FF2B5EF4-FFF2-40B4-BE49-F238E27FC236}">
                <a16:creationId xmlns:a16="http://schemas.microsoft.com/office/drawing/2014/main" id="{FC7F5BDA-9CB2-62B5-E826-D4A36CB6207C}"/>
              </a:ext>
            </a:extLst>
          </p:cNvPr>
          <p:cNvPicPr/>
          <p:nvPr/>
        </p:nvPicPr>
        <p:blipFill>
          <a:blip r:embed="rId4"/>
          <a:stretch/>
        </p:blipFill>
        <p:spPr>
          <a:xfrm>
            <a:off x="1572505" y="5448767"/>
            <a:ext cx="3745800" cy="805680"/>
          </a:xfrm>
          <a:prstGeom prst="rect">
            <a:avLst/>
          </a:prstGeom>
          <a:noFill/>
          <a:ln w="0">
            <a:noFill/>
          </a:ln>
        </p:spPr>
      </p:pic>
    </p:spTree>
    <p:extLst>
      <p:ext uri="{BB962C8B-B14F-4D97-AF65-F5344CB8AC3E}">
        <p14:creationId xmlns:p14="http://schemas.microsoft.com/office/powerpoint/2010/main" val="1026088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30BDD-1CB3-79DA-467C-C3EFAADD2CBB}"/>
              </a:ext>
            </a:extLst>
          </p:cNvPr>
          <p:cNvSpPr>
            <a:spLocks noGrp="1"/>
          </p:cNvSpPr>
          <p:nvPr>
            <p:ph type="title"/>
          </p:nvPr>
        </p:nvSpPr>
        <p:spPr/>
        <p:txBody>
          <a:bodyPr/>
          <a:lstStyle/>
          <a:p>
            <a:r>
              <a:rPr lang="en-US" dirty="0"/>
              <a:t>Relationships – Recursive(self)</a:t>
            </a:r>
          </a:p>
        </p:txBody>
      </p:sp>
      <p:pic>
        <p:nvPicPr>
          <p:cNvPr id="5" name="Picture 14">
            <a:extLst>
              <a:ext uri="{FF2B5EF4-FFF2-40B4-BE49-F238E27FC236}">
                <a16:creationId xmlns:a16="http://schemas.microsoft.com/office/drawing/2014/main" id="{550EE189-056A-D019-2A5F-B397D68CD7E5}"/>
              </a:ext>
            </a:extLst>
          </p:cNvPr>
          <p:cNvPicPr/>
          <p:nvPr/>
        </p:nvPicPr>
        <p:blipFill>
          <a:blip r:embed="rId2"/>
          <a:stretch/>
        </p:blipFill>
        <p:spPr>
          <a:xfrm>
            <a:off x="2046360" y="2646198"/>
            <a:ext cx="4049640" cy="3078000"/>
          </a:xfrm>
          <a:prstGeom prst="rect">
            <a:avLst/>
          </a:prstGeom>
          <a:noFill/>
          <a:ln w="0">
            <a:noFill/>
          </a:ln>
        </p:spPr>
      </p:pic>
      <p:pic>
        <p:nvPicPr>
          <p:cNvPr id="7" name="Picture 5">
            <a:extLst>
              <a:ext uri="{FF2B5EF4-FFF2-40B4-BE49-F238E27FC236}">
                <a16:creationId xmlns:a16="http://schemas.microsoft.com/office/drawing/2014/main" id="{E634639F-97A8-915D-C1ED-E6B0434EB5AA}"/>
              </a:ext>
            </a:extLst>
          </p:cNvPr>
          <p:cNvPicPr/>
          <p:nvPr/>
        </p:nvPicPr>
        <p:blipFill>
          <a:blip r:embed="rId3"/>
          <a:stretch/>
        </p:blipFill>
        <p:spPr>
          <a:xfrm>
            <a:off x="6769200" y="2819358"/>
            <a:ext cx="2993040" cy="2753280"/>
          </a:xfrm>
          <a:prstGeom prst="rect">
            <a:avLst/>
          </a:prstGeom>
          <a:noFill/>
          <a:ln w="0">
            <a:noFill/>
          </a:ln>
        </p:spPr>
      </p:pic>
    </p:spTree>
    <p:extLst>
      <p:ext uri="{BB962C8B-B14F-4D97-AF65-F5344CB8AC3E}">
        <p14:creationId xmlns:p14="http://schemas.microsoft.com/office/powerpoint/2010/main" val="2255651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AC322-C588-F0D5-9BE4-4612E4AA68B7}"/>
              </a:ext>
            </a:extLst>
          </p:cNvPr>
          <p:cNvSpPr>
            <a:spLocks noGrp="1"/>
          </p:cNvSpPr>
          <p:nvPr>
            <p:ph type="title"/>
          </p:nvPr>
        </p:nvSpPr>
        <p:spPr/>
        <p:txBody>
          <a:bodyPr/>
          <a:lstStyle/>
          <a:p>
            <a:r>
              <a:rPr lang="en-US" dirty="0"/>
              <a:t>Constraints on Binary Relationships</a:t>
            </a:r>
          </a:p>
        </p:txBody>
      </p:sp>
      <p:sp>
        <p:nvSpPr>
          <p:cNvPr id="5" name="TextBox 10">
            <a:extLst>
              <a:ext uri="{FF2B5EF4-FFF2-40B4-BE49-F238E27FC236}">
                <a16:creationId xmlns:a16="http://schemas.microsoft.com/office/drawing/2014/main" id="{DE7B6427-19D0-7D6E-893B-2C53F6BAA5B1}"/>
              </a:ext>
            </a:extLst>
          </p:cNvPr>
          <p:cNvSpPr/>
          <p:nvPr/>
        </p:nvSpPr>
        <p:spPr>
          <a:xfrm>
            <a:off x="4923994" y="2079898"/>
            <a:ext cx="19555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effectLst/>
                <a:uFillTx/>
                <a:latin typeface="Arial"/>
                <a:ea typeface="Arial"/>
              </a:rPr>
              <a:t>Structural Constraints:</a:t>
            </a:r>
            <a:endParaRPr lang="en-US" sz="1400" b="0" u="none" strike="noStrike" dirty="0">
              <a:effectLst/>
              <a:uFillTx/>
              <a:latin typeface="Arial"/>
            </a:endParaRPr>
          </a:p>
        </p:txBody>
      </p:sp>
      <p:sp>
        <p:nvSpPr>
          <p:cNvPr id="7" name="TextBox 2">
            <a:extLst>
              <a:ext uri="{FF2B5EF4-FFF2-40B4-BE49-F238E27FC236}">
                <a16:creationId xmlns:a16="http://schemas.microsoft.com/office/drawing/2014/main" id="{2B876B4B-F3BF-E1FB-1C39-1E8554BA4337}"/>
              </a:ext>
            </a:extLst>
          </p:cNvPr>
          <p:cNvSpPr/>
          <p:nvPr/>
        </p:nvSpPr>
        <p:spPr>
          <a:xfrm>
            <a:off x="2792434" y="2431978"/>
            <a:ext cx="236448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Cardinality Ratio Constraint</a:t>
            </a:r>
            <a:endParaRPr lang="en-US" sz="1400" b="0" u="none" strike="noStrike">
              <a:effectLst/>
              <a:uFillTx/>
              <a:latin typeface="Arial"/>
            </a:endParaRPr>
          </a:p>
        </p:txBody>
      </p:sp>
      <p:sp>
        <p:nvSpPr>
          <p:cNvPr id="9" name="TextBox 3">
            <a:extLst>
              <a:ext uri="{FF2B5EF4-FFF2-40B4-BE49-F238E27FC236}">
                <a16:creationId xmlns:a16="http://schemas.microsoft.com/office/drawing/2014/main" id="{15BC7395-58A9-B682-85F2-0B1D2BBBE352}"/>
              </a:ext>
            </a:extLst>
          </p:cNvPr>
          <p:cNvSpPr/>
          <p:nvPr/>
        </p:nvSpPr>
        <p:spPr>
          <a:xfrm>
            <a:off x="6336634" y="2437378"/>
            <a:ext cx="20358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Participation Constraint</a:t>
            </a:r>
            <a:endParaRPr lang="en-US" sz="1400" b="0" u="none" strike="noStrike">
              <a:effectLst/>
              <a:uFillTx/>
              <a:latin typeface="Arial"/>
            </a:endParaRPr>
          </a:p>
        </p:txBody>
      </p:sp>
      <p:sp>
        <p:nvSpPr>
          <p:cNvPr id="11" name="TextBox 5">
            <a:extLst>
              <a:ext uri="{FF2B5EF4-FFF2-40B4-BE49-F238E27FC236}">
                <a16:creationId xmlns:a16="http://schemas.microsoft.com/office/drawing/2014/main" id="{F39CA5D4-E353-9841-EB08-CA77AD9A97B4}"/>
              </a:ext>
            </a:extLst>
          </p:cNvPr>
          <p:cNvSpPr/>
          <p:nvPr/>
        </p:nvSpPr>
        <p:spPr>
          <a:xfrm>
            <a:off x="2648794" y="2739778"/>
            <a:ext cx="269676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Specifies the maximum number of relationship instances that an entity can participate in. Either: 1:N, N:1, 1:1, M:N</a:t>
            </a:r>
            <a:endParaRPr lang="en-US" sz="1400" b="0" u="none" strike="noStrike">
              <a:effectLst/>
              <a:uFillTx/>
              <a:latin typeface="Arial"/>
            </a:endParaRPr>
          </a:p>
        </p:txBody>
      </p:sp>
      <p:sp>
        <p:nvSpPr>
          <p:cNvPr id="13" name="TextBox 6">
            <a:extLst>
              <a:ext uri="{FF2B5EF4-FFF2-40B4-BE49-F238E27FC236}">
                <a16:creationId xmlns:a16="http://schemas.microsoft.com/office/drawing/2014/main" id="{21D28568-ED1E-B55E-87E2-CF9EF38E3AF1}"/>
              </a:ext>
            </a:extLst>
          </p:cNvPr>
          <p:cNvSpPr/>
          <p:nvPr/>
        </p:nvSpPr>
        <p:spPr>
          <a:xfrm>
            <a:off x="6123154" y="2773978"/>
            <a:ext cx="2696760" cy="73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Specifies the minimum number of relationship instances that each entity can participate in.</a:t>
            </a:r>
            <a:endParaRPr lang="en-US" sz="1400" b="0" u="none" strike="noStrike">
              <a:effectLst/>
              <a:uFillTx/>
              <a:latin typeface="Arial"/>
            </a:endParaRPr>
          </a:p>
        </p:txBody>
      </p:sp>
      <p:sp>
        <p:nvSpPr>
          <p:cNvPr id="15" name="TextBox 12">
            <a:extLst>
              <a:ext uri="{FF2B5EF4-FFF2-40B4-BE49-F238E27FC236}">
                <a16:creationId xmlns:a16="http://schemas.microsoft.com/office/drawing/2014/main" id="{0082BCB8-7605-4957-82A1-A13295013F45}"/>
              </a:ext>
            </a:extLst>
          </p:cNvPr>
          <p:cNvSpPr/>
          <p:nvPr/>
        </p:nvSpPr>
        <p:spPr>
          <a:xfrm>
            <a:off x="6798874" y="4337098"/>
            <a:ext cx="3331080" cy="16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Total Participation – Every dept needs 1 or more employees and every employee must have at least 1 dept. </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Partial Participation – 1 employee must manage each department. But every employee need not be a manager. </a:t>
            </a:r>
            <a:endParaRPr lang="en-US" sz="1400" b="0" u="none" strike="noStrike" dirty="0">
              <a:effectLst/>
              <a:uFillTx/>
              <a:latin typeface="Arial"/>
            </a:endParaRPr>
          </a:p>
        </p:txBody>
      </p:sp>
      <p:pic>
        <p:nvPicPr>
          <p:cNvPr id="17" name="Picture 8">
            <a:extLst>
              <a:ext uri="{FF2B5EF4-FFF2-40B4-BE49-F238E27FC236}">
                <a16:creationId xmlns:a16="http://schemas.microsoft.com/office/drawing/2014/main" id="{8402F987-A315-4440-3885-189A28BE63D9}"/>
              </a:ext>
            </a:extLst>
          </p:cNvPr>
          <p:cNvPicPr/>
          <p:nvPr/>
        </p:nvPicPr>
        <p:blipFill>
          <a:blip r:embed="rId2"/>
          <a:stretch/>
        </p:blipFill>
        <p:spPr>
          <a:xfrm>
            <a:off x="1941485" y="4124325"/>
            <a:ext cx="4728240" cy="1017000"/>
          </a:xfrm>
          <a:prstGeom prst="rect">
            <a:avLst/>
          </a:prstGeom>
          <a:noFill/>
          <a:ln w="0">
            <a:noFill/>
          </a:ln>
        </p:spPr>
      </p:pic>
      <p:pic>
        <p:nvPicPr>
          <p:cNvPr id="19" name="Picture 11">
            <a:extLst>
              <a:ext uri="{FF2B5EF4-FFF2-40B4-BE49-F238E27FC236}">
                <a16:creationId xmlns:a16="http://schemas.microsoft.com/office/drawing/2014/main" id="{124E335D-6DD4-ED88-FEBE-5919C1C58B1A}"/>
              </a:ext>
            </a:extLst>
          </p:cNvPr>
          <p:cNvPicPr/>
          <p:nvPr/>
        </p:nvPicPr>
        <p:blipFill>
          <a:blip r:embed="rId3"/>
          <a:stretch/>
        </p:blipFill>
        <p:spPr>
          <a:xfrm>
            <a:off x="1941485" y="5142045"/>
            <a:ext cx="4728240" cy="876600"/>
          </a:xfrm>
          <a:prstGeom prst="rect">
            <a:avLst/>
          </a:prstGeom>
          <a:noFill/>
          <a:ln w="0">
            <a:noFill/>
          </a:ln>
        </p:spPr>
      </p:pic>
    </p:spTree>
    <p:extLst>
      <p:ext uri="{BB962C8B-B14F-4D97-AF65-F5344CB8AC3E}">
        <p14:creationId xmlns:p14="http://schemas.microsoft.com/office/powerpoint/2010/main" val="777251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F3C1C-3DFD-5979-5E7C-246A4D654622}"/>
              </a:ext>
            </a:extLst>
          </p:cNvPr>
          <p:cNvSpPr>
            <a:spLocks noGrp="1"/>
          </p:cNvSpPr>
          <p:nvPr>
            <p:ph type="title"/>
          </p:nvPr>
        </p:nvSpPr>
        <p:spPr/>
        <p:txBody>
          <a:bodyPr/>
          <a:lstStyle/>
          <a:p>
            <a:r>
              <a:rPr lang="en-US" dirty="0"/>
              <a:t>Database Normalization – first normal form</a:t>
            </a:r>
          </a:p>
        </p:txBody>
      </p:sp>
      <p:sp>
        <p:nvSpPr>
          <p:cNvPr id="5" name="TextBox 5">
            <a:extLst>
              <a:ext uri="{FF2B5EF4-FFF2-40B4-BE49-F238E27FC236}">
                <a16:creationId xmlns:a16="http://schemas.microsoft.com/office/drawing/2014/main" id="{9892A83B-E461-5D66-CE5A-85010379E12F}"/>
              </a:ext>
            </a:extLst>
          </p:cNvPr>
          <p:cNvSpPr/>
          <p:nvPr/>
        </p:nvSpPr>
        <p:spPr>
          <a:xfrm>
            <a:off x="6967298" y="2576013"/>
            <a:ext cx="3253320" cy="116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The domain of an attribute must include only atomic (simple, indivisible) values and that the value of any attribute in a tuple must be a single value from the domain of that attribute.</a:t>
            </a:r>
            <a:endParaRPr lang="en-US" sz="1400" b="0" u="none" strike="noStrike">
              <a:effectLst/>
              <a:uFillTx/>
              <a:latin typeface="Arial"/>
            </a:endParaRPr>
          </a:p>
        </p:txBody>
      </p:sp>
      <p:pic>
        <p:nvPicPr>
          <p:cNvPr id="7" name="Picture 3">
            <a:extLst>
              <a:ext uri="{FF2B5EF4-FFF2-40B4-BE49-F238E27FC236}">
                <a16:creationId xmlns:a16="http://schemas.microsoft.com/office/drawing/2014/main" id="{9638168F-C058-2276-8C7A-131A19704DDC}"/>
              </a:ext>
            </a:extLst>
          </p:cNvPr>
          <p:cNvPicPr/>
          <p:nvPr/>
        </p:nvPicPr>
        <p:blipFill>
          <a:blip r:embed="rId2"/>
          <a:stretch/>
        </p:blipFill>
        <p:spPr>
          <a:xfrm>
            <a:off x="1264557" y="2576013"/>
            <a:ext cx="5541324" cy="1801807"/>
          </a:xfrm>
          <a:prstGeom prst="rect">
            <a:avLst/>
          </a:prstGeom>
          <a:noFill/>
          <a:ln w="0">
            <a:noFill/>
          </a:ln>
        </p:spPr>
      </p:pic>
      <p:pic>
        <p:nvPicPr>
          <p:cNvPr id="9" name="Picture 7">
            <a:extLst>
              <a:ext uri="{FF2B5EF4-FFF2-40B4-BE49-F238E27FC236}">
                <a16:creationId xmlns:a16="http://schemas.microsoft.com/office/drawing/2014/main" id="{5DBBA500-9573-42A1-45EA-290B374D06F8}"/>
              </a:ext>
            </a:extLst>
          </p:cNvPr>
          <p:cNvPicPr/>
          <p:nvPr/>
        </p:nvPicPr>
        <p:blipFill>
          <a:blip r:embed="rId3"/>
          <a:stretch/>
        </p:blipFill>
        <p:spPr>
          <a:xfrm>
            <a:off x="2395470" y="4408014"/>
            <a:ext cx="7734651" cy="1906966"/>
          </a:xfrm>
          <a:prstGeom prst="rect">
            <a:avLst/>
          </a:prstGeom>
          <a:noFill/>
          <a:ln w="0">
            <a:noFill/>
          </a:ln>
        </p:spPr>
      </p:pic>
    </p:spTree>
    <p:extLst>
      <p:ext uri="{BB962C8B-B14F-4D97-AF65-F5344CB8AC3E}">
        <p14:creationId xmlns:p14="http://schemas.microsoft.com/office/powerpoint/2010/main" val="483978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23B34-2AE5-5812-263D-A90F3325FC4A}"/>
              </a:ext>
            </a:extLst>
          </p:cNvPr>
          <p:cNvSpPr>
            <a:spLocks noGrp="1"/>
          </p:cNvSpPr>
          <p:nvPr>
            <p:ph type="title"/>
          </p:nvPr>
        </p:nvSpPr>
        <p:spPr/>
        <p:txBody>
          <a:bodyPr/>
          <a:lstStyle/>
          <a:p>
            <a:r>
              <a:rPr lang="en-US" dirty="0"/>
              <a:t>Database normalization – second normal form</a:t>
            </a:r>
          </a:p>
        </p:txBody>
      </p:sp>
      <p:graphicFrame>
        <p:nvGraphicFramePr>
          <p:cNvPr id="5" name="Table 8">
            <a:extLst>
              <a:ext uri="{FF2B5EF4-FFF2-40B4-BE49-F238E27FC236}">
                <a16:creationId xmlns:a16="http://schemas.microsoft.com/office/drawing/2014/main" id="{A5F2B0A6-AA8E-CFDA-A286-67FDA7674770}"/>
              </a:ext>
            </a:extLst>
          </p:cNvPr>
          <p:cNvGraphicFramePr/>
          <p:nvPr>
            <p:extLst>
              <p:ext uri="{D42A27DB-BD31-4B8C-83A1-F6EECF244321}">
                <p14:modId xmlns:p14="http://schemas.microsoft.com/office/powerpoint/2010/main" val="215489833"/>
              </p:ext>
            </p:extLst>
          </p:nvPr>
        </p:nvGraphicFramePr>
        <p:xfrm>
          <a:off x="957898" y="2241329"/>
          <a:ext cx="6095520" cy="1483200"/>
        </p:xfrm>
        <a:graphic>
          <a:graphicData uri="http://schemas.openxmlformats.org/drawingml/2006/table">
            <a:tbl>
              <a:tblPr>
                <a:tableStyleId>{125E5076-3810-47DD-B79F-674D7AD40C01}</a:tableStyleId>
              </a:tblPr>
              <a:tblGrid>
                <a:gridCol w="1523880">
                  <a:extLst>
                    <a:ext uri="{9D8B030D-6E8A-4147-A177-3AD203B41FA5}">
                      <a16:colId xmlns:a16="http://schemas.microsoft.com/office/drawing/2014/main" val="20000"/>
                    </a:ext>
                  </a:extLst>
                </a:gridCol>
                <a:gridCol w="1523880">
                  <a:extLst>
                    <a:ext uri="{9D8B030D-6E8A-4147-A177-3AD203B41FA5}">
                      <a16:colId xmlns:a16="http://schemas.microsoft.com/office/drawing/2014/main" val="20001"/>
                    </a:ext>
                  </a:extLst>
                </a:gridCol>
                <a:gridCol w="1523880">
                  <a:extLst>
                    <a:ext uri="{9D8B030D-6E8A-4147-A177-3AD203B41FA5}">
                      <a16:colId xmlns:a16="http://schemas.microsoft.com/office/drawing/2014/main" val="20002"/>
                    </a:ext>
                  </a:extLst>
                </a:gridCol>
                <a:gridCol w="1523880">
                  <a:extLst>
                    <a:ext uri="{9D8B030D-6E8A-4147-A177-3AD203B41FA5}">
                      <a16:colId xmlns:a16="http://schemas.microsoft.com/office/drawing/2014/main" val="20003"/>
                    </a:ext>
                  </a:extLst>
                </a:gridCol>
              </a:tblGrid>
              <a:tr h="370800">
                <a:tc>
                  <a:txBody>
                    <a:bodyPr/>
                    <a:lstStyle/>
                    <a:p>
                      <a:pPr>
                        <a:lnSpc>
                          <a:spcPct val="100000"/>
                        </a:lnSpc>
                      </a:pPr>
                      <a:r>
                        <a:rPr lang="en-US" sz="1400" b="1" u="none" strike="noStrike">
                          <a:solidFill>
                            <a:schemeClr val="bg1"/>
                          </a:solidFill>
                          <a:effectLst/>
                          <a:uFillTx/>
                        </a:rPr>
                        <a:t>Employee_Id</a:t>
                      </a:r>
                      <a:endParaRPr lang="en-US" sz="1400" b="0" u="none" strike="noStrike">
                        <a:solidFill>
                          <a:schemeClr val="bg1"/>
                        </a:solidFill>
                        <a:effectLst/>
                        <a:uFillTx/>
                        <a:latin typeface="Arial"/>
                      </a:endParaRPr>
                    </a:p>
                  </a:txBody>
                  <a:tcPr/>
                </a:tc>
                <a:tc>
                  <a:txBody>
                    <a:bodyPr/>
                    <a:lstStyle/>
                    <a:p>
                      <a:pPr>
                        <a:lnSpc>
                          <a:spcPct val="100000"/>
                        </a:lnSpc>
                      </a:pPr>
                      <a:r>
                        <a:rPr lang="en-US" sz="1400" b="1" u="none" strike="noStrike" dirty="0">
                          <a:solidFill>
                            <a:schemeClr val="bg1"/>
                          </a:solidFill>
                          <a:effectLst/>
                          <a:uFillTx/>
                        </a:rPr>
                        <a:t>Name</a:t>
                      </a:r>
                      <a:endParaRPr lang="en-US" sz="1400" b="0" u="none" strike="noStrike" dirty="0">
                        <a:solidFill>
                          <a:schemeClr val="bg1"/>
                        </a:solidFill>
                        <a:effectLst/>
                        <a:uFillTx/>
                        <a:latin typeface="Arial"/>
                      </a:endParaRPr>
                    </a:p>
                  </a:txBody>
                  <a:tcPr/>
                </a:tc>
                <a:tc>
                  <a:txBody>
                    <a:bodyPr/>
                    <a:lstStyle/>
                    <a:p>
                      <a:pPr>
                        <a:lnSpc>
                          <a:spcPct val="100000"/>
                        </a:lnSpc>
                      </a:pPr>
                      <a:r>
                        <a:rPr lang="en-US" sz="1400" b="1" u="none" strike="noStrike">
                          <a:solidFill>
                            <a:schemeClr val="bg1"/>
                          </a:solidFill>
                          <a:effectLst/>
                          <a:uFillTx/>
                        </a:rPr>
                        <a:t>Phone_Number</a:t>
                      </a:r>
                      <a:endParaRPr lang="en-US" sz="1400" b="0" u="none" strike="noStrike">
                        <a:solidFill>
                          <a:schemeClr val="bg1"/>
                        </a:solidFill>
                        <a:effectLst/>
                        <a:uFillTx/>
                        <a:latin typeface="Arial"/>
                      </a:endParaRPr>
                    </a:p>
                  </a:txBody>
                  <a:tcPr/>
                </a:tc>
                <a:tc>
                  <a:txBody>
                    <a:bodyPr/>
                    <a:lstStyle/>
                    <a:p>
                      <a:pPr>
                        <a:lnSpc>
                          <a:spcPct val="100000"/>
                        </a:lnSpc>
                      </a:pPr>
                      <a:r>
                        <a:rPr lang="en-US" sz="1400" b="1" u="none" strike="noStrike">
                          <a:solidFill>
                            <a:schemeClr val="bg1"/>
                          </a:solidFill>
                          <a:effectLst/>
                          <a:uFillTx/>
                        </a:rPr>
                        <a:t>Department</a:t>
                      </a:r>
                      <a:endParaRPr lang="en-US" sz="1400" b="0" u="none" strike="noStrike">
                        <a:solidFill>
                          <a:schemeClr val="bg1"/>
                        </a:solidFill>
                        <a:effectLst/>
                        <a:uFillTx/>
                        <a:latin typeface="Arial"/>
                      </a:endParaRPr>
                    </a:p>
                  </a:txBody>
                  <a:tcPr/>
                </a:tc>
                <a:extLst>
                  <a:ext uri="{0D108BD9-81ED-4DB2-BD59-A6C34878D82A}">
                    <a16:rowId xmlns:a16="http://schemas.microsoft.com/office/drawing/2014/main" val="10000"/>
                  </a:ext>
                </a:extLst>
              </a:tr>
              <a:tr h="370800">
                <a:tc>
                  <a:txBody>
                    <a:bodyPr/>
                    <a:lstStyle/>
                    <a:p>
                      <a:pPr>
                        <a:lnSpc>
                          <a:spcPct val="100000"/>
                        </a:lnSpc>
                      </a:pPr>
                      <a:r>
                        <a:rPr lang="en-US" sz="1400" b="0" u="none" strike="noStrike">
                          <a:solidFill>
                            <a:schemeClr val="bg1"/>
                          </a:solidFill>
                          <a:effectLst/>
                          <a:uFillTx/>
                        </a:rPr>
                        <a:t>1</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John Smith</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555-555-5555</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Tech</a:t>
                      </a:r>
                      <a:endParaRPr lang="en-US" sz="1400" b="0" u="none" strike="noStrike">
                        <a:solidFill>
                          <a:schemeClr val="bg1"/>
                        </a:solidFill>
                        <a:effectLst/>
                        <a:uFillTx/>
                        <a:latin typeface="Arial"/>
                      </a:endParaRPr>
                    </a:p>
                  </a:txBody>
                  <a:tcPr/>
                </a:tc>
                <a:extLst>
                  <a:ext uri="{0D108BD9-81ED-4DB2-BD59-A6C34878D82A}">
                    <a16:rowId xmlns:a16="http://schemas.microsoft.com/office/drawing/2014/main" val="10001"/>
                  </a:ext>
                </a:extLst>
              </a:tr>
              <a:tr h="370800">
                <a:tc>
                  <a:txBody>
                    <a:bodyPr/>
                    <a:lstStyle/>
                    <a:p>
                      <a:pPr>
                        <a:lnSpc>
                          <a:spcPct val="100000"/>
                        </a:lnSpc>
                      </a:pPr>
                      <a:r>
                        <a:rPr lang="en-US" sz="1400" b="0" u="none" strike="noStrike">
                          <a:solidFill>
                            <a:schemeClr val="bg1"/>
                          </a:solidFill>
                          <a:effectLst/>
                          <a:uFillTx/>
                        </a:rPr>
                        <a:t>2</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Jane Doe</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555-555-5555</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Tech</a:t>
                      </a:r>
                      <a:endParaRPr lang="en-US" sz="1400" b="0" u="none" strike="noStrike">
                        <a:solidFill>
                          <a:schemeClr val="bg1"/>
                        </a:solidFill>
                        <a:effectLst/>
                        <a:uFillTx/>
                        <a:latin typeface="Arial"/>
                      </a:endParaRPr>
                    </a:p>
                  </a:txBody>
                  <a:tcPr/>
                </a:tc>
                <a:extLst>
                  <a:ext uri="{0D108BD9-81ED-4DB2-BD59-A6C34878D82A}">
                    <a16:rowId xmlns:a16="http://schemas.microsoft.com/office/drawing/2014/main" val="10002"/>
                  </a:ext>
                </a:extLst>
              </a:tr>
              <a:tr h="370800">
                <a:tc>
                  <a:txBody>
                    <a:bodyPr/>
                    <a:lstStyle/>
                    <a:p>
                      <a:pPr>
                        <a:lnSpc>
                          <a:spcPct val="100000"/>
                        </a:lnSpc>
                      </a:pPr>
                      <a:r>
                        <a:rPr lang="en-US" sz="1400" b="0" u="none" strike="noStrike">
                          <a:solidFill>
                            <a:schemeClr val="bg1"/>
                          </a:solidFill>
                          <a:effectLst/>
                          <a:uFillTx/>
                        </a:rPr>
                        <a:t>3</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Hal Emmerich</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a:solidFill>
                            <a:schemeClr val="bg1"/>
                          </a:solidFill>
                          <a:effectLst/>
                          <a:uFillTx/>
                        </a:rPr>
                        <a:t>777-777-7777</a:t>
                      </a:r>
                      <a:endParaRPr lang="en-US" sz="1400" b="0" u="none" strike="noStrike">
                        <a:solidFill>
                          <a:schemeClr val="bg1"/>
                        </a:solidFill>
                        <a:effectLst/>
                        <a:uFillTx/>
                        <a:latin typeface="Arial"/>
                      </a:endParaRPr>
                    </a:p>
                  </a:txBody>
                  <a:tcPr/>
                </a:tc>
                <a:tc>
                  <a:txBody>
                    <a:bodyPr/>
                    <a:lstStyle/>
                    <a:p>
                      <a:pPr>
                        <a:lnSpc>
                          <a:spcPct val="100000"/>
                        </a:lnSpc>
                      </a:pPr>
                      <a:r>
                        <a:rPr lang="en-US" sz="1400" b="0" u="none" strike="noStrike" dirty="0">
                          <a:solidFill>
                            <a:schemeClr val="bg1"/>
                          </a:solidFill>
                          <a:effectLst/>
                          <a:uFillTx/>
                        </a:rPr>
                        <a:t>Tech</a:t>
                      </a:r>
                      <a:endParaRPr lang="en-US" sz="1400" b="0" u="none" strike="noStrike" dirty="0">
                        <a:solidFill>
                          <a:schemeClr val="bg1"/>
                        </a:solidFill>
                        <a:effectLst/>
                        <a:uFillTx/>
                        <a:latin typeface="Arial"/>
                      </a:endParaRPr>
                    </a:p>
                  </a:txBody>
                  <a:tcPr/>
                </a:tc>
                <a:extLst>
                  <a:ext uri="{0D108BD9-81ED-4DB2-BD59-A6C34878D82A}">
                    <a16:rowId xmlns:a16="http://schemas.microsoft.com/office/drawing/2014/main" val="10003"/>
                  </a:ext>
                </a:extLst>
              </a:tr>
            </a:tbl>
          </a:graphicData>
        </a:graphic>
      </p:graphicFrame>
      <p:sp>
        <p:nvSpPr>
          <p:cNvPr id="7" name="TextBox 5">
            <a:extLst>
              <a:ext uri="{FF2B5EF4-FFF2-40B4-BE49-F238E27FC236}">
                <a16:creationId xmlns:a16="http://schemas.microsoft.com/office/drawing/2014/main" id="{D294C03D-A461-758D-9256-C1ABB36745B5}"/>
              </a:ext>
            </a:extLst>
          </p:cNvPr>
          <p:cNvSpPr/>
          <p:nvPr/>
        </p:nvSpPr>
        <p:spPr>
          <a:xfrm>
            <a:off x="7658142" y="2613749"/>
            <a:ext cx="2167200" cy="73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Each non-key column in a table is fully dependent on the primary key. </a:t>
            </a:r>
            <a:endParaRPr lang="en-US" sz="1400" b="0" u="none" strike="noStrike">
              <a:effectLst/>
              <a:uFillTx/>
              <a:latin typeface="Arial"/>
            </a:endParaRPr>
          </a:p>
        </p:txBody>
      </p:sp>
      <p:pic>
        <p:nvPicPr>
          <p:cNvPr id="9" name="Picture 7">
            <a:extLst>
              <a:ext uri="{FF2B5EF4-FFF2-40B4-BE49-F238E27FC236}">
                <a16:creationId xmlns:a16="http://schemas.microsoft.com/office/drawing/2014/main" id="{D7FFB74F-25F2-F376-7C65-6D8976161430}"/>
              </a:ext>
            </a:extLst>
          </p:cNvPr>
          <p:cNvPicPr/>
          <p:nvPr/>
        </p:nvPicPr>
        <p:blipFill>
          <a:blip r:embed="rId2"/>
          <a:stretch/>
        </p:blipFill>
        <p:spPr>
          <a:xfrm>
            <a:off x="3041040" y="4249902"/>
            <a:ext cx="6109920" cy="2023200"/>
          </a:xfrm>
          <a:prstGeom prst="rect">
            <a:avLst/>
          </a:prstGeom>
          <a:noFill/>
          <a:ln w="0">
            <a:noFill/>
          </a:ln>
        </p:spPr>
      </p:pic>
    </p:spTree>
    <p:extLst>
      <p:ext uri="{BB962C8B-B14F-4D97-AF65-F5344CB8AC3E}">
        <p14:creationId xmlns:p14="http://schemas.microsoft.com/office/powerpoint/2010/main" val="36583296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4FD19-4906-A6AD-21FB-159FC573E181}"/>
              </a:ext>
            </a:extLst>
          </p:cNvPr>
          <p:cNvSpPr>
            <a:spLocks noGrp="1"/>
          </p:cNvSpPr>
          <p:nvPr>
            <p:ph type="title"/>
          </p:nvPr>
        </p:nvSpPr>
        <p:spPr/>
        <p:txBody>
          <a:bodyPr/>
          <a:lstStyle/>
          <a:p>
            <a:r>
              <a:rPr lang="en-US" dirty="0"/>
              <a:t>Database normalization – third normal form</a:t>
            </a:r>
          </a:p>
        </p:txBody>
      </p:sp>
      <p:sp>
        <p:nvSpPr>
          <p:cNvPr id="5" name="TextBox 5">
            <a:extLst>
              <a:ext uri="{FF2B5EF4-FFF2-40B4-BE49-F238E27FC236}">
                <a16:creationId xmlns:a16="http://schemas.microsoft.com/office/drawing/2014/main" id="{6D817646-2A9A-8CDE-6743-4FC76A034421}"/>
              </a:ext>
            </a:extLst>
          </p:cNvPr>
          <p:cNvSpPr/>
          <p:nvPr/>
        </p:nvSpPr>
        <p:spPr>
          <a:xfrm>
            <a:off x="7683900" y="2488939"/>
            <a:ext cx="216720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Each non-key column in a table is not transitively dependent on the primary key. </a:t>
            </a:r>
            <a:endParaRPr lang="en-US" sz="1400" b="0" u="none" strike="noStrike">
              <a:effectLst/>
              <a:uFillTx/>
              <a:latin typeface="Arial"/>
            </a:endParaRPr>
          </a:p>
        </p:txBody>
      </p:sp>
      <p:pic>
        <p:nvPicPr>
          <p:cNvPr id="7" name="Picture 3">
            <a:extLst>
              <a:ext uri="{FF2B5EF4-FFF2-40B4-BE49-F238E27FC236}">
                <a16:creationId xmlns:a16="http://schemas.microsoft.com/office/drawing/2014/main" id="{4903BB29-059D-31BE-506A-FB9A81EF3F64}"/>
              </a:ext>
            </a:extLst>
          </p:cNvPr>
          <p:cNvPicPr/>
          <p:nvPr/>
        </p:nvPicPr>
        <p:blipFill>
          <a:blip r:embed="rId2"/>
          <a:stretch/>
        </p:blipFill>
        <p:spPr>
          <a:xfrm>
            <a:off x="1846500" y="2373379"/>
            <a:ext cx="5331240" cy="1628640"/>
          </a:xfrm>
          <a:prstGeom prst="rect">
            <a:avLst/>
          </a:prstGeom>
          <a:noFill/>
          <a:ln w="0">
            <a:noFill/>
          </a:ln>
        </p:spPr>
      </p:pic>
      <p:pic>
        <p:nvPicPr>
          <p:cNvPr id="9" name="Picture 10">
            <a:extLst>
              <a:ext uri="{FF2B5EF4-FFF2-40B4-BE49-F238E27FC236}">
                <a16:creationId xmlns:a16="http://schemas.microsoft.com/office/drawing/2014/main" id="{93D275E9-5318-D067-6C1F-DD45D34ECDDD}"/>
              </a:ext>
            </a:extLst>
          </p:cNvPr>
          <p:cNvPicPr/>
          <p:nvPr/>
        </p:nvPicPr>
        <p:blipFill>
          <a:blip r:embed="rId3"/>
          <a:stretch/>
        </p:blipFill>
        <p:spPr>
          <a:xfrm>
            <a:off x="1359060" y="4350859"/>
            <a:ext cx="4345920" cy="1429920"/>
          </a:xfrm>
          <a:prstGeom prst="rect">
            <a:avLst/>
          </a:prstGeom>
          <a:noFill/>
          <a:ln w="0">
            <a:noFill/>
          </a:ln>
        </p:spPr>
      </p:pic>
      <p:pic>
        <p:nvPicPr>
          <p:cNvPr id="11" name="Picture 12">
            <a:extLst>
              <a:ext uri="{FF2B5EF4-FFF2-40B4-BE49-F238E27FC236}">
                <a16:creationId xmlns:a16="http://schemas.microsoft.com/office/drawing/2014/main" id="{60D29899-0D7A-99B1-5BF6-7A57DAFA02AA}"/>
              </a:ext>
            </a:extLst>
          </p:cNvPr>
          <p:cNvPicPr/>
          <p:nvPr/>
        </p:nvPicPr>
        <p:blipFill>
          <a:blip r:embed="rId4"/>
          <a:stretch/>
        </p:blipFill>
        <p:spPr>
          <a:xfrm>
            <a:off x="5992980" y="4350859"/>
            <a:ext cx="4058280" cy="1436040"/>
          </a:xfrm>
          <a:prstGeom prst="rect">
            <a:avLst/>
          </a:prstGeom>
          <a:noFill/>
          <a:ln w="0">
            <a:noFill/>
          </a:ln>
        </p:spPr>
      </p:pic>
    </p:spTree>
    <p:extLst>
      <p:ext uri="{BB962C8B-B14F-4D97-AF65-F5344CB8AC3E}">
        <p14:creationId xmlns:p14="http://schemas.microsoft.com/office/powerpoint/2010/main" val="41767798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C68C6-51F3-4AA3-53F5-FC4C36F29306}"/>
              </a:ext>
            </a:extLst>
          </p:cNvPr>
          <p:cNvSpPr>
            <a:spLocks noGrp="1"/>
          </p:cNvSpPr>
          <p:nvPr>
            <p:ph type="title"/>
          </p:nvPr>
        </p:nvSpPr>
        <p:spPr/>
        <p:txBody>
          <a:bodyPr/>
          <a:lstStyle/>
          <a:p>
            <a:r>
              <a:rPr lang="en-US" dirty="0"/>
              <a:t>Data Mapping Algorithm</a:t>
            </a:r>
          </a:p>
        </p:txBody>
      </p:sp>
      <p:sp>
        <p:nvSpPr>
          <p:cNvPr id="5" name="TextBox 5">
            <a:extLst>
              <a:ext uri="{FF2B5EF4-FFF2-40B4-BE49-F238E27FC236}">
                <a16:creationId xmlns:a16="http://schemas.microsoft.com/office/drawing/2014/main" id="{AB97838C-5DD5-C0FB-0725-FE4A29752387}"/>
              </a:ext>
            </a:extLst>
          </p:cNvPr>
          <p:cNvSpPr/>
          <p:nvPr/>
        </p:nvSpPr>
        <p:spPr>
          <a:xfrm>
            <a:off x="2359931" y="2318430"/>
            <a:ext cx="3457800" cy="2246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Step 1: Map Regular Entity Types – create a relation and include all simple attributes of the entity. Choose a Primary Key.</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Step 2: Map Weak Entity Types – create a relation and include all simple attributes, also include the foreign key that corresponds to the primary key of the owner entity type. </a:t>
            </a:r>
            <a:endParaRPr lang="en-US" sz="1400" b="0" u="none" strike="noStrike" dirty="0">
              <a:effectLst/>
              <a:uFillTx/>
              <a:latin typeface="Arial"/>
            </a:endParaRPr>
          </a:p>
        </p:txBody>
      </p:sp>
      <p:pic>
        <p:nvPicPr>
          <p:cNvPr id="7" name="Picture 10">
            <a:extLst>
              <a:ext uri="{FF2B5EF4-FFF2-40B4-BE49-F238E27FC236}">
                <a16:creationId xmlns:a16="http://schemas.microsoft.com/office/drawing/2014/main" id="{F25AFB00-66CD-4830-3238-0699FFFE6828}"/>
              </a:ext>
            </a:extLst>
          </p:cNvPr>
          <p:cNvPicPr/>
          <p:nvPr/>
        </p:nvPicPr>
        <p:blipFill>
          <a:blip r:embed="rId2"/>
          <a:stretch/>
        </p:blipFill>
        <p:spPr>
          <a:xfrm>
            <a:off x="4079291" y="4875510"/>
            <a:ext cx="3192120" cy="1608840"/>
          </a:xfrm>
          <a:prstGeom prst="rect">
            <a:avLst/>
          </a:prstGeom>
          <a:noFill/>
          <a:ln w="0">
            <a:noFill/>
          </a:ln>
        </p:spPr>
      </p:pic>
      <p:pic>
        <p:nvPicPr>
          <p:cNvPr id="9" name="Picture 12">
            <a:extLst>
              <a:ext uri="{FF2B5EF4-FFF2-40B4-BE49-F238E27FC236}">
                <a16:creationId xmlns:a16="http://schemas.microsoft.com/office/drawing/2014/main" id="{80CCBFA0-B507-F3DB-C057-5EFC015D1D95}"/>
              </a:ext>
            </a:extLst>
          </p:cNvPr>
          <p:cNvPicPr/>
          <p:nvPr/>
        </p:nvPicPr>
        <p:blipFill>
          <a:blip r:embed="rId3"/>
          <a:stretch/>
        </p:blipFill>
        <p:spPr>
          <a:xfrm>
            <a:off x="6567971" y="2252190"/>
            <a:ext cx="2946960" cy="2570760"/>
          </a:xfrm>
          <a:prstGeom prst="rect">
            <a:avLst/>
          </a:prstGeom>
          <a:noFill/>
          <a:ln w="0">
            <a:noFill/>
          </a:ln>
        </p:spPr>
      </p:pic>
      <p:sp>
        <p:nvSpPr>
          <p:cNvPr id="4" name="Rectangle 3">
            <a:extLst>
              <a:ext uri="{FF2B5EF4-FFF2-40B4-BE49-F238E27FC236}">
                <a16:creationId xmlns:a16="http://schemas.microsoft.com/office/drawing/2014/main" id="{76C071BB-80A3-DFBF-9184-BCAD9271F877}"/>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91563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929C4-6359-F173-C9D2-E949E2493A8C}"/>
              </a:ext>
            </a:extLst>
          </p:cNvPr>
          <p:cNvSpPr>
            <a:spLocks noGrp="1"/>
          </p:cNvSpPr>
          <p:nvPr>
            <p:ph type="title"/>
          </p:nvPr>
        </p:nvSpPr>
        <p:spPr/>
        <p:txBody>
          <a:bodyPr/>
          <a:lstStyle/>
          <a:p>
            <a:r>
              <a:rPr lang="en-US" dirty="0"/>
              <a:t>Data Mapping algorithm</a:t>
            </a:r>
          </a:p>
        </p:txBody>
      </p:sp>
      <p:sp>
        <p:nvSpPr>
          <p:cNvPr id="5" name="TextBox 5">
            <a:extLst>
              <a:ext uri="{FF2B5EF4-FFF2-40B4-BE49-F238E27FC236}">
                <a16:creationId xmlns:a16="http://schemas.microsoft.com/office/drawing/2014/main" id="{445E9081-06FB-C6B7-681A-7DD3BDED1C17}"/>
              </a:ext>
            </a:extLst>
          </p:cNvPr>
          <p:cNvSpPr/>
          <p:nvPr/>
        </p:nvSpPr>
        <p:spPr>
          <a:xfrm>
            <a:off x="4042390" y="2148531"/>
            <a:ext cx="406584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Step 3: Map 1:1 Relationship Types – In general, use the Foreign key approach and use merged relation and cross-reference approaches as required.</a:t>
            </a:r>
            <a:endParaRPr lang="en-US" sz="1400" b="0" u="none" strike="noStrike">
              <a:effectLst/>
              <a:uFillTx/>
              <a:latin typeface="Arial"/>
            </a:endParaRPr>
          </a:p>
        </p:txBody>
      </p:sp>
      <p:sp>
        <p:nvSpPr>
          <p:cNvPr id="7" name="TextBox 2">
            <a:extLst>
              <a:ext uri="{FF2B5EF4-FFF2-40B4-BE49-F238E27FC236}">
                <a16:creationId xmlns:a16="http://schemas.microsoft.com/office/drawing/2014/main" id="{E5B3CAFD-2A86-53EC-175B-5168EAF76765}"/>
              </a:ext>
            </a:extLst>
          </p:cNvPr>
          <p:cNvSpPr/>
          <p:nvPr/>
        </p:nvSpPr>
        <p:spPr>
          <a:xfrm>
            <a:off x="1698070" y="3277851"/>
            <a:ext cx="348156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Foreign Key Approach – For entities S and T, choose a primary key from S and include it as a foreign key in T. It is better to choose an entity type with total participation. Include all simple attributes of the relationship as attributes of S. </a:t>
            </a:r>
            <a:endParaRPr lang="en-US" sz="1400" b="0" u="none" strike="noStrike" dirty="0">
              <a:effectLst/>
              <a:uFillTx/>
              <a:latin typeface="Arial"/>
            </a:endParaRPr>
          </a:p>
        </p:txBody>
      </p:sp>
      <p:pic>
        <p:nvPicPr>
          <p:cNvPr id="9" name="Picture 7">
            <a:extLst>
              <a:ext uri="{FF2B5EF4-FFF2-40B4-BE49-F238E27FC236}">
                <a16:creationId xmlns:a16="http://schemas.microsoft.com/office/drawing/2014/main" id="{2830E29D-4103-227F-E50F-B43F16D7384E}"/>
              </a:ext>
            </a:extLst>
          </p:cNvPr>
          <p:cNvPicPr/>
          <p:nvPr/>
        </p:nvPicPr>
        <p:blipFill>
          <a:blip r:embed="rId2"/>
          <a:stretch/>
        </p:blipFill>
        <p:spPr>
          <a:xfrm>
            <a:off x="1943950" y="4662771"/>
            <a:ext cx="2820240" cy="719280"/>
          </a:xfrm>
          <a:prstGeom prst="rect">
            <a:avLst/>
          </a:prstGeom>
          <a:noFill/>
          <a:ln w="0">
            <a:noFill/>
          </a:ln>
        </p:spPr>
      </p:pic>
      <p:pic>
        <p:nvPicPr>
          <p:cNvPr id="11" name="Picture 10">
            <a:extLst>
              <a:ext uri="{FF2B5EF4-FFF2-40B4-BE49-F238E27FC236}">
                <a16:creationId xmlns:a16="http://schemas.microsoft.com/office/drawing/2014/main" id="{058CFE09-4D15-C634-CD5F-EF823D344327}"/>
              </a:ext>
            </a:extLst>
          </p:cNvPr>
          <p:cNvPicPr/>
          <p:nvPr/>
        </p:nvPicPr>
        <p:blipFill>
          <a:blip r:embed="rId3"/>
          <a:stretch/>
        </p:blipFill>
        <p:spPr>
          <a:xfrm>
            <a:off x="1684030" y="5754651"/>
            <a:ext cx="4010400" cy="637920"/>
          </a:xfrm>
          <a:prstGeom prst="rect">
            <a:avLst/>
          </a:prstGeom>
          <a:noFill/>
          <a:ln w="0">
            <a:noFill/>
          </a:ln>
        </p:spPr>
      </p:pic>
      <p:pic>
        <p:nvPicPr>
          <p:cNvPr id="13" name="Picture 12">
            <a:extLst>
              <a:ext uri="{FF2B5EF4-FFF2-40B4-BE49-F238E27FC236}">
                <a16:creationId xmlns:a16="http://schemas.microsoft.com/office/drawing/2014/main" id="{8ACFB263-0120-F013-2AE7-32F176ECAD5D}"/>
              </a:ext>
            </a:extLst>
          </p:cNvPr>
          <p:cNvPicPr/>
          <p:nvPr/>
        </p:nvPicPr>
        <p:blipFill>
          <a:blip r:embed="rId4"/>
          <a:stretch/>
        </p:blipFill>
        <p:spPr>
          <a:xfrm>
            <a:off x="1563070" y="5449371"/>
            <a:ext cx="4502520" cy="370440"/>
          </a:xfrm>
          <a:prstGeom prst="rect">
            <a:avLst/>
          </a:prstGeom>
          <a:noFill/>
          <a:ln w="0">
            <a:noFill/>
          </a:ln>
        </p:spPr>
      </p:pic>
      <p:sp>
        <p:nvSpPr>
          <p:cNvPr id="15" name="TextBox 13">
            <a:extLst>
              <a:ext uri="{FF2B5EF4-FFF2-40B4-BE49-F238E27FC236}">
                <a16:creationId xmlns:a16="http://schemas.microsoft.com/office/drawing/2014/main" id="{34F5295A-67B4-36A0-3DE4-2B0FCE5134FC}"/>
              </a:ext>
            </a:extLst>
          </p:cNvPr>
          <p:cNvSpPr/>
          <p:nvPr/>
        </p:nvSpPr>
        <p:spPr>
          <a:xfrm>
            <a:off x="6518830" y="3344091"/>
            <a:ext cx="334080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Merged Relation Approach – Merges the two entity types and the relation into a single relation. Possible when both participations are total. </a:t>
            </a:r>
            <a:endParaRPr lang="en-US" sz="1400" b="0" u="none" strike="noStrike">
              <a:effectLst/>
              <a:uFillTx/>
              <a:latin typeface="Arial"/>
            </a:endParaRPr>
          </a:p>
        </p:txBody>
      </p:sp>
      <p:sp>
        <p:nvSpPr>
          <p:cNvPr id="17" name="TextBox 14">
            <a:extLst>
              <a:ext uri="{FF2B5EF4-FFF2-40B4-BE49-F238E27FC236}">
                <a16:creationId xmlns:a16="http://schemas.microsoft.com/office/drawing/2014/main" id="{FA6E1369-688F-DF64-87DB-B7D1A645E734}"/>
              </a:ext>
            </a:extLst>
          </p:cNvPr>
          <p:cNvSpPr/>
          <p:nvPr/>
        </p:nvSpPr>
        <p:spPr>
          <a:xfrm>
            <a:off x="6518830" y="4495371"/>
            <a:ext cx="334080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Cross-Reference Approach – Set up a third relation R for the purpose of cross-referencing the primary keys of two tables. Required for M:N relationships. </a:t>
            </a:r>
            <a:endParaRPr lang="en-US" sz="1400" b="0" u="none" strike="noStrike">
              <a:effectLst/>
              <a:uFillTx/>
              <a:latin typeface="Arial"/>
            </a:endParaRPr>
          </a:p>
        </p:txBody>
      </p:sp>
      <p:sp>
        <p:nvSpPr>
          <p:cNvPr id="4" name="Rectangle 3">
            <a:extLst>
              <a:ext uri="{FF2B5EF4-FFF2-40B4-BE49-F238E27FC236}">
                <a16:creationId xmlns:a16="http://schemas.microsoft.com/office/drawing/2014/main" id="{FB322AE5-BACA-175D-3291-6E3C36A1A180}"/>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63741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E3412-5DAE-79F9-A480-7702E0BC5C40}"/>
              </a:ext>
            </a:extLst>
          </p:cNvPr>
          <p:cNvSpPr>
            <a:spLocks noGrp="1"/>
          </p:cNvSpPr>
          <p:nvPr>
            <p:ph type="title"/>
          </p:nvPr>
        </p:nvSpPr>
        <p:spPr/>
        <p:txBody>
          <a:bodyPr/>
          <a:lstStyle/>
          <a:p>
            <a:r>
              <a:rPr lang="en-US" dirty="0"/>
              <a:t>Data Mapping Algorithm</a:t>
            </a:r>
          </a:p>
        </p:txBody>
      </p:sp>
      <p:sp>
        <p:nvSpPr>
          <p:cNvPr id="5" name="TextBox 5">
            <a:extLst>
              <a:ext uri="{FF2B5EF4-FFF2-40B4-BE49-F238E27FC236}">
                <a16:creationId xmlns:a16="http://schemas.microsoft.com/office/drawing/2014/main" id="{1E01F6E8-387B-2B8E-65DE-D35B4E04B073}"/>
              </a:ext>
            </a:extLst>
          </p:cNvPr>
          <p:cNvSpPr/>
          <p:nvPr/>
        </p:nvSpPr>
        <p:spPr>
          <a:xfrm>
            <a:off x="4055268" y="2084136"/>
            <a:ext cx="4065840" cy="73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Step 4: Map 1:N Relationship Types – Use foreign key approach or relationship relation approach.  </a:t>
            </a:r>
            <a:endParaRPr lang="en-US" sz="1400" b="0" u="none" strike="noStrike" dirty="0">
              <a:effectLst/>
              <a:uFillTx/>
              <a:latin typeface="Arial"/>
            </a:endParaRPr>
          </a:p>
        </p:txBody>
      </p:sp>
      <p:sp>
        <p:nvSpPr>
          <p:cNvPr id="7" name="TextBox 2">
            <a:extLst>
              <a:ext uri="{FF2B5EF4-FFF2-40B4-BE49-F238E27FC236}">
                <a16:creationId xmlns:a16="http://schemas.microsoft.com/office/drawing/2014/main" id="{2583C750-C7FE-2C5B-0F05-5227DBF65FAC}"/>
              </a:ext>
            </a:extLst>
          </p:cNvPr>
          <p:cNvSpPr/>
          <p:nvPr/>
        </p:nvSpPr>
        <p:spPr>
          <a:xfrm>
            <a:off x="1745868" y="2822856"/>
            <a:ext cx="348156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Foreign Key Approach – For each regular binary 1:N relationship type R, identify the side S that represents the N-side of the relationship. Include a foreign key in S the primary key of T, that represents the other entity type. </a:t>
            </a:r>
            <a:endParaRPr lang="en-US" sz="1400" b="0" u="none" strike="noStrike">
              <a:effectLst/>
              <a:uFillTx/>
              <a:latin typeface="Arial"/>
            </a:endParaRPr>
          </a:p>
        </p:txBody>
      </p:sp>
      <p:sp>
        <p:nvSpPr>
          <p:cNvPr id="9" name="TextBox 14">
            <a:extLst>
              <a:ext uri="{FF2B5EF4-FFF2-40B4-BE49-F238E27FC236}">
                <a16:creationId xmlns:a16="http://schemas.microsoft.com/office/drawing/2014/main" id="{931D8507-F01B-DBB3-75A8-DD1BB4171AFB}"/>
              </a:ext>
            </a:extLst>
          </p:cNvPr>
          <p:cNvSpPr/>
          <p:nvPr/>
        </p:nvSpPr>
        <p:spPr>
          <a:xfrm>
            <a:off x="1710948" y="4253496"/>
            <a:ext cx="3340800" cy="203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Cross-Reference Approach – Create a separate relation R whose attributes are the primary keys of entities T and S, which will also be foreign keys to S and T. The primary key of R is the same as the primary key of S. This options can be used if few tuples in S participate in the relationship to avoid excessive NULL values in the foreign key. </a:t>
            </a:r>
            <a:endParaRPr lang="en-US" sz="1400" b="0" u="none" strike="noStrike">
              <a:effectLst/>
              <a:uFillTx/>
              <a:latin typeface="Arial"/>
            </a:endParaRPr>
          </a:p>
        </p:txBody>
      </p:sp>
      <p:pic>
        <p:nvPicPr>
          <p:cNvPr id="11" name="Picture 6">
            <a:extLst>
              <a:ext uri="{FF2B5EF4-FFF2-40B4-BE49-F238E27FC236}">
                <a16:creationId xmlns:a16="http://schemas.microsoft.com/office/drawing/2014/main" id="{EC6BB456-D69D-DBB7-F0CF-1E3CCD50055B}"/>
              </a:ext>
            </a:extLst>
          </p:cNvPr>
          <p:cNvPicPr/>
          <p:nvPr/>
        </p:nvPicPr>
        <p:blipFill>
          <a:blip r:embed="rId2"/>
          <a:stretch/>
        </p:blipFill>
        <p:spPr>
          <a:xfrm>
            <a:off x="5544228" y="3067656"/>
            <a:ext cx="3858480" cy="1032840"/>
          </a:xfrm>
          <a:prstGeom prst="rect">
            <a:avLst/>
          </a:prstGeom>
          <a:noFill/>
          <a:ln w="0">
            <a:noFill/>
          </a:ln>
        </p:spPr>
      </p:pic>
      <p:pic>
        <p:nvPicPr>
          <p:cNvPr id="13" name="Picture 17">
            <a:extLst>
              <a:ext uri="{FF2B5EF4-FFF2-40B4-BE49-F238E27FC236}">
                <a16:creationId xmlns:a16="http://schemas.microsoft.com/office/drawing/2014/main" id="{5E010836-CE59-6B3F-910D-97771E6F3A12}"/>
              </a:ext>
            </a:extLst>
          </p:cNvPr>
          <p:cNvPicPr/>
          <p:nvPr/>
        </p:nvPicPr>
        <p:blipFill>
          <a:blip r:embed="rId3"/>
          <a:stretch/>
        </p:blipFill>
        <p:spPr>
          <a:xfrm>
            <a:off x="5403468" y="4132176"/>
            <a:ext cx="4617000" cy="1207080"/>
          </a:xfrm>
          <a:prstGeom prst="rect">
            <a:avLst/>
          </a:prstGeom>
          <a:noFill/>
          <a:ln w="0">
            <a:noFill/>
          </a:ln>
        </p:spPr>
      </p:pic>
      <p:sp>
        <p:nvSpPr>
          <p:cNvPr id="4" name="Rectangle 3">
            <a:extLst>
              <a:ext uri="{FF2B5EF4-FFF2-40B4-BE49-F238E27FC236}">
                <a16:creationId xmlns:a16="http://schemas.microsoft.com/office/drawing/2014/main" id="{ECA3C5FD-A517-8860-051E-D356CE380A20}"/>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55958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409B0-A7A5-8AC6-4B71-CD169F4371CE}"/>
              </a:ext>
            </a:extLst>
          </p:cNvPr>
          <p:cNvSpPr>
            <a:spLocks noGrp="1"/>
          </p:cNvSpPr>
          <p:nvPr>
            <p:ph type="title"/>
          </p:nvPr>
        </p:nvSpPr>
        <p:spPr/>
        <p:txBody>
          <a:bodyPr/>
          <a:lstStyle/>
          <a:p>
            <a:r>
              <a:rPr lang="en-US" dirty="0"/>
              <a:t>Data Mapping Algorithm</a:t>
            </a:r>
          </a:p>
        </p:txBody>
      </p:sp>
      <p:sp>
        <p:nvSpPr>
          <p:cNvPr id="5" name="TextBox 5">
            <a:extLst>
              <a:ext uri="{FF2B5EF4-FFF2-40B4-BE49-F238E27FC236}">
                <a16:creationId xmlns:a16="http://schemas.microsoft.com/office/drawing/2014/main" id="{F8C6DDD0-0773-BB82-D363-D419D7491B92}"/>
              </a:ext>
            </a:extLst>
          </p:cNvPr>
          <p:cNvSpPr/>
          <p:nvPr/>
        </p:nvSpPr>
        <p:spPr>
          <a:xfrm>
            <a:off x="3538643" y="2259720"/>
            <a:ext cx="4745160" cy="116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Step 5: Map M:N Relationship Types – Traditional relational models don’t allow for multivalued attributes, the only option for M:N relationships is the cross-reference approach. Cascade delete should be enabled on the foreign keys.  </a:t>
            </a:r>
            <a:endParaRPr lang="en-US" sz="1400" b="0" u="none" strike="noStrike" dirty="0">
              <a:effectLst/>
              <a:uFillTx/>
              <a:latin typeface="Arial"/>
            </a:endParaRPr>
          </a:p>
        </p:txBody>
      </p:sp>
      <p:pic>
        <p:nvPicPr>
          <p:cNvPr id="7" name="Picture 7">
            <a:extLst>
              <a:ext uri="{FF2B5EF4-FFF2-40B4-BE49-F238E27FC236}">
                <a16:creationId xmlns:a16="http://schemas.microsoft.com/office/drawing/2014/main" id="{1AFB8B4F-9A8D-F144-65BE-CC8F25293989}"/>
              </a:ext>
            </a:extLst>
          </p:cNvPr>
          <p:cNvPicPr/>
          <p:nvPr/>
        </p:nvPicPr>
        <p:blipFill>
          <a:blip r:embed="rId2"/>
          <a:stretch/>
        </p:blipFill>
        <p:spPr>
          <a:xfrm>
            <a:off x="1857083" y="3429360"/>
            <a:ext cx="3723120" cy="2388960"/>
          </a:xfrm>
          <a:prstGeom prst="rect">
            <a:avLst/>
          </a:prstGeom>
          <a:noFill/>
          <a:ln w="0">
            <a:noFill/>
          </a:ln>
        </p:spPr>
      </p:pic>
      <p:pic>
        <p:nvPicPr>
          <p:cNvPr id="9" name="Picture 9">
            <a:extLst>
              <a:ext uri="{FF2B5EF4-FFF2-40B4-BE49-F238E27FC236}">
                <a16:creationId xmlns:a16="http://schemas.microsoft.com/office/drawing/2014/main" id="{C0268482-0C9A-F1CE-35B3-7F252B7FA396}"/>
              </a:ext>
            </a:extLst>
          </p:cNvPr>
          <p:cNvPicPr/>
          <p:nvPr/>
        </p:nvPicPr>
        <p:blipFill>
          <a:blip r:embed="rId3"/>
          <a:stretch/>
        </p:blipFill>
        <p:spPr>
          <a:xfrm>
            <a:off x="6145043" y="3429360"/>
            <a:ext cx="4064040" cy="2388960"/>
          </a:xfrm>
          <a:prstGeom prst="rect">
            <a:avLst/>
          </a:prstGeom>
          <a:noFill/>
          <a:ln w="0">
            <a:noFill/>
          </a:ln>
        </p:spPr>
      </p:pic>
      <p:sp>
        <p:nvSpPr>
          <p:cNvPr id="11" name="TextBox 10">
            <a:extLst>
              <a:ext uri="{FF2B5EF4-FFF2-40B4-BE49-F238E27FC236}">
                <a16:creationId xmlns:a16="http://schemas.microsoft.com/office/drawing/2014/main" id="{33B56144-E0F0-CA18-8673-17DAB4E108C8}"/>
              </a:ext>
            </a:extLst>
          </p:cNvPr>
          <p:cNvSpPr/>
          <p:nvPr/>
        </p:nvSpPr>
        <p:spPr>
          <a:xfrm>
            <a:off x="6162683" y="5947200"/>
            <a:ext cx="35827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Essn + Pno = Primary Key of WORKS_ON</a:t>
            </a:r>
            <a:endParaRPr lang="en-US" sz="1400" b="0" u="none" strike="noStrike">
              <a:effectLst/>
              <a:uFillTx/>
              <a:latin typeface="Arial"/>
            </a:endParaRPr>
          </a:p>
        </p:txBody>
      </p:sp>
      <p:sp>
        <p:nvSpPr>
          <p:cNvPr id="4" name="Rectangle 3">
            <a:extLst>
              <a:ext uri="{FF2B5EF4-FFF2-40B4-BE49-F238E27FC236}">
                <a16:creationId xmlns:a16="http://schemas.microsoft.com/office/drawing/2014/main" id="{48B0694E-DA70-2795-D5C8-CC0518BF3D11}"/>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54168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8D0F1-599D-7E70-28C2-99A58CF00CD7}"/>
              </a:ext>
            </a:extLst>
          </p:cNvPr>
          <p:cNvSpPr>
            <a:spLocks noGrp="1"/>
          </p:cNvSpPr>
          <p:nvPr>
            <p:ph type="title"/>
          </p:nvPr>
        </p:nvSpPr>
        <p:spPr/>
        <p:txBody>
          <a:bodyPr/>
          <a:lstStyle/>
          <a:p>
            <a:r>
              <a:rPr lang="en-US" dirty="0"/>
              <a:t>Data Mapping algorithm</a:t>
            </a:r>
          </a:p>
        </p:txBody>
      </p:sp>
      <p:sp>
        <p:nvSpPr>
          <p:cNvPr id="5" name="TextBox 5">
            <a:extLst>
              <a:ext uri="{FF2B5EF4-FFF2-40B4-BE49-F238E27FC236}">
                <a16:creationId xmlns:a16="http://schemas.microsoft.com/office/drawing/2014/main" id="{54D96BD3-33CB-B89D-272F-6F016FB4ED1B}"/>
              </a:ext>
            </a:extLst>
          </p:cNvPr>
          <p:cNvSpPr/>
          <p:nvPr/>
        </p:nvSpPr>
        <p:spPr>
          <a:xfrm>
            <a:off x="4611073" y="2097564"/>
            <a:ext cx="474516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Step 6: Map multivalued attributes.</a:t>
            </a:r>
            <a:endParaRPr lang="en-US" sz="1400" b="0" u="none" strike="noStrike" dirty="0">
              <a:effectLst/>
              <a:uFillTx/>
              <a:latin typeface="Arial"/>
            </a:endParaRPr>
          </a:p>
        </p:txBody>
      </p:sp>
      <p:pic>
        <p:nvPicPr>
          <p:cNvPr id="7" name="Picture 3">
            <a:extLst>
              <a:ext uri="{FF2B5EF4-FFF2-40B4-BE49-F238E27FC236}">
                <a16:creationId xmlns:a16="http://schemas.microsoft.com/office/drawing/2014/main" id="{12B1CF57-C8A6-BB62-90F6-7FDF94F690BA}"/>
              </a:ext>
            </a:extLst>
          </p:cNvPr>
          <p:cNvPicPr/>
          <p:nvPr/>
        </p:nvPicPr>
        <p:blipFill>
          <a:blip r:embed="rId2"/>
          <a:stretch/>
        </p:blipFill>
        <p:spPr>
          <a:xfrm>
            <a:off x="2245873" y="3909804"/>
            <a:ext cx="3048120" cy="1885680"/>
          </a:xfrm>
          <a:prstGeom prst="rect">
            <a:avLst/>
          </a:prstGeom>
          <a:noFill/>
          <a:ln w="0">
            <a:noFill/>
          </a:ln>
        </p:spPr>
      </p:pic>
      <p:pic>
        <p:nvPicPr>
          <p:cNvPr id="9" name="Picture 8">
            <a:extLst>
              <a:ext uri="{FF2B5EF4-FFF2-40B4-BE49-F238E27FC236}">
                <a16:creationId xmlns:a16="http://schemas.microsoft.com/office/drawing/2014/main" id="{1CF0E9CF-226D-95F2-626E-F3A7BCC65A5A}"/>
              </a:ext>
            </a:extLst>
          </p:cNvPr>
          <p:cNvPicPr/>
          <p:nvPr/>
        </p:nvPicPr>
        <p:blipFill>
          <a:blip r:embed="rId3"/>
          <a:stretch/>
        </p:blipFill>
        <p:spPr>
          <a:xfrm>
            <a:off x="5571913" y="3945804"/>
            <a:ext cx="4581720" cy="1819080"/>
          </a:xfrm>
          <a:prstGeom prst="rect">
            <a:avLst/>
          </a:prstGeom>
          <a:noFill/>
          <a:ln w="0">
            <a:noFill/>
          </a:ln>
        </p:spPr>
      </p:pic>
      <p:sp>
        <p:nvSpPr>
          <p:cNvPr id="11" name="TextBox 12">
            <a:extLst>
              <a:ext uri="{FF2B5EF4-FFF2-40B4-BE49-F238E27FC236}">
                <a16:creationId xmlns:a16="http://schemas.microsoft.com/office/drawing/2014/main" id="{65B9A708-0426-1816-218B-153880BE59EB}"/>
              </a:ext>
            </a:extLst>
          </p:cNvPr>
          <p:cNvSpPr/>
          <p:nvPr/>
        </p:nvSpPr>
        <p:spPr>
          <a:xfrm>
            <a:off x="2935273" y="2465124"/>
            <a:ext cx="630180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For each multivalued attribute A, create a new relation R. This relation R will include an attribute corresponding to A, plus the primary key attribute K—as a foreign key in R—of the relation that represents the entity type or relationship type that has A as a multivalued attribute. The primary key of R is the combination of A and K. If the multivalued attribute is composite, we include its simple components.</a:t>
            </a:r>
            <a:endParaRPr lang="en-US" sz="1400" b="0" u="none" strike="noStrike">
              <a:effectLst/>
              <a:uFillTx/>
              <a:latin typeface="Arial"/>
            </a:endParaRPr>
          </a:p>
        </p:txBody>
      </p:sp>
      <p:sp>
        <p:nvSpPr>
          <p:cNvPr id="13" name="TextBox 13">
            <a:extLst>
              <a:ext uri="{FF2B5EF4-FFF2-40B4-BE49-F238E27FC236}">
                <a16:creationId xmlns:a16="http://schemas.microsoft.com/office/drawing/2014/main" id="{CB7183A7-550D-8063-288B-C04E94CD8C58}"/>
              </a:ext>
            </a:extLst>
          </p:cNvPr>
          <p:cNvSpPr/>
          <p:nvPr/>
        </p:nvSpPr>
        <p:spPr>
          <a:xfrm>
            <a:off x="5405593" y="5848404"/>
            <a:ext cx="49147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Dnumber + Dlocation = Primary Key of DEPT_LOCATIONS</a:t>
            </a:r>
            <a:endParaRPr lang="en-US" sz="1400" b="0" u="none" strike="noStrike">
              <a:effectLst/>
              <a:uFillTx/>
              <a:latin typeface="Arial"/>
            </a:endParaRPr>
          </a:p>
        </p:txBody>
      </p:sp>
      <p:sp>
        <p:nvSpPr>
          <p:cNvPr id="4" name="Rectangle 3">
            <a:extLst>
              <a:ext uri="{FF2B5EF4-FFF2-40B4-BE49-F238E27FC236}">
                <a16:creationId xmlns:a16="http://schemas.microsoft.com/office/drawing/2014/main" id="{BA17C6A7-230C-142E-F7DD-657C3FEDA610}"/>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96651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20CA5-AE64-4051-8BA7-10B72EFB9D56}"/>
              </a:ext>
            </a:extLst>
          </p:cNvPr>
          <p:cNvSpPr>
            <a:spLocks noGrp="1"/>
          </p:cNvSpPr>
          <p:nvPr>
            <p:ph type="title"/>
          </p:nvPr>
        </p:nvSpPr>
        <p:spPr/>
        <p:txBody>
          <a:bodyPr/>
          <a:lstStyle/>
          <a:p>
            <a:r>
              <a:rPr lang="en-US" dirty="0"/>
              <a:t>ACID</a:t>
            </a:r>
          </a:p>
        </p:txBody>
      </p:sp>
      <p:sp>
        <p:nvSpPr>
          <p:cNvPr id="5" name="Content Placeholder 4">
            <a:extLst>
              <a:ext uri="{FF2B5EF4-FFF2-40B4-BE49-F238E27FC236}">
                <a16:creationId xmlns:a16="http://schemas.microsoft.com/office/drawing/2014/main" id="{98CD1882-1061-EB68-E128-805BC59D5719}"/>
              </a:ext>
            </a:extLst>
          </p:cNvPr>
          <p:cNvSpPr txBox="1">
            <a:spLocks noGrp="1"/>
          </p:cNvSpPr>
          <p:nvPr>
            <p:ph idx="1"/>
          </p:nvPr>
        </p:nvSpPr>
        <p:spPr>
          <a:xfrm>
            <a:off x="581192" y="2052956"/>
            <a:ext cx="11029615" cy="3933384"/>
          </a:xfrm>
          <a:prstGeom prst="rect">
            <a:avLst/>
          </a:prstGeom>
          <a:noFill/>
        </p:spPr>
        <p:txBody>
          <a:bodyPr wrap="square" rtlCol="0">
            <a:spAutoFit/>
          </a:bodyPr>
          <a:lstStyle/>
          <a:p>
            <a:r>
              <a:rPr lang="en-US" dirty="0">
                <a:solidFill>
                  <a:schemeClr val="accent2"/>
                </a:solidFill>
              </a:rPr>
              <a:t>Atomicity</a:t>
            </a:r>
            <a:r>
              <a:rPr lang="en-US" dirty="0"/>
              <a:t> – Treat a transaction as a single, indivisible unit. Either all operations within the transactions succeed, or none of them do. </a:t>
            </a:r>
          </a:p>
          <a:p>
            <a:endParaRPr lang="en-US" dirty="0"/>
          </a:p>
          <a:p>
            <a:r>
              <a:rPr lang="en-US" dirty="0">
                <a:solidFill>
                  <a:schemeClr val="accent2"/>
                </a:solidFill>
              </a:rPr>
              <a:t>Consistency</a:t>
            </a:r>
            <a:r>
              <a:rPr lang="en-US" dirty="0"/>
              <a:t> – Ensure the database transitions from one valid state to another, adhering to all defined rules, constraints, and triggers.</a:t>
            </a:r>
          </a:p>
          <a:p>
            <a:endParaRPr lang="en-US" dirty="0"/>
          </a:p>
          <a:p>
            <a:r>
              <a:rPr lang="en-US" dirty="0">
                <a:solidFill>
                  <a:schemeClr val="accent2"/>
                </a:solidFill>
              </a:rPr>
              <a:t>Isolation</a:t>
            </a:r>
            <a:r>
              <a:rPr lang="en-US" dirty="0"/>
              <a:t> – Guarantees that concurrent transactions do not interfere with each other, appearing as if they are executed sequentially.</a:t>
            </a:r>
          </a:p>
          <a:p>
            <a:endParaRPr lang="en-US" dirty="0"/>
          </a:p>
          <a:p>
            <a:r>
              <a:rPr lang="en-US" dirty="0">
                <a:solidFill>
                  <a:schemeClr val="accent2"/>
                </a:solidFill>
              </a:rPr>
              <a:t>Durability</a:t>
            </a:r>
            <a:r>
              <a:rPr lang="en-US" dirty="0"/>
              <a:t> – Guarantees that once a transaction is committed, its changes are permanent and service system failures, such as power outages or crashes.</a:t>
            </a:r>
          </a:p>
        </p:txBody>
      </p:sp>
    </p:spTree>
    <p:extLst>
      <p:ext uri="{BB962C8B-B14F-4D97-AF65-F5344CB8AC3E}">
        <p14:creationId xmlns:p14="http://schemas.microsoft.com/office/powerpoint/2010/main" val="1057868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730C1-6BBF-22D4-6DE0-FDF917F5426A}"/>
              </a:ext>
            </a:extLst>
          </p:cNvPr>
          <p:cNvSpPr>
            <a:spLocks noGrp="1"/>
          </p:cNvSpPr>
          <p:nvPr>
            <p:ph type="title"/>
          </p:nvPr>
        </p:nvSpPr>
        <p:spPr/>
        <p:txBody>
          <a:bodyPr/>
          <a:lstStyle/>
          <a:p>
            <a:r>
              <a:rPr lang="en-US" dirty="0"/>
              <a:t>We don’t always want normalization</a:t>
            </a:r>
          </a:p>
        </p:txBody>
      </p:sp>
      <p:sp>
        <p:nvSpPr>
          <p:cNvPr id="5" name="TextBox 2">
            <a:extLst>
              <a:ext uri="{FF2B5EF4-FFF2-40B4-BE49-F238E27FC236}">
                <a16:creationId xmlns:a16="http://schemas.microsoft.com/office/drawing/2014/main" id="{5B328290-5347-8B35-1230-C925CD93DA24}"/>
              </a:ext>
            </a:extLst>
          </p:cNvPr>
          <p:cNvSpPr/>
          <p:nvPr/>
        </p:nvSpPr>
        <p:spPr>
          <a:xfrm>
            <a:off x="4389814" y="2761915"/>
            <a:ext cx="3412372" cy="160020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400" b="0" u="none" strike="noStrike" dirty="0">
                <a:effectLst/>
                <a:uFillTx/>
                <a:latin typeface="Arial"/>
                <a:ea typeface="Arial"/>
              </a:rPr>
              <a:t>OLTP = Online Transaction Processing</a:t>
            </a:r>
            <a:endParaRPr lang="en-US" sz="1400" b="0" u="none" strike="noStrike" dirty="0">
              <a:effectLst/>
              <a:uFillTx/>
              <a:latin typeface="Arial"/>
            </a:endParaRPr>
          </a:p>
          <a:p>
            <a:pPr marL="285840" indent="-285840">
              <a:lnSpc>
                <a:spcPct val="100000"/>
              </a:lnSpc>
              <a:buClr>
                <a:srgbClr val="FFFFFF"/>
              </a:buClr>
              <a:buFont typeface="Wingdings" charset="2"/>
              <a:buChar char=""/>
            </a:pPr>
            <a:r>
              <a:rPr lang="en-US" sz="1400" b="0" u="none" strike="noStrike" dirty="0">
                <a:effectLst/>
                <a:uFillTx/>
                <a:latin typeface="Arial"/>
                <a:ea typeface="Arial"/>
              </a:rPr>
              <a:t>APIs</a:t>
            </a:r>
            <a:endParaRPr lang="en-US" sz="1400" b="0" u="none" strike="noStrike" dirty="0">
              <a:effectLst/>
              <a:uFillTx/>
              <a:latin typeface="Arial"/>
            </a:endParaRPr>
          </a:p>
          <a:p>
            <a:pPr marL="285840" indent="-285840">
              <a:lnSpc>
                <a:spcPct val="100000"/>
              </a:lnSpc>
              <a:buClr>
                <a:srgbClr val="FFFFFF"/>
              </a:buClr>
              <a:buFont typeface="Wingdings" charset="2"/>
              <a:buChar char=""/>
            </a:pPr>
            <a:r>
              <a:rPr lang="en-US" sz="1400" b="0" u="none" strike="noStrike" dirty="0">
                <a:effectLst/>
                <a:uFillTx/>
                <a:latin typeface="Arial"/>
                <a:ea typeface="Arial"/>
              </a:rPr>
              <a:t>Usually very normalized</a:t>
            </a:r>
            <a:br>
              <a:rPr sz="1400" dirty="0"/>
            </a:br>
            <a:r>
              <a:rPr lang="en-US" sz="1400" b="0" u="none" strike="noStrike" dirty="0">
                <a:effectLst/>
                <a:uFillTx/>
                <a:latin typeface="Arial"/>
              </a:rPr>
              <a:t> </a:t>
            </a:r>
          </a:p>
          <a:p>
            <a:pPr>
              <a:lnSpc>
                <a:spcPct val="100000"/>
              </a:lnSpc>
            </a:pPr>
            <a:r>
              <a:rPr lang="en-US" sz="1400" b="0" u="none" strike="noStrike" dirty="0">
                <a:effectLst/>
                <a:uFillTx/>
                <a:latin typeface="Arial"/>
                <a:ea typeface="Arial"/>
              </a:rPr>
              <a:t>OLAP = Online Analytical Processing</a:t>
            </a:r>
            <a:endParaRPr lang="en-US" sz="1400" b="0" u="none" strike="noStrike" dirty="0">
              <a:effectLst/>
              <a:uFillTx/>
              <a:latin typeface="Arial"/>
            </a:endParaRPr>
          </a:p>
          <a:p>
            <a:pPr marL="285840" indent="-285840">
              <a:lnSpc>
                <a:spcPct val="100000"/>
              </a:lnSpc>
              <a:buClr>
                <a:srgbClr val="FFFFFF"/>
              </a:buClr>
              <a:buFont typeface="Wingdings" charset="2"/>
              <a:buChar char=""/>
            </a:pPr>
            <a:r>
              <a:rPr lang="en-US" sz="1400" b="0" u="none" strike="noStrike" dirty="0">
                <a:effectLst/>
                <a:uFillTx/>
                <a:latin typeface="Arial"/>
                <a:ea typeface="Arial"/>
              </a:rPr>
              <a:t>fewer, wider tables</a:t>
            </a:r>
            <a:endParaRPr lang="en-US" sz="1400" b="0" u="none" strike="noStrike" dirty="0">
              <a:effectLst/>
              <a:uFillTx/>
              <a:latin typeface="Arial"/>
            </a:endParaRPr>
          </a:p>
          <a:p>
            <a:pPr marL="285840" indent="-285840">
              <a:lnSpc>
                <a:spcPct val="100000"/>
              </a:lnSpc>
              <a:buClr>
                <a:srgbClr val="FFFFFF"/>
              </a:buClr>
              <a:buFont typeface="Wingdings" charset="2"/>
              <a:buChar char=""/>
            </a:pPr>
            <a:r>
              <a:rPr lang="en-US" sz="1400" b="0" u="none" strike="noStrike" dirty="0">
                <a:effectLst/>
                <a:uFillTx/>
                <a:latin typeface="Arial"/>
                <a:ea typeface="Arial"/>
              </a:rPr>
              <a:t>Usually denormalized</a:t>
            </a:r>
            <a:endParaRPr lang="en-US" sz="1400" b="0" u="none" strike="noStrike" dirty="0">
              <a:effectLst/>
              <a:uFillTx/>
              <a:latin typeface="Arial"/>
            </a:endParaRPr>
          </a:p>
        </p:txBody>
      </p:sp>
      <p:sp>
        <p:nvSpPr>
          <p:cNvPr id="7" name="TextBox 4">
            <a:extLst>
              <a:ext uri="{FF2B5EF4-FFF2-40B4-BE49-F238E27FC236}">
                <a16:creationId xmlns:a16="http://schemas.microsoft.com/office/drawing/2014/main" id="{25A2D95E-B4FF-0C2E-0E51-C77C31B220F2}"/>
              </a:ext>
            </a:extLst>
          </p:cNvPr>
          <p:cNvSpPr/>
          <p:nvPr/>
        </p:nvSpPr>
        <p:spPr>
          <a:xfrm>
            <a:off x="3181440" y="4942024"/>
            <a:ext cx="58291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order_id | order_date | user_country | product_category | revenue</a:t>
            </a:r>
            <a:endParaRPr lang="en-US" sz="1400" b="0" u="none" strike="noStrike">
              <a:effectLst/>
              <a:uFillTx/>
              <a:latin typeface="Arial"/>
            </a:endParaRPr>
          </a:p>
        </p:txBody>
      </p:sp>
      <p:sp>
        <p:nvSpPr>
          <p:cNvPr id="4" name="Rectangle 3">
            <a:extLst>
              <a:ext uri="{FF2B5EF4-FFF2-40B4-BE49-F238E27FC236}">
                <a16:creationId xmlns:a16="http://schemas.microsoft.com/office/drawing/2014/main" id="{39A5C6C8-311F-477F-C26C-E6A8A9B2103A}"/>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97535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2E9DA-EE82-A2A0-95D6-D4B38ECF8E67}"/>
              </a:ext>
            </a:extLst>
          </p:cNvPr>
          <p:cNvSpPr>
            <a:spLocks noGrp="1"/>
          </p:cNvSpPr>
          <p:nvPr>
            <p:ph type="title"/>
          </p:nvPr>
        </p:nvSpPr>
        <p:spPr/>
        <p:txBody>
          <a:bodyPr/>
          <a:lstStyle/>
          <a:p>
            <a:r>
              <a:rPr lang="en-US" dirty="0"/>
              <a:t>Common OLAP Schema Patterns</a:t>
            </a:r>
          </a:p>
        </p:txBody>
      </p:sp>
      <p:sp>
        <p:nvSpPr>
          <p:cNvPr id="5" name="TextBox 2">
            <a:extLst>
              <a:ext uri="{FF2B5EF4-FFF2-40B4-BE49-F238E27FC236}">
                <a16:creationId xmlns:a16="http://schemas.microsoft.com/office/drawing/2014/main" id="{EBF9B683-2820-BB0B-8BD0-66FBDCEEF850}"/>
              </a:ext>
            </a:extLst>
          </p:cNvPr>
          <p:cNvSpPr/>
          <p:nvPr/>
        </p:nvSpPr>
        <p:spPr>
          <a:xfrm>
            <a:off x="1782107" y="2297200"/>
            <a:ext cx="790776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Star Schema = one big fact table in the center, small dimension tables around it</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p:txBody>
      </p:sp>
      <p:sp>
        <p:nvSpPr>
          <p:cNvPr id="7" name="TextBox 3">
            <a:extLst>
              <a:ext uri="{FF2B5EF4-FFF2-40B4-BE49-F238E27FC236}">
                <a16:creationId xmlns:a16="http://schemas.microsoft.com/office/drawing/2014/main" id="{7D7C03D5-5FEA-6307-9921-AF54384E4654}"/>
              </a:ext>
            </a:extLst>
          </p:cNvPr>
          <p:cNvSpPr/>
          <p:nvPr/>
        </p:nvSpPr>
        <p:spPr>
          <a:xfrm>
            <a:off x="1486907" y="2846200"/>
            <a:ext cx="2964960" cy="203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Fact Table = numbers you analyze</a:t>
            </a:r>
            <a:endParaRPr lang="en-US" sz="1400" b="0" u="none" strike="noStrike">
              <a:effectLst/>
              <a:uFillTx/>
              <a:latin typeface="Arial"/>
            </a:endParaRPr>
          </a:p>
          <a:p>
            <a:pPr>
              <a:lnSpc>
                <a:spcPct val="100000"/>
              </a:lnSpc>
            </a:pPr>
            <a:r>
              <a:rPr lang="en-US" sz="1400" b="0" u="none" strike="noStrike">
                <a:effectLst/>
                <a:uFillTx/>
                <a:latin typeface="Arial"/>
                <a:ea typeface="Arial"/>
              </a:rPr>
              <a:t>fact_orders</a:t>
            </a:r>
            <a:endParaRPr lang="en-US" sz="1400" b="0" u="none" strike="noStrike">
              <a:effectLst/>
              <a:uFillTx/>
              <a:latin typeface="Arial"/>
            </a:endParaRPr>
          </a:p>
          <a:p>
            <a:pPr>
              <a:lnSpc>
                <a:spcPct val="100000"/>
              </a:lnSpc>
            </a:pPr>
            <a:r>
              <a:rPr lang="en-US" sz="1400" b="0" u="none" strike="noStrike">
                <a:effectLst/>
                <a:uFillTx/>
                <a:latin typeface="Arial"/>
                <a:ea typeface="Arial"/>
              </a:rPr>
              <a:t>- order_id</a:t>
            </a:r>
            <a:endParaRPr lang="en-US" sz="1400" b="0" u="none" strike="noStrike">
              <a:effectLst/>
              <a:uFillTx/>
              <a:latin typeface="Arial"/>
            </a:endParaRPr>
          </a:p>
          <a:p>
            <a:pPr>
              <a:lnSpc>
                <a:spcPct val="100000"/>
              </a:lnSpc>
            </a:pPr>
            <a:r>
              <a:rPr lang="en-US" sz="1400" b="0" u="none" strike="noStrike">
                <a:effectLst/>
                <a:uFillTx/>
                <a:latin typeface="Arial"/>
                <a:ea typeface="Arial"/>
              </a:rPr>
              <a:t>- user_id</a:t>
            </a:r>
            <a:endParaRPr lang="en-US" sz="1400" b="0" u="none" strike="noStrike">
              <a:effectLst/>
              <a:uFillTx/>
              <a:latin typeface="Arial"/>
            </a:endParaRPr>
          </a:p>
          <a:p>
            <a:pPr>
              <a:lnSpc>
                <a:spcPct val="100000"/>
              </a:lnSpc>
            </a:pPr>
            <a:r>
              <a:rPr lang="en-US" sz="1400" b="0" u="none" strike="noStrike">
                <a:effectLst/>
                <a:uFillTx/>
                <a:latin typeface="Arial"/>
                <a:ea typeface="Arial"/>
              </a:rPr>
              <a:t>- product_id</a:t>
            </a:r>
            <a:endParaRPr lang="en-US" sz="1400" b="0" u="none" strike="noStrike">
              <a:effectLst/>
              <a:uFillTx/>
              <a:latin typeface="Arial"/>
            </a:endParaRPr>
          </a:p>
          <a:p>
            <a:pPr>
              <a:lnSpc>
                <a:spcPct val="100000"/>
              </a:lnSpc>
            </a:pPr>
            <a:r>
              <a:rPr lang="en-US" sz="1400" b="0" u="none" strike="noStrike">
                <a:effectLst/>
                <a:uFillTx/>
                <a:latin typeface="Arial"/>
                <a:ea typeface="Arial"/>
              </a:rPr>
              <a:t>- date_id</a:t>
            </a:r>
            <a:endParaRPr lang="en-US" sz="1400" b="0" u="none" strike="noStrike">
              <a:effectLst/>
              <a:uFillTx/>
              <a:latin typeface="Arial"/>
            </a:endParaRPr>
          </a:p>
          <a:p>
            <a:pPr>
              <a:lnSpc>
                <a:spcPct val="100000"/>
              </a:lnSpc>
            </a:pPr>
            <a:r>
              <a:rPr lang="en-US" sz="1400" b="0" u="none" strike="noStrike">
                <a:effectLst/>
                <a:uFillTx/>
                <a:latin typeface="Arial"/>
                <a:ea typeface="Arial"/>
              </a:rPr>
              <a:t>- revenue</a:t>
            </a:r>
            <a:endParaRPr lang="en-US" sz="1400" b="0" u="none" strike="noStrike">
              <a:effectLst/>
              <a:uFillTx/>
              <a:latin typeface="Arial"/>
            </a:endParaRPr>
          </a:p>
          <a:p>
            <a:pPr>
              <a:lnSpc>
                <a:spcPct val="100000"/>
              </a:lnSpc>
            </a:pPr>
            <a:r>
              <a:rPr lang="en-US" sz="1400" b="0" u="none" strike="noStrike">
                <a:effectLst/>
                <a:uFillTx/>
                <a:latin typeface="Arial"/>
                <a:ea typeface="Arial"/>
              </a:rPr>
              <a:t>- quantity</a:t>
            </a:r>
            <a:endParaRPr lang="en-US" sz="1400" b="0" u="none" strike="noStrike">
              <a:effectLst/>
              <a:uFillTx/>
              <a:latin typeface="Arial"/>
            </a:endParaRPr>
          </a:p>
          <a:p>
            <a:pPr>
              <a:lnSpc>
                <a:spcPct val="100000"/>
              </a:lnSpc>
            </a:pPr>
            <a:endParaRPr lang="en-US" sz="1400" b="0" u="none" strike="noStrike">
              <a:effectLst/>
              <a:uFillTx/>
              <a:latin typeface="Arial"/>
            </a:endParaRPr>
          </a:p>
        </p:txBody>
      </p:sp>
      <p:sp>
        <p:nvSpPr>
          <p:cNvPr id="9" name="TextBox 5">
            <a:extLst>
              <a:ext uri="{FF2B5EF4-FFF2-40B4-BE49-F238E27FC236}">
                <a16:creationId xmlns:a16="http://schemas.microsoft.com/office/drawing/2014/main" id="{1E96B940-1444-E805-9A92-7EA3677BA5DB}"/>
              </a:ext>
            </a:extLst>
          </p:cNvPr>
          <p:cNvSpPr/>
          <p:nvPr/>
        </p:nvSpPr>
        <p:spPr>
          <a:xfrm>
            <a:off x="1164347" y="5053360"/>
            <a:ext cx="457164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Dimension tables:</a:t>
            </a:r>
            <a:br>
              <a:rPr sz="1400"/>
            </a:br>
            <a:r>
              <a:rPr lang="en-US" sz="1400" b="0" u="none" strike="noStrike">
                <a:effectLst/>
                <a:uFillTx/>
                <a:latin typeface="Arial"/>
                <a:ea typeface="Arial"/>
              </a:rPr>
              <a:t>dim_users(user_id, country, age)</a:t>
            </a:r>
            <a:endParaRPr lang="en-US" sz="1400" b="0" u="none" strike="noStrike">
              <a:effectLst/>
              <a:uFillTx/>
              <a:latin typeface="Arial"/>
            </a:endParaRPr>
          </a:p>
          <a:p>
            <a:pPr>
              <a:lnSpc>
                <a:spcPct val="100000"/>
              </a:lnSpc>
            </a:pPr>
            <a:r>
              <a:rPr lang="en-US" sz="1400" b="0" u="none" strike="noStrike">
                <a:effectLst/>
                <a:uFillTx/>
                <a:latin typeface="Arial"/>
                <a:ea typeface="Arial"/>
              </a:rPr>
              <a:t>dim_products(product_id, category, brand)</a:t>
            </a:r>
            <a:endParaRPr lang="en-US" sz="1400" b="0" u="none" strike="noStrike">
              <a:effectLst/>
              <a:uFillTx/>
              <a:latin typeface="Arial"/>
            </a:endParaRPr>
          </a:p>
          <a:p>
            <a:pPr>
              <a:lnSpc>
                <a:spcPct val="100000"/>
              </a:lnSpc>
            </a:pPr>
            <a:r>
              <a:rPr lang="en-US" sz="1400" b="0" u="none" strike="noStrike">
                <a:effectLst/>
                <a:uFillTx/>
                <a:latin typeface="Arial"/>
                <a:ea typeface="Arial"/>
              </a:rPr>
              <a:t>dim_time(date_id, day, month, year)</a:t>
            </a:r>
            <a:endParaRPr lang="en-US" sz="1400" b="0" u="none" strike="noStrike">
              <a:effectLst/>
              <a:uFillTx/>
              <a:latin typeface="Arial"/>
            </a:endParaRPr>
          </a:p>
        </p:txBody>
      </p:sp>
      <p:pic>
        <p:nvPicPr>
          <p:cNvPr id="11" name="Picture 7">
            <a:extLst>
              <a:ext uri="{FF2B5EF4-FFF2-40B4-BE49-F238E27FC236}">
                <a16:creationId xmlns:a16="http://schemas.microsoft.com/office/drawing/2014/main" id="{36904DD5-05A1-99AB-8D40-13EAF61AE51D}"/>
              </a:ext>
            </a:extLst>
          </p:cNvPr>
          <p:cNvPicPr/>
          <p:nvPr/>
        </p:nvPicPr>
        <p:blipFill>
          <a:blip r:embed="rId2"/>
          <a:stretch/>
        </p:blipFill>
        <p:spPr>
          <a:xfrm>
            <a:off x="5735987" y="2871405"/>
            <a:ext cx="4453920" cy="3273120"/>
          </a:xfrm>
          <a:prstGeom prst="rect">
            <a:avLst/>
          </a:prstGeom>
          <a:noFill/>
          <a:ln w="0">
            <a:noFill/>
          </a:ln>
        </p:spPr>
      </p:pic>
      <p:sp>
        <p:nvSpPr>
          <p:cNvPr id="4" name="Rectangle 3">
            <a:extLst>
              <a:ext uri="{FF2B5EF4-FFF2-40B4-BE49-F238E27FC236}">
                <a16:creationId xmlns:a16="http://schemas.microsoft.com/office/drawing/2014/main" id="{D03A7779-F03B-ECF0-CC42-1E10BFE4CFFC}"/>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96095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AB370-F591-0DBE-A5FD-89CA70DE111C}"/>
              </a:ext>
            </a:extLst>
          </p:cNvPr>
          <p:cNvSpPr>
            <a:spLocks noGrp="1"/>
          </p:cNvSpPr>
          <p:nvPr>
            <p:ph type="title"/>
          </p:nvPr>
        </p:nvSpPr>
        <p:spPr/>
        <p:txBody>
          <a:bodyPr/>
          <a:lstStyle/>
          <a:p>
            <a:r>
              <a:rPr lang="en-US" dirty="0"/>
              <a:t>Common OLAP Schema Patterns</a:t>
            </a:r>
          </a:p>
        </p:txBody>
      </p:sp>
      <p:sp>
        <p:nvSpPr>
          <p:cNvPr id="5" name="TextBox 2">
            <a:extLst>
              <a:ext uri="{FF2B5EF4-FFF2-40B4-BE49-F238E27FC236}">
                <a16:creationId xmlns:a16="http://schemas.microsoft.com/office/drawing/2014/main" id="{FDA90005-2D65-8D62-B028-9FFFBBDED9A6}"/>
              </a:ext>
            </a:extLst>
          </p:cNvPr>
          <p:cNvSpPr/>
          <p:nvPr/>
        </p:nvSpPr>
        <p:spPr>
          <a:xfrm>
            <a:off x="2527320" y="3122605"/>
            <a:ext cx="7137360" cy="116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Wide Fact Tables – ‘flatten everything into one big table’ (takes more storage space)</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err="1">
                <a:effectLst/>
                <a:uFillTx/>
                <a:latin typeface="Arial"/>
                <a:ea typeface="Arial"/>
              </a:rPr>
              <a:t>order_id</a:t>
            </a:r>
            <a:r>
              <a:rPr lang="en-US" sz="1400" b="0" u="none" strike="noStrike" dirty="0">
                <a:effectLst/>
                <a:uFillTx/>
                <a:latin typeface="Arial"/>
                <a:ea typeface="Arial"/>
              </a:rPr>
              <a:t> | </a:t>
            </a:r>
            <a:r>
              <a:rPr lang="en-US" sz="1400" b="0" u="none" strike="noStrike" dirty="0" err="1">
                <a:effectLst/>
                <a:uFillTx/>
                <a:latin typeface="Arial"/>
                <a:ea typeface="Arial"/>
              </a:rPr>
              <a:t>order_date</a:t>
            </a:r>
            <a:r>
              <a:rPr lang="en-US" sz="1400" b="0" u="none" strike="noStrike" dirty="0">
                <a:effectLst/>
                <a:uFillTx/>
                <a:latin typeface="Arial"/>
                <a:ea typeface="Arial"/>
              </a:rPr>
              <a:t> | </a:t>
            </a:r>
            <a:r>
              <a:rPr lang="en-US" sz="1400" b="0" u="none" strike="noStrike" dirty="0" err="1">
                <a:effectLst/>
                <a:uFillTx/>
                <a:latin typeface="Arial"/>
                <a:ea typeface="Arial"/>
              </a:rPr>
              <a:t>user_id</a:t>
            </a:r>
            <a:r>
              <a:rPr lang="en-US" sz="1400" b="0" u="none" strike="noStrike" dirty="0">
                <a:effectLst/>
                <a:uFillTx/>
                <a:latin typeface="Arial"/>
                <a:ea typeface="Arial"/>
              </a:rPr>
              <a:t> | </a:t>
            </a:r>
            <a:r>
              <a:rPr lang="en-US" sz="1400" b="0" u="none" strike="noStrike" dirty="0" err="1">
                <a:effectLst/>
                <a:uFillTx/>
                <a:latin typeface="Arial"/>
                <a:ea typeface="Arial"/>
              </a:rPr>
              <a:t>user_country</a:t>
            </a:r>
            <a:r>
              <a:rPr lang="en-US" sz="1400" b="0" u="none" strike="noStrike" dirty="0">
                <a:effectLst/>
                <a:uFillTx/>
                <a:latin typeface="Arial"/>
                <a:ea typeface="Arial"/>
              </a:rPr>
              <a:t> |</a:t>
            </a:r>
            <a:endParaRPr lang="en-US" sz="1400" b="0" u="none" strike="noStrike" dirty="0">
              <a:effectLst/>
              <a:uFillTx/>
              <a:latin typeface="Arial"/>
            </a:endParaRPr>
          </a:p>
          <a:p>
            <a:pPr>
              <a:lnSpc>
                <a:spcPct val="100000"/>
              </a:lnSpc>
            </a:pPr>
            <a:r>
              <a:rPr lang="en-US" sz="1400" b="0" u="none" strike="noStrike" dirty="0" err="1">
                <a:effectLst/>
                <a:uFillTx/>
                <a:latin typeface="Arial"/>
                <a:ea typeface="Arial"/>
              </a:rPr>
              <a:t>product_id</a:t>
            </a:r>
            <a:r>
              <a:rPr lang="en-US" sz="1400" b="0" u="none" strike="noStrike" dirty="0">
                <a:effectLst/>
                <a:uFillTx/>
                <a:latin typeface="Arial"/>
                <a:ea typeface="Arial"/>
              </a:rPr>
              <a:t> | </a:t>
            </a:r>
            <a:r>
              <a:rPr lang="en-US" sz="1400" b="0" u="none" strike="noStrike" dirty="0" err="1">
                <a:effectLst/>
                <a:uFillTx/>
                <a:latin typeface="Arial"/>
                <a:ea typeface="Arial"/>
              </a:rPr>
              <a:t>product_category</a:t>
            </a:r>
            <a:r>
              <a:rPr lang="en-US" sz="1400" b="0" u="none" strike="noStrike" dirty="0">
                <a:effectLst/>
                <a:uFillTx/>
                <a:latin typeface="Arial"/>
                <a:ea typeface="Arial"/>
              </a:rPr>
              <a:t> | price | quantity | revenue</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p:txBody>
      </p:sp>
      <p:sp>
        <p:nvSpPr>
          <p:cNvPr id="4" name="Rectangle 3">
            <a:extLst>
              <a:ext uri="{FF2B5EF4-FFF2-40B4-BE49-F238E27FC236}">
                <a16:creationId xmlns:a16="http://schemas.microsoft.com/office/drawing/2014/main" id="{7189FCCA-E528-9AF0-B5AC-E0B1C4FC87C9}"/>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2598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8147E-462D-3C2D-2A7A-B4E76CB8B578}"/>
              </a:ext>
            </a:extLst>
          </p:cNvPr>
          <p:cNvSpPr>
            <a:spLocks noGrp="1"/>
          </p:cNvSpPr>
          <p:nvPr>
            <p:ph type="title"/>
          </p:nvPr>
        </p:nvSpPr>
        <p:spPr/>
        <p:txBody>
          <a:bodyPr/>
          <a:lstStyle/>
          <a:p>
            <a:r>
              <a:rPr lang="en-US" dirty="0"/>
              <a:t>Common OLAP Schema Patterns</a:t>
            </a:r>
          </a:p>
        </p:txBody>
      </p:sp>
      <p:pic>
        <p:nvPicPr>
          <p:cNvPr id="5" name="Picture 3">
            <a:extLst>
              <a:ext uri="{FF2B5EF4-FFF2-40B4-BE49-F238E27FC236}">
                <a16:creationId xmlns:a16="http://schemas.microsoft.com/office/drawing/2014/main" id="{7EB87AA4-E0A1-BD04-F159-9B217621B495}"/>
              </a:ext>
            </a:extLst>
          </p:cNvPr>
          <p:cNvPicPr>
            <a:picLocks noGrp="1"/>
          </p:cNvPicPr>
          <p:nvPr>
            <p:ph idx="1"/>
          </p:nvPr>
        </p:nvPicPr>
        <p:blipFill>
          <a:blip r:embed="rId2"/>
          <a:stretch/>
        </p:blipFill>
        <p:spPr>
          <a:xfrm>
            <a:off x="2673928" y="1999292"/>
            <a:ext cx="6844144" cy="4439888"/>
          </a:xfrm>
          <a:prstGeom prst="rect">
            <a:avLst/>
          </a:prstGeom>
          <a:noFill/>
          <a:ln w="0">
            <a:noFill/>
          </a:ln>
        </p:spPr>
      </p:pic>
      <p:sp>
        <p:nvSpPr>
          <p:cNvPr id="4" name="Rectangle 3">
            <a:extLst>
              <a:ext uri="{FF2B5EF4-FFF2-40B4-BE49-F238E27FC236}">
                <a16:creationId xmlns:a16="http://schemas.microsoft.com/office/drawing/2014/main" id="{145FEEAD-34C5-87B5-1931-C62AFC5C50AC}"/>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00766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70560-0870-882B-8551-CCF8D666A325}"/>
              </a:ext>
            </a:extLst>
          </p:cNvPr>
          <p:cNvSpPr>
            <a:spLocks noGrp="1"/>
          </p:cNvSpPr>
          <p:nvPr>
            <p:ph type="title"/>
          </p:nvPr>
        </p:nvSpPr>
        <p:spPr/>
        <p:txBody>
          <a:bodyPr/>
          <a:lstStyle/>
          <a:p>
            <a:r>
              <a:rPr lang="en-US" dirty="0"/>
              <a:t>Chinook DB</a:t>
            </a:r>
          </a:p>
        </p:txBody>
      </p:sp>
      <p:pic>
        <p:nvPicPr>
          <p:cNvPr id="5" name="Picture 7">
            <a:extLst>
              <a:ext uri="{FF2B5EF4-FFF2-40B4-BE49-F238E27FC236}">
                <a16:creationId xmlns:a16="http://schemas.microsoft.com/office/drawing/2014/main" id="{11643FA6-D6F4-EEFC-4BFD-B97A6963DAF7}"/>
              </a:ext>
            </a:extLst>
          </p:cNvPr>
          <p:cNvPicPr>
            <a:picLocks noGrp="1"/>
          </p:cNvPicPr>
          <p:nvPr>
            <p:ph idx="1"/>
          </p:nvPr>
        </p:nvPicPr>
        <p:blipFill>
          <a:blip r:embed="rId2"/>
          <a:stretch/>
        </p:blipFill>
        <p:spPr>
          <a:xfrm>
            <a:off x="811368" y="2025049"/>
            <a:ext cx="6697010" cy="4439888"/>
          </a:xfrm>
          <a:prstGeom prst="rect">
            <a:avLst/>
          </a:prstGeom>
          <a:noFill/>
          <a:ln w="0">
            <a:noFill/>
          </a:ln>
        </p:spPr>
      </p:pic>
      <p:sp>
        <p:nvSpPr>
          <p:cNvPr id="7" name="TextBox 5">
            <a:extLst>
              <a:ext uri="{FF2B5EF4-FFF2-40B4-BE49-F238E27FC236}">
                <a16:creationId xmlns:a16="http://schemas.microsoft.com/office/drawing/2014/main" id="{9E037236-9382-0B69-1437-4C8A36305D22}"/>
              </a:ext>
            </a:extLst>
          </p:cNvPr>
          <p:cNvSpPr/>
          <p:nvPr/>
        </p:nvSpPr>
        <p:spPr>
          <a:xfrm>
            <a:off x="7782323" y="3940935"/>
            <a:ext cx="3828485" cy="138354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400" b="0" u="none" strike="noStrike" dirty="0">
                <a:solidFill>
                  <a:srgbClr val="000000"/>
                </a:solidFill>
                <a:effectLst/>
                <a:uFillTx/>
                <a:latin typeface="Arial"/>
                <a:ea typeface="Arial"/>
                <a:hlinkClick r:id="rId3"/>
              </a:rPr>
              <a:t>https://github.com/lerocha/chinook-database</a:t>
            </a:r>
            <a:endParaRPr lang="en-US" sz="1400" b="0" u="none" strike="noStrike" dirty="0">
              <a:solidFill>
                <a:srgbClr val="000000"/>
              </a:solidFill>
              <a:effectLst/>
              <a:uFillTx/>
              <a:latin typeface="Arial"/>
              <a:ea typeface="Arial"/>
            </a:endParaRPr>
          </a:p>
          <a:p>
            <a:pPr>
              <a:lnSpc>
                <a:spcPct val="100000"/>
              </a:lnSpc>
            </a:pPr>
            <a:endParaRPr lang="en-US" sz="1400" dirty="0">
              <a:solidFill>
                <a:srgbClr val="000000"/>
              </a:solidFill>
              <a:latin typeface="Arial"/>
            </a:endParaRPr>
          </a:p>
          <a:p>
            <a:pPr>
              <a:lnSpc>
                <a:spcPct val="100000"/>
              </a:lnSpc>
            </a:pPr>
            <a:r>
              <a:rPr lang="en-US" sz="1400" dirty="0">
                <a:solidFill>
                  <a:srgbClr val="000000"/>
                </a:solidFill>
                <a:latin typeface="Arial"/>
              </a:rPr>
              <a:t>I’ve provided a modified version in your course materials. Ensure that the ‘chinook’ </a:t>
            </a:r>
            <a:r>
              <a:rPr lang="en-US" sz="1400" dirty="0" err="1">
                <a:solidFill>
                  <a:srgbClr val="000000"/>
                </a:solidFill>
                <a:latin typeface="Arial"/>
              </a:rPr>
              <a:t>db</a:t>
            </a:r>
            <a:r>
              <a:rPr lang="en-US" sz="1400" dirty="0">
                <a:solidFill>
                  <a:srgbClr val="000000"/>
                </a:solidFill>
                <a:latin typeface="Arial"/>
              </a:rPr>
              <a:t> is selected before executing the </a:t>
            </a:r>
            <a:r>
              <a:rPr lang="en-US" sz="1400" dirty="0" err="1">
                <a:solidFill>
                  <a:srgbClr val="000000"/>
                </a:solidFill>
                <a:latin typeface="Arial"/>
              </a:rPr>
              <a:t>sql</a:t>
            </a:r>
            <a:r>
              <a:rPr lang="en-US" sz="1400" dirty="0">
                <a:solidFill>
                  <a:srgbClr val="000000"/>
                </a:solidFill>
                <a:latin typeface="Arial"/>
              </a:rPr>
              <a:t> file NOT the default ‘</a:t>
            </a:r>
            <a:r>
              <a:rPr lang="en-US" sz="1400" dirty="0" err="1">
                <a:solidFill>
                  <a:srgbClr val="000000"/>
                </a:solidFill>
                <a:latin typeface="Arial"/>
              </a:rPr>
              <a:t>postgres</a:t>
            </a:r>
            <a:r>
              <a:rPr lang="en-US" sz="1400" dirty="0">
                <a:solidFill>
                  <a:srgbClr val="000000"/>
                </a:solidFill>
                <a:latin typeface="Arial"/>
              </a:rPr>
              <a:t>’ </a:t>
            </a:r>
            <a:r>
              <a:rPr lang="en-US" sz="1400" dirty="0" err="1">
                <a:solidFill>
                  <a:srgbClr val="000000"/>
                </a:solidFill>
                <a:latin typeface="Arial"/>
              </a:rPr>
              <a:t>db</a:t>
            </a:r>
            <a:r>
              <a:rPr lang="en-US" sz="1400" dirty="0">
                <a:solidFill>
                  <a:srgbClr val="000000"/>
                </a:solidFill>
                <a:latin typeface="Arial"/>
              </a:rPr>
              <a:t>!</a:t>
            </a:r>
            <a:endParaRPr lang="en-US" sz="1400" b="0" u="none" strike="noStrike" dirty="0">
              <a:solidFill>
                <a:srgbClr val="FFFFFF"/>
              </a:solidFill>
              <a:effectLst/>
              <a:uFillTx/>
              <a:latin typeface="Arial"/>
            </a:endParaRPr>
          </a:p>
        </p:txBody>
      </p:sp>
      <p:sp>
        <p:nvSpPr>
          <p:cNvPr id="4" name="Rectangle 3">
            <a:extLst>
              <a:ext uri="{FF2B5EF4-FFF2-40B4-BE49-F238E27FC236}">
                <a16:creationId xmlns:a16="http://schemas.microsoft.com/office/drawing/2014/main" id="{C3968FD6-8DD4-9E36-1F68-4A56FD2E825B}"/>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19991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92F2-BD3F-5502-960E-3CFF35778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D234C-D59D-E997-1AA0-D508BFFD3CB6}"/>
              </a:ext>
            </a:extLst>
          </p:cNvPr>
          <p:cNvSpPr>
            <a:spLocks noGrp="1"/>
          </p:cNvSpPr>
          <p:nvPr>
            <p:ph type="title"/>
          </p:nvPr>
        </p:nvSpPr>
        <p:spPr/>
        <p:txBody>
          <a:bodyPr/>
          <a:lstStyle/>
          <a:p>
            <a:r>
              <a:rPr lang="en-US" dirty="0"/>
              <a:t>Team Challenge – ERD</a:t>
            </a:r>
          </a:p>
        </p:txBody>
      </p:sp>
      <p:sp>
        <p:nvSpPr>
          <p:cNvPr id="6" name="TextBox 5">
            <a:extLst>
              <a:ext uri="{FF2B5EF4-FFF2-40B4-BE49-F238E27FC236}">
                <a16:creationId xmlns:a16="http://schemas.microsoft.com/office/drawing/2014/main" id="{2DE50FF0-C783-F3C0-044D-2F094F317804}"/>
              </a:ext>
            </a:extLst>
          </p:cNvPr>
          <p:cNvSpPr txBox="1"/>
          <p:nvPr/>
        </p:nvSpPr>
        <p:spPr>
          <a:xfrm>
            <a:off x="683283" y="2014799"/>
            <a:ext cx="2738442" cy="369332"/>
          </a:xfrm>
          <a:prstGeom prst="rect">
            <a:avLst/>
          </a:prstGeom>
          <a:noFill/>
        </p:spPr>
        <p:txBody>
          <a:bodyPr wrap="none" rtlCol="0">
            <a:spAutoFit/>
          </a:bodyPr>
          <a:lstStyle/>
          <a:p>
            <a:r>
              <a:rPr lang="en-US" b="1" dirty="0"/>
              <a:t>Business Requirements:</a:t>
            </a:r>
          </a:p>
        </p:txBody>
      </p:sp>
      <p:sp>
        <p:nvSpPr>
          <p:cNvPr id="8" name="Content Placeholder 2">
            <a:extLst>
              <a:ext uri="{FF2B5EF4-FFF2-40B4-BE49-F238E27FC236}">
                <a16:creationId xmlns:a16="http://schemas.microsoft.com/office/drawing/2014/main" id="{61B443B1-E14C-64AB-9E9D-75FFCF923C2B}"/>
              </a:ext>
            </a:extLst>
          </p:cNvPr>
          <p:cNvSpPr txBox="1">
            <a:spLocks/>
          </p:cNvSpPr>
          <p:nvPr/>
        </p:nvSpPr>
        <p:spPr>
          <a:xfrm>
            <a:off x="424617" y="2455742"/>
            <a:ext cx="4661642" cy="3924799"/>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0">
              <a:spcBef>
                <a:spcPts val="0"/>
              </a:spcBef>
              <a:spcAft>
                <a:spcPts val="0"/>
              </a:spcAft>
            </a:pPr>
            <a:r>
              <a:rPr lang="en-US" sz="1200" dirty="0"/>
              <a:t>A bank has multiple </a:t>
            </a:r>
            <a:r>
              <a:rPr lang="en-US" sz="1200" b="1" dirty="0"/>
              <a:t>branches</a:t>
            </a:r>
            <a:r>
              <a:rPr lang="en-US" sz="1200" dirty="0"/>
              <a:t>.</a:t>
            </a:r>
          </a:p>
          <a:p>
            <a:pPr lvl="0">
              <a:spcBef>
                <a:spcPts val="0"/>
              </a:spcBef>
              <a:spcAft>
                <a:spcPts val="0"/>
              </a:spcAft>
            </a:pPr>
            <a:r>
              <a:rPr lang="en-US" sz="1200" dirty="0"/>
              <a:t>Each branch has a unique branch ID, name, address, and phone number.</a:t>
            </a:r>
          </a:p>
          <a:p>
            <a:pPr lvl="0">
              <a:spcBef>
                <a:spcPts val="0"/>
              </a:spcBef>
              <a:spcAft>
                <a:spcPts val="0"/>
              </a:spcAft>
            </a:pPr>
            <a:r>
              <a:rPr lang="en-US" sz="1200" dirty="0"/>
              <a:t>The bank has many </a:t>
            </a:r>
            <a:r>
              <a:rPr lang="en-US" sz="1200" b="1" dirty="0"/>
              <a:t>customers</a:t>
            </a:r>
            <a:r>
              <a:rPr lang="en-US" sz="1200" dirty="0"/>
              <a:t>.</a:t>
            </a:r>
          </a:p>
          <a:p>
            <a:pPr lvl="0">
              <a:spcBef>
                <a:spcPts val="0"/>
              </a:spcBef>
              <a:spcAft>
                <a:spcPts val="0"/>
              </a:spcAft>
            </a:pPr>
            <a:r>
              <a:rPr lang="en-US" sz="1200" dirty="0"/>
              <a:t>A customer has a customer ID, name, date of birth, email, phone number, and address.</a:t>
            </a:r>
          </a:p>
          <a:p>
            <a:pPr lvl="0">
              <a:spcBef>
                <a:spcPts val="0"/>
              </a:spcBef>
              <a:spcAft>
                <a:spcPts val="0"/>
              </a:spcAft>
            </a:pPr>
            <a:r>
              <a:rPr lang="en-US" sz="1200" dirty="0"/>
              <a:t>A customer may have multiple </a:t>
            </a:r>
            <a:r>
              <a:rPr lang="en-US" sz="1200" b="1" dirty="0"/>
              <a:t>accounts</a:t>
            </a:r>
            <a:r>
              <a:rPr lang="en-US" sz="1200" dirty="0"/>
              <a:t>.</a:t>
            </a:r>
          </a:p>
          <a:p>
            <a:pPr lvl="0">
              <a:spcBef>
                <a:spcPts val="0"/>
              </a:spcBef>
              <a:spcAft>
                <a:spcPts val="0"/>
              </a:spcAft>
            </a:pPr>
            <a:r>
              <a:rPr lang="en-US" sz="1200" dirty="0"/>
              <a:t>An account belongs to one or more customers. For example, a checking account could be jointly owned by two people.</a:t>
            </a:r>
          </a:p>
          <a:p>
            <a:pPr lvl="0">
              <a:spcBef>
                <a:spcPts val="0"/>
              </a:spcBef>
              <a:spcAft>
                <a:spcPts val="0"/>
              </a:spcAft>
            </a:pPr>
            <a:r>
              <a:rPr lang="en-US" sz="1200" dirty="0"/>
              <a:t>Each account has an account number, account type, date opened, balance, and status.</a:t>
            </a:r>
          </a:p>
          <a:p>
            <a:pPr lvl="0">
              <a:spcBef>
                <a:spcPts val="0"/>
              </a:spcBef>
              <a:spcAft>
                <a:spcPts val="0"/>
              </a:spcAft>
            </a:pPr>
            <a:r>
              <a:rPr lang="en-US" sz="1200" dirty="0"/>
              <a:t>Accounts are associated with a specific branch.</a:t>
            </a:r>
          </a:p>
          <a:p>
            <a:pPr lvl="0">
              <a:spcBef>
                <a:spcPts val="0"/>
              </a:spcBef>
              <a:spcAft>
                <a:spcPts val="0"/>
              </a:spcAft>
            </a:pPr>
            <a:r>
              <a:rPr lang="en-US" sz="1200" dirty="0"/>
              <a:t>The bank supports several account types, such as:</a:t>
            </a:r>
          </a:p>
          <a:p>
            <a:pPr lvl="1">
              <a:spcBef>
                <a:spcPts val="0"/>
              </a:spcBef>
              <a:spcAft>
                <a:spcPts val="0"/>
              </a:spcAft>
            </a:pPr>
            <a:r>
              <a:rPr lang="en-US" sz="1200" dirty="0"/>
              <a:t>Checking</a:t>
            </a:r>
          </a:p>
          <a:p>
            <a:pPr lvl="1">
              <a:spcBef>
                <a:spcPts val="0"/>
              </a:spcBef>
              <a:spcAft>
                <a:spcPts val="0"/>
              </a:spcAft>
            </a:pPr>
            <a:r>
              <a:rPr lang="en-US" sz="1200" dirty="0"/>
              <a:t>Savings</a:t>
            </a:r>
          </a:p>
          <a:p>
            <a:pPr lvl="1">
              <a:spcBef>
                <a:spcPts val="0"/>
              </a:spcBef>
              <a:spcAft>
                <a:spcPts val="0"/>
              </a:spcAft>
            </a:pPr>
            <a:r>
              <a:rPr lang="en-US" sz="1200" dirty="0"/>
              <a:t>Money Market</a:t>
            </a:r>
          </a:p>
          <a:p>
            <a:pPr lvl="1">
              <a:spcBef>
                <a:spcPts val="0"/>
              </a:spcBef>
              <a:spcAft>
                <a:spcPts val="0"/>
              </a:spcAft>
            </a:pPr>
            <a:r>
              <a:rPr lang="en-US" sz="1200" dirty="0"/>
              <a:t>Certificate of Deposit (CD)</a:t>
            </a:r>
          </a:p>
          <a:p>
            <a:pPr lvl="0">
              <a:spcBef>
                <a:spcPts val="0"/>
              </a:spcBef>
              <a:spcAft>
                <a:spcPts val="0"/>
              </a:spcAft>
            </a:pPr>
            <a:r>
              <a:rPr lang="en-US" sz="1200" dirty="0"/>
              <a:t>Customers can make </a:t>
            </a:r>
            <a:r>
              <a:rPr lang="en-US" sz="1200" b="1" dirty="0"/>
              <a:t>transactions</a:t>
            </a:r>
            <a:r>
              <a:rPr lang="en-US" sz="1200" dirty="0"/>
              <a:t> against their accounts.</a:t>
            </a:r>
          </a:p>
          <a:p>
            <a:pPr lvl="0">
              <a:spcBef>
                <a:spcPts val="0"/>
              </a:spcBef>
              <a:spcAft>
                <a:spcPts val="0"/>
              </a:spcAft>
            </a:pPr>
            <a:r>
              <a:rPr lang="en-US" sz="1200" dirty="0"/>
              <a:t>Each transaction has a transaction ID, date/time, amount, transaction type, and description.</a:t>
            </a:r>
          </a:p>
        </p:txBody>
      </p:sp>
      <p:sp>
        <p:nvSpPr>
          <p:cNvPr id="10" name="TextBox 9">
            <a:extLst>
              <a:ext uri="{FF2B5EF4-FFF2-40B4-BE49-F238E27FC236}">
                <a16:creationId xmlns:a16="http://schemas.microsoft.com/office/drawing/2014/main" id="{36D83B7A-3D4D-3D65-0B91-D28AE964F364}"/>
              </a:ext>
            </a:extLst>
          </p:cNvPr>
          <p:cNvSpPr txBox="1"/>
          <p:nvPr/>
        </p:nvSpPr>
        <p:spPr>
          <a:xfrm>
            <a:off x="5202998" y="2455742"/>
            <a:ext cx="6097044" cy="2492990"/>
          </a:xfrm>
          <a:prstGeom prst="rect">
            <a:avLst/>
          </a:prstGeom>
          <a:noFill/>
        </p:spPr>
        <p:txBody>
          <a:bodyPr wrap="square">
            <a:spAutoFit/>
          </a:bodyPr>
          <a:lstStyle/>
          <a:p>
            <a:pPr marL="171450" lvl="0" indent="-171450">
              <a:spcBef>
                <a:spcPts val="0"/>
              </a:spcBef>
              <a:spcAft>
                <a:spcPts val="0"/>
              </a:spcAft>
              <a:buClr>
                <a:schemeClr val="accent2"/>
              </a:buClr>
              <a:buFont typeface="Wingdings" panose="05000000000000000000" pitchFamily="2" charset="2"/>
              <a:buChar char="§"/>
            </a:pPr>
            <a:r>
              <a:rPr lang="en-US" sz="1200" dirty="0"/>
              <a:t>Transaction types include deposits, withdrawals, transfers, and fees.</a:t>
            </a:r>
          </a:p>
          <a:p>
            <a:pPr marL="171450" lvl="0" indent="-171450">
              <a:spcBef>
                <a:spcPts val="0"/>
              </a:spcBef>
              <a:spcAft>
                <a:spcPts val="0"/>
              </a:spcAft>
              <a:buClr>
                <a:schemeClr val="accent2"/>
              </a:buClr>
              <a:buFont typeface="Wingdings" panose="05000000000000000000" pitchFamily="2" charset="2"/>
              <a:buChar char="§"/>
            </a:pPr>
            <a:r>
              <a:rPr lang="en-US" sz="1200" dirty="0"/>
              <a:t>A transfer can involve both a </a:t>
            </a:r>
            <a:r>
              <a:rPr lang="en-US" sz="1200" b="1" dirty="0"/>
              <a:t>source account</a:t>
            </a:r>
            <a:r>
              <a:rPr lang="en-US" sz="1200" dirty="0"/>
              <a:t> and a </a:t>
            </a:r>
            <a:r>
              <a:rPr lang="en-US" sz="1200" b="1" dirty="0"/>
              <a:t>destination account</a:t>
            </a:r>
            <a:r>
              <a:rPr lang="en-US" sz="1200" dirty="0"/>
              <a:t>.</a:t>
            </a:r>
          </a:p>
          <a:p>
            <a:pPr marL="171450" lvl="0" indent="-171450">
              <a:spcBef>
                <a:spcPts val="0"/>
              </a:spcBef>
              <a:spcAft>
                <a:spcPts val="0"/>
              </a:spcAft>
              <a:buClr>
                <a:schemeClr val="accent2"/>
              </a:buClr>
              <a:buFont typeface="Wingdings" panose="05000000000000000000" pitchFamily="2" charset="2"/>
              <a:buChar char="§"/>
            </a:pPr>
            <a:r>
              <a:rPr lang="en-US" sz="1200" dirty="0"/>
              <a:t>Customers can apply for </a:t>
            </a:r>
            <a:r>
              <a:rPr lang="en-US" sz="1200" b="1" dirty="0"/>
              <a:t>loans</a:t>
            </a:r>
            <a:r>
              <a:rPr lang="en-US" sz="1200" dirty="0"/>
              <a:t>.</a:t>
            </a:r>
          </a:p>
          <a:p>
            <a:pPr marL="171450" lvl="0" indent="-171450">
              <a:spcBef>
                <a:spcPts val="0"/>
              </a:spcBef>
              <a:spcAft>
                <a:spcPts val="0"/>
              </a:spcAft>
              <a:buClr>
                <a:schemeClr val="accent2"/>
              </a:buClr>
              <a:buFont typeface="Wingdings" panose="05000000000000000000" pitchFamily="2" charset="2"/>
              <a:buChar char="§"/>
            </a:pPr>
            <a:r>
              <a:rPr lang="en-US" sz="1200" dirty="0"/>
              <a:t>A loan has a loan ID, loan type, principal amount, interest rate, start date, end date, and status.</a:t>
            </a:r>
          </a:p>
          <a:p>
            <a:pPr marL="171450" lvl="0" indent="-171450">
              <a:spcBef>
                <a:spcPts val="0"/>
              </a:spcBef>
              <a:spcAft>
                <a:spcPts val="0"/>
              </a:spcAft>
              <a:buClr>
                <a:schemeClr val="accent2"/>
              </a:buClr>
              <a:buFont typeface="Wingdings" panose="05000000000000000000" pitchFamily="2" charset="2"/>
              <a:buChar char="§"/>
            </a:pPr>
            <a:r>
              <a:rPr lang="en-US" sz="1200" dirty="0"/>
              <a:t>A customer may have multiple loans.</a:t>
            </a:r>
          </a:p>
          <a:p>
            <a:pPr marL="171450" lvl="0" indent="-171450">
              <a:spcBef>
                <a:spcPts val="0"/>
              </a:spcBef>
              <a:spcAft>
                <a:spcPts val="0"/>
              </a:spcAft>
              <a:buClr>
                <a:schemeClr val="accent2"/>
              </a:buClr>
              <a:buFont typeface="Wingdings" panose="05000000000000000000" pitchFamily="2" charset="2"/>
              <a:buChar char="§"/>
            </a:pPr>
            <a:r>
              <a:rPr lang="en-US" sz="1200" dirty="0"/>
              <a:t>Each loan is associated with a branch.</a:t>
            </a:r>
          </a:p>
          <a:p>
            <a:pPr marL="171450" lvl="0" indent="-171450">
              <a:spcBef>
                <a:spcPts val="0"/>
              </a:spcBef>
              <a:spcAft>
                <a:spcPts val="0"/>
              </a:spcAft>
              <a:buClr>
                <a:schemeClr val="accent2"/>
              </a:buClr>
              <a:buFont typeface="Wingdings" panose="05000000000000000000" pitchFamily="2" charset="2"/>
              <a:buChar char="§"/>
            </a:pPr>
            <a:r>
              <a:rPr lang="en-US" sz="1200" dirty="0"/>
              <a:t>Customers make </a:t>
            </a:r>
            <a:r>
              <a:rPr lang="en-US" sz="1200" b="1" dirty="0"/>
              <a:t>loan payments</a:t>
            </a:r>
            <a:r>
              <a:rPr lang="en-US" sz="1200" dirty="0"/>
              <a:t>.</a:t>
            </a:r>
          </a:p>
          <a:p>
            <a:pPr marL="171450" lvl="0" indent="-171450">
              <a:spcBef>
                <a:spcPts val="0"/>
              </a:spcBef>
              <a:spcAft>
                <a:spcPts val="0"/>
              </a:spcAft>
              <a:buClr>
                <a:schemeClr val="accent2"/>
              </a:buClr>
              <a:buFont typeface="Wingdings" panose="05000000000000000000" pitchFamily="2" charset="2"/>
              <a:buChar char="§"/>
            </a:pPr>
            <a:r>
              <a:rPr lang="en-US" sz="1200" dirty="0"/>
              <a:t>Each payment should record the payment ID, payment date, amount, and the portion applied to principal and interest.</a:t>
            </a:r>
          </a:p>
          <a:p>
            <a:pPr marL="171450" lvl="0" indent="-171450">
              <a:spcBef>
                <a:spcPts val="0"/>
              </a:spcBef>
              <a:spcAft>
                <a:spcPts val="0"/>
              </a:spcAft>
              <a:buClr>
                <a:schemeClr val="accent2"/>
              </a:buClr>
              <a:buFont typeface="Wingdings" panose="05000000000000000000" pitchFamily="2" charset="2"/>
              <a:buChar char="§"/>
            </a:pPr>
            <a:r>
              <a:rPr lang="en-US" sz="1200" dirty="0"/>
              <a:t>Bank employees work at branches.</a:t>
            </a:r>
          </a:p>
          <a:p>
            <a:pPr marL="171450" lvl="0" indent="-171450">
              <a:spcBef>
                <a:spcPts val="0"/>
              </a:spcBef>
              <a:spcAft>
                <a:spcPts val="0"/>
              </a:spcAft>
              <a:buClr>
                <a:schemeClr val="accent2"/>
              </a:buClr>
              <a:buFont typeface="Wingdings" panose="05000000000000000000" pitchFamily="2" charset="2"/>
              <a:buChar char="§"/>
            </a:pPr>
            <a:r>
              <a:rPr lang="en-US" sz="1200" dirty="0"/>
              <a:t>Each employee has an employee ID, name, job title, email, and hire date.</a:t>
            </a:r>
          </a:p>
          <a:p>
            <a:pPr marL="171450" lvl="0" indent="-171450">
              <a:spcBef>
                <a:spcPts val="0"/>
              </a:spcBef>
              <a:spcAft>
                <a:spcPts val="0"/>
              </a:spcAft>
              <a:buClr>
                <a:schemeClr val="accent2"/>
              </a:buClr>
              <a:buFont typeface="Wingdings" panose="05000000000000000000" pitchFamily="2" charset="2"/>
              <a:buChar char="§"/>
            </a:pPr>
            <a:r>
              <a:rPr lang="en-US" sz="1200" dirty="0"/>
              <a:t>An employee may assist customers with loans or accounts.</a:t>
            </a:r>
          </a:p>
        </p:txBody>
      </p:sp>
    </p:spTree>
    <p:extLst>
      <p:ext uri="{BB962C8B-B14F-4D97-AF65-F5344CB8AC3E}">
        <p14:creationId xmlns:p14="http://schemas.microsoft.com/office/powerpoint/2010/main" val="35878713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95BDC-1A9B-55DC-0739-BC2C72F4E189}"/>
              </a:ext>
            </a:extLst>
          </p:cNvPr>
          <p:cNvSpPr>
            <a:spLocks noGrp="1"/>
          </p:cNvSpPr>
          <p:nvPr>
            <p:ph type="title"/>
          </p:nvPr>
        </p:nvSpPr>
        <p:spPr/>
        <p:txBody>
          <a:bodyPr/>
          <a:lstStyle/>
          <a:p>
            <a:r>
              <a:rPr lang="en-US" dirty="0"/>
              <a:t>Datatypes</a:t>
            </a:r>
          </a:p>
        </p:txBody>
      </p:sp>
      <p:sp>
        <p:nvSpPr>
          <p:cNvPr id="5" name="TextBox 4">
            <a:extLst>
              <a:ext uri="{FF2B5EF4-FFF2-40B4-BE49-F238E27FC236}">
                <a16:creationId xmlns:a16="http://schemas.microsoft.com/office/drawing/2014/main" id="{6788DF4A-346A-95AC-B737-84CA5F6B0473}"/>
              </a:ext>
            </a:extLst>
          </p:cNvPr>
          <p:cNvSpPr txBox="1"/>
          <p:nvPr/>
        </p:nvSpPr>
        <p:spPr>
          <a:xfrm>
            <a:off x="3098626" y="2091956"/>
            <a:ext cx="6097044" cy="954107"/>
          </a:xfrm>
          <a:prstGeom prst="rect">
            <a:avLst/>
          </a:prstGeom>
          <a:noFill/>
        </p:spPr>
        <p:txBody>
          <a:bodyPr wrap="square">
            <a:spAutoFit/>
          </a:bodyPr>
          <a:lstStyle/>
          <a:p>
            <a:pPr>
              <a:lnSpc>
                <a:spcPct val="100000"/>
              </a:lnSpc>
            </a:pPr>
            <a:r>
              <a:rPr lang="en-US" sz="1400" b="0" u="none" strike="noStrike" dirty="0">
                <a:effectLst/>
                <a:uFillTx/>
                <a:latin typeface="Arial"/>
                <a:ea typeface="Arial"/>
              </a:rPr>
              <a:t>CREATE TABLE customers (</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  </a:t>
            </a:r>
            <a:r>
              <a:rPr lang="en-US" sz="1400" b="0" u="none" strike="noStrike" dirty="0" err="1">
                <a:effectLst/>
                <a:uFillTx/>
                <a:latin typeface="Arial"/>
                <a:ea typeface="Arial"/>
              </a:rPr>
              <a:t>customer_id</a:t>
            </a:r>
            <a:r>
              <a:rPr lang="en-US" sz="1400" b="0" u="none" strike="noStrike" dirty="0">
                <a:effectLst/>
                <a:uFillTx/>
                <a:latin typeface="Arial"/>
                <a:ea typeface="Arial"/>
              </a:rPr>
              <a:t> UUID PRIMARY KEY DEFAULT </a:t>
            </a:r>
            <a:r>
              <a:rPr lang="en-US" sz="1400" b="0" u="none" strike="noStrike" dirty="0" err="1">
                <a:effectLst/>
                <a:uFillTx/>
                <a:latin typeface="Arial"/>
                <a:ea typeface="Arial"/>
              </a:rPr>
              <a:t>gen_random_uuid</a:t>
            </a:r>
            <a:r>
              <a:rPr lang="en-US" sz="1400" b="0" u="none" strike="noStrike" dirty="0">
                <a:effectLst/>
                <a:uFillTx/>
                <a:latin typeface="Arial"/>
                <a:ea typeface="Arial"/>
              </a:rPr>
              <a:t>(),</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  name TEXT NOT NULL</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a:t>
            </a:r>
            <a:endParaRPr lang="en-US" sz="1400" b="0" u="none" strike="noStrike" dirty="0">
              <a:effectLst/>
              <a:uFillTx/>
              <a:latin typeface="Arial"/>
            </a:endParaRPr>
          </a:p>
        </p:txBody>
      </p:sp>
      <p:sp>
        <p:nvSpPr>
          <p:cNvPr id="6" name="Text Placeholder 2">
            <a:extLst>
              <a:ext uri="{FF2B5EF4-FFF2-40B4-BE49-F238E27FC236}">
                <a16:creationId xmlns:a16="http://schemas.microsoft.com/office/drawing/2014/main" id="{1792E985-157A-C217-BB5B-3E4205B23D0E}"/>
              </a:ext>
            </a:extLst>
          </p:cNvPr>
          <p:cNvSpPr txBox="1">
            <a:spLocks/>
          </p:cNvSpPr>
          <p:nvPr/>
        </p:nvSpPr>
        <p:spPr>
          <a:xfrm>
            <a:off x="1546965" y="3422064"/>
            <a:ext cx="4769250" cy="2982960"/>
          </a:xfrm>
          <a:prstGeom prst="rect">
            <a:avLst/>
          </a:prstGeom>
        </p:spPr>
        <p:txBody>
          <a:bodyPr vert="horz" lIns="91440" tIns="45720" rIns="91440" bIns="45720" rtlCol="0" anchor="t">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110000"/>
              </a:lnSpc>
            </a:pPr>
            <a:r>
              <a:rPr lang="en-US" sz="1400" dirty="0">
                <a:solidFill>
                  <a:schemeClr val="tx1"/>
                </a:solidFill>
              </a:rPr>
              <a:t>SMALLINT – 2 bytes</a:t>
            </a:r>
          </a:p>
          <a:p>
            <a:pPr>
              <a:lnSpc>
                <a:spcPct val="110000"/>
              </a:lnSpc>
            </a:pPr>
            <a:r>
              <a:rPr lang="en-US" sz="1400" dirty="0">
                <a:solidFill>
                  <a:schemeClr val="tx1"/>
                </a:solidFill>
              </a:rPr>
              <a:t>INTEGER / INT – 4 bytes; good for money (in cents), or IDs</a:t>
            </a:r>
          </a:p>
          <a:p>
            <a:pPr>
              <a:lnSpc>
                <a:spcPct val="110000"/>
              </a:lnSpc>
            </a:pPr>
            <a:r>
              <a:rPr lang="en-US" sz="1400" dirty="0">
                <a:solidFill>
                  <a:schemeClr val="tx1"/>
                </a:solidFill>
              </a:rPr>
              <a:t>BIGINT – 8 bytes</a:t>
            </a:r>
          </a:p>
          <a:p>
            <a:pPr>
              <a:lnSpc>
                <a:spcPct val="110000"/>
              </a:lnSpc>
            </a:pPr>
            <a:r>
              <a:rPr lang="en-US" sz="1400" dirty="0">
                <a:solidFill>
                  <a:schemeClr val="tx1"/>
                </a:solidFill>
              </a:rPr>
              <a:t>NUMERIC(p, s) / DECIMAL – good for money</a:t>
            </a:r>
          </a:p>
          <a:p>
            <a:pPr>
              <a:lnSpc>
                <a:spcPct val="110000"/>
              </a:lnSpc>
            </a:pPr>
            <a:r>
              <a:rPr lang="en-US" sz="1400" dirty="0">
                <a:solidFill>
                  <a:schemeClr val="tx1"/>
                </a:solidFill>
              </a:rPr>
              <a:t>REAL – 4 bytes; do NOT use for money</a:t>
            </a:r>
          </a:p>
          <a:p>
            <a:pPr>
              <a:lnSpc>
                <a:spcPct val="110000"/>
              </a:lnSpc>
            </a:pPr>
            <a:r>
              <a:rPr lang="en-US" sz="1400" dirty="0">
                <a:solidFill>
                  <a:schemeClr val="tx1"/>
                </a:solidFill>
              </a:rPr>
              <a:t>DOUBLE PRECISION – 8 bytes; do NOT use for money</a:t>
            </a:r>
          </a:p>
          <a:p>
            <a:pPr>
              <a:lnSpc>
                <a:spcPct val="110000"/>
              </a:lnSpc>
            </a:pPr>
            <a:r>
              <a:rPr lang="en-US" sz="1400" dirty="0">
                <a:solidFill>
                  <a:schemeClr val="tx1"/>
                </a:solidFill>
              </a:rPr>
              <a:t>TEXT – variable length strings; </a:t>
            </a:r>
            <a:r>
              <a:rPr lang="en-US" sz="1400" dirty="0" err="1">
                <a:solidFill>
                  <a:schemeClr val="tx1"/>
                </a:solidFill>
              </a:rPr>
              <a:t>postgres</a:t>
            </a:r>
            <a:r>
              <a:rPr lang="en-US" sz="1400" dirty="0">
                <a:solidFill>
                  <a:schemeClr val="tx1"/>
                </a:solidFill>
              </a:rPr>
              <a:t> secret sauce</a:t>
            </a:r>
          </a:p>
          <a:p>
            <a:pPr>
              <a:lnSpc>
                <a:spcPct val="110000"/>
              </a:lnSpc>
            </a:pPr>
            <a:r>
              <a:rPr lang="en-US" sz="1400" dirty="0">
                <a:solidFill>
                  <a:schemeClr val="tx1"/>
                </a:solidFill>
              </a:rPr>
              <a:t>VARCHAR(255) – fixed length strings</a:t>
            </a:r>
          </a:p>
          <a:p>
            <a:pPr>
              <a:lnSpc>
                <a:spcPct val="110000"/>
              </a:lnSpc>
            </a:pPr>
            <a:r>
              <a:rPr lang="en-US" sz="1400" dirty="0">
                <a:solidFill>
                  <a:schemeClr val="tx1"/>
                </a:solidFill>
              </a:rPr>
              <a:t>CHAR(n) – fixed-length, space-padded, legacy</a:t>
            </a:r>
          </a:p>
        </p:txBody>
      </p:sp>
      <p:sp>
        <p:nvSpPr>
          <p:cNvPr id="7" name="TextBox 6">
            <a:extLst>
              <a:ext uri="{FF2B5EF4-FFF2-40B4-BE49-F238E27FC236}">
                <a16:creationId xmlns:a16="http://schemas.microsoft.com/office/drawing/2014/main" id="{226FCD38-F855-0CFF-A159-BED18353B76D}"/>
              </a:ext>
            </a:extLst>
          </p:cNvPr>
          <p:cNvSpPr txBox="1"/>
          <p:nvPr/>
        </p:nvSpPr>
        <p:spPr>
          <a:xfrm>
            <a:off x="6470545" y="3366370"/>
            <a:ext cx="4673864" cy="3323987"/>
          </a:xfrm>
          <a:prstGeom prst="rect">
            <a:avLst/>
          </a:prstGeom>
          <a:noFill/>
        </p:spPr>
        <p:txBody>
          <a:bodyPr wrap="square" rtlCol="0" anchor="t">
            <a:spAutoFit/>
          </a:bodyPr>
          <a:lstStyle/>
          <a:p>
            <a:r>
              <a:rPr lang="en-US" sz="1400" dirty="0"/>
              <a:t>BOOLEAN – True, False, t/f, yes/no, 1/0</a:t>
            </a:r>
          </a:p>
          <a:p>
            <a:r>
              <a:rPr lang="en-US" sz="1400" dirty="0"/>
              <a:t>DATE – calendar date</a:t>
            </a:r>
          </a:p>
          <a:p>
            <a:r>
              <a:rPr lang="en-US" sz="1400" dirty="0"/>
              <a:t>TIME – time of day</a:t>
            </a:r>
          </a:p>
          <a:p>
            <a:r>
              <a:rPr lang="en-US" sz="1400" dirty="0"/>
              <a:t>TIMESTAMP – date + time</a:t>
            </a:r>
          </a:p>
          <a:p>
            <a:r>
              <a:rPr lang="en-US" sz="1400" dirty="0"/>
              <a:t>TIMESTAMPZ – date + time + </a:t>
            </a:r>
            <a:r>
              <a:rPr lang="en-US" sz="1400" dirty="0" err="1"/>
              <a:t>timezone</a:t>
            </a:r>
            <a:r>
              <a:rPr lang="en-US" sz="1400" dirty="0"/>
              <a:t> (UTC)</a:t>
            </a:r>
          </a:p>
          <a:p>
            <a:r>
              <a:rPr lang="en-US" sz="1400" dirty="0"/>
              <a:t>NULL – is NOT false; it’s unknown</a:t>
            </a:r>
          </a:p>
          <a:p>
            <a:pPr marL="285750" indent="-285750">
              <a:buFontTx/>
              <a:buChar char="-"/>
            </a:pPr>
            <a:r>
              <a:rPr lang="en-US" sz="1400" dirty="0"/>
              <a:t>WHERE col = NULL </a:t>
            </a:r>
            <a:r>
              <a:rPr lang="en-US" sz="1400" dirty="0">
                <a:sym typeface="Wingdings" panose="05000000000000000000" pitchFamily="2" charset="2"/>
              </a:rPr>
              <a:t> incorrect</a:t>
            </a:r>
          </a:p>
          <a:p>
            <a:pPr marL="285750" indent="-285750">
              <a:buFontTx/>
              <a:buChar char="-"/>
            </a:pPr>
            <a:r>
              <a:rPr lang="en-US" sz="1400" dirty="0">
                <a:sym typeface="Wingdings" panose="05000000000000000000" pitchFamily="2" charset="2"/>
              </a:rPr>
              <a:t>WHERE col IS NULL  correct</a:t>
            </a:r>
          </a:p>
          <a:p>
            <a:r>
              <a:rPr lang="en-US" sz="1400" dirty="0">
                <a:sym typeface="Wingdings" panose="05000000000000000000" pitchFamily="2" charset="2"/>
              </a:rPr>
              <a:t>UUID – universally unique IDs</a:t>
            </a:r>
          </a:p>
          <a:p>
            <a:r>
              <a:rPr lang="en-US" sz="1400" dirty="0">
                <a:sym typeface="Wingdings" panose="05000000000000000000" pitchFamily="2" charset="2"/>
              </a:rPr>
              <a:t>JSON – raw </a:t>
            </a:r>
            <a:r>
              <a:rPr lang="en-US" sz="1400" dirty="0" err="1">
                <a:sym typeface="Wingdings" panose="05000000000000000000" pitchFamily="2" charset="2"/>
              </a:rPr>
              <a:t>json</a:t>
            </a:r>
            <a:r>
              <a:rPr lang="en-US" sz="1400" dirty="0">
                <a:sym typeface="Wingdings" panose="05000000000000000000" pitchFamily="2" charset="2"/>
              </a:rPr>
              <a:t> text</a:t>
            </a:r>
          </a:p>
          <a:p>
            <a:r>
              <a:rPr lang="en-US" sz="1400" dirty="0">
                <a:sym typeface="Wingdings" panose="05000000000000000000" pitchFamily="2" charset="2"/>
              </a:rPr>
              <a:t>JSONB – binary </a:t>
            </a:r>
            <a:r>
              <a:rPr lang="en-US" sz="1400" dirty="0" err="1">
                <a:sym typeface="Wingdings" panose="05000000000000000000" pitchFamily="2" charset="2"/>
              </a:rPr>
              <a:t>json</a:t>
            </a:r>
            <a:r>
              <a:rPr lang="en-US" sz="1400" dirty="0">
                <a:sym typeface="Wingdings" panose="05000000000000000000" pitchFamily="2" charset="2"/>
              </a:rPr>
              <a:t>, very fast access speeds</a:t>
            </a:r>
          </a:p>
          <a:p>
            <a:r>
              <a:rPr lang="en-US" sz="1400" dirty="0">
                <a:sym typeface="Wingdings" panose="05000000000000000000" pitchFamily="2" charset="2"/>
              </a:rPr>
              <a:t>ARRAY</a:t>
            </a:r>
          </a:p>
          <a:p>
            <a:pPr marL="285750" indent="-285750">
              <a:buFontTx/>
              <a:buChar char="-"/>
            </a:pPr>
            <a:r>
              <a:rPr lang="en-US" sz="1400" dirty="0">
                <a:sym typeface="Wingdings" panose="05000000000000000000" pitchFamily="2" charset="2"/>
              </a:rPr>
              <a:t>TEXT[]</a:t>
            </a:r>
          </a:p>
          <a:p>
            <a:pPr marL="285750" indent="-285750">
              <a:buFontTx/>
              <a:buChar char="-"/>
            </a:pPr>
            <a:r>
              <a:rPr lang="en-US" sz="1400" dirty="0"/>
              <a:t>INT[]</a:t>
            </a:r>
          </a:p>
          <a:p>
            <a:r>
              <a:rPr lang="en-US" sz="1400" dirty="0"/>
              <a:t>ENUM</a:t>
            </a:r>
          </a:p>
        </p:txBody>
      </p:sp>
    </p:spTree>
    <p:extLst>
      <p:ext uri="{BB962C8B-B14F-4D97-AF65-F5344CB8AC3E}">
        <p14:creationId xmlns:p14="http://schemas.microsoft.com/office/powerpoint/2010/main" val="8512051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F4DD5-2AC7-74ED-3037-3977BE27B9B5}"/>
              </a:ext>
            </a:extLst>
          </p:cNvPr>
          <p:cNvSpPr>
            <a:spLocks noGrp="1"/>
          </p:cNvSpPr>
          <p:nvPr>
            <p:ph type="title"/>
          </p:nvPr>
        </p:nvSpPr>
        <p:spPr/>
        <p:txBody>
          <a:bodyPr/>
          <a:lstStyle/>
          <a:p>
            <a:r>
              <a:rPr lang="en-US" dirty="0"/>
              <a:t>More on IDs</a:t>
            </a:r>
          </a:p>
        </p:txBody>
      </p:sp>
      <p:graphicFrame>
        <p:nvGraphicFramePr>
          <p:cNvPr id="5" name="Table 4">
            <a:extLst>
              <a:ext uri="{FF2B5EF4-FFF2-40B4-BE49-F238E27FC236}">
                <a16:creationId xmlns:a16="http://schemas.microsoft.com/office/drawing/2014/main" id="{0AB7AB5B-295A-0921-BDB5-31349F2194CD}"/>
              </a:ext>
            </a:extLst>
          </p:cNvPr>
          <p:cNvGraphicFramePr>
            <a:graphicFrameLocks noGrp="1"/>
          </p:cNvGraphicFramePr>
          <p:nvPr>
            <p:extLst>
              <p:ext uri="{D42A27DB-BD31-4B8C-83A1-F6EECF244321}">
                <p14:modId xmlns:p14="http://schemas.microsoft.com/office/powerpoint/2010/main" val="2275120533"/>
              </p:ext>
            </p:extLst>
          </p:nvPr>
        </p:nvGraphicFramePr>
        <p:xfrm>
          <a:off x="2122350" y="2321543"/>
          <a:ext cx="7886700" cy="2103120"/>
        </p:xfrm>
        <a:graphic>
          <a:graphicData uri="http://schemas.openxmlformats.org/drawingml/2006/table">
            <a:tbl>
              <a:tblPr/>
              <a:tblGrid>
                <a:gridCol w="1577340">
                  <a:extLst>
                    <a:ext uri="{9D8B030D-6E8A-4147-A177-3AD203B41FA5}">
                      <a16:colId xmlns:a16="http://schemas.microsoft.com/office/drawing/2014/main" val="2410124893"/>
                    </a:ext>
                  </a:extLst>
                </a:gridCol>
                <a:gridCol w="1577340">
                  <a:extLst>
                    <a:ext uri="{9D8B030D-6E8A-4147-A177-3AD203B41FA5}">
                      <a16:colId xmlns:a16="http://schemas.microsoft.com/office/drawing/2014/main" val="2431261947"/>
                    </a:ext>
                  </a:extLst>
                </a:gridCol>
                <a:gridCol w="1577340">
                  <a:extLst>
                    <a:ext uri="{9D8B030D-6E8A-4147-A177-3AD203B41FA5}">
                      <a16:colId xmlns:a16="http://schemas.microsoft.com/office/drawing/2014/main" val="1152470896"/>
                    </a:ext>
                  </a:extLst>
                </a:gridCol>
                <a:gridCol w="1577340">
                  <a:extLst>
                    <a:ext uri="{9D8B030D-6E8A-4147-A177-3AD203B41FA5}">
                      <a16:colId xmlns:a16="http://schemas.microsoft.com/office/drawing/2014/main" val="2627880950"/>
                    </a:ext>
                  </a:extLst>
                </a:gridCol>
                <a:gridCol w="1577340">
                  <a:extLst>
                    <a:ext uri="{9D8B030D-6E8A-4147-A177-3AD203B41FA5}">
                      <a16:colId xmlns:a16="http://schemas.microsoft.com/office/drawing/2014/main" val="955432398"/>
                    </a:ext>
                  </a:extLst>
                </a:gridCol>
              </a:tblGrid>
              <a:tr h="0">
                <a:tc>
                  <a:txBody>
                    <a:bodyPr/>
                    <a:lstStyle/>
                    <a:p>
                      <a:pPr>
                        <a:buNone/>
                      </a:pPr>
                      <a:r>
                        <a:rPr lang="en-US" dirty="0"/>
                        <a:t>Type</a:t>
                      </a:r>
                    </a:p>
                  </a:txBody>
                  <a:tcPr anchor="ctr">
                    <a:lnL>
                      <a:noFill/>
                    </a:lnL>
                    <a:lnR>
                      <a:noFill/>
                    </a:lnR>
                    <a:lnT>
                      <a:noFill/>
                    </a:lnT>
                    <a:lnB>
                      <a:noFill/>
                    </a:lnB>
                    <a:noFill/>
                  </a:tcPr>
                </a:tc>
                <a:tc>
                  <a:txBody>
                    <a:bodyPr/>
                    <a:lstStyle/>
                    <a:p>
                      <a:pPr>
                        <a:buNone/>
                      </a:pPr>
                      <a:r>
                        <a:rPr lang="en-US"/>
                        <a:t>Size</a:t>
                      </a:r>
                    </a:p>
                  </a:txBody>
                  <a:tcPr anchor="ctr">
                    <a:lnL>
                      <a:noFill/>
                    </a:lnL>
                    <a:lnR>
                      <a:noFill/>
                    </a:lnR>
                    <a:lnT>
                      <a:noFill/>
                    </a:lnT>
                    <a:lnB>
                      <a:noFill/>
                    </a:lnB>
                    <a:noFill/>
                  </a:tcPr>
                </a:tc>
                <a:tc>
                  <a:txBody>
                    <a:bodyPr/>
                    <a:lstStyle/>
                    <a:p>
                      <a:pPr>
                        <a:buNone/>
                      </a:pPr>
                      <a:r>
                        <a:rPr lang="en-US"/>
                        <a:t>Auto-Increment</a:t>
                      </a:r>
                    </a:p>
                  </a:txBody>
                  <a:tcPr anchor="ctr">
                    <a:lnL>
                      <a:noFill/>
                    </a:lnL>
                    <a:lnR>
                      <a:noFill/>
                    </a:lnR>
                    <a:lnT>
                      <a:noFill/>
                    </a:lnT>
                    <a:lnB>
                      <a:noFill/>
                    </a:lnB>
                    <a:noFill/>
                  </a:tcPr>
                </a:tc>
                <a:tc>
                  <a:txBody>
                    <a:bodyPr/>
                    <a:lstStyle/>
                    <a:p>
                      <a:pPr>
                        <a:buNone/>
                      </a:pPr>
                      <a:r>
                        <a:rPr lang="en-US"/>
                        <a:t>Index Speed</a:t>
                      </a:r>
                    </a:p>
                  </a:txBody>
                  <a:tcPr anchor="ctr">
                    <a:lnL>
                      <a:noFill/>
                    </a:lnL>
                    <a:lnR>
                      <a:noFill/>
                    </a:lnR>
                    <a:lnT>
                      <a:noFill/>
                    </a:lnT>
                    <a:lnB>
                      <a:noFill/>
                    </a:lnB>
                    <a:noFill/>
                  </a:tcPr>
                </a:tc>
                <a:tc>
                  <a:txBody>
                    <a:bodyPr/>
                    <a:lstStyle/>
                    <a:p>
                      <a:pPr>
                        <a:buNone/>
                      </a:pPr>
                      <a:r>
                        <a:rPr lang="en-US"/>
                        <a:t>Good for Distributed?</a:t>
                      </a:r>
                    </a:p>
                  </a:txBody>
                  <a:tcPr anchor="ctr">
                    <a:lnL>
                      <a:noFill/>
                    </a:lnL>
                    <a:lnR>
                      <a:noFill/>
                    </a:lnR>
                    <a:lnT>
                      <a:noFill/>
                    </a:lnT>
                    <a:lnB>
                      <a:noFill/>
                    </a:lnB>
                    <a:noFill/>
                  </a:tcPr>
                </a:tc>
                <a:extLst>
                  <a:ext uri="{0D108BD9-81ED-4DB2-BD59-A6C34878D82A}">
                    <a16:rowId xmlns:a16="http://schemas.microsoft.com/office/drawing/2014/main" val="3653089698"/>
                  </a:ext>
                </a:extLst>
              </a:tr>
              <a:tr h="0">
                <a:tc>
                  <a:txBody>
                    <a:bodyPr/>
                    <a:lstStyle/>
                    <a:p>
                      <a:pPr>
                        <a:buNone/>
                      </a:pPr>
                      <a:r>
                        <a:rPr lang="en-US" dirty="0"/>
                        <a:t>SERIAL</a:t>
                      </a:r>
                    </a:p>
                  </a:txBody>
                  <a:tcPr anchor="ctr">
                    <a:lnL>
                      <a:noFill/>
                    </a:lnL>
                    <a:lnR>
                      <a:noFill/>
                    </a:lnR>
                    <a:lnT>
                      <a:noFill/>
                    </a:lnT>
                    <a:lnB>
                      <a:noFill/>
                    </a:lnB>
                    <a:noFill/>
                  </a:tcPr>
                </a:tc>
                <a:tc>
                  <a:txBody>
                    <a:bodyPr/>
                    <a:lstStyle/>
                    <a:p>
                      <a:pPr>
                        <a:buNone/>
                      </a:pPr>
                      <a:r>
                        <a:rPr lang="en-US"/>
                        <a:t>4B</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a:t>Very fast</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extLst>
                  <a:ext uri="{0D108BD9-81ED-4DB2-BD59-A6C34878D82A}">
                    <a16:rowId xmlns:a16="http://schemas.microsoft.com/office/drawing/2014/main" val="3921942300"/>
                  </a:ext>
                </a:extLst>
              </a:tr>
              <a:tr h="0">
                <a:tc>
                  <a:txBody>
                    <a:bodyPr/>
                    <a:lstStyle/>
                    <a:p>
                      <a:pPr>
                        <a:buNone/>
                      </a:pPr>
                      <a:r>
                        <a:rPr lang="en-US"/>
                        <a:t>BIGSERIAL</a:t>
                      </a:r>
                    </a:p>
                  </a:txBody>
                  <a:tcPr anchor="ctr">
                    <a:lnL>
                      <a:noFill/>
                    </a:lnL>
                    <a:lnR>
                      <a:noFill/>
                    </a:lnR>
                    <a:lnT>
                      <a:noFill/>
                    </a:lnT>
                    <a:lnB>
                      <a:noFill/>
                    </a:lnB>
                    <a:noFill/>
                  </a:tcPr>
                </a:tc>
                <a:tc>
                  <a:txBody>
                    <a:bodyPr/>
                    <a:lstStyle/>
                    <a:p>
                      <a:pPr>
                        <a:buNone/>
                      </a:pPr>
                      <a:r>
                        <a:rPr lang="en-US"/>
                        <a:t>8B</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a:t>Very fast</a:t>
                      </a:r>
                    </a:p>
                  </a:txBody>
                  <a:tcPr anchor="ctr">
                    <a:lnL>
                      <a:noFill/>
                    </a:lnL>
                    <a:lnR>
                      <a:noFill/>
                    </a:lnR>
                    <a:lnT>
                      <a:noFill/>
                    </a:lnT>
                    <a:lnB>
                      <a:noFill/>
                    </a:lnB>
                    <a:noFill/>
                  </a:tcPr>
                </a:tc>
                <a:tc>
                  <a:txBody>
                    <a:bodyPr/>
                    <a:lstStyle/>
                    <a:p>
                      <a:pPr>
                        <a:buNone/>
                      </a:pPr>
                      <a:r>
                        <a:rPr lang="en-US" dirty="0"/>
                        <a:t>No</a:t>
                      </a:r>
                    </a:p>
                  </a:txBody>
                  <a:tcPr anchor="ctr">
                    <a:lnL>
                      <a:noFill/>
                    </a:lnL>
                    <a:lnR>
                      <a:noFill/>
                    </a:lnR>
                    <a:lnT>
                      <a:noFill/>
                    </a:lnT>
                    <a:lnB>
                      <a:noFill/>
                    </a:lnB>
                    <a:noFill/>
                  </a:tcPr>
                </a:tc>
                <a:extLst>
                  <a:ext uri="{0D108BD9-81ED-4DB2-BD59-A6C34878D82A}">
                    <a16:rowId xmlns:a16="http://schemas.microsoft.com/office/drawing/2014/main" val="1428810038"/>
                  </a:ext>
                </a:extLst>
              </a:tr>
              <a:tr h="0">
                <a:tc>
                  <a:txBody>
                    <a:bodyPr/>
                    <a:lstStyle/>
                    <a:p>
                      <a:pPr>
                        <a:buNone/>
                      </a:pPr>
                      <a:r>
                        <a:rPr lang="en-US"/>
                        <a:t>INTEGER</a:t>
                      </a:r>
                    </a:p>
                  </a:txBody>
                  <a:tcPr anchor="ctr">
                    <a:lnL>
                      <a:noFill/>
                    </a:lnL>
                    <a:lnR>
                      <a:noFill/>
                    </a:lnR>
                    <a:lnT>
                      <a:noFill/>
                    </a:lnT>
                    <a:lnB>
                      <a:noFill/>
                    </a:lnB>
                    <a:noFill/>
                  </a:tcPr>
                </a:tc>
                <a:tc>
                  <a:txBody>
                    <a:bodyPr/>
                    <a:lstStyle/>
                    <a:p>
                      <a:pPr>
                        <a:buNone/>
                      </a:pPr>
                      <a:r>
                        <a:rPr lang="en-US"/>
                        <a:t>4B</a:t>
                      </a:r>
                    </a:p>
                  </a:txBody>
                  <a:tcPr anchor="ctr">
                    <a:lnL>
                      <a:noFill/>
                    </a:lnL>
                    <a:lnR>
                      <a:noFill/>
                    </a:lnR>
                    <a:lnT>
                      <a:noFill/>
                    </a:lnT>
                    <a:lnB>
                      <a:noFill/>
                    </a:lnB>
                    <a:noFill/>
                  </a:tcPr>
                </a:tc>
                <a:tc>
                  <a:txBody>
                    <a:bodyPr/>
                    <a:lstStyle/>
                    <a:p>
                      <a:pPr>
                        <a:buNone/>
                      </a:pPr>
                      <a:r>
                        <a:rPr lang="en-US" dirty="0"/>
                        <a:t>No**</a:t>
                      </a:r>
                    </a:p>
                  </a:txBody>
                  <a:tcPr anchor="ctr">
                    <a:lnL>
                      <a:noFill/>
                    </a:lnL>
                    <a:lnR>
                      <a:noFill/>
                    </a:lnR>
                    <a:lnT>
                      <a:noFill/>
                    </a:lnT>
                    <a:lnB>
                      <a:noFill/>
                    </a:lnB>
                    <a:noFill/>
                  </a:tcPr>
                </a:tc>
                <a:tc>
                  <a:txBody>
                    <a:bodyPr/>
                    <a:lstStyle/>
                    <a:p>
                      <a:pPr>
                        <a:buNone/>
                      </a:pPr>
                      <a:r>
                        <a:rPr lang="en-US"/>
                        <a:t>Very fast</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extLst>
                  <a:ext uri="{0D108BD9-81ED-4DB2-BD59-A6C34878D82A}">
                    <a16:rowId xmlns:a16="http://schemas.microsoft.com/office/drawing/2014/main" val="85719093"/>
                  </a:ext>
                </a:extLst>
              </a:tr>
              <a:tr h="0">
                <a:tc>
                  <a:txBody>
                    <a:bodyPr/>
                    <a:lstStyle/>
                    <a:p>
                      <a:pPr>
                        <a:buNone/>
                      </a:pPr>
                      <a:r>
                        <a:rPr lang="en-US" dirty="0"/>
                        <a:t>UUID</a:t>
                      </a:r>
                    </a:p>
                  </a:txBody>
                  <a:tcPr anchor="ctr">
                    <a:lnL>
                      <a:noFill/>
                    </a:lnL>
                    <a:lnR>
                      <a:noFill/>
                    </a:lnR>
                    <a:lnT>
                      <a:noFill/>
                    </a:lnT>
                    <a:lnB>
                      <a:noFill/>
                    </a:lnB>
                    <a:noFill/>
                  </a:tcPr>
                </a:tc>
                <a:tc>
                  <a:txBody>
                    <a:bodyPr/>
                    <a:lstStyle/>
                    <a:p>
                      <a:pPr>
                        <a:buNone/>
                      </a:pPr>
                      <a:r>
                        <a:rPr lang="en-US" dirty="0"/>
                        <a:t>16B</a:t>
                      </a:r>
                    </a:p>
                  </a:txBody>
                  <a:tcPr anchor="ctr">
                    <a:lnL>
                      <a:noFill/>
                    </a:lnL>
                    <a:lnR>
                      <a:noFill/>
                    </a:lnR>
                    <a:lnT>
                      <a:noFill/>
                    </a:lnT>
                    <a:lnB>
                      <a:noFill/>
                    </a:lnB>
                    <a:noFill/>
                  </a:tcPr>
                </a:tc>
                <a:tc>
                  <a:txBody>
                    <a:bodyPr/>
                    <a:lstStyle/>
                    <a:p>
                      <a:pPr>
                        <a:buNone/>
                      </a:pPr>
                      <a:r>
                        <a:rPr lang="en-US"/>
                        <a:t>Optional</a:t>
                      </a:r>
                    </a:p>
                  </a:txBody>
                  <a:tcPr anchor="ctr">
                    <a:lnL>
                      <a:noFill/>
                    </a:lnL>
                    <a:lnR>
                      <a:noFill/>
                    </a:lnR>
                    <a:lnT>
                      <a:noFill/>
                    </a:lnT>
                    <a:lnB>
                      <a:noFill/>
                    </a:lnB>
                    <a:noFill/>
                  </a:tcPr>
                </a:tc>
                <a:tc>
                  <a:txBody>
                    <a:bodyPr/>
                    <a:lstStyle/>
                    <a:p>
                      <a:pPr>
                        <a:buNone/>
                      </a:pPr>
                      <a:r>
                        <a:rPr lang="en-US"/>
                        <a:t>Slower</a:t>
                      </a:r>
                    </a:p>
                  </a:txBody>
                  <a:tcPr anchor="ctr">
                    <a:lnL>
                      <a:noFill/>
                    </a:lnL>
                    <a:lnR>
                      <a:noFill/>
                    </a:lnR>
                    <a:lnT>
                      <a:noFill/>
                    </a:lnT>
                    <a:lnB>
                      <a:noFill/>
                    </a:lnB>
                    <a:noFill/>
                  </a:tcPr>
                </a:tc>
                <a:tc>
                  <a:txBody>
                    <a:bodyPr/>
                    <a:lstStyle/>
                    <a:p>
                      <a:pPr>
                        <a:buNone/>
                      </a:pPr>
                      <a:r>
                        <a:rPr lang="en-US" dirty="0"/>
                        <a:t>Yes</a:t>
                      </a:r>
                    </a:p>
                  </a:txBody>
                  <a:tcPr anchor="ctr">
                    <a:lnL>
                      <a:noFill/>
                    </a:lnL>
                    <a:lnR>
                      <a:noFill/>
                    </a:lnR>
                    <a:lnT>
                      <a:noFill/>
                    </a:lnT>
                    <a:lnB>
                      <a:noFill/>
                    </a:lnB>
                    <a:noFill/>
                  </a:tcPr>
                </a:tc>
                <a:extLst>
                  <a:ext uri="{0D108BD9-81ED-4DB2-BD59-A6C34878D82A}">
                    <a16:rowId xmlns:a16="http://schemas.microsoft.com/office/drawing/2014/main" val="1328993651"/>
                  </a:ext>
                </a:extLst>
              </a:tr>
            </a:tbl>
          </a:graphicData>
        </a:graphic>
      </p:graphicFrame>
      <p:sp>
        <p:nvSpPr>
          <p:cNvPr id="7" name="TextBox 6">
            <a:extLst>
              <a:ext uri="{FF2B5EF4-FFF2-40B4-BE49-F238E27FC236}">
                <a16:creationId xmlns:a16="http://schemas.microsoft.com/office/drawing/2014/main" id="{A0349F59-68DF-FD0E-C0CE-134D28C1DEA4}"/>
              </a:ext>
            </a:extLst>
          </p:cNvPr>
          <p:cNvSpPr txBox="1"/>
          <p:nvPr/>
        </p:nvSpPr>
        <p:spPr>
          <a:xfrm>
            <a:off x="2284830" y="4850023"/>
            <a:ext cx="7970040" cy="923330"/>
          </a:xfrm>
          <a:prstGeom prst="rect">
            <a:avLst/>
          </a:prstGeom>
          <a:noFill/>
        </p:spPr>
        <p:txBody>
          <a:bodyPr wrap="square">
            <a:spAutoFit/>
          </a:bodyPr>
          <a:lstStyle/>
          <a:p>
            <a:r>
              <a:rPr lang="en-US" dirty="0"/>
              <a:t>Since Postgres 10, we have SQL standard IDENTITY (replaces SERIAL)</a:t>
            </a:r>
          </a:p>
          <a:p>
            <a:br>
              <a:rPr lang="en-US" dirty="0"/>
            </a:br>
            <a:r>
              <a:rPr lang="en-US" dirty="0"/>
              <a:t>** = id INTEGER GENERATED ALWAYS AS IDENTITY PRIMARY KEY</a:t>
            </a:r>
          </a:p>
        </p:txBody>
      </p:sp>
    </p:spTree>
    <p:extLst>
      <p:ext uri="{BB962C8B-B14F-4D97-AF65-F5344CB8AC3E}">
        <p14:creationId xmlns:p14="http://schemas.microsoft.com/office/powerpoint/2010/main" val="12587408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AEC0C-5EBF-F7B1-7527-91DDC4FD4933}"/>
              </a:ext>
            </a:extLst>
          </p:cNvPr>
          <p:cNvSpPr>
            <a:spLocks noGrp="1"/>
          </p:cNvSpPr>
          <p:nvPr>
            <p:ph type="title"/>
          </p:nvPr>
        </p:nvSpPr>
        <p:spPr/>
        <p:txBody>
          <a:bodyPr/>
          <a:lstStyle/>
          <a:p>
            <a:r>
              <a:rPr lang="en-US" dirty="0"/>
              <a:t>Custom datatypes, ENUM, &amp; Regex</a:t>
            </a:r>
          </a:p>
        </p:txBody>
      </p:sp>
      <p:sp>
        <p:nvSpPr>
          <p:cNvPr id="4" name="Text Placeholder 2">
            <a:extLst>
              <a:ext uri="{FF2B5EF4-FFF2-40B4-BE49-F238E27FC236}">
                <a16:creationId xmlns:a16="http://schemas.microsoft.com/office/drawing/2014/main" id="{13E5FDE1-C9B7-1FA8-0FEB-08B31A47C4B2}"/>
              </a:ext>
            </a:extLst>
          </p:cNvPr>
          <p:cNvSpPr txBox="1">
            <a:spLocks/>
          </p:cNvSpPr>
          <p:nvPr/>
        </p:nvSpPr>
        <p:spPr>
          <a:xfrm>
            <a:off x="1387489" y="2706856"/>
            <a:ext cx="6072996" cy="3299509"/>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600" dirty="0">
                <a:solidFill>
                  <a:schemeClr val="tx1"/>
                </a:solidFill>
              </a:rPr>
              <a:t>CREATE TYPE mood AS ENUM('sad', 'ok', 'happy’);</a:t>
            </a:r>
          </a:p>
          <a:p>
            <a:endParaRPr lang="en-US" sz="1600" dirty="0">
              <a:solidFill>
                <a:schemeClr val="tx1"/>
              </a:solidFill>
            </a:endParaRPr>
          </a:p>
          <a:p>
            <a:endParaRPr lang="en-US" sz="1600" dirty="0">
              <a:solidFill>
                <a:schemeClr val="tx1"/>
              </a:solidFill>
            </a:endParaRPr>
          </a:p>
          <a:p>
            <a:r>
              <a:rPr lang="en-US" sz="1600" dirty="0">
                <a:solidFill>
                  <a:schemeClr val="tx1"/>
                </a:solidFill>
              </a:rPr>
              <a:t>CREATE DOMAIN </a:t>
            </a:r>
            <a:r>
              <a:rPr lang="en-US" sz="1600" dirty="0" err="1">
                <a:solidFill>
                  <a:schemeClr val="tx1"/>
                </a:solidFill>
              </a:rPr>
              <a:t>email_address</a:t>
            </a:r>
            <a:r>
              <a:rPr lang="en-US" sz="1600" dirty="0">
                <a:solidFill>
                  <a:schemeClr val="tx1"/>
                </a:solidFill>
              </a:rPr>
              <a:t> AS TEXT</a:t>
            </a:r>
          </a:p>
          <a:p>
            <a:r>
              <a:rPr lang="en-US" sz="1600" dirty="0">
                <a:solidFill>
                  <a:schemeClr val="tx1"/>
                </a:solidFill>
              </a:rPr>
              <a:t>CHECK (</a:t>
            </a:r>
          </a:p>
          <a:p>
            <a:r>
              <a:rPr lang="en-US" sz="1600" dirty="0">
                <a:solidFill>
                  <a:schemeClr val="tx1"/>
                </a:solidFill>
              </a:rPr>
              <a:t>    VALUE ~* 'regex expression here to format email'</a:t>
            </a:r>
          </a:p>
          <a:p>
            <a:r>
              <a:rPr lang="en-US" sz="1600" dirty="0">
                <a:solidFill>
                  <a:schemeClr val="tx1"/>
                </a:solidFill>
              </a:rPr>
              <a:t>)</a:t>
            </a:r>
          </a:p>
          <a:p>
            <a:br>
              <a:rPr lang="en-US" sz="1600" dirty="0">
                <a:solidFill>
                  <a:schemeClr val="tx1"/>
                </a:solidFill>
              </a:rPr>
            </a:br>
            <a:endParaRPr lang="en-US" sz="1600" dirty="0">
              <a:solidFill>
                <a:schemeClr val="tx1"/>
              </a:solidFill>
            </a:endParaRPr>
          </a:p>
          <a:p>
            <a:r>
              <a:rPr lang="en-US" sz="1600" dirty="0">
                <a:solidFill>
                  <a:schemeClr val="tx1"/>
                </a:solidFill>
              </a:rPr>
              <a:t>~ -- regex case sensitive</a:t>
            </a:r>
          </a:p>
          <a:p>
            <a:r>
              <a:rPr lang="en-US" sz="1600" dirty="0">
                <a:solidFill>
                  <a:schemeClr val="tx1"/>
                </a:solidFill>
              </a:rPr>
              <a:t>~* -- regex case insensitive</a:t>
            </a:r>
          </a:p>
          <a:p>
            <a:r>
              <a:rPr lang="en-US" sz="1600" dirty="0">
                <a:solidFill>
                  <a:schemeClr val="tx1"/>
                </a:solidFill>
              </a:rPr>
              <a:t>!~ -- regex does not match case sensitive</a:t>
            </a:r>
          </a:p>
          <a:p>
            <a:r>
              <a:rPr lang="en-US" sz="1600" dirty="0">
                <a:solidFill>
                  <a:schemeClr val="tx1"/>
                </a:solidFill>
              </a:rPr>
              <a:t>!~* -- regex does not match case insensitive</a:t>
            </a:r>
          </a:p>
          <a:p>
            <a:endParaRPr lang="en-US" sz="1600" dirty="0">
              <a:solidFill>
                <a:schemeClr val="tx1"/>
              </a:solidFill>
            </a:endParaRPr>
          </a:p>
        </p:txBody>
      </p:sp>
      <p:sp>
        <p:nvSpPr>
          <p:cNvPr id="5" name="TextBox 4">
            <a:extLst>
              <a:ext uri="{FF2B5EF4-FFF2-40B4-BE49-F238E27FC236}">
                <a16:creationId xmlns:a16="http://schemas.microsoft.com/office/drawing/2014/main" id="{7F9A58DB-C72F-F344-D2A8-175A4FFE1FED}"/>
              </a:ext>
            </a:extLst>
          </p:cNvPr>
          <p:cNvSpPr txBox="1"/>
          <p:nvPr/>
        </p:nvSpPr>
        <p:spPr>
          <a:xfrm>
            <a:off x="7460485" y="3657932"/>
            <a:ext cx="3476445" cy="1384995"/>
          </a:xfrm>
          <a:prstGeom prst="rect">
            <a:avLst/>
          </a:prstGeom>
          <a:noFill/>
        </p:spPr>
        <p:txBody>
          <a:bodyPr wrap="square">
            <a:spAutoFit/>
          </a:bodyPr>
          <a:lstStyle/>
          <a:p>
            <a:r>
              <a:rPr lang="en-US" sz="1400" dirty="0"/>
              <a:t>CREATE TYPE address AS (</a:t>
            </a:r>
          </a:p>
          <a:p>
            <a:r>
              <a:rPr lang="en-US" sz="1400" dirty="0"/>
              <a:t>    street TEXT,</a:t>
            </a:r>
          </a:p>
          <a:p>
            <a:r>
              <a:rPr lang="en-US" sz="1400" dirty="0"/>
              <a:t>    city TEXT,</a:t>
            </a:r>
          </a:p>
          <a:p>
            <a:r>
              <a:rPr lang="en-US" sz="1400" dirty="0"/>
              <a:t>    state char(2),</a:t>
            </a:r>
          </a:p>
          <a:p>
            <a:r>
              <a:rPr lang="en-US" sz="1400" dirty="0"/>
              <a:t>    zip TEXT</a:t>
            </a:r>
          </a:p>
          <a:p>
            <a:r>
              <a:rPr lang="en-US" sz="1400" dirty="0"/>
              <a:t>)</a:t>
            </a:r>
          </a:p>
        </p:txBody>
      </p:sp>
      <p:sp>
        <p:nvSpPr>
          <p:cNvPr id="6" name="Rectangle 5">
            <a:extLst>
              <a:ext uri="{FF2B5EF4-FFF2-40B4-BE49-F238E27FC236}">
                <a16:creationId xmlns:a16="http://schemas.microsoft.com/office/drawing/2014/main" id="{75A5EC3C-513C-6244-CEC9-3BC621F6C0D5}"/>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45792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95B8C-201E-C7AA-FEE1-1A1279C2E3F4}"/>
              </a:ext>
            </a:extLst>
          </p:cNvPr>
          <p:cNvSpPr>
            <a:spLocks noGrp="1"/>
          </p:cNvSpPr>
          <p:nvPr>
            <p:ph type="title"/>
          </p:nvPr>
        </p:nvSpPr>
        <p:spPr/>
        <p:txBody>
          <a:bodyPr/>
          <a:lstStyle/>
          <a:p>
            <a:r>
              <a:rPr lang="en-US" dirty="0"/>
              <a:t>Create/Alter Tables &amp; Check constraints</a:t>
            </a:r>
          </a:p>
        </p:txBody>
      </p:sp>
      <p:sp>
        <p:nvSpPr>
          <p:cNvPr id="4" name="Text Placeholder 2">
            <a:extLst>
              <a:ext uri="{FF2B5EF4-FFF2-40B4-BE49-F238E27FC236}">
                <a16:creationId xmlns:a16="http://schemas.microsoft.com/office/drawing/2014/main" id="{A2262306-727B-2471-C937-6BB718D873B8}"/>
              </a:ext>
            </a:extLst>
          </p:cNvPr>
          <p:cNvSpPr txBox="1">
            <a:spLocks/>
          </p:cNvSpPr>
          <p:nvPr/>
        </p:nvSpPr>
        <p:spPr>
          <a:xfrm>
            <a:off x="1309235" y="2707695"/>
            <a:ext cx="5032032" cy="3629753"/>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120000"/>
              </a:lnSpc>
              <a:spcBef>
                <a:spcPts val="0"/>
              </a:spcBef>
            </a:pPr>
            <a:r>
              <a:rPr lang="en-US" sz="1200" dirty="0">
                <a:solidFill>
                  <a:schemeClr val="tx1"/>
                </a:solidFill>
              </a:rPr>
              <a:t>CREATE TABLE IF NOT EXISTS users (</a:t>
            </a:r>
          </a:p>
          <a:p>
            <a:pPr>
              <a:lnSpc>
                <a:spcPct val="120000"/>
              </a:lnSpc>
              <a:spcBef>
                <a:spcPts val="0"/>
              </a:spcBef>
            </a:pPr>
            <a:r>
              <a:rPr lang="en-US" sz="1200" dirty="0">
                <a:solidFill>
                  <a:schemeClr val="tx1"/>
                </a:solidFill>
              </a:rPr>
              <a:t>    </a:t>
            </a:r>
            <a:r>
              <a:rPr lang="en-US" sz="1200" dirty="0" err="1">
                <a:solidFill>
                  <a:schemeClr val="tx1"/>
                </a:solidFill>
              </a:rPr>
              <a:t>user_id</a:t>
            </a:r>
            <a:r>
              <a:rPr lang="en-US" sz="1200" dirty="0">
                <a:solidFill>
                  <a:schemeClr val="tx1"/>
                </a:solidFill>
              </a:rPr>
              <a:t> UUID PRIMARY KEY,</a:t>
            </a:r>
          </a:p>
          <a:p>
            <a:pPr>
              <a:lnSpc>
                <a:spcPct val="120000"/>
              </a:lnSpc>
              <a:spcBef>
                <a:spcPts val="0"/>
              </a:spcBef>
            </a:pPr>
            <a:r>
              <a:rPr lang="en-US" sz="1200" dirty="0">
                <a:solidFill>
                  <a:schemeClr val="tx1"/>
                </a:solidFill>
              </a:rPr>
              <a:t>    email TEXT NOT NULL UNIQUE,</a:t>
            </a:r>
          </a:p>
          <a:p>
            <a:pPr>
              <a:lnSpc>
                <a:spcPct val="120000"/>
              </a:lnSpc>
              <a:spcBef>
                <a:spcPts val="0"/>
              </a:spcBef>
            </a:pPr>
            <a:r>
              <a:rPr lang="en-US" sz="1200" dirty="0">
                <a:solidFill>
                  <a:schemeClr val="tx1"/>
                </a:solidFill>
              </a:rPr>
              <a:t>    age INT CHECK (age &gt;= 18),</a:t>
            </a:r>
          </a:p>
          <a:p>
            <a:pPr>
              <a:lnSpc>
                <a:spcPct val="120000"/>
              </a:lnSpc>
              <a:spcBef>
                <a:spcPts val="0"/>
              </a:spcBef>
            </a:pPr>
            <a:r>
              <a:rPr lang="en-US" sz="1200" dirty="0">
                <a:solidFill>
                  <a:schemeClr val="tx1"/>
                </a:solidFill>
              </a:rPr>
              <a:t>    </a:t>
            </a:r>
            <a:r>
              <a:rPr lang="en-US" sz="1200" dirty="0" err="1">
                <a:solidFill>
                  <a:schemeClr val="tx1"/>
                </a:solidFill>
              </a:rPr>
              <a:t>created_at</a:t>
            </a:r>
            <a:r>
              <a:rPr lang="en-US" sz="1200" dirty="0">
                <a:solidFill>
                  <a:schemeClr val="tx1"/>
                </a:solidFill>
              </a:rPr>
              <a:t> TIMESTAMP DEFAULT NOW(), </a:t>
            </a:r>
          </a:p>
          <a:p>
            <a:pPr>
              <a:lnSpc>
                <a:spcPct val="120000"/>
              </a:lnSpc>
              <a:spcBef>
                <a:spcPts val="0"/>
              </a:spcBef>
            </a:pPr>
            <a:r>
              <a:rPr lang="en-US" sz="1200" dirty="0">
                <a:solidFill>
                  <a:schemeClr val="tx1"/>
                </a:solidFill>
              </a:rPr>
              <a:t>    banned BOOLEAN,</a:t>
            </a:r>
          </a:p>
          <a:p>
            <a:pPr>
              <a:lnSpc>
                <a:spcPct val="120000"/>
              </a:lnSpc>
              <a:spcBef>
                <a:spcPts val="0"/>
              </a:spcBef>
            </a:pPr>
            <a:r>
              <a:rPr lang="en-US" sz="1200" dirty="0">
                <a:solidFill>
                  <a:schemeClr val="tx1"/>
                </a:solidFill>
              </a:rPr>
              <a:t>    </a:t>
            </a:r>
            <a:r>
              <a:rPr lang="en-US" sz="1200" dirty="0" err="1">
                <a:solidFill>
                  <a:schemeClr val="tx1"/>
                </a:solidFill>
              </a:rPr>
              <a:t>last_login</a:t>
            </a:r>
            <a:r>
              <a:rPr lang="en-US" sz="1200" dirty="0">
                <a:solidFill>
                  <a:schemeClr val="tx1"/>
                </a:solidFill>
              </a:rPr>
              <a:t> TIMESTAMP,</a:t>
            </a:r>
          </a:p>
          <a:p>
            <a:pPr>
              <a:lnSpc>
                <a:spcPct val="120000"/>
              </a:lnSpc>
              <a:spcBef>
                <a:spcPts val="0"/>
              </a:spcBef>
            </a:pPr>
            <a:r>
              <a:rPr lang="en-US" sz="1200" dirty="0">
                <a:solidFill>
                  <a:schemeClr val="tx1"/>
                </a:solidFill>
              </a:rPr>
              <a:t>    </a:t>
            </a:r>
            <a:r>
              <a:rPr lang="en-US" sz="1200" dirty="0" err="1">
                <a:solidFill>
                  <a:schemeClr val="tx1"/>
                </a:solidFill>
              </a:rPr>
              <a:t>is_active</a:t>
            </a:r>
            <a:r>
              <a:rPr lang="en-US" sz="1200" dirty="0">
                <a:solidFill>
                  <a:schemeClr val="tx1"/>
                </a:solidFill>
              </a:rPr>
              <a:t> BOOLEAN</a:t>
            </a:r>
          </a:p>
          <a:p>
            <a:pPr>
              <a:lnSpc>
                <a:spcPct val="120000"/>
              </a:lnSpc>
              <a:spcBef>
                <a:spcPts val="0"/>
              </a:spcBef>
            </a:pPr>
            <a:r>
              <a:rPr lang="en-US" sz="1200" dirty="0">
                <a:solidFill>
                  <a:schemeClr val="tx1"/>
                </a:solidFill>
              </a:rPr>
              <a:t>);</a:t>
            </a:r>
          </a:p>
          <a:p>
            <a:pPr>
              <a:lnSpc>
                <a:spcPct val="120000"/>
              </a:lnSpc>
              <a:spcBef>
                <a:spcPts val="0"/>
              </a:spcBef>
            </a:pPr>
            <a:endParaRPr lang="en-US" sz="1200" dirty="0">
              <a:solidFill>
                <a:schemeClr val="tx1"/>
              </a:solidFill>
            </a:endParaRPr>
          </a:p>
          <a:p>
            <a:pPr>
              <a:lnSpc>
                <a:spcPct val="120000"/>
              </a:lnSpc>
              <a:spcBef>
                <a:spcPts val="0"/>
              </a:spcBef>
            </a:pPr>
            <a:r>
              <a:rPr lang="en-US" sz="1200" dirty="0">
                <a:solidFill>
                  <a:schemeClr val="tx1"/>
                </a:solidFill>
              </a:rPr>
              <a:t>ALTER TABLE users</a:t>
            </a:r>
          </a:p>
          <a:p>
            <a:pPr>
              <a:lnSpc>
                <a:spcPct val="120000"/>
              </a:lnSpc>
              <a:spcBef>
                <a:spcPts val="0"/>
              </a:spcBef>
            </a:pPr>
            <a:r>
              <a:rPr lang="en-US" sz="1200" dirty="0">
                <a:solidFill>
                  <a:schemeClr val="tx1"/>
                </a:solidFill>
              </a:rPr>
              <a:t>ADD COLUMN </a:t>
            </a:r>
            <a:r>
              <a:rPr lang="en-US" sz="1200" dirty="0" err="1">
                <a:solidFill>
                  <a:schemeClr val="tx1"/>
                </a:solidFill>
              </a:rPr>
              <a:t>is_active</a:t>
            </a:r>
            <a:r>
              <a:rPr lang="en-US" sz="1200" dirty="0">
                <a:solidFill>
                  <a:schemeClr val="tx1"/>
                </a:solidFill>
              </a:rPr>
              <a:t> BOOLEAN DEFAULT true;</a:t>
            </a:r>
          </a:p>
          <a:p>
            <a:pPr>
              <a:lnSpc>
                <a:spcPct val="120000"/>
              </a:lnSpc>
              <a:spcBef>
                <a:spcPts val="0"/>
              </a:spcBef>
            </a:pPr>
            <a:br>
              <a:rPr lang="en-US" sz="1200" dirty="0">
                <a:solidFill>
                  <a:schemeClr val="tx1"/>
                </a:solidFill>
              </a:rPr>
            </a:br>
            <a:endParaRPr lang="en-US" sz="1200" dirty="0">
              <a:solidFill>
                <a:schemeClr val="tx1"/>
              </a:solidFill>
            </a:endParaRPr>
          </a:p>
          <a:p>
            <a:pPr>
              <a:lnSpc>
                <a:spcPct val="120000"/>
              </a:lnSpc>
              <a:spcBef>
                <a:spcPts val="0"/>
              </a:spcBef>
            </a:pPr>
            <a:r>
              <a:rPr lang="en-US" sz="1200" dirty="0">
                <a:solidFill>
                  <a:schemeClr val="tx1"/>
                </a:solidFill>
              </a:rPr>
              <a:t>ALTER TABLE users </a:t>
            </a:r>
          </a:p>
          <a:p>
            <a:pPr>
              <a:lnSpc>
                <a:spcPct val="120000"/>
              </a:lnSpc>
              <a:spcBef>
                <a:spcPts val="0"/>
              </a:spcBef>
            </a:pPr>
            <a:r>
              <a:rPr lang="en-US" sz="1200" dirty="0">
                <a:solidFill>
                  <a:schemeClr val="tx1"/>
                </a:solidFill>
              </a:rPr>
              <a:t>ALTER COLUMN email SET NOT NULL;</a:t>
            </a:r>
          </a:p>
          <a:p>
            <a:pPr>
              <a:lnSpc>
                <a:spcPct val="120000"/>
              </a:lnSpc>
              <a:spcBef>
                <a:spcPts val="0"/>
              </a:spcBef>
            </a:pPr>
            <a:endParaRPr lang="en-US" sz="1200" dirty="0">
              <a:solidFill>
                <a:schemeClr val="tx1"/>
              </a:solidFill>
            </a:endParaRPr>
          </a:p>
        </p:txBody>
      </p:sp>
      <p:sp>
        <p:nvSpPr>
          <p:cNvPr id="5" name="TextBox 4">
            <a:extLst>
              <a:ext uri="{FF2B5EF4-FFF2-40B4-BE49-F238E27FC236}">
                <a16:creationId xmlns:a16="http://schemas.microsoft.com/office/drawing/2014/main" id="{6C9F6F78-877F-390E-0802-B9A8C5E26EEB}"/>
              </a:ext>
            </a:extLst>
          </p:cNvPr>
          <p:cNvSpPr txBox="1"/>
          <p:nvPr/>
        </p:nvSpPr>
        <p:spPr>
          <a:xfrm>
            <a:off x="6670109" y="5512479"/>
            <a:ext cx="4527348" cy="810478"/>
          </a:xfrm>
          <a:prstGeom prst="rect">
            <a:avLst/>
          </a:prstGeom>
          <a:noFill/>
        </p:spPr>
        <p:txBody>
          <a:bodyPr wrap="square">
            <a:spAutoFit/>
          </a:bodyPr>
          <a:lstStyle/>
          <a:p>
            <a:pPr>
              <a:lnSpc>
                <a:spcPts val="1425"/>
              </a:lnSpc>
              <a:buNone/>
            </a:pPr>
            <a:r>
              <a:rPr lang="en-US" sz="1200" b="0" dirty="0">
                <a:effectLst/>
                <a:latin typeface="Consolas" panose="020B0609020204030204" pitchFamily="49" charset="0"/>
              </a:rPr>
              <a:t>ALTER TABLE Track</a:t>
            </a:r>
          </a:p>
          <a:p>
            <a:pPr>
              <a:lnSpc>
                <a:spcPts val="1425"/>
              </a:lnSpc>
              <a:buNone/>
            </a:pPr>
            <a:r>
              <a:rPr lang="en-US" sz="1200" b="0" dirty="0">
                <a:effectLst/>
                <a:latin typeface="Consolas" panose="020B0609020204030204" pitchFamily="49" charset="0"/>
              </a:rPr>
              <a:t>DROP CONSTRAINT </a:t>
            </a:r>
            <a:r>
              <a:rPr lang="en-US" sz="1200" dirty="0" err="1">
                <a:latin typeface="Consolas" panose="020B0609020204030204" pitchFamily="49" charset="0"/>
              </a:rPr>
              <a:t>chk_track_unitprice_nonnegative</a:t>
            </a:r>
            <a:r>
              <a:rPr lang="en-US" sz="1200" b="0" dirty="0">
                <a:effectLst/>
                <a:latin typeface="Consolas" panose="020B0609020204030204" pitchFamily="49" charset="0"/>
              </a:rPr>
              <a:t>,</a:t>
            </a:r>
          </a:p>
          <a:p>
            <a:pPr>
              <a:lnSpc>
                <a:spcPts val="1425"/>
              </a:lnSpc>
              <a:buNone/>
            </a:pPr>
            <a:r>
              <a:rPr lang="en-US" sz="1200" b="0" dirty="0">
                <a:effectLst/>
                <a:latin typeface="Consolas" panose="020B0609020204030204" pitchFamily="49" charset="0"/>
              </a:rPr>
              <a:t>ADD CONSTRAINT </a:t>
            </a:r>
            <a:r>
              <a:rPr lang="en-US" sz="1200" dirty="0" err="1">
                <a:latin typeface="Consolas" panose="020B0609020204030204" pitchFamily="49" charset="0"/>
              </a:rPr>
              <a:t>chk_track_unitprice_nonnegative</a:t>
            </a:r>
            <a:r>
              <a:rPr lang="en-US" sz="1200" dirty="0">
                <a:latin typeface="Consolas" panose="020B0609020204030204" pitchFamily="49" charset="0"/>
              </a:rPr>
              <a:t> </a:t>
            </a:r>
            <a:r>
              <a:rPr lang="en-US" sz="1200" b="0" dirty="0">
                <a:effectLst/>
                <a:latin typeface="Consolas" panose="020B0609020204030204" pitchFamily="49" charset="0"/>
              </a:rPr>
              <a:t>CHECK (</a:t>
            </a:r>
            <a:r>
              <a:rPr lang="en-US" sz="1200" dirty="0" err="1">
                <a:latin typeface="Consolas" panose="020B0609020204030204" pitchFamily="49" charset="0"/>
              </a:rPr>
              <a:t>UnitPrice</a:t>
            </a:r>
            <a:r>
              <a:rPr lang="en-US" sz="1200" b="0" dirty="0">
                <a:effectLst/>
                <a:latin typeface="Consolas" panose="020B0609020204030204" pitchFamily="49" charset="0"/>
              </a:rPr>
              <a:t> &gt;= 0);</a:t>
            </a:r>
          </a:p>
        </p:txBody>
      </p:sp>
      <p:sp>
        <p:nvSpPr>
          <p:cNvPr id="6" name="TextBox 5">
            <a:extLst>
              <a:ext uri="{FF2B5EF4-FFF2-40B4-BE49-F238E27FC236}">
                <a16:creationId xmlns:a16="http://schemas.microsoft.com/office/drawing/2014/main" id="{6C8BFA39-367B-66B6-3B4D-FBDCCF57EAB2}"/>
              </a:ext>
            </a:extLst>
          </p:cNvPr>
          <p:cNvSpPr txBox="1"/>
          <p:nvPr/>
        </p:nvSpPr>
        <p:spPr>
          <a:xfrm>
            <a:off x="7144696" y="4406277"/>
            <a:ext cx="3433313" cy="830997"/>
          </a:xfrm>
          <a:prstGeom prst="rect">
            <a:avLst/>
          </a:prstGeom>
          <a:noFill/>
        </p:spPr>
        <p:txBody>
          <a:bodyPr wrap="square" rtlCol="0">
            <a:spAutoFit/>
          </a:bodyPr>
          <a:lstStyle/>
          <a:p>
            <a:r>
              <a:rPr lang="en-US" sz="1600" dirty="0"/>
              <a:t>Note that you need to drop and then create a new check constraint. You don’t technically ever edit one.</a:t>
            </a:r>
          </a:p>
        </p:txBody>
      </p:sp>
      <p:sp>
        <p:nvSpPr>
          <p:cNvPr id="7" name="TextBox 6">
            <a:extLst>
              <a:ext uri="{FF2B5EF4-FFF2-40B4-BE49-F238E27FC236}">
                <a16:creationId xmlns:a16="http://schemas.microsoft.com/office/drawing/2014/main" id="{B19F28FF-5A6B-2B1C-D92A-38917B39ED8D}"/>
              </a:ext>
            </a:extLst>
          </p:cNvPr>
          <p:cNvSpPr txBox="1"/>
          <p:nvPr/>
        </p:nvSpPr>
        <p:spPr>
          <a:xfrm>
            <a:off x="7059997" y="2561412"/>
            <a:ext cx="3602710" cy="1569660"/>
          </a:xfrm>
          <a:prstGeom prst="rect">
            <a:avLst/>
          </a:prstGeom>
          <a:noFill/>
        </p:spPr>
        <p:txBody>
          <a:bodyPr wrap="square">
            <a:spAutoFit/>
          </a:bodyPr>
          <a:lstStyle/>
          <a:p>
            <a:r>
              <a:rPr lang="en-US" sz="1200" dirty="0"/>
              <a:t>CREATE TABLE Track (</a:t>
            </a:r>
          </a:p>
          <a:p>
            <a:r>
              <a:rPr lang="en-US" sz="1200" dirty="0"/>
              <a:t>    </a:t>
            </a:r>
            <a:r>
              <a:rPr lang="en-US" sz="1200" dirty="0" err="1"/>
              <a:t>TrackId</a:t>
            </a:r>
            <a:r>
              <a:rPr lang="en-US" sz="1200" dirty="0"/>
              <a:t> INTEGER PRIMARY KEY,</a:t>
            </a:r>
          </a:p>
          <a:p>
            <a:r>
              <a:rPr lang="en-US" sz="1200" dirty="0"/>
              <a:t>    Name VARCHAR(200) NOT NULL,</a:t>
            </a:r>
          </a:p>
          <a:p>
            <a:r>
              <a:rPr lang="en-US" sz="1200" dirty="0"/>
              <a:t>    </a:t>
            </a:r>
            <a:r>
              <a:rPr lang="en-US" sz="1200" dirty="0" err="1"/>
              <a:t>UnitPrice</a:t>
            </a:r>
            <a:r>
              <a:rPr lang="en-US" sz="1200" dirty="0"/>
              <a:t> NUMERIC(10, 2),</a:t>
            </a:r>
          </a:p>
          <a:p>
            <a:endParaRPr lang="en-US" sz="1200" dirty="0"/>
          </a:p>
          <a:p>
            <a:r>
              <a:rPr lang="en-US" sz="1200" dirty="0"/>
              <a:t>    CONSTRAINT </a:t>
            </a:r>
            <a:r>
              <a:rPr lang="en-US" sz="1200" dirty="0" err="1"/>
              <a:t>chk_track_unitprice_nonnegative</a:t>
            </a:r>
            <a:endParaRPr lang="en-US" sz="1200" dirty="0"/>
          </a:p>
          <a:p>
            <a:r>
              <a:rPr lang="en-US" sz="1200" dirty="0"/>
              <a:t>        CHECK (</a:t>
            </a:r>
            <a:r>
              <a:rPr lang="en-US" sz="1200" dirty="0" err="1"/>
              <a:t>UnitPrice</a:t>
            </a:r>
            <a:r>
              <a:rPr lang="en-US" sz="1200" dirty="0"/>
              <a:t> &gt; 0)</a:t>
            </a:r>
          </a:p>
          <a:p>
            <a:r>
              <a:rPr lang="en-US" sz="1200" dirty="0"/>
              <a:t>);</a:t>
            </a:r>
          </a:p>
        </p:txBody>
      </p:sp>
      <p:sp>
        <p:nvSpPr>
          <p:cNvPr id="8" name="TextBox 7">
            <a:extLst>
              <a:ext uri="{FF2B5EF4-FFF2-40B4-BE49-F238E27FC236}">
                <a16:creationId xmlns:a16="http://schemas.microsoft.com/office/drawing/2014/main" id="{FA7DE355-0BDB-D8B3-3592-C76EEFA79E1E}"/>
              </a:ext>
            </a:extLst>
          </p:cNvPr>
          <p:cNvSpPr txBox="1"/>
          <p:nvPr/>
        </p:nvSpPr>
        <p:spPr>
          <a:xfrm>
            <a:off x="6778162" y="2138684"/>
            <a:ext cx="3354765" cy="369332"/>
          </a:xfrm>
          <a:prstGeom prst="rect">
            <a:avLst/>
          </a:prstGeom>
          <a:noFill/>
        </p:spPr>
        <p:txBody>
          <a:bodyPr wrap="none" rtlCol="0">
            <a:spAutoFit/>
          </a:bodyPr>
          <a:lstStyle/>
          <a:p>
            <a:r>
              <a:rPr lang="en-US" dirty="0"/>
              <a:t>Explicitly named check constraint:</a:t>
            </a:r>
          </a:p>
        </p:txBody>
      </p:sp>
      <p:sp>
        <p:nvSpPr>
          <p:cNvPr id="10" name="TextBox 9">
            <a:extLst>
              <a:ext uri="{FF2B5EF4-FFF2-40B4-BE49-F238E27FC236}">
                <a16:creationId xmlns:a16="http://schemas.microsoft.com/office/drawing/2014/main" id="{0078AB69-D799-B51B-B14E-B77E361AB0A1}"/>
              </a:ext>
            </a:extLst>
          </p:cNvPr>
          <p:cNvSpPr txBox="1"/>
          <p:nvPr/>
        </p:nvSpPr>
        <p:spPr>
          <a:xfrm>
            <a:off x="1218694" y="2138684"/>
            <a:ext cx="2284151" cy="369332"/>
          </a:xfrm>
          <a:prstGeom prst="rect">
            <a:avLst/>
          </a:prstGeom>
          <a:noFill/>
        </p:spPr>
        <p:txBody>
          <a:bodyPr wrap="none" rtlCol="0">
            <a:spAutoFit/>
          </a:bodyPr>
          <a:lstStyle/>
          <a:p>
            <a:r>
              <a:rPr lang="en-US" dirty="0"/>
              <a:t>Create + Alter a table:</a:t>
            </a:r>
          </a:p>
        </p:txBody>
      </p:sp>
    </p:spTree>
    <p:extLst>
      <p:ext uri="{BB962C8B-B14F-4D97-AF65-F5344CB8AC3E}">
        <p14:creationId xmlns:p14="http://schemas.microsoft.com/office/powerpoint/2010/main" val="5685042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FA4B8-BD92-96D9-F964-B5238200968C}"/>
              </a:ext>
            </a:extLst>
          </p:cNvPr>
          <p:cNvSpPr>
            <a:spLocks noGrp="1"/>
          </p:cNvSpPr>
          <p:nvPr>
            <p:ph type="title"/>
          </p:nvPr>
        </p:nvSpPr>
        <p:spPr/>
        <p:txBody>
          <a:bodyPr/>
          <a:lstStyle/>
          <a:p>
            <a:r>
              <a:rPr lang="en-US" dirty="0"/>
              <a:t>Postgres specific – rename columns</a:t>
            </a:r>
          </a:p>
        </p:txBody>
      </p:sp>
      <p:sp>
        <p:nvSpPr>
          <p:cNvPr id="5" name="TextBox 4">
            <a:extLst>
              <a:ext uri="{FF2B5EF4-FFF2-40B4-BE49-F238E27FC236}">
                <a16:creationId xmlns:a16="http://schemas.microsoft.com/office/drawing/2014/main" id="{9FD8B700-2DAB-CA5F-8603-2A0FF1364980}"/>
              </a:ext>
            </a:extLst>
          </p:cNvPr>
          <p:cNvSpPr txBox="1"/>
          <p:nvPr/>
        </p:nvSpPr>
        <p:spPr>
          <a:xfrm>
            <a:off x="3148730" y="3155226"/>
            <a:ext cx="6490048" cy="646331"/>
          </a:xfrm>
          <a:prstGeom prst="rect">
            <a:avLst/>
          </a:prstGeom>
          <a:noFill/>
        </p:spPr>
        <p:txBody>
          <a:bodyPr wrap="square">
            <a:spAutoFit/>
          </a:bodyPr>
          <a:lstStyle/>
          <a:p>
            <a:r>
              <a:rPr lang="en-US" dirty="0"/>
              <a:t>ALTER TABLE </a:t>
            </a:r>
            <a:r>
              <a:rPr lang="en-US" dirty="0" err="1"/>
              <a:t>table_name</a:t>
            </a:r>
            <a:endParaRPr lang="en-US" dirty="0"/>
          </a:p>
          <a:p>
            <a:r>
              <a:rPr lang="en-US" dirty="0"/>
              <a:t>RENAME COLUMN </a:t>
            </a:r>
            <a:r>
              <a:rPr lang="en-US" dirty="0" err="1"/>
              <a:t>old_column_name</a:t>
            </a:r>
            <a:r>
              <a:rPr lang="en-US" dirty="0"/>
              <a:t> TO </a:t>
            </a:r>
            <a:r>
              <a:rPr lang="en-US" dirty="0" err="1"/>
              <a:t>new_column_name</a:t>
            </a:r>
            <a:r>
              <a:rPr lang="en-US" dirty="0"/>
              <a:t>;</a:t>
            </a:r>
          </a:p>
        </p:txBody>
      </p:sp>
      <p:sp>
        <p:nvSpPr>
          <p:cNvPr id="4" name="Rectangle 3">
            <a:extLst>
              <a:ext uri="{FF2B5EF4-FFF2-40B4-BE49-F238E27FC236}">
                <a16:creationId xmlns:a16="http://schemas.microsoft.com/office/drawing/2014/main" id="{6CE79AC4-3169-0A09-A6F3-B7C0CAD49691}"/>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0797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DB742-A017-212E-229F-A98C0C5FC14B}"/>
              </a:ext>
            </a:extLst>
          </p:cNvPr>
          <p:cNvSpPr>
            <a:spLocks noGrp="1"/>
          </p:cNvSpPr>
          <p:nvPr>
            <p:ph type="title"/>
          </p:nvPr>
        </p:nvSpPr>
        <p:spPr/>
        <p:txBody>
          <a:bodyPr/>
          <a:lstStyle/>
          <a:p>
            <a:r>
              <a:rPr lang="en-US" dirty="0"/>
              <a:t>Foreign Key</a:t>
            </a:r>
          </a:p>
        </p:txBody>
      </p:sp>
      <p:sp>
        <p:nvSpPr>
          <p:cNvPr id="4" name="Text Placeholder 2">
            <a:extLst>
              <a:ext uri="{FF2B5EF4-FFF2-40B4-BE49-F238E27FC236}">
                <a16:creationId xmlns:a16="http://schemas.microsoft.com/office/drawing/2014/main" id="{82A459C3-B45C-4ED9-C77D-27B036A45601}"/>
              </a:ext>
            </a:extLst>
          </p:cNvPr>
          <p:cNvSpPr txBox="1">
            <a:spLocks/>
          </p:cNvSpPr>
          <p:nvPr/>
        </p:nvSpPr>
        <p:spPr>
          <a:xfrm>
            <a:off x="1656713" y="3429000"/>
            <a:ext cx="8229240" cy="2982960"/>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Bef>
                <a:spcPts val="0"/>
              </a:spcBef>
            </a:pPr>
            <a:r>
              <a:rPr lang="en-US" sz="2000">
                <a:solidFill>
                  <a:schemeClr val="tx1"/>
                </a:solidFill>
              </a:rPr>
              <a:t>Short form:</a:t>
            </a:r>
          </a:p>
          <a:p>
            <a:pPr>
              <a:spcBef>
                <a:spcPts val="0"/>
              </a:spcBef>
            </a:pPr>
            <a:r>
              <a:rPr lang="en-US" sz="2000">
                <a:solidFill>
                  <a:schemeClr val="tx1"/>
                </a:solidFill>
              </a:rPr>
              <a:t>CREATE TABLE IF NOT EXISTS orders (</a:t>
            </a:r>
          </a:p>
          <a:p>
            <a:pPr>
              <a:spcBef>
                <a:spcPts val="0"/>
              </a:spcBef>
            </a:pPr>
            <a:r>
              <a:rPr lang="en-US" sz="2000">
                <a:solidFill>
                  <a:schemeClr val="tx1"/>
                </a:solidFill>
              </a:rPr>
              <a:t>    order_id UUID PRIMARY KEY,</a:t>
            </a:r>
          </a:p>
          <a:p>
            <a:pPr>
              <a:spcBef>
                <a:spcPts val="0"/>
              </a:spcBef>
            </a:pPr>
            <a:r>
              <a:rPr lang="en-US" sz="2000">
                <a:solidFill>
                  <a:schemeClr val="tx1"/>
                </a:solidFill>
              </a:rPr>
              <a:t>    user_id UUID NOT NULL REFERENCES users(user_id)</a:t>
            </a:r>
          </a:p>
          <a:p>
            <a:pPr>
              <a:spcBef>
                <a:spcPts val="0"/>
              </a:spcBef>
            </a:pPr>
            <a:r>
              <a:rPr lang="en-US" sz="2000">
                <a:solidFill>
                  <a:schemeClr val="tx1"/>
                </a:solidFill>
              </a:rPr>
              <a:t>);</a:t>
            </a:r>
          </a:p>
          <a:p>
            <a:pPr>
              <a:spcBef>
                <a:spcPts val="0"/>
              </a:spcBef>
            </a:pPr>
            <a:r>
              <a:rPr lang="en-US" sz="2000">
                <a:solidFill>
                  <a:schemeClr val="tx1"/>
                </a:solidFill>
              </a:rPr>
              <a:t>Full form:</a:t>
            </a:r>
          </a:p>
          <a:p>
            <a:pPr>
              <a:spcBef>
                <a:spcPts val="0"/>
              </a:spcBef>
            </a:pPr>
            <a:r>
              <a:rPr lang="en-US" sz="2000">
                <a:solidFill>
                  <a:schemeClr val="tx1"/>
                </a:solidFill>
              </a:rPr>
              <a:t>CREATE TABLE orders (</a:t>
            </a:r>
          </a:p>
          <a:p>
            <a:pPr>
              <a:spcBef>
                <a:spcPts val="0"/>
              </a:spcBef>
            </a:pPr>
            <a:r>
              <a:rPr lang="en-US" sz="2000">
                <a:solidFill>
                  <a:schemeClr val="tx1"/>
                </a:solidFill>
              </a:rPr>
              <a:t>    order_id UUID PRIMARY KEY,</a:t>
            </a:r>
          </a:p>
          <a:p>
            <a:pPr>
              <a:spcBef>
                <a:spcPts val="0"/>
              </a:spcBef>
            </a:pPr>
            <a:r>
              <a:rPr lang="en-US" sz="2000">
                <a:solidFill>
                  <a:schemeClr val="tx1"/>
                </a:solidFill>
              </a:rPr>
              <a:t>    user_id UUID,</a:t>
            </a:r>
          </a:p>
          <a:p>
            <a:pPr>
              <a:spcBef>
                <a:spcPts val="0"/>
              </a:spcBef>
            </a:pPr>
            <a:r>
              <a:rPr lang="en-US" sz="2000">
                <a:solidFill>
                  <a:schemeClr val="tx1"/>
                </a:solidFill>
              </a:rPr>
              <a:t>    FOREIGN KEY (user_id)</a:t>
            </a:r>
          </a:p>
          <a:p>
            <a:pPr>
              <a:spcBef>
                <a:spcPts val="0"/>
              </a:spcBef>
            </a:pPr>
            <a:r>
              <a:rPr lang="en-US" sz="2000">
                <a:solidFill>
                  <a:schemeClr val="tx1"/>
                </a:solidFill>
              </a:rPr>
              <a:t>        REFERENCES users(user_id)</a:t>
            </a:r>
          </a:p>
          <a:p>
            <a:pPr>
              <a:spcBef>
                <a:spcPts val="0"/>
              </a:spcBef>
            </a:pPr>
            <a:r>
              <a:rPr lang="en-US" sz="2000">
                <a:solidFill>
                  <a:schemeClr val="tx1"/>
                </a:solidFill>
              </a:rPr>
              <a:t>        ON DELETE SET NULL</a:t>
            </a:r>
          </a:p>
          <a:p>
            <a:pPr>
              <a:spcBef>
                <a:spcPts val="0"/>
              </a:spcBef>
            </a:pPr>
            <a:r>
              <a:rPr lang="en-US" sz="2000">
                <a:solidFill>
                  <a:schemeClr val="tx1"/>
                </a:solidFill>
              </a:rPr>
              <a:t>);</a:t>
            </a:r>
          </a:p>
          <a:p>
            <a:pPr>
              <a:spcBef>
                <a:spcPts val="0"/>
              </a:spcBef>
            </a:pPr>
            <a:endParaRPr lang="en-US" sz="2000" dirty="0">
              <a:solidFill>
                <a:schemeClr val="tx1"/>
              </a:solidFill>
            </a:endParaRPr>
          </a:p>
        </p:txBody>
      </p:sp>
      <p:sp>
        <p:nvSpPr>
          <p:cNvPr id="5" name="TextBox 4">
            <a:extLst>
              <a:ext uri="{FF2B5EF4-FFF2-40B4-BE49-F238E27FC236}">
                <a16:creationId xmlns:a16="http://schemas.microsoft.com/office/drawing/2014/main" id="{6808ECAC-F573-C59C-2028-5B13B996F20F}"/>
              </a:ext>
            </a:extLst>
          </p:cNvPr>
          <p:cNvSpPr txBox="1"/>
          <p:nvPr/>
        </p:nvSpPr>
        <p:spPr>
          <a:xfrm>
            <a:off x="6296811" y="5348283"/>
            <a:ext cx="3433313" cy="923330"/>
          </a:xfrm>
          <a:prstGeom prst="rect">
            <a:avLst/>
          </a:prstGeom>
          <a:noFill/>
        </p:spPr>
        <p:txBody>
          <a:bodyPr wrap="square" rtlCol="0">
            <a:spAutoFit/>
          </a:bodyPr>
          <a:lstStyle/>
          <a:p>
            <a:r>
              <a:rPr lang="en-US" dirty="0"/>
              <a:t>Note that we can also set:</a:t>
            </a:r>
          </a:p>
          <a:p>
            <a:r>
              <a:rPr lang="en-US" dirty="0"/>
              <a:t>ON DELETE CASCADE</a:t>
            </a:r>
          </a:p>
          <a:p>
            <a:r>
              <a:rPr lang="en-US" dirty="0"/>
              <a:t>ON UPDATE CASCADE</a:t>
            </a:r>
          </a:p>
        </p:txBody>
      </p:sp>
    </p:spTree>
    <p:extLst>
      <p:ext uri="{BB962C8B-B14F-4D97-AF65-F5344CB8AC3E}">
        <p14:creationId xmlns:p14="http://schemas.microsoft.com/office/powerpoint/2010/main" val="17494092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889DD-1D36-4EF2-408C-45DDCAE3828B}"/>
              </a:ext>
            </a:extLst>
          </p:cNvPr>
          <p:cNvSpPr>
            <a:spLocks noGrp="1"/>
          </p:cNvSpPr>
          <p:nvPr>
            <p:ph type="title"/>
          </p:nvPr>
        </p:nvSpPr>
        <p:spPr/>
        <p:txBody>
          <a:bodyPr/>
          <a:lstStyle/>
          <a:p>
            <a:r>
              <a:rPr lang="en-US" dirty="0"/>
              <a:t>Insert &amp; update</a:t>
            </a:r>
          </a:p>
        </p:txBody>
      </p:sp>
      <p:sp>
        <p:nvSpPr>
          <p:cNvPr id="4" name="Text Placeholder 2">
            <a:extLst>
              <a:ext uri="{FF2B5EF4-FFF2-40B4-BE49-F238E27FC236}">
                <a16:creationId xmlns:a16="http://schemas.microsoft.com/office/drawing/2014/main" id="{BC771466-1E99-2F7C-5074-E54D7728E9CD}"/>
              </a:ext>
            </a:extLst>
          </p:cNvPr>
          <p:cNvSpPr txBox="1">
            <a:spLocks/>
          </p:cNvSpPr>
          <p:nvPr/>
        </p:nvSpPr>
        <p:spPr>
          <a:xfrm>
            <a:off x="1014608" y="2669026"/>
            <a:ext cx="4781330" cy="298296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400" dirty="0">
                <a:solidFill>
                  <a:schemeClr val="tx1"/>
                </a:solidFill>
              </a:rPr>
              <a:t>INSERT INTO users (</a:t>
            </a:r>
            <a:r>
              <a:rPr lang="en-US" sz="1400" dirty="0" err="1">
                <a:solidFill>
                  <a:schemeClr val="tx1"/>
                </a:solidFill>
              </a:rPr>
              <a:t>user_id</a:t>
            </a:r>
            <a:r>
              <a:rPr lang="en-US" sz="1400" dirty="0">
                <a:solidFill>
                  <a:schemeClr val="tx1"/>
                </a:solidFill>
              </a:rPr>
              <a:t>, email)</a:t>
            </a:r>
          </a:p>
          <a:p>
            <a:r>
              <a:rPr lang="en-US" sz="1400" dirty="0">
                <a:solidFill>
                  <a:schemeClr val="tx1"/>
                </a:solidFill>
              </a:rPr>
              <a:t>VALUES</a:t>
            </a:r>
          </a:p>
          <a:p>
            <a:r>
              <a:rPr lang="en-US" sz="1400" dirty="0">
                <a:solidFill>
                  <a:schemeClr val="tx1"/>
                </a:solidFill>
              </a:rPr>
              <a:t>    (</a:t>
            </a:r>
            <a:r>
              <a:rPr lang="en-US" sz="1400" dirty="0" err="1">
                <a:solidFill>
                  <a:schemeClr val="tx1"/>
                </a:solidFill>
              </a:rPr>
              <a:t>gen_random_uuid</a:t>
            </a:r>
            <a:r>
              <a:rPr lang="en-US" sz="1400" dirty="0">
                <a:solidFill>
                  <a:schemeClr val="tx1"/>
                </a:solidFill>
              </a:rPr>
              <a:t>(), 'a@example.com'),</a:t>
            </a:r>
          </a:p>
          <a:p>
            <a:r>
              <a:rPr lang="en-US" sz="1400" dirty="0">
                <a:solidFill>
                  <a:schemeClr val="tx1"/>
                </a:solidFill>
              </a:rPr>
              <a:t>    (</a:t>
            </a:r>
            <a:r>
              <a:rPr lang="en-US" sz="1400" dirty="0" err="1">
                <a:solidFill>
                  <a:schemeClr val="tx1"/>
                </a:solidFill>
              </a:rPr>
              <a:t>gen_random_uuid</a:t>
            </a:r>
            <a:r>
              <a:rPr lang="en-US" sz="1400" dirty="0">
                <a:solidFill>
                  <a:schemeClr val="tx1"/>
                </a:solidFill>
              </a:rPr>
              <a:t>(), 'b@example.com');</a:t>
            </a:r>
          </a:p>
          <a:p>
            <a:br>
              <a:rPr lang="en-US" sz="1400" dirty="0">
                <a:solidFill>
                  <a:schemeClr val="tx1"/>
                </a:solidFill>
              </a:rPr>
            </a:br>
            <a:endParaRPr lang="en-US" sz="1400" dirty="0">
              <a:solidFill>
                <a:schemeClr val="tx1"/>
              </a:solidFill>
            </a:endParaRPr>
          </a:p>
          <a:p>
            <a:r>
              <a:rPr lang="en-US" sz="1400" dirty="0">
                <a:solidFill>
                  <a:schemeClr val="tx1"/>
                </a:solidFill>
              </a:rPr>
              <a:t>UPDATE users </a:t>
            </a:r>
          </a:p>
          <a:p>
            <a:r>
              <a:rPr lang="en-US" sz="1400" dirty="0">
                <a:solidFill>
                  <a:schemeClr val="tx1"/>
                </a:solidFill>
              </a:rPr>
              <a:t>SET email = 'new@example.com'</a:t>
            </a:r>
          </a:p>
          <a:p>
            <a:r>
              <a:rPr lang="en-US" sz="1400" dirty="0">
                <a:solidFill>
                  <a:schemeClr val="tx1"/>
                </a:solidFill>
              </a:rPr>
              <a:t>WHERE </a:t>
            </a:r>
            <a:r>
              <a:rPr lang="en-US" sz="1400" dirty="0" err="1">
                <a:solidFill>
                  <a:schemeClr val="tx1"/>
                </a:solidFill>
              </a:rPr>
              <a:t>user_id</a:t>
            </a:r>
            <a:r>
              <a:rPr lang="en-US" sz="1400" dirty="0">
                <a:solidFill>
                  <a:schemeClr val="tx1"/>
                </a:solidFill>
              </a:rPr>
              <a:t> = 'something';</a:t>
            </a:r>
          </a:p>
          <a:p>
            <a:endParaRPr lang="en-US" sz="1400" dirty="0">
              <a:solidFill>
                <a:schemeClr val="tx1"/>
              </a:solidFill>
            </a:endParaRPr>
          </a:p>
        </p:txBody>
      </p:sp>
      <p:sp>
        <p:nvSpPr>
          <p:cNvPr id="5" name="TextBox 4">
            <a:extLst>
              <a:ext uri="{FF2B5EF4-FFF2-40B4-BE49-F238E27FC236}">
                <a16:creationId xmlns:a16="http://schemas.microsoft.com/office/drawing/2014/main" id="{DB966709-3E67-A6B8-158A-EF80F70FE430}"/>
              </a:ext>
            </a:extLst>
          </p:cNvPr>
          <p:cNvSpPr txBox="1"/>
          <p:nvPr/>
        </p:nvSpPr>
        <p:spPr>
          <a:xfrm>
            <a:off x="6096000" y="2924181"/>
            <a:ext cx="4965596" cy="2979405"/>
          </a:xfrm>
          <a:prstGeom prst="rect">
            <a:avLst/>
          </a:prstGeom>
          <a:noFill/>
        </p:spPr>
        <p:txBody>
          <a:bodyPr wrap="square">
            <a:spAutoFit/>
          </a:bodyPr>
          <a:lstStyle/>
          <a:p>
            <a:pPr>
              <a:lnSpc>
                <a:spcPts val="1425"/>
              </a:lnSpc>
              <a:buNone/>
            </a:pPr>
            <a:r>
              <a:rPr lang="en-US" b="0" dirty="0">
                <a:effectLst/>
                <a:latin typeface="Consolas" panose="020B0609020204030204" pitchFamily="49" charset="0"/>
              </a:rPr>
              <a:t>UPDATE users </a:t>
            </a:r>
          </a:p>
          <a:p>
            <a:pPr>
              <a:lnSpc>
                <a:spcPts val="1425"/>
              </a:lnSpc>
              <a:buNone/>
            </a:pPr>
            <a:r>
              <a:rPr lang="en-US" b="0" dirty="0">
                <a:effectLst/>
                <a:latin typeface="Consolas" panose="020B0609020204030204" pitchFamily="49" charset="0"/>
              </a:rPr>
              <a:t>SET </a:t>
            </a:r>
          </a:p>
          <a:p>
            <a:pPr>
              <a:lnSpc>
                <a:spcPts val="1425"/>
              </a:lnSpc>
              <a:buNone/>
            </a:pPr>
            <a:r>
              <a:rPr lang="en-US" b="0" dirty="0">
                <a:effectLst/>
                <a:latin typeface="Consolas" panose="020B0609020204030204" pitchFamily="49" charset="0"/>
              </a:rPr>
              <a:t>    email = 'new@example.com',</a:t>
            </a:r>
          </a:p>
          <a:p>
            <a:pPr>
              <a:lnSpc>
                <a:spcPts val="1425"/>
              </a:lnSpc>
              <a:buNone/>
            </a:pPr>
            <a:r>
              <a:rPr lang="en-US" b="0" dirty="0">
                <a:effectLst/>
                <a:latin typeface="Consolas" panose="020B0609020204030204" pitchFamily="49" charset="0"/>
              </a:rPr>
              <a:t>    age = 24,</a:t>
            </a:r>
          </a:p>
          <a:p>
            <a:pPr>
              <a:lnSpc>
                <a:spcPts val="1425"/>
              </a:lnSpc>
              <a:buNone/>
            </a:pPr>
            <a:r>
              <a:rPr lang="en-US" b="0" dirty="0">
                <a:effectLst/>
                <a:latin typeface="Consolas" panose="020B0609020204030204" pitchFamily="49" charset="0"/>
              </a:rPr>
              <a:t>    </a:t>
            </a:r>
            <a:r>
              <a:rPr lang="en-US" b="0" dirty="0" err="1">
                <a:effectLst/>
                <a:latin typeface="Consolas" panose="020B0609020204030204" pitchFamily="49" charset="0"/>
              </a:rPr>
              <a:t>last_login</a:t>
            </a:r>
            <a:r>
              <a:rPr lang="en-US" b="0" dirty="0">
                <a:effectLst/>
                <a:latin typeface="Consolas" panose="020B0609020204030204" pitchFamily="49" charset="0"/>
              </a:rPr>
              <a:t> = NOW()</a:t>
            </a:r>
          </a:p>
          <a:p>
            <a:pPr>
              <a:lnSpc>
                <a:spcPts val="1425"/>
              </a:lnSpc>
              <a:buNone/>
            </a:pPr>
            <a:r>
              <a:rPr lang="en-US" b="0" dirty="0">
                <a:effectLst/>
                <a:latin typeface="Consolas" panose="020B0609020204030204" pitchFamily="49" charset="0"/>
              </a:rPr>
              <a:t>WHERE </a:t>
            </a:r>
            <a:r>
              <a:rPr lang="en-US" b="0" dirty="0" err="1">
                <a:effectLst/>
                <a:latin typeface="Consolas" panose="020B0609020204030204" pitchFamily="49" charset="0"/>
              </a:rPr>
              <a:t>user_id</a:t>
            </a:r>
            <a:r>
              <a:rPr lang="en-US" b="0" dirty="0">
                <a:effectLst/>
                <a:latin typeface="Consolas" panose="020B0609020204030204" pitchFamily="49" charset="0"/>
              </a:rPr>
              <a:t> = 'something';</a:t>
            </a:r>
          </a:p>
          <a:p>
            <a:pPr>
              <a:lnSpc>
                <a:spcPts val="1425"/>
              </a:lnSpc>
              <a:buNone/>
            </a:pPr>
            <a:br>
              <a:rPr lang="en-US" b="0" dirty="0">
                <a:effectLst/>
                <a:latin typeface="Consolas" panose="020B0609020204030204" pitchFamily="49" charset="0"/>
              </a:rPr>
            </a:br>
            <a:endParaRPr lang="en-US" b="0" dirty="0">
              <a:effectLst/>
              <a:latin typeface="Consolas" panose="020B0609020204030204" pitchFamily="49" charset="0"/>
            </a:endParaRPr>
          </a:p>
          <a:p>
            <a:pPr>
              <a:lnSpc>
                <a:spcPts val="1425"/>
              </a:lnSpc>
              <a:buNone/>
            </a:pPr>
            <a:r>
              <a:rPr lang="en-US" b="0" dirty="0">
                <a:effectLst/>
                <a:latin typeface="Consolas" panose="020B0609020204030204" pitchFamily="49" charset="0"/>
              </a:rPr>
              <a:t>UPDATE users</a:t>
            </a:r>
          </a:p>
          <a:p>
            <a:pPr>
              <a:lnSpc>
                <a:spcPts val="1425"/>
              </a:lnSpc>
              <a:buNone/>
            </a:pPr>
            <a:r>
              <a:rPr lang="en-US" b="0" dirty="0">
                <a:effectLst/>
                <a:latin typeface="Consolas" panose="020B0609020204030204" pitchFamily="49" charset="0"/>
              </a:rPr>
              <a:t>SET </a:t>
            </a:r>
          </a:p>
          <a:p>
            <a:pPr>
              <a:lnSpc>
                <a:spcPts val="1425"/>
              </a:lnSpc>
              <a:buNone/>
            </a:pPr>
            <a:r>
              <a:rPr lang="en-US" b="0" dirty="0">
                <a:effectLst/>
                <a:latin typeface="Consolas" panose="020B0609020204030204" pitchFamily="49" charset="0"/>
              </a:rPr>
              <a:t> </a:t>
            </a:r>
            <a:r>
              <a:rPr lang="en-US" b="0" dirty="0" err="1">
                <a:effectLst/>
                <a:latin typeface="Consolas" panose="020B0609020204030204" pitchFamily="49" charset="0"/>
              </a:rPr>
              <a:t>is_active</a:t>
            </a:r>
            <a:r>
              <a:rPr lang="en-US" b="0" dirty="0">
                <a:effectLst/>
                <a:latin typeface="Consolas" panose="020B0609020204030204" pitchFamily="49" charset="0"/>
              </a:rPr>
              <a:t> = CASE </a:t>
            </a:r>
          </a:p>
          <a:p>
            <a:pPr>
              <a:lnSpc>
                <a:spcPts val="1425"/>
              </a:lnSpc>
              <a:buNone/>
            </a:pPr>
            <a:r>
              <a:rPr lang="en-US" b="0" dirty="0">
                <a:effectLst/>
                <a:latin typeface="Consolas" panose="020B0609020204030204" pitchFamily="49" charset="0"/>
              </a:rPr>
              <a:t>     WHEN banned = false THEN true</a:t>
            </a:r>
          </a:p>
          <a:p>
            <a:pPr>
              <a:lnSpc>
                <a:spcPts val="1425"/>
              </a:lnSpc>
              <a:buNone/>
            </a:pPr>
            <a:r>
              <a:rPr lang="en-US" b="0" dirty="0">
                <a:effectLst/>
                <a:latin typeface="Consolas" panose="020B0609020204030204" pitchFamily="49" charset="0"/>
              </a:rPr>
              <a:t>     ELSE true </a:t>
            </a:r>
          </a:p>
          <a:p>
            <a:pPr>
              <a:lnSpc>
                <a:spcPts val="1425"/>
              </a:lnSpc>
              <a:buNone/>
            </a:pPr>
            <a:r>
              <a:rPr lang="en-US" b="0" dirty="0">
                <a:effectLst/>
                <a:latin typeface="Consolas" panose="020B0609020204030204" pitchFamily="49" charset="0"/>
              </a:rPr>
              <a:t> END, </a:t>
            </a:r>
          </a:p>
          <a:p>
            <a:pPr>
              <a:lnSpc>
                <a:spcPts val="1425"/>
              </a:lnSpc>
              <a:buNone/>
            </a:pPr>
            <a:r>
              <a:rPr lang="en-US" b="0" dirty="0">
                <a:effectLst/>
                <a:latin typeface="Consolas" panose="020B0609020204030204" pitchFamily="49" charset="0"/>
              </a:rPr>
              <a:t> </a:t>
            </a:r>
            <a:r>
              <a:rPr lang="en-US" b="0" dirty="0" err="1">
                <a:effectLst/>
                <a:latin typeface="Consolas" panose="020B0609020204030204" pitchFamily="49" charset="0"/>
              </a:rPr>
              <a:t>last_login</a:t>
            </a:r>
            <a:r>
              <a:rPr lang="en-US" b="0" dirty="0">
                <a:effectLst/>
                <a:latin typeface="Consolas" panose="020B0609020204030204" pitchFamily="49" charset="0"/>
              </a:rPr>
              <a:t> = NOW()</a:t>
            </a:r>
          </a:p>
          <a:p>
            <a:pPr>
              <a:lnSpc>
                <a:spcPts val="1425"/>
              </a:lnSpc>
              <a:buNone/>
            </a:pPr>
            <a:r>
              <a:rPr lang="en-US" b="0" dirty="0">
                <a:effectLst/>
                <a:latin typeface="Consolas" panose="020B0609020204030204" pitchFamily="49" charset="0"/>
              </a:rPr>
              <a:t>WHERE </a:t>
            </a:r>
            <a:r>
              <a:rPr lang="en-US" b="0" dirty="0" err="1">
                <a:effectLst/>
                <a:latin typeface="Consolas" panose="020B0609020204030204" pitchFamily="49" charset="0"/>
              </a:rPr>
              <a:t>user_id</a:t>
            </a:r>
            <a:r>
              <a:rPr lang="en-US" b="0" dirty="0">
                <a:effectLst/>
                <a:latin typeface="Consolas" panose="020B0609020204030204" pitchFamily="49" charset="0"/>
              </a:rPr>
              <a:t> = 'something';</a:t>
            </a:r>
          </a:p>
        </p:txBody>
      </p:sp>
    </p:spTree>
    <p:extLst>
      <p:ext uri="{BB962C8B-B14F-4D97-AF65-F5344CB8AC3E}">
        <p14:creationId xmlns:p14="http://schemas.microsoft.com/office/powerpoint/2010/main" val="9907188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87675-34D3-1EDA-F338-CD1C0138C715}"/>
              </a:ext>
            </a:extLst>
          </p:cNvPr>
          <p:cNvSpPr>
            <a:spLocks noGrp="1"/>
          </p:cNvSpPr>
          <p:nvPr>
            <p:ph type="title"/>
          </p:nvPr>
        </p:nvSpPr>
        <p:spPr/>
        <p:txBody>
          <a:bodyPr/>
          <a:lstStyle/>
          <a:p>
            <a:r>
              <a:rPr lang="en-US" dirty="0"/>
              <a:t>Delete</a:t>
            </a:r>
          </a:p>
        </p:txBody>
      </p:sp>
      <p:sp>
        <p:nvSpPr>
          <p:cNvPr id="5" name="TextBox 4">
            <a:extLst>
              <a:ext uri="{FF2B5EF4-FFF2-40B4-BE49-F238E27FC236}">
                <a16:creationId xmlns:a16="http://schemas.microsoft.com/office/drawing/2014/main" id="{0C4F01CF-6887-79A1-533D-C54305E47968}"/>
              </a:ext>
            </a:extLst>
          </p:cNvPr>
          <p:cNvSpPr txBox="1"/>
          <p:nvPr/>
        </p:nvSpPr>
        <p:spPr>
          <a:xfrm>
            <a:off x="3587141" y="2923898"/>
            <a:ext cx="6097044" cy="446532"/>
          </a:xfrm>
          <a:prstGeom prst="rect">
            <a:avLst/>
          </a:prstGeom>
          <a:noFill/>
        </p:spPr>
        <p:txBody>
          <a:bodyPr wrap="square">
            <a:spAutoFit/>
          </a:bodyPr>
          <a:lstStyle/>
          <a:p>
            <a:pPr>
              <a:lnSpc>
                <a:spcPct val="100000"/>
              </a:lnSpc>
              <a:buNone/>
            </a:pPr>
            <a:r>
              <a:rPr lang="en-US" sz="1800" b="0" dirty="0">
                <a:solidFill>
                  <a:schemeClr val="tx1"/>
                </a:solidFill>
                <a:effectLst/>
                <a:latin typeface="+mn-lt"/>
              </a:rPr>
              <a:t>DELETE FROM users </a:t>
            </a:r>
          </a:p>
          <a:p>
            <a:pPr>
              <a:lnSpc>
                <a:spcPct val="100000"/>
              </a:lnSpc>
              <a:buNone/>
            </a:pPr>
            <a:r>
              <a:rPr lang="en-US" sz="1800" b="0" dirty="0">
                <a:solidFill>
                  <a:schemeClr val="tx1"/>
                </a:solidFill>
                <a:effectLst/>
                <a:latin typeface="+mn-lt"/>
              </a:rPr>
              <a:t>WHERE </a:t>
            </a:r>
            <a:r>
              <a:rPr lang="en-US" sz="1800" b="0" dirty="0" err="1">
                <a:solidFill>
                  <a:schemeClr val="tx1"/>
                </a:solidFill>
                <a:effectLst/>
                <a:latin typeface="+mn-lt"/>
              </a:rPr>
              <a:t>last_login</a:t>
            </a:r>
            <a:r>
              <a:rPr lang="en-US" sz="1800" b="0" dirty="0">
                <a:solidFill>
                  <a:schemeClr val="tx1"/>
                </a:solidFill>
                <a:effectLst/>
                <a:latin typeface="+mn-lt"/>
              </a:rPr>
              <a:t> &lt; NOW() - INTERVAL '2 years';</a:t>
            </a:r>
            <a:endParaRPr lang="en-US" sz="105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88F69ABD-7EA7-F4D3-A3FC-363B1B52FB64}"/>
              </a:ext>
            </a:extLst>
          </p:cNvPr>
          <p:cNvSpPr txBox="1"/>
          <p:nvPr/>
        </p:nvSpPr>
        <p:spPr>
          <a:xfrm>
            <a:off x="3092363" y="4035755"/>
            <a:ext cx="6097044" cy="1542217"/>
          </a:xfrm>
          <a:prstGeom prst="rect">
            <a:avLst/>
          </a:prstGeom>
          <a:noFill/>
        </p:spPr>
        <p:txBody>
          <a:bodyPr wrap="square">
            <a:spAutoFit/>
          </a:bodyPr>
          <a:lstStyle/>
          <a:p>
            <a:pPr>
              <a:lnSpc>
                <a:spcPct val="100000"/>
              </a:lnSpc>
              <a:buNone/>
            </a:pPr>
            <a:r>
              <a:rPr lang="en-US" sz="1800" b="0" dirty="0">
                <a:solidFill>
                  <a:schemeClr val="tx1"/>
                </a:solidFill>
                <a:effectLst/>
                <a:latin typeface="+mn-lt"/>
              </a:rPr>
              <a:t>INTERVAL supports: </a:t>
            </a:r>
          </a:p>
          <a:p>
            <a:pPr>
              <a:lnSpc>
                <a:spcPct val="100000"/>
              </a:lnSpc>
              <a:buNone/>
            </a:pPr>
            <a:r>
              <a:rPr lang="en-US" sz="1800" b="0" dirty="0">
                <a:solidFill>
                  <a:schemeClr val="tx1"/>
                </a:solidFill>
                <a:effectLst/>
                <a:latin typeface="+mn-lt"/>
              </a:rPr>
              <a:t>    year, month, day, hour, minute, second</a:t>
            </a:r>
          </a:p>
          <a:p>
            <a:pPr>
              <a:lnSpc>
                <a:spcPct val="100000"/>
              </a:lnSpc>
              <a:buNone/>
            </a:pPr>
            <a:r>
              <a:rPr lang="en-US" sz="1800" b="0" dirty="0">
                <a:solidFill>
                  <a:schemeClr val="tx1"/>
                </a:solidFill>
                <a:effectLst/>
                <a:latin typeface="+mn-lt"/>
              </a:rPr>
              <a:t>    milliseconds, microseconds</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    you can do arithmetic against it, or generate from functions: </a:t>
            </a:r>
          </a:p>
          <a:p>
            <a:pPr>
              <a:lnSpc>
                <a:spcPct val="100000"/>
              </a:lnSpc>
              <a:buNone/>
            </a:pPr>
            <a:r>
              <a:rPr lang="en-US" sz="1800" b="0" dirty="0">
                <a:solidFill>
                  <a:schemeClr val="tx1"/>
                </a:solidFill>
                <a:effectLst/>
                <a:latin typeface="+mn-lt"/>
              </a:rPr>
              <a:t>    INTERVAL '1 hour 10 minutes' / 2</a:t>
            </a:r>
          </a:p>
          <a:p>
            <a:pPr>
              <a:lnSpc>
                <a:spcPct val="100000"/>
              </a:lnSpc>
              <a:buNone/>
            </a:pPr>
            <a:r>
              <a:rPr lang="en-US" sz="1800" b="0" dirty="0">
                <a:solidFill>
                  <a:schemeClr val="tx1"/>
                </a:solidFill>
                <a:effectLst/>
                <a:latin typeface="+mn-lt"/>
              </a:rPr>
              <a:t>    INTERVAL '3 days 22 hours 1 minute' * 3</a:t>
            </a:r>
            <a:endParaRPr lang="en-US" sz="1050" b="0" dirty="0">
              <a:solidFill>
                <a:srgbClr val="BBBEBF"/>
              </a:solidFill>
              <a:effectLst/>
              <a:latin typeface="Consolas" panose="020B0609020204030204" pitchFamily="49" charset="0"/>
            </a:endParaRPr>
          </a:p>
        </p:txBody>
      </p:sp>
    </p:spTree>
    <p:extLst>
      <p:ext uri="{BB962C8B-B14F-4D97-AF65-F5344CB8AC3E}">
        <p14:creationId xmlns:p14="http://schemas.microsoft.com/office/powerpoint/2010/main" val="6994981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D62BB-6022-A0A9-B087-1AF6AA2BD6DF}"/>
              </a:ext>
            </a:extLst>
          </p:cNvPr>
          <p:cNvSpPr>
            <a:spLocks noGrp="1"/>
          </p:cNvSpPr>
          <p:nvPr>
            <p:ph type="title"/>
          </p:nvPr>
        </p:nvSpPr>
        <p:spPr/>
        <p:txBody>
          <a:bodyPr/>
          <a:lstStyle/>
          <a:p>
            <a:r>
              <a:rPr lang="en-US" dirty="0"/>
              <a:t>Postgres specific - returning</a:t>
            </a:r>
          </a:p>
        </p:txBody>
      </p:sp>
      <p:sp>
        <p:nvSpPr>
          <p:cNvPr id="5" name="TextBox 4">
            <a:extLst>
              <a:ext uri="{FF2B5EF4-FFF2-40B4-BE49-F238E27FC236}">
                <a16:creationId xmlns:a16="http://schemas.microsoft.com/office/drawing/2014/main" id="{FC2A6E76-B460-DA2A-10C2-D0CD0234E151}"/>
              </a:ext>
            </a:extLst>
          </p:cNvPr>
          <p:cNvSpPr txBox="1"/>
          <p:nvPr/>
        </p:nvSpPr>
        <p:spPr>
          <a:xfrm>
            <a:off x="3468144" y="2024018"/>
            <a:ext cx="6097044" cy="4524315"/>
          </a:xfrm>
          <a:prstGeom prst="rect">
            <a:avLst/>
          </a:prstGeom>
          <a:noFill/>
        </p:spPr>
        <p:txBody>
          <a:bodyPr wrap="square">
            <a:spAutoFit/>
          </a:bodyPr>
          <a:lstStyle/>
          <a:p>
            <a:pPr>
              <a:lnSpc>
                <a:spcPct val="100000"/>
              </a:lnSpc>
              <a:buNone/>
            </a:pPr>
            <a:r>
              <a:rPr lang="en-US" sz="1800" b="0" dirty="0">
                <a:solidFill>
                  <a:schemeClr val="tx1"/>
                </a:solidFill>
                <a:effectLst/>
                <a:latin typeface="+mn-lt"/>
              </a:rPr>
              <a:t>INSERT RETURNING</a:t>
            </a:r>
          </a:p>
          <a:p>
            <a:pPr>
              <a:lnSpc>
                <a:spcPct val="100000"/>
              </a:lnSpc>
              <a:buNone/>
            </a:pPr>
            <a:r>
              <a:rPr lang="en-US" sz="1800" b="0" dirty="0">
                <a:solidFill>
                  <a:schemeClr val="tx1"/>
                </a:solidFill>
                <a:effectLst/>
                <a:latin typeface="+mn-lt"/>
              </a:rPr>
              <a:t>INSERT INTO users (email)</a:t>
            </a:r>
          </a:p>
          <a:p>
            <a:pPr>
              <a:lnSpc>
                <a:spcPct val="100000"/>
              </a:lnSpc>
              <a:buNone/>
            </a:pPr>
            <a:r>
              <a:rPr lang="en-US" sz="1800" b="0" dirty="0">
                <a:solidFill>
                  <a:schemeClr val="tx1"/>
                </a:solidFill>
                <a:effectLst/>
                <a:latin typeface="+mn-lt"/>
              </a:rPr>
              <a:t>VALUES ('new@example.com')</a:t>
            </a:r>
          </a:p>
          <a:p>
            <a:pPr>
              <a:lnSpc>
                <a:spcPct val="100000"/>
              </a:lnSpc>
              <a:buNone/>
            </a:pPr>
            <a:r>
              <a:rPr lang="en-US" sz="1800" b="0" dirty="0">
                <a:solidFill>
                  <a:schemeClr val="tx1"/>
                </a:solidFill>
                <a:effectLst/>
                <a:latin typeface="+mn-lt"/>
              </a:rPr>
              <a:t>RETURNING </a:t>
            </a:r>
            <a:r>
              <a:rPr lang="en-US" sz="1800" b="0" dirty="0" err="1">
                <a:solidFill>
                  <a:schemeClr val="tx1"/>
                </a:solidFill>
                <a:effectLst/>
                <a:latin typeface="+mn-lt"/>
              </a:rPr>
              <a:t>user_id</a:t>
            </a:r>
            <a:r>
              <a:rPr lang="en-US" sz="1800" b="0" dirty="0">
                <a:solidFill>
                  <a:schemeClr val="tx1"/>
                </a:solidFill>
                <a:effectLst/>
                <a:latin typeface="+mn-lt"/>
              </a:rPr>
              <a:t>, </a:t>
            </a:r>
            <a:r>
              <a:rPr lang="en-US" sz="1800" b="0" dirty="0" err="1">
                <a:solidFill>
                  <a:schemeClr val="tx1"/>
                </a:solidFill>
                <a:effectLst/>
                <a:latin typeface="+mn-lt"/>
              </a:rPr>
              <a:t>created_at</a:t>
            </a:r>
            <a:r>
              <a:rPr lang="en-US" sz="1800" b="0" dirty="0">
                <a:solidFill>
                  <a:schemeClr val="tx1"/>
                </a:solidFill>
                <a:effectLst/>
                <a:latin typeface="+mn-lt"/>
              </a:rPr>
              <a:t>;</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UPDATE RETURNING</a:t>
            </a:r>
          </a:p>
          <a:p>
            <a:pPr>
              <a:lnSpc>
                <a:spcPct val="100000"/>
              </a:lnSpc>
              <a:buNone/>
            </a:pPr>
            <a:r>
              <a:rPr lang="en-US" sz="1800" b="0" dirty="0">
                <a:solidFill>
                  <a:schemeClr val="tx1"/>
                </a:solidFill>
                <a:effectLst/>
                <a:latin typeface="+mn-lt"/>
              </a:rPr>
              <a:t>UPDATE users </a:t>
            </a:r>
          </a:p>
          <a:p>
            <a:pPr>
              <a:lnSpc>
                <a:spcPct val="100000"/>
              </a:lnSpc>
              <a:buNone/>
            </a:pPr>
            <a:r>
              <a:rPr lang="en-US" sz="1800" b="0" dirty="0">
                <a:solidFill>
                  <a:schemeClr val="tx1"/>
                </a:solidFill>
                <a:effectLst/>
                <a:latin typeface="+mn-lt"/>
              </a:rPr>
              <a:t>SET active = false </a:t>
            </a:r>
          </a:p>
          <a:p>
            <a:pPr>
              <a:lnSpc>
                <a:spcPct val="100000"/>
              </a:lnSpc>
              <a:buNone/>
            </a:pPr>
            <a:r>
              <a:rPr lang="en-US" sz="1800" b="0" dirty="0">
                <a:solidFill>
                  <a:schemeClr val="tx1"/>
                </a:solidFill>
                <a:effectLst/>
                <a:latin typeface="+mn-lt"/>
              </a:rPr>
              <a:t>WHERE </a:t>
            </a:r>
            <a:r>
              <a:rPr lang="en-US" sz="1800" b="0" dirty="0" err="1">
                <a:solidFill>
                  <a:schemeClr val="tx1"/>
                </a:solidFill>
                <a:effectLst/>
                <a:latin typeface="+mn-lt"/>
              </a:rPr>
              <a:t>last_login</a:t>
            </a:r>
            <a:r>
              <a:rPr lang="en-US" sz="1800" b="0" dirty="0">
                <a:solidFill>
                  <a:schemeClr val="tx1"/>
                </a:solidFill>
                <a:effectLst/>
                <a:latin typeface="+mn-lt"/>
              </a:rPr>
              <a:t> &lt; NOW() - INTERVAL '1 year'</a:t>
            </a:r>
          </a:p>
          <a:p>
            <a:pPr>
              <a:lnSpc>
                <a:spcPct val="100000"/>
              </a:lnSpc>
              <a:buNone/>
            </a:pPr>
            <a:r>
              <a:rPr lang="en-US" sz="1800" b="0" dirty="0">
                <a:solidFill>
                  <a:schemeClr val="tx1"/>
                </a:solidFill>
                <a:effectLst/>
                <a:latin typeface="+mn-lt"/>
              </a:rPr>
              <a:t>RETURNING </a:t>
            </a:r>
            <a:r>
              <a:rPr lang="en-US" sz="1800" b="0" dirty="0" err="1">
                <a:solidFill>
                  <a:schemeClr val="tx1"/>
                </a:solidFill>
                <a:effectLst/>
                <a:latin typeface="+mn-lt"/>
              </a:rPr>
              <a:t>user_id</a:t>
            </a:r>
            <a:r>
              <a:rPr lang="en-US" sz="1800" b="0" dirty="0">
                <a:solidFill>
                  <a:schemeClr val="tx1"/>
                </a:solidFill>
                <a:effectLst/>
                <a:latin typeface="+mn-lt"/>
              </a:rPr>
              <a:t>, email;</a:t>
            </a:r>
          </a:p>
          <a:p>
            <a:pPr>
              <a:lnSpc>
                <a:spcPct val="100000"/>
              </a:lnSpc>
              <a:buNone/>
            </a:pPr>
            <a:br>
              <a:rPr lang="en-US" sz="1800" b="0" dirty="0">
                <a:solidFill>
                  <a:schemeClr val="tx1"/>
                </a:solidFill>
                <a:effectLst/>
                <a:latin typeface="+mn-lt"/>
              </a:rPr>
            </a:br>
            <a:r>
              <a:rPr lang="en-US" sz="1800" b="0" dirty="0">
                <a:solidFill>
                  <a:schemeClr val="tx1"/>
                </a:solidFill>
                <a:effectLst/>
                <a:latin typeface="+mn-lt"/>
              </a:rPr>
              <a:t>DELETE RETURNING</a:t>
            </a:r>
          </a:p>
          <a:p>
            <a:pPr>
              <a:lnSpc>
                <a:spcPct val="100000"/>
              </a:lnSpc>
              <a:buNone/>
            </a:pPr>
            <a:r>
              <a:rPr lang="en-US" sz="1800" b="0" dirty="0">
                <a:solidFill>
                  <a:schemeClr val="tx1"/>
                </a:solidFill>
                <a:effectLst/>
                <a:latin typeface="+mn-lt"/>
              </a:rPr>
              <a:t>DELETE FROM users </a:t>
            </a:r>
          </a:p>
          <a:p>
            <a:pPr>
              <a:lnSpc>
                <a:spcPct val="100000"/>
              </a:lnSpc>
              <a:buNone/>
            </a:pPr>
            <a:r>
              <a:rPr lang="en-US" sz="1800" b="0" dirty="0">
                <a:solidFill>
                  <a:schemeClr val="tx1"/>
                </a:solidFill>
                <a:effectLst/>
                <a:latin typeface="+mn-lt"/>
              </a:rPr>
              <a:t>WHERE banned = true</a:t>
            </a:r>
          </a:p>
          <a:p>
            <a:pPr>
              <a:lnSpc>
                <a:spcPct val="100000"/>
              </a:lnSpc>
              <a:buNone/>
            </a:pPr>
            <a:r>
              <a:rPr lang="en-US" sz="1800" b="0" dirty="0">
                <a:solidFill>
                  <a:schemeClr val="tx1"/>
                </a:solidFill>
                <a:effectLst/>
                <a:latin typeface="+mn-lt"/>
              </a:rPr>
              <a:t>RETURNING </a:t>
            </a:r>
            <a:r>
              <a:rPr lang="en-US" sz="1800" b="0" dirty="0" err="1">
                <a:solidFill>
                  <a:schemeClr val="tx1"/>
                </a:solidFill>
                <a:effectLst/>
                <a:latin typeface="+mn-lt"/>
              </a:rPr>
              <a:t>user_id</a:t>
            </a:r>
            <a:r>
              <a:rPr lang="en-US" sz="1800" b="0" dirty="0">
                <a:solidFill>
                  <a:schemeClr val="tx1"/>
                </a:solidFill>
                <a:effectLst/>
                <a:latin typeface="+mn-lt"/>
              </a:rPr>
              <a:t>;</a:t>
            </a:r>
            <a:endParaRPr lang="en-US" sz="1050" b="0" dirty="0">
              <a:solidFill>
                <a:srgbClr val="BBBEBF"/>
              </a:solidFill>
              <a:effectLst/>
              <a:latin typeface="Consolas" panose="020B0609020204030204" pitchFamily="49" charset="0"/>
            </a:endParaRPr>
          </a:p>
        </p:txBody>
      </p:sp>
      <p:sp>
        <p:nvSpPr>
          <p:cNvPr id="4" name="Rectangle 3">
            <a:extLst>
              <a:ext uri="{FF2B5EF4-FFF2-40B4-BE49-F238E27FC236}">
                <a16:creationId xmlns:a16="http://schemas.microsoft.com/office/drawing/2014/main" id="{63533DA4-9E36-8D3C-A0E4-7F1C9C0C7E18}"/>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29037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CBD27-D897-800C-C77C-EDEEF0995EA2}"/>
              </a:ext>
            </a:extLst>
          </p:cNvPr>
          <p:cNvSpPr>
            <a:spLocks noGrp="1"/>
          </p:cNvSpPr>
          <p:nvPr>
            <p:ph type="title"/>
          </p:nvPr>
        </p:nvSpPr>
        <p:spPr/>
        <p:txBody>
          <a:bodyPr/>
          <a:lstStyle/>
          <a:p>
            <a:r>
              <a:rPr lang="en-US" dirty="0"/>
              <a:t>Postgres specific - </a:t>
            </a:r>
            <a:r>
              <a:rPr lang="en-US" dirty="0" err="1"/>
              <a:t>upsert</a:t>
            </a:r>
            <a:endParaRPr lang="en-US" dirty="0"/>
          </a:p>
        </p:txBody>
      </p:sp>
      <p:sp>
        <p:nvSpPr>
          <p:cNvPr id="5" name="TextBox 4">
            <a:extLst>
              <a:ext uri="{FF2B5EF4-FFF2-40B4-BE49-F238E27FC236}">
                <a16:creationId xmlns:a16="http://schemas.microsoft.com/office/drawing/2014/main" id="{83775C14-3603-DC4F-DE4E-38D561539EEB}"/>
              </a:ext>
            </a:extLst>
          </p:cNvPr>
          <p:cNvSpPr txBox="1"/>
          <p:nvPr/>
        </p:nvSpPr>
        <p:spPr>
          <a:xfrm>
            <a:off x="743734" y="3023118"/>
            <a:ext cx="6097044" cy="811761"/>
          </a:xfrm>
          <a:prstGeom prst="rect">
            <a:avLst/>
          </a:prstGeom>
          <a:noFill/>
        </p:spPr>
        <p:txBody>
          <a:bodyPr wrap="square">
            <a:spAutoFit/>
          </a:bodyPr>
          <a:lstStyle/>
          <a:p>
            <a:pPr>
              <a:lnSpc>
                <a:spcPct val="100000"/>
              </a:lnSpc>
              <a:buNone/>
            </a:pPr>
            <a:r>
              <a:rPr lang="en-US" sz="1800" b="0" dirty="0">
                <a:solidFill>
                  <a:schemeClr val="tx1"/>
                </a:solidFill>
                <a:effectLst/>
                <a:latin typeface="+mn-lt"/>
              </a:rPr>
              <a:t>INSERT INTO users (email, name)</a:t>
            </a:r>
          </a:p>
          <a:p>
            <a:pPr>
              <a:lnSpc>
                <a:spcPct val="100000"/>
              </a:lnSpc>
              <a:buNone/>
            </a:pPr>
            <a:r>
              <a:rPr lang="en-US" sz="1800" b="0" dirty="0">
                <a:solidFill>
                  <a:schemeClr val="tx1"/>
                </a:solidFill>
                <a:effectLst/>
                <a:latin typeface="+mn-lt"/>
              </a:rPr>
              <a:t>VALUES ('c@example.com', 'Alice')</a:t>
            </a:r>
          </a:p>
          <a:p>
            <a:pPr>
              <a:lnSpc>
                <a:spcPct val="100000"/>
              </a:lnSpc>
              <a:buNone/>
            </a:pPr>
            <a:r>
              <a:rPr lang="en-US" sz="1800" b="0" dirty="0">
                <a:solidFill>
                  <a:schemeClr val="tx1"/>
                </a:solidFill>
                <a:effectLst/>
                <a:latin typeface="+mn-lt"/>
              </a:rPr>
              <a:t>ON CONFLICT (email)</a:t>
            </a:r>
          </a:p>
          <a:p>
            <a:pPr>
              <a:lnSpc>
                <a:spcPct val="100000"/>
              </a:lnSpc>
              <a:buNone/>
            </a:pPr>
            <a:r>
              <a:rPr lang="en-US" sz="1800" b="0" dirty="0">
                <a:solidFill>
                  <a:schemeClr val="tx1"/>
                </a:solidFill>
                <a:effectLst/>
                <a:latin typeface="+mn-lt"/>
              </a:rPr>
              <a:t>DO UPDATE SET name = EXCLUDED.name;</a:t>
            </a:r>
            <a:endParaRPr lang="en-US" sz="105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833A66AA-A086-646D-8EF1-D43B89728918}"/>
              </a:ext>
            </a:extLst>
          </p:cNvPr>
          <p:cNvSpPr txBox="1"/>
          <p:nvPr/>
        </p:nvSpPr>
        <p:spPr>
          <a:xfrm>
            <a:off x="793838" y="2269907"/>
            <a:ext cx="4385674" cy="369332"/>
          </a:xfrm>
          <a:prstGeom prst="rect">
            <a:avLst/>
          </a:prstGeom>
          <a:noFill/>
        </p:spPr>
        <p:txBody>
          <a:bodyPr wrap="square">
            <a:spAutoFit/>
          </a:bodyPr>
          <a:lstStyle/>
          <a:p>
            <a:pPr>
              <a:lnSpc>
                <a:spcPct val="100000"/>
              </a:lnSpc>
              <a:buNone/>
            </a:pPr>
            <a:r>
              <a:rPr lang="en-US" sz="1800" b="0" dirty="0">
                <a:solidFill>
                  <a:schemeClr val="tx1"/>
                </a:solidFill>
                <a:effectLst/>
                <a:latin typeface="+mn-lt"/>
              </a:rPr>
              <a:t>EXCLUDED = record that had the conflict </a:t>
            </a:r>
            <a:endParaRPr lang="en-US" sz="1050" b="0" dirty="0">
              <a:solidFill>
                <a:srgbClr val="BBBEBF"/>
              </a:solidFill>
              <a:effectLst/>
              <a:latin typeface="Consolas" panose="020B0609020204030204" pitchFamily="49" charset="0"/>
            </a:endParaRPr>
          </a:p>
        </p:txBody>
      </p:sp>
      <p:sp>
        <p:nvSpPr>
          <p:cNvPr id="9" name="TextBox 8">
            <a:extLst>
              <a:ext uri="{FF2B5EF4-FFF2-40B4-BE49-F238E27FC236}">
                <a16:creationId xmlns:a16="http://schemas.microsoft.com/office/drawing/2014/main" id="{31B3C452-254F-8A01-478C-378C4CC2708E}"/>
              </a:ext>
            </a:extLst>
          </p:cNvPr>
          <p:cNvSpPr txBox="1"/>
          <p:nvPr/>
        </p:nvSpPr>
        <p:spPr>
          <a:xfrm>
            <a:off x="6292763" y="2931812"/>
            <a:ext cx="6097044" cy="994375"/>
          </a:xfrm>
          <a:prstGeom prst="rect">
            <a:avLst/>
          </a:prstGeom>
          <a:noFill/>
        </p:spPr>
        <p:txBody>
          <a:bodyPr wrap="square">
            <a:spAutoFit/>
          </a:bodyPr>
          <a:lstStyle/>
          <a:p>
            <a:pPr>
              <a:lnSpc>
                <a:spcPct val="100000"/>
              </a:lnSpc>
              <a:buNone/>
            </a:pPr>
            <a:r>
              <a:rPr lang="en-US" sz="1800" b="0" dirty="0">
                <a:solidFill>
                  <a:schemeClr val="tx1"/>
                </a:solidFill>
                <a:effectLst/>
                <a:latin typeface="+mn-lt"/>
              </a:rPr>
              <a:t>INSERT INTO users (email, name)</a:t>
            </a:r>
          </a:p>
          <a:p>
            <a:pPr>
              <a:lnSpc>
                <a:spcPct val="100000"/>
              </a:lnSpc>
              <a:buNone/>
            </a:pPr>
            <a:r>
              <a:rPr lang="en-US" sz="1800" b="0" dirty="0">
                <a:solidFill>
                  <a:schemeClr val="tx1"/>
                </a:solidFill>
                <a:effectLst/>
                <a:latin typeface="+mn-lt"/>
              </a:rPr>
              <a:t>VALUES ('d@example.com', 'Alice')</a:t>
            </a:r>
          </a:p>
          <a:p>
            <a:pPr>
              <a:lnSpc>
                <a:spcPct val="100000"/>
              </a:lnSpc>
              <a:buNone/>
            </a:pPr>
            <a:r>
              <a:rPr lang="en-US" sz="1800" b="0" dirty="0">
                <a:solidFill>
                  <a:schemeClr val="tx1"/>
                </a:solidFill>
                <a:effectLst/>
                <a:latin typeface="+mn-lt"/>
              </a:rPr>
              <a:t>ON CONFLICT (email)</a:t>
            </a:r>
          </a:p>
          <a:p>
            <a:pPr>
              <a:lnSpc>
                <a:spcPct val="100000"/>
              </a:lnSpc>
              <a:buNone/>
            </a:pPr>
            <a:r>
              <a:rPr lang="en-US" sz="1800" b="0" dirty="0">
                <a:solidFill>
                  <a:schemeClr val="tx1"/>
                </a:solidFill>
                <a:effectLst/>
                <a:latin typeface="+mn-lt"/>
              </a:rPr>
              <a:t>DO UPDATE SET name = EXCLUDED.name </a:t>
            </a:r>
          </a:p>
          <a:p>
            <a:pPr>
              <a:lnSpc>
                <a:spcPct val="100000"/>
              </a:lnSpc>
              <a:buNone/>
            </a:pPr>
            <a:r>
              <a:rPr lang="en-US" sz="1800" b="0" dirty="0">
                <a:solidFill>
                  <a:schemeClr val="tx1"/>
                </a:solidFill>
                <a:effectLst/>
                <a:latin typeface="+mn-lt"/>
              </a:rPr>
              <a:t>RETURNING *;</a:t>
            </a:r>
            <a:endParaRPr lang="en-US" sz="1050" b="0" dirty="0">
              <a:solidFill>
                <a:srgbClr val="BBBEBF"/>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1DB34399-387B-05D3-0438-8B73E7198101}"/>
              </a:ext>
            </a:extLst>
          </p:cNvPr>
          <p:cNvSpPr txBox="1"/>
          <p:nvPr/>
        </p:nvSpPr>
        <p:spPr>
          <a:xfrm>
            <a:off x="6096000" y="2277181"/>
            <a:ext cx="4385674" cy="369332"/>
          </a:xfrm>
          <a:prstGeom prst="rect">
            <a:avLst/>
          </a:prstGeom>
          <a:noFill/>
        </p:spPr>
        <p:txBody>
          <a:bodyPr wrap="square">
            <a:spAutoFit/>
          </a:bodyPr>
          <a:lstStyle/>
          <a:p>
            <a:pPr>
              <a:lnSpc>
                <a:spcPct val="100000"/>
              </a:lnSpc>
              <a:buNone/>
            </a:pPr>
            <a:r>
              <a:rPr lang="en-US" sz="1800" b="0" dirty="0">
                <a:solidFill>
                  <a:schemeClr val="tx1"/>
                </a:solidFill>
                <a:effectLst/>
                <a:latin typeface="+mn-lt"/>
              </a:rPr>
              <a:t>You can even still use returning:</a:t>
            </a:r>
            <a:endParaRPr lang="en-US" sz="1050" b="0" dirty="0">
              <a:solidFill>
                <a:srgbClr val="BBBEBF"/>
              </a:solidFill>
              <a:effectLst/>
              <a:latin typeface="Consolas" panose="020B0609020204030204" pitchFamily="49" charset="0"/>
            </a:endParaRPr>
          </a:p>
        </p:txBody>
      </p:sp>
      <p:sp>
        <p:nvSpPr>
          <p:cNvPr id="4" name="Rectangle 3">
            <a:extLst>
              <a:ext uri="{FF2B5EF4-FFF2-40B4-BE49-F238E27FC236}">
                <a16:creationId xmlns:a16="http://schemas.microsoft.com/office/drawing/2014/main" id="{17963456-75F7-40F8-E40C-A0A18439DAE6}"/>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10241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AE768-0570-B3B4-9A97-D8AF97905128}"/>
              </a:ext>
            </a:extLst>
          </p:cNvPr>
          <p:cNvSpPr>
            <a:spLocks noGrp="1"/>
          </p:cNvSpPr>
          <p:nvPr>
            <p:ph type="title"/>
          </p:nvPr>
        </p:nvSpPr>
        <p:spPr/>
        <p:txBody>
          <a:bodyPr/>
          <a:lstStyle/>
          <a:p>
            <a:r>
              <a:rPr lang="en-US" dirty="0"/>
              <a:t>SELECT</a:t>
            </a:r>
          </a:p>
        </p:txBody>
      </p:sp>
      <p:sp>
        <p:nvSpPr>
          <p:cNvPr id="5" name="TextBox 4">
            <a:extLst>
              <a:ext uri="{FF2B5EF4-FFF2-40B4-BE49-F238E27FC236}">
                <a16:creationId xmlns:a16="http://schemas.microsoft.com/office/drawing/2014/main" id="{2FD879A0-CA04-F303-1003-BA9C1B6818B7}"/>
              </a:ext>
            </a:extLst>
          </p:cNvPr>
          <p:cNvSpPr txBox="1"/>
          <p:nvPr/>
        </p:nvSpPr>
        <p:spPr>
          <a:xfrm>
            <a:off x="781310" y="2387596"/>
            <a:ext cx="6383577" cy="2862322"/>
          </a:xfrm>
          <a:prstGeom prst="rect">
            <a:avLst/>
          </a:prstGeom>
          <a:noFill/>
        </p:spPr>
        <p:txBody>
          <a:bodyPr wrap="square">
            <a:spAutoFit/>
          </a:bodyPr>
          <a:lstStyle/>
          <a:p>
            <a:pPr>
              <a:lnSpc>
                <a:spcPct val="100000"/>
              </a:lnSpc>
              <a:buNone/>
            </a:pPr>
            <a:r>
              <a:rPr lang="en-US" sz="1800" b="0" dirty="0">
                <a:solidFill>
                  <a:schemeClr val="tx1"/>
                </a:solidFill>
                <a:effectLst/>
                <a:latin typeface="+mn-lt"/>
              </a:rPr>
              <a:t>SELECT * FROM users</a:t>
            </a:r>
          </a:p>
          <a:p>
            <a:pPr>
              <a:lnSpc>
                <a:spcPct val="100000"/>
              </a:lnSpc>
              <a:buNone/>
            </a:pPr>
            <a:r>
              <a:rPr lang="en-US" sz="1800" b="0" dirty="0">
                <a:solidFill>
                  <a:schemeClr val="tx1"/>
                </a:solidFill>
                <a:effectLst/>
                <a:latin typeface="+mn-lt"/>
              </a:rPr>
              <a:t>WHERE email = 'something@something.com';</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SELECT * FROM users</a:t>
            </a:r>
          </a:p>
          <a:p>
            <a:pPr>
              <a:lnSpc>
                <a:spcPct val="100000"/>
              </a:lnSpc>
              <a:buNone/>
            </a:pPr>
            <a:r>
              <a:rPr lang="en-US" sz="1800" b="0" dirty="0">
                <a:solidFill>
                  <a:schemeClr val="tx1"/>
                </a:solidFill>
                <a:effectLst/>
                <a:latin typeface="+mn-lt"/>
              </a:rPr>
              <a:t>WHERE </a:t>
            </a:r>
            <a:r>
              <a:rPr lang="en-US" sz="1800" b="0" dirty="0" err="1">
                <a:solidFill>
                  <a:schemeClr val="tx1"/>
                </a:solidFill>
                <a:effectLst/>
                <a:latin typeface="+mn-lt"/>
              </a:rPr>
              <a:t>created_at</a:t>
            </a:r>
            <a:r>
              <a:rPr lang="en-US" sz="1800" b="0" dirty="0">
                <a:solidFill>
                  <a:schemeClr val="tx1"/>
                </a:solidFill>
                <a:effectLst/>
                <a:latin typeface="+mn-lt"/>
              </a:rPr>
              <a:t> BETWEEN '2024-01-01' AND '2024-12-31';</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SELECT * FROM users </a:t>
            </a:r>
          </a:p>
          <a:p>
            <a:pPr>
              <a:lnSpc>
                <a:spcPct val="100000"/>
              </a:lnSpc>
              <a:buNone/>
            </a:pPr>
            <a:r>
              <a:rPr lang="en-US" sz="1800" b="0" dirty="0">
                <a:solidFill>
                  <a:schemeClr val="tx1"/>
                </a:solidFill>
                <a:effectLst/>
                <a:latin typeface="+mn-lt"/>
              </a:rPr>
              <a:t>WHERE role IN ('admin', 'editor');</a:t>
            </a:r>
            <a:endParaRPr lang="en-US" sz="1050" b="0" dirty="0">
              <a:solidFill>
                <a:srgbClr val="BBBEBF"/>
              </a:solidFill>
              <a:effectLst/>
              <a:latin typeface="Consolas" panose="020B0609020204030204" pitchFamily="49" charset="0"/>
            </a:endParaRPr>
          </a:p>
        </p:txBody>
      </p:sp>
    </p:spTree>
    <p:extLst>
      <p:ext uri="{BB962C8B-B14F-4D97-AF65-F5344CB8AC3E}">
        <p14:creationId xmlns:p14="http://schemas.microsoft.com/office/powerpoint/2010/main" val="36750044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7970B-ACEC-4A44-5343-BD66A59C1B16}"/>
              </a:ext>
            </a:extLst>
          </p:cNvPr>
          <p:cNvSpPr>
            <a:spLocks noGrp="1"/>
          </p:cNvSpPr>
          <p:nvPr>
            <p:ph type="title"/>
          </p:nvPr>
        </p:nvSpPr>
        <p:spPr/>
        <p:txBody>
          <a:bodyPr/>
          <a:lstStyle/>
          <a:p>
            <a:r>
              <a:rPr lang="en-US" dirty="0"/>
              <a:t>Select with wildcards – case sensitive</a:t>
            </a:r>
          </a:p>
        </p:txBody>
      </p:sp>
      <p:sp>
        <p:nvSpPr>
          <p:cNvPr id="5" name="TextBox 4">
            <a:extLst>
              <a:ext uri="{FF2B5EF4-FFF2-40B4-BE49-F238E27FC236}">
                <a16:creationId xmlns:a16="http://schemas.microsoft.com/office/drawing/2014/main" id="{8FE3DABB-34E1-3EE0-853F-37C22B9A4043}"/>
              </a:ext>
            </a:extLst>
          </p:cNvPr>
          <p:cNvSpPr txBox="1"/>
          <p:nvPr/>
        </p:nvSpPr>
        <p:spPr>
          <a:xfrm>
            <a:off x="3781295" y="3760940"/>
            <a:ext cx="6097044" cy="446532"/>
          </a:xfrm>
          <a:prstGeom prst="rect">
            <a:avLst/>
          </a:prstGeom>
          <a:noFill/>
        </p:spPr>
        <p:txBody>
          <a:bodyPr wrap="square">
            <a:spAutoFit/>
          </a:bodyPr>
          <a:lstStyle/>
          <a:p>
            <a:pPr>
              <a:lnSpc>
                <a:spcPct val="100000"/>
              </a:lnSpc>
              <a:buNone/>
            </a:pPr>
            <a:r>
              <a:rPr lang="en-US" sz="1800" b="0" dirty="0">
                <a:solidFill>
                  <a:schemeClr val="tx1"/>
                </a:solidFill>
                <a:effectLst/>
                <a:latin typeface="+mn-lt"/>
              </a:rPr>
              <a:t>SELECT * FROM users </a:t>
            </a:r>
          </a:p>
          <a:p>
            <a:pPr>
              <a:lnSpc>
                <a:spcPct val="100000"/>
              </a:lnSpc>
              <a:buNone/>
            </a:pPr>
            <a:r>
              <a:rPr lang="en-US" sz="1800" b="0" dirty="0">
                <a:solidFill>
                  <a:schemeClr val="tx1"/>
                </a:solidFill>
                <a:effectLst/>
                <a:latin typeface="+mn-lt"/>
              </a:rPr>
              <a:t>WHERE email LIKE '%@gmail.com';</a:t>
            </a:r>
            <a:endParaRPr lang="en-US" sz="105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FED96005-6F11-A2FA-E52B-8DB76D50E356}"/>
              </a:ext>
            </a:extLst>
          </p:cNvPr>
          <p:cNvSpPr txBox="1"/>
          <p:nvPr/>
        </p:nvSpPr>
        <p:spPr>
          <a:xfrm>
            <a:off x="3856451" y="2610748"/>
            <a:ext cx="6097044" cy="646331"/>
          </a:xfrm>
          <a:prstGeom prst="rect">
            <a:avLst/>
          </a:prstGeom>
          <a:noFill/>
        </p:spPr>
        <p:txBody>
          <a:bodyPr wrap="square">
            <a:spAutoFit/>
          </a:bodyPr>
          <a:lstStyle/>
          <a:p>
            <a:pPr>
              <a:lnSpc>
                <a:spcPct val="100000"/>
              </a:lnSpc>
              <a:buNone/>
            </a:pPr>
            <a:r>
              <a:rPr lang="en-US" sz="1800" b="0" dirty="0">
                <a:solidFill>
                  <a:schemeClr val="tx1"/>
                </a:solidFill>
                <a:effectLst/>
                <a:latin typeface="+mn-lt"/>
              </a:rPr>
              <a:t>% = zero or more characters</a:t>
            </a:r>
          </a:p>
          <a:p>
            <a:pPr>
              <a:lnSpc>
                <a:spcPct val="100000"/>
              </a:lnSpc>
              <a:buNone/>
            </a:pPr>
            <a:r>
              <a:rPr lang="en-US" sz="1800" b="0" dirty="0">
                <a:solidFill>
                  <a:schemeClr val="tx1"/>
                </a:solidFill>
                <a:effectLst/>
                <a:latin typeface="+mn-lt"/>
              </a:rPr>
              <a:t>_ = exactly one character</a:t>
            </a:r>
            <a:endParaRPr lang="en-US" sz="1050" b="0" dirty="0">
              <a:solidFill>
                <a:srgbClr val="BBBEBF"/>
              </a:solidFill>
              <a:effectLst/>
              <a:latin typeface="Consolas" panose="020B0609020204030204" pitchFamily="49" charset="0"/>
            </a:endParaRPr>
          </a:p>
        </p:txBody>
      </p:sp>
    </p:spTree>
    <p:extLst>
      <p:ext uri="{BB962C8B-B14F-4D97-AF65-F5344CB8AC3E}">
        <p14:creationId xmlns:p14="http://schemas.microsoft.com/office/powerpoint/2010/main" val="28464318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FA340-38B7-F0FC-C1E5-46B15194461B}"/>
              </a:ext>
            </a:extLst>
          </p:cNvPr>
          <p:cNvSpPr>
            <a:spLocks noGrp="1"/>
          </p:cNvSpPr>
          <p:nvPr>
            <p:ph type="title"/>
          </p:nvPr>
        </p:nvSpPr>
        <p:spPr/>
        <p:txBody>
          <a:bodyPr>
            <a:normAutofit/>
          </a:bodyPr>
          <a:lstStyle/>
          <a:p>
            <a:r>
              <a:rPr lang="en-US" sz="2400" dirty="0"/>
              <a:t>Select with wildcards – case insensitive Ilike (Postgres specific)</a:t>
            </a:r>
          </a:p>
        </p:txBody>
      </p:sp>
      <p:sp>
        <p:nvSpPr>
          <p:cNvPr id="5" name="TextBox 4">
            <a:extLst>
              <a:ext uri="{FF2B5EF4-FFF2-40B4-BE49-F238E27FC236}">
                <a16:creationId xmlns:a16="http://schemas.microsoft.com/office/drawing/2014/main" id="{E431C2EB-91A6-F186-370B-78364D7127CD}"/>
              </a:ext>
            </a:extLst>
          </p:cNvPr>
          <p:cNvSpPr txBox="1"/>
          <p:nvPr/>
        </p:nvSpPr>
        <p:spPr>
          <a:xfrm>
            <a:off x="4031814" y="2535592"/>
            <a:ext cx="6097044" cy="446532"/>
          </a:xfrm>
          <a:prstGeom prst="rect">
            <a:avLst/>
          </a:prstGeom>
          <a:noFill/>
        </p:spPr>
        <p:txBody>
          <a:bodyPr wrap="square">
            <a:spAutoFit/>
          </a:bodyPr>
          <a:lstStyle/>
          <a:p>
            <a:pPr>
              <a:lnSpc>
                <a:spcPct val="100000"/>
              </a:lnSpc>
              <a:buNone/>
            </a:pPr>
            <a:r>
              <a:rPr lang="en-US" sz="1800" b="0" dirty="0">
                <a:solidFill>
                  <a:schemeClr val="tx1"/>
                </a:solidFill>
                <a:effectLst/>
                <a:latin typeface="+mn-lt"/>
              </a:rPr>
              <a:t>SELECT * FROM users </a:t>
            </a:r>
          </a:p>
          <a:p>
            <a:pPr>
              <a:lnSpc>
                <a:spcPct val="100000"/>
              </a:lnSpc>
              <a:buNone/>
            </a:pPr>
            <a:r>
              <a:rPr lang="en-US" sz="1800" b="0" dirty="0">
                <a:solidFill>
                  <a:schemeClr val="tx1"/>
                </a:solidFill>
                <a:effectLst/>
                <a:latin typeface="+mn-lt"/>
              </a:rPr>
              <a:t>WHERE email ILIKE '%gmail.com';</a:t>
            </a:r>
            <a:endParaRPr lang="en-US" sz="105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230D40DC-282B-AECF-C7CD-32391FACBA33}"/>
              </a:ext>
            </a:extLst>
          </p:cNvPr>
          <p:cNvSpPr txBox="1"/>
          <p:nvPr/>
        </p:nvSpPr>
        <p:spPr>
          <a:xfrm>
            <a:off x="4031814" y="3597345"/>
            <a:ext cx="6097044" cy="2308324"/>
          </a:xfrm>
          <a:prstGeom prst="rect">
            <a:avLst/>
          </a:prstGeom>
          <a:noFill/>
        </p:spPr>
        <p:txBody>
          <a:bodyPr wrap="square">
            <a:spAutoFit/>
          </a:bodyPr>
          <a:lstStyle/>
          <a:p>
            <a:pPr>
              <a:lnSpc>
                <a:spcPct val="100000"/>
              </a:lnSpc>
              <a:buNone/>
            </a:pPr>
            <a:r>
              <a:rPr lang="en-US" sz="1800" b="0" dirty="0">
                <a:solidFill>
                  <a:schemeClr val="tx1"/>
                </a:solidFill>
                <a:effectLst/>
                <a:latin typeface="+mn-lt"/>
              </a:rPr>
              <a:t>Regex matching case sensitive</a:t>
            </a:r>
          </a:p>
          <a:p>
            <a:pPr>
              <a:lnSpc>
                <a:spcPct val="100000"/>
              </a:lnSpc>
              <a:buNone/>
            </a:pPr>
            <a:r>
              <a:rPr lang="en-US" sz="1800" b="0" dirty="0">
                <a:solidFill>
                  <a:schemeClr val="tx1"/>
                </a:solidFill>
                <a:effectLst/>
                <a:latin typeface="+mn-lt"/>
              </a:rPr>
              <a:t>SELECT * FROM users </a:t>
            </a:r>
          </a:p>
          <a:p>
            <a:pPr>
              <a:lnSpc>
                <a:spcPct val="100000"/>
              </a:lnSpc>
              <a:buNone/>
            </a:pPr>
            <a:r>
              <a:rPr lang="en-US" sz="1800" b="0" dirty="0">
                <a:solidFill>
                  <a:schemeClr val="tx1"/>
                </a:solidFill>
                <a:effectLst/>
                <a:latin typeface="+mn-lt"/>
              </a:rPr>
              <a:t>WHERE email ~ 'regex expression here’</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Regex matching case </a:t>
            </a:r>
            <a:r>
              <a:rPr lang="en-US" sz="1800" b="0" dirty="0" err="1">
                <a:solidFill>
                  <a:schemeClr val="tx1"/>
                </a:solidFill>
                <a:effectLst/>
                <a:latin typeface="+mn-lt"/>
              </a:rPr>
              <a:t>insenstive</a:t>
            </a: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SELECT * FROM users </a:t>
            </a:r>
          </a:p>
          <a:p>
            <a:pPr>
              <a:lnSpc>
                <a:spcPct val="100000"/>
              </a:lnSpc>
              <a:buNone/>
            </a:pPr>
            <a:r>
              <a:rPr lang="en-US" sz="1800" b="0" dirty="0">
                <a:solidFill>
                  <a:schemeClr val="tx1"/>
                </a:solidFill>
                <a:effectLst/>
                <a:latin typeface="+mn-lt"/>
              </a:rPr>
              <a:t>WHERE email ~* 'regex expression here'</a:t>
            </a:r>
            <a:endParaRPr lang="en-US" sz="1050" b="0" dirty="0">
              <a:solidFill>
                <a:srgbClr val="BBBEBF"/>
              </a:solidFill>
              <a:effectLst/>
              <a:latin typeface="Consolas" panose="020B0609020204030204" pitchFamily="49" charset="0"/>
            </a:endParaRPr>
          </a:p>
        </p:txBody>
      </p:sp>
      <p:sp>
        <p:nvSpPr>
          <p:cNvPr id="4" name="Rectangle 3">
            <a:extLst>
              <a:ext uri="{FF2B5EF4-FFF2-40B4-BE49-F238E27FC236}">
                <a16:creationId xmlns:a16="http://schemas.microsoft.com/office/drawing/2014/main" id="{206A4CEE-D69E-20D8-F888-B492B429CCAE}"/>
              </a:ext>
            </a:extLst>
          </p:cNvPr>
          <p:cNvSpPr/>
          <p:nvPr/>
        </p:nvSpPr>
        <p:spPr>
          <a:xfrm>
            <a:off x="10801981" y="7493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13291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DD9C-EFA8-2283-7767-4B8B44C339F1}"/>
              </a:ext>
            </a:extLst>
          </p:cNvPr>
          <p:cNvSpPr>
            <a:spLocks noGrp="1"/>
          </p:cNvSpPr>
          <p:nvPr>
            <p:ph type="title"/>
          </p:nvPr>
        </p:nvSpPr>
        <p:spPr/>
        <p:txBody>
          <a:bodyPr/>
          <a:lstStyle/>
          <a:p>
            <a:r>
              <a:rPr lang="en-US" dirty="0"/>
              <a:t>Order by, Offset, &amp; Limit</a:t>
            </a:r>
          </a:p>
        </p:txBody>
      </p:sp>
      <p:sp>
        <p:nvSpPr>
          <p:cNvPr id="5" name="TextBox 4">
            <a:extLst>
              <a:ext uri="{FF2B5EF4-FFF2-40B4-BE49-F238E27FC236}">
                <a16:creationId xmlns:a16="http://schemas.microsoft.com/office/drawing/2014/main" id="{07B5CB06-3737-9670-B2A5-0995E8948CC4}"/>
              </a:ext>
            </a:extLst>
          </p:cNvPr>
          <p:cNvSpPr txBox="1"/>
          <p:nvPr/>
        </p:nvSpPr>
        <p:spPr>
          <a:xfrm>
            <a:off x="581192" y="2636729"/>
            <a:ext cx="6097044" cy="1907445"/>
          </a:xfrm>
          <a:prstGeom prst="rect">
            <a:avLst/>
          </a:prstGeom>
          <a:noFill/>
        </p:spPr>
        <p:txBody>
          <a:bodyPr wrap="square">
            <a:spAutoFit/>
          </a:bodyPr>
          <a:lstStyle/>
          <a:p>
            <a:pPr>
              <a:lnSpc>
                <a:spcPct val="100000"/>
              </a:lnSpc>
              <a:buNone/>
            </a:pPr>
            <a:r>
              <a:rPr lang="en-US" sz="1800" b="0" dirty="0">
                <a:solidFill>
                  <a:schemeClr val="tx1"/>
                </a:solidFill>
                <a:effectLst/>
                <a:latin typeface="+mn-lt"/>
              </a:rPr>
              <a:t>SELECT * FROM users</a:t>
            </a:r>
          </a:p>
          <a:p>
            <a:pPr>
              <a:lnSpc>
                <a:spcPct val="100000"/>
              </a:lnSpc>
              <a:buNone/>
            </a:pPr>
            <a:r>
              <a:rPr lang="en-US" sz="1800" b="0" dirty="0">
                <a:solidFill>
                  <a:schemeClr val="tx1"/>
                </a:solidFill>
                <a:effectLst/>
                <a:latin typeface="+mn-lt"/>
              </a:rPr>
              <a:t>ORDER BY </a:t>
            </a:r>
            <a:r>
              <a:rPr lang="en-US" sz="1800" b="0" dirty="0" err="1">
                <a:solidFill>
                  <a:schemeClr val="tx1"/>
                </a:solidFill>
                <a:effectLst/>
                <a:latin typeface="+mn-lt"/>
              </a:rPr>
              <a:t>created_at</a:t>
            </a:r>
            <a:r>
              <a:rPr lang="en-US" sz="1800" b="0" dirty="0">
                <a:solidFill>
                  <a:schemeClr val="tx1"/>
                </a:solidFill>
                <a:effectLst/>
                <a:latin typeface="+mn-lt"/>
              </a:rPr>
              <a:t>;</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SELECT * FROM users</a:t>
            </a:r>
          </a:p>
          <a:p>
            <a:pPr>
              <a:lnSpc>
                <a:spcPct val="100000"/>
              </a:lnSpc>
              <a:buNone/>
            </a:pPr>
            <a:r>
              <a:rPr lang="en-US" sz="1800" b="0" dirty="0">
                <a:solidFill>
                  <a:schemeClr val="tx1"/>
                </a:solidFill>
                <a:effectLst/>
                <a:latin typeface="+mn-lt"/>
              </a:rPr>
              <a:t>ORDER BY </a:t>
            </a:r>
            <a:r>
              <a:rPr lang="en-US" sz="1800" b="0" dirty="0" err="1">
                <a:solidFill>
                  <a:schemeClr val="tx1"/>
                </a:solidFill>
                <a:effectLst/>
                <a:latin typeface="+mn-lt"/>
              </a:rPr>
              <a:t>created_at</a:t>
            </a:r>
            <a:r>
              <a:rPr lang="en-US" sz="1800" b="0" dirty="0">
                <a:solidFill>
                  <a:schemeClr val="tx1"/>
                </a:solidFill>
                <a:effectLst/>
                <a:latin typeface="+mn-lt"/>
              </a:rPr>
              <a:t> DESC;</a:t>
            </a:r>
          </a:p>
          <a:p>
            <a:pPr>
              <a:lnSpc>
                <a:spcPct val="100000"/>
              </a:lnSpc>
              <a:buNone/>
            </a:pPr>
            <a:br>
              <a:rPr lang="en-US" sz="1800" b="0" dirty="0">
                <a:solidFill>
                  <a:schemeClr val="tx1"/>
                </a:solidFill>
                <a:effectLst/>
                <a:latin typeface="+mn-lt"/>
              </a:rPr>
            </a:b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SELECT * FROM users </a:t>
            </a:r>
          </a:p>
          <a:p>
            <a:pPr>
              <a:lnSpc>
                <a:spcPct val="100000"/>
              </a:lnSpc>
              <a:buNone/>
            </a:pPr>
            <a:r>
              <a:rPr lang="en-US" sz="1800" b="0" dirty="0">
                <a:solidFill>
                  <a:schemeClr val="tx1"/>
                </a:solidFill>
                <a:effectLst/>
                <a:latin typeface="+mn-lt"/>
              </a:rPr>
              <a:t>ORDER BY </a:t>
            </a:r>
            <a:r>
              <a:rPr lang="en-US" sz="1800" b="0" dirty="0" err="1">
                <a:solidFill>
                  <a:schemeClr val="tx1"/>
                </a:solidFill>
                <a:effectLst/>
                <a:latin typeface="+mn-lt"/>
              </a:rPr>
              <a:t>last_login</a:t>
            </a:r>
            <a:r>
              <a:rPr lang="en-US" sz="1800" b="0" dirty="0">
                <a:solidFill>
                  <a:schemeClr val="tx1"/>
                </a:solidFill>
                <a:effectLst/>
                <a:latin typeface="+mn-lt"/>
              </a:rPr>
              <a:t> ASC, </a:t>
            </a:r>
            <a:r>
              <a:rPr lang="en-US" sz="1800" b="0" dirty="0" err="1">
                <a:solidFill>
                  <a:schemeClr val="tx1"/>
                </a:solidFill>
                <a:effectLst/>
                <a:latin typeface="+mn-lt"/>
              </a:rPr>
              <a:t>created_at</a:t>
            </a:r>
            <a:r>
              <a:rPr lang="en-US" sz="1800" b="0" dirty="0">
                <a:solidFill>
                  <a:schemeClr val="tx1"/>
                </a:solidFill>
                <a:effectLst/>
                <a:latin typeface="+mn-lt"/>
              </a:rPr>
              <a:t> DESC NULLS LAST;</a:t>
            </a:r>
            <a:endParaRPr lang="en-US" sz="1050" b="0" dirty="0">
              <a:solidFill>
                <a:srgbClr val="BBBEBF"/>
              </a:solidFill>
              <a:effectLst/>
              <a:latin typeface="Consolas" panose="020B0609020204030204" pitchFamily="49" charset="0"/>
            </a:endParaRPr>
          </a:p>
        </p:txBody>
      </p:sp>
      <p:sp>
        <p:nvSpPr>
          <p:cNvPr id="4" name="TextBox 3">
            <a:extLst>
              <a:ext uri="{FF2B5EF4-FFF2-40B4-BE49-F238E27FC236}">
                <a16:creationId xmlns:a16="http://schemas.microsoft.com/office/drawing/2014/main" id="{3259B92F-EEB2-DAEA-1270-C6EFA3F135AF}"/>
              </a:ext>
            </a:extLst>
          </p:cNvPr>
          <p:cNvSpPr txBox="1"/>
          <p:nvPr/>
        </p:nvSpPr>
        <p:spPr>
          <a:xfrm>
            <a:off x="6879921" y="2636729"/>
            <a:ext cx="6097044" cy="276999"/>
          </a:xfrm>
          <a:prstGeom prst="rect">
            <a:avLst/>
          </a:prstGeom>
          <a:noFill/>
        </p:spPr>
        <p:txBody>
          <a:bodyPr wrap="square">
            <a:spAutoFit/>
          </a:bodyPr>
          <a:lstStyle/>
          <a:p>
            <a:r>
              <a:rPr lang="en-US" sz="1800" b="0" i="0" dirty="0">
                <a:effectLst/>
                <a:latin typeface="+mn-lt"/>
              </a:rPr>
              <a:t>SELECT id, name FROM users OFFSET 10;</a:t>
            </a:r>
            <a:endParaRPr lang="en-US" dirty="0"/>
          </a:p>
        </p:txBody>
      </p:sp>
      <p:sp>
        <p:nvSpPr>
          <p:cNvPr id="7" name="TextBox 6">
            <a:extLst>
              <a:ext uri="{FF2B5EF4-FFF2-40B4-BE49-F238E27FC236}">
                <a16:creationId xmlns:a16="http://schemas.microsoft.com/office/drawing/2014/main" id="{22CC9055-F50F-7387-2AD3-75244ECC7A0C}"/>
              </a:ext>
            </a:extLst>
          </p:cNvPr>
          <p:cNvSpPr txBox="1"/>
          <p:nvPr/>
        </p:nvSpPr>
        <p:spPr>
          <a:xfrm>
            <a:off x="6879921" y="3489282"/>
            <a:ext cx="2317315" cy="1200329"/>
          </a:xfrm>
          <a:prstGeom prst="rect">
            <a:avLst/>
          </a:prstGeom>
          <a:noFill/>
        </p:spPr>
        <p:txBody>
          <a:bodyPr wrap="square">
            <a:spAutoFit/>
          </a:bodyPr>
          <a:lstStyle/>
          <a:p>
            <a:r>
              <a:rPr lang="en-US" dirty="0"/>
              <a:t>SELECT id, name</a:t>
            </a:r>
          </a:p>
          <a:p>
            <a:r>
              <a:rPr lang="en-US" dirty="0"/>
              <a:t>FROM users</a:t>
            </a:r>
          </a:p>
          <a:p>
            <a:r>
              <a:rPr lang="en-US" dirty="0"/>
              <a:t>LIMIT 10</a:t>
            </a:r>
          </a:p>
          <a:p>
            <a:r>
              <a:rPr lang="en-US" dirty="0"/>
              <a:t>OFFSET 10;</a:t>
            </a:r>
          </a:p>
        </p:txBody>
      </p:sp>
      <p:sp>
        <p:nvSpPr>
          <p:cNvPr id="9" name="TextBox 8">
            <a:extLst>
              <a:ext uri="{FF2B5EF4-FFF2-40B4-BE49-F238E27FC236}">
                <a16:creationId xmlns:a16="http://schemas.microsoft.com/office/drawing/2014/main" id="{393BB469-01F2-584D-C2B6-FFDCCB71098F}"/>
              </a:ext>
            </a:extLst>
          </p:cNvPr>
          <p:cNvSpPr txBox="1"/>
          <p:nvPr/>
        </p:nvSpPr>
        <p:spPr>
          <a:xfrm>
            <a:off x="6879921" y="4971174"/>
            <a:ext cx="2249466" cy="1477328"/>
          </a:xfrm>
          <a:prstGeom prst="rect">
            <a:avLst/>
          </a:prstGeom>
          <a:noFill/>
        </p:spPr>
        <p:txBody>
          <a:bodyPr wrap="square">
            <a:spAutoFit/>
          </a:bodyPr>
          <a:lstStyle/>
          <a:p>
            <a:r>
              <a:rPr lang="en-US" dirty="0"/>
              <a:t>SELECT id, name</a:t>
            </a:r>
          </a:p>
          <a:p>
            <a:r>
              <a:rPr lang="en-US" dirty="0"/>
              <a:t>FROM users</a:t>
            </a:r>
          </a:p>
          <a:p>
            <a:r>
              <a:rPr lang="en-US" dirty="0"/>
              <a:t>ORDER BY id</a:t>
            </a:r>
          </a:p>
          <a:p>
            <a:r>
              <a:rPr lang="en-US" dirty="0"/>
              <a:t>LIMIT 10</a:t>
            </a:r>
          </a:p>
          <a:p>
            <a:r>
              <a:rPr lang="en-US" dirty="0"/>
              <a:t>OFFSET 10;</a:t>
            </a:r>
          </a:p>
        </p:txBody>
      </p:sp>
    </p:spTree>
    <p:extLst>
      <p:ext uri="{BB962C8B-B14F-4D97-AF65-F5344CB8AC3E}">
        <p14:creationId xmlns:p14="http://schemas.microsoft.com/office/powerpoint/2010/main" val="4275989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59D9D-5756-279A-09BA-764A15295ED6}"/>
              </a:ext>
            </a:extLst>
          </p:cNvPr>
          <p:cNvSpPr>
            <a:spLocks noGrp="1"/>
          </p:cNvSpPr>
          <p:nvPr>
            <p:ph type="title"/>
          </p:nvPr>
        </p:nvSpPr>
        <p:spPr/>
        <p:txBody>
          <a:bodyPr/>
          <a:lstStyle/>
          <a:p>
            <a:r>
              <a:rPr lang="en-US" dirty="0"/>
              <a:t>DROP &amp; Truncate</a:t>
            </a:r>
          </a:p>
        </p:txBody>
      </p:sp>
      <p:sp>
        <p:nvSpPr>
          <p:cNvPr id="5" name="TextBox 4">
            <a:extLst>
              <a:ext uri="{FF2B5EF4-FFF2-40B4-BE49-F238E27FC236}">
                <a16:creationId xmlns:a16="http://schemas.microsoft.com/office/drawing/2014/main" id="{74AB6435-F378-6E13-3112-64EBB2643B6F}"/>
              </a:ext>
            </a:extLst>
          </p:cNvPr>
          <p:cNvSpPr txBox="1"/>
          <p:nvPr/>
        </p:nvSpPr>
        <p:spPr>
          <a:xfrm>
            <a:off x="1361013" y="3186597"/>
            <a:ext cx="6097044" cy="446532"/>
          </a:xfrm>
          <a:prstGeom prst="rect">
            <a:avLst/>
          </a:prstGeom>
          <a:noFill/>
        </p:spPr>
        <p:txBody>
          <a:bodyPr wrap="square">
            <a:spAutoFit/>
          </a:bodyPr>
          <a:lstStyle/>
          <a:p>
            <a:pPr>
              <a:lnSpc>
                <a:spcPct val="100000"/>
              </a:lnSpc>
              <a:buNone/>
            </a:pPr>
            <a:r>
              <a:rPr lang="en-US" sz="1800" b="0" dirty="0">
                <a:solidFill>
                  <a:schemeClr val="tx1"/>
                </a:solidFill>
                <a:effectLst/>
                <a:latin typeface="+mn-lt"/>
              </a:rPr>
              <a:t>DROP TABLE IF EXISTS users;</a:t>
            </a:r>
          </a:p>
          <a:p>
            <a:pPr>
              <a:lnSpc>
                <a:spcPct val="100000"/>
              </a:lnSpc>
              <a:buNone/>
            </a:pPr>
            <a:r>
              <a:rPr lang="en-US" sz="1800" b="0" dirty="0">
                <a:solidFill>
                  <a:schemeClr val="tx1"/>
                </a:solidFill>
                <a:effectLst/>
                <a:latin typeface="+mn-lt"/>
              </a:rPr>
              <a:t>DROP TABLE IF EXISTS orders;</a:t>
            </a:r>
            <a:endParaRPr lang="en-US" sz="105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B4F92B92-B2D0-15CA-7017-ABE378EF1C29}"/>
              </a:ext>
            </a:extLst>
          </p:cNvPr>
          <p:cNvSpPr txBox="1"/>
          <p:nvPr/>
        </p:nvSpPr>
        <p:spPr>
          <a:xfrm>
            <a:off x="1265689" y="4266385"/>
            <a:ext cx="6097044" cy="646331"/>
          </a:xfrm>
          <a:prstGeom prst="rect">
            <a:avLst/>
          </a:prstGeom>
          <a:noFill/>
        </p:spPr>
        <p:txBody>
          <a:bodyPr wrap="square">
            <a:spAutoFit/>
          </a:bodyPr>
          <a:lstStyle/>
          <a:p>
            <a:pPr>
              <a:lnSpc>
                <a:spcPct val="100000"/>
              </a:lnSpc>
              <a:buNone/>
            </a:pPr>
            <a:r>
              <a:rPr lang="en-US" sz="1800" b="0" dirty="0">
                <a:solidFill>
                  <a:schemeClr val="tx1"/>
                </a:solidFill>
                <a:effectLst/>
                <a:latin typeface="+mn-lt"/>
              </a:rPr>
              <a:t>Drops tables and any dependent tables:</a:t>
            </a:r>
          </a:p>
          <a:p>
            <a:pPr>
              <a:lnSpc>
                <a:spcPct val="100000"/>
              </a:lnSpc>
              <a:buNone/>
            </a:pPr>
            <a:r>
              <a:rPr lang="en-US" sz="1800" b="0" dirty="0">
                <a:solidFill>
                  <a:schemeClr val="tx1"/>
                </a:solidFill>
                <a:effectLst/>
                <a:latin typeface="+mn-lt"/>
              </a:rPr>
              <a:t>DROP TABLE users CASCADE;</a:t>
            </a:r>
            <a:endParaRPr lang="en-US" sz="1050" b="0" dirty="0">
              <a:solidFill>
                <a:srgbClr val="BBBEBF"/>
              </a:solidFill>
              <a:effectLst/>
              <a:latin typeface="Consolas" panose="020B0609020204030204" pitchFamily="49" charset="0"/>
            </a:endParaRPr>
          </a:p>
        </p:txBody>
      </p:sp>
      <p:sp>
        <p:nvSpPr>
          <p:cNvPr id="9" name="TextBox 8">
            <a:extLst>
              <a:ext uri="{FF2B5EF4-FFF2-40B4-BE49-F238E27FC236}">
                <a16:creationId xmlns:a16="http://schemas.microsoft.com/office/drawing/2014/main" id="{8FFC7E8F-FCFF-3DFD-3416-5C3467401EFF}"/>
              </a:ext>
            </a:extLst>
          </p:cNvPr>
          <p:cNvSpPr txBox="1"/>
          <p:nvPr/>
        </p:nvSpPr>
        <p:spPr>
          <a:xfrm>
            <a:off x="2291480" y="2214787"/>
            <a:ext cx="8087117" cy="338554"/>
          </a:xfrm>
          <a:prstGeom prst="rect">
            <a:avLst/>
          </a:prstGeom>
          <a:noFill/>
        </p:spPr>
        <p:txBody>
          <a:bodyPr wrap="square">
            <a:spAutoFit/>
          </a:bodyPr>
          <a:lstStyle/>
          <a:p>
            <a:r>
              <a:rPr lang="en-US" sz="1600" b="0" i="0" dirty="0">
                <a:solidFill>
                  <a:schemeClr val="tx1"/>
                </a:solidFill>
                <a:effectLst/>
                <a:latin typeface="+mn-lt"/>
              </a:rPr>
              <a:t>DROP</a:t>
            </a:r>
            <a:r>
              <a:rPr lang="en-US" sz="1600" b="1" i="0" dirty="0">
                <a:solidFill>
                  <a:schemeClr val="tx1"/>
                </a:solidFill>
                <a:effectLst/>
                <a:latin typeface="+mn-lt"/>
              </a:rPr>
              <a:t> removes </a:t>
            </a:r>
            <a:r>
              <a:rPr lang="en-US" sz="1600" b="1" dirty="0"/>
              <a:t>the table itself</a:t>
            </a:r>
            <a:r>
              <a:rPr lang="en-US" sz="1600" b="1" i="0" dirty="0">
                <a:solidFill>
                  <a:schemeClr val="tx1"/>
                </a:solidFill>
                <a:effectLst/>
                <a:latin typeface="+mn-lt"/>
              </a:rPr>
              <a:t>, while </a:t>
            </a:r>
            <a:r>
              <a:rPr lang="en-US" sz="1600" b="0" i="0" dirty="0">
                <a:solidFill>
                  <a:schemeClr val="tx1"/>
                </a:solidFill>
                <a:effectLst/>
                <a:latin typeface="+mn-lt"/>
              </a:rPr>
              <a:t>TRUNCATE</a:t>
            </a:r>
            <a:r>
              <a:rPr lang="en-US" sz="1600" b="1" i="0" dirty="0">
                <a:solidFill>
                  <a:schemeClr val="tx1"/>
                </a:solidFill>
                <a:effectLst/>
                <a:latin typeface="+mn-lt"/>
              </a:rPr>
              <a:t> empties the whole table quickly</a:t>
            </a:r>
            <a:endParaRPr lang="en-US" sz="1600" dirty="0"/>
          </a:p>
        </p:txBody>
      </p:sp>
      <p:sp>
        <p:nvSpPr>
          <p:cNvPr id="11" name="TextBox 10">
            <a:extLst>
              <a:ext uri="{FF2B5EF4-FFF2-40B4-BE49-F238E27FC236}">
                <a16:creationId xmlns:a16="http://schemas.microsoft.com/office/drawing/2014/main" id="{DAD3DFC9-5908-7377-DC6C-6B4428F5F19C}"/>
              </a:ext>
            </a:extLst>
          </p:cNvPr>
          <p:cNvSpPr txBox="1"/>
          <p:nvPr/>
        </p:nvSpPr>
        <p:spPr>
          <a:xfrm>
            <a:off x="7267408" y="3616175"/>
            <a:ext cx="3937124" cy="1200329"/>
          </a:xfrm>
          <a:prstGeom prst="rect">
            <a:avLst/>
          </a:prstGeom>
          <a:noFill/>
        </p:spPr>
        <p:txBody>
          <a:bodyPr wrap="square">
            <a:spAutoFit/>
          </a:bodyPr>
          <a:lstStyle/>
          <a:p>
            <a:pPr marL="0" marR="0" indent="0" algn="l">
              <a:buNone/>
            </a:pPr>
            <a:endParaRPr lang="en-US" dirty="0"/>
          </a:p>
          <a:p>
            <a:pPr marL="0" marR="0" indent="0" algn="l">
              <a:buNone/>
            </a:pPr>
            <a:r>
              <a:rPr lang="en-US" sz="1800" b="0" i="0" dirty="0">
                <a:solidFill>
                  <a:schemeClr val="tx1"/>
                </a:solidFill>
                <a:effectLst/>
                <a:latin typeface="+mn-lt"/>
              </a:rPr>
              <a:t>TRUNCATE TABLE users;</a:t>
            </a:r>
          </a:p>
          <a:p>
            <a:pPr>
              <a:buNone/>
            </a:pPr>
            <a:br>
              <a:rPr lang="en-US" dirty="0"/>
            </a:br>
            <a:endParaRPr lang="en-US" dirty="0"/>
          </a:p>
        </p:txBody>
      </p:sp>
      <p:sp>
        <p:nvSpPr>
          <p:cNvPr id="13" name="TextBox 12">
            <a:extLst>
              <a:ext uri="{FF2B5EF4-FFF2-40B4-BE49-F238E27FC236}">
                <a16:creationId xmlns:a16="http://schemas.microsoft.com/office/drawing/2014/main" id="{AD4B9088-E087-BB68-DFA6-59DDD1BB4B4C}"/>
              </a:ext>
            </a:extLst>
          </p:cNvPr>
          <p:cNvSpPr txBox="1"/>
          <p:nvPr/>
        </p:nvSpPr>
        <p:spPr>
          <a:xfrm>
            <a:off x="3574615" y="5793393"/>
            <a:ext cx="6097044" cy="923330"/>
          </a:xfrm>
          <a:prstGeom prst="rect">
            <a:avLst/>
          </a:prstGeom>
          <a:noFill/>
        </p:spPr>
        <p:txBody>
          <a:bodyPr wrap="square">
            <a:spAutoFit/>
          </a:bodyPr>
          <a:lstStyle/>
          <a:p>
            <a:r>
              <a:rPr lang="en-US" sz="1800" dirty="0"/>
              <a:t>Note: You can’t TRUNCATE or DROP tables based on conditions. I.e. the following is INCORRECT:</a:t>
            </a:r>
            <a:br>
              <a:rPr lang="en-US" sz="1800" dirty="0"/>
            </a:br>
            <a:r>
              <a:rPr lang="en-US" sz="1800" dirty="0">
                <a:solidFill>
                  <a:srgbClr val="FF0000"/>
                </a:solidFill>
              </a:rPr>
              <a:t>TRUNCATE TABLE users WHERE id = 10;</a:t>
            </a:r>
            <a:endParaRPr lang="en-US" sz="1800" b="0" i="0" dirty="0">
              <a:solidFill>
                <a:srgbClr val="FF0000"/>
              </a:solidFill>
              <a:effectLst/>
              <a:latin typeface="+mn-lt"/>
            </a:endParaRPr>
          </a:p>
        </p:txBody>
      </p:sp>
    </p:spTree>
    <p:extLst>
      <p:ext uri="{BB962C8B-B14F-4D97-AF65-F5344CB8AC3E}">
        <p14:creationId xmlns:p14="http://schemas.microsoft.com/office/powerpoint/2010/main" val="32604680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F9B26-935F-791D-3A95-68A53C4854E2}"/>
              </a:ext>
            </a:extLst>
          </p:cNvPr>
          <p:cNvSpPr>
            <a:spLocks noGrp="1"/>
          </p:cNvSpPr>
          <p:nvPr>
            <p:ph type="title"/>
          </p:nvPr>
        </p:nvSpPr>
        <p:spPr/>
        <p:txBody>
          <a:bodyPr/>
          <a:lstStyle/>
          <a:p>
            <a:r>
              <a:rPr lang="en-US" dirty="0"/>
              <a:t>Aggregate Functions</a:t>
            </a:r>
          </a:p>
        </p:txBody>
      </p:sp>
      <p:sp>
        <p:nvSpPr>
          <p:cNvPr id="5" name="TextBox 2">
            <a:extLst>
              <a:ext uri="{FF2B5EF4-FFF2-40B4-BE49-F238E27FC236}">
                <a16:creationId xmlns:a16="http://schemas.microsoft.com/office/drawing/2014/main" id="{1C2E3AE7-EF50-0896-2D25-74CFC42C0E96}"/>
              </a:ext>
            </a:extLst>
          </p:cNvPr>
          <p:cNvSpPr/>
          <p:nvPr/>
        </p:nvSpPr>
        <p:spPr>
          <a:xfrm>
            <a:off x="3395146" y="2494538"/>
            <a:ext cx="5401707" cy="116809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400" b="0" u="none" strike="noStrike" dirty="0">
                <a:effectLst/>
                <a:uFillTx/>
                <a:latin typeface="Arial"/>
                <a:ea typeface="Arial"/>
              </a:rPr>
              <a:t>MIN, MAX, AVG, COUNT, SUM</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Used in GROUP BY operations to return aggregate data</a:t>
            </a:r>
            <a:endParaRPr lang="en-US" sz="1400" dirty="0">
              <a:latin typeface="Arial"/>
              <a:ea typeface="Arial"/>
            </a:endParaRPr>
          </a:p>
          <a:p>
            <a:pPr>
              <a:lnSpc>
                <a:spcPct val="100000"/>
              </a:lnSpc>
            </a:pPr>
            <a:endParaRPr lang="en-US" sz="1400" b="0" u="none" strike="noStrike" dirty="0">
              <a:effectLst/>
              <a:uFillTx/>
              <a:latin typeface="Arial"/>
            </a:endParaRPr>
          </a:p>
          <a:p>
            <a:pPr>
              <a:lnSpc>
                <a:spcPct val="100000"/>
              </a:lnSpc>
            </a:pPr>
            <a:r>
              <a:rPr lang="en-US" sz="1400" dirty="0">
                <a:latin typeface="Arial"/>
              </a:rPr>
              <a:t>Notice the HAVING clause to filter the aggregated data</a:t>
            </a:r>
            <a:endParaRPr lang="en-US" sz="1400" b="0" u="none" strike="noStrike" dirty="0">
              <a:effectLst/>
              <a:uFillTx/>
              <a:latin typeface="Arial"/>
            </a:endParaRPr>
          </a:p>
        </p:txBody>
      </p:sp>
      <p:sp>
        <p:nvSpPr>
          <p:cNvPr id="7" name="TextBox 6">
            <a:extLst>
              <a:ext uri="{FF2B5EF4-FFF2-40B4-BE49-F238E27FC236}">
                <a16:creationId xmlns:a16="http://schemas.microsoft.com/office/drawing/2014/main" id="{00EC8008-D0FE-984F-4072-2A085089B728}"/>
              </a:ext>
            </a:extLst>
          </p:cNvPr>
          <p:cNvSpPr txBox="1"/>
          <p:nvPr/>
        </p:nvSpPr>
        <p:spPr>
          <a:xfrm>
            <a:off x="3791791" y="4182346"/>
            <a:ext cx="5051584" cy="1709442"/>
          </a:xfrm>
          <a:prstGeom prst="rect">
            <a:avLst/>
          </a:prstGeom>
          <a:noFill/>
        </p:spPr>
        <p:txBody>
          <a:bodyPr wrap="square">
            <a:spAutoFit/>
          </a:bodyPr>
          <a:lstStyle/>
          <a:p>
            <a:pPr>
              <a:lnSpc>
                <a:spcPts val="1425"/>
              </a:lnSpc>
              <a:buNone/>
            </a:pPr>
            <a:r>
              <a:rPr lang="en-US" sz="1400" b="0" dirty="0">
                <a:effectLst/>
                <a:latin typeface="Consolas" panose="020B0609020204030204" pitchFamily="49" charset="0"/>
              </a:rPr>
              <a:t>SELECT </a:t>
            </a:r>
          </a:p>
          <a:p>
            <a:pPr>
              <a:lnSpc>
                <a:spcPts val="1425"/>
              </a:lnSpc>
              <a:buNone/>
            </a:pPr>
            <a:r>
              <a:rPr lang="en-US" sz="1400" b="0" dirty="0">
                <a:effectLst/>
                <a:latin typeface="Consolas" panose="020B0609020204030204" pitchFamily="49" charset="0"/>
              </a:rPr>
              <a:t>    </a:t>
            </a:r>
            <a:r>
              <a:rPr lang="en-US" sz="1400" b="0" dirty="0" err="1">
                <a:effectLst/>
                <a:latin typeface="Consolas" panose="020B0609020204030204" pitchFamily="49" charset="0"/>
              </a:rPr>
              <a:t>billing_country</a:t>
            </a:r>
            <a:r>
              <a:rPr lang="en-US" sz="1400" b="0" dirty="0">
                <a:effectLst/>
                <a:latin typeface="Consolas" panose="020B0609020204030204" pitchFamily="49" charset="0"/>
              </a:rPr>
              <a:t>,</a:t>
            </a:r>
          </a:p>
          <a:p>
            <a:pPr>
              <a:lnSpc>
                <a:spcPts val="1425"/>
              </a:lnSpc>
              <a:buNone/>
            </a:pPr>
            <a:r>
              <a:rPr lang="en-US" sz="1400" b="0" dirty="0">
                <a:effectLst/>
                <a:latin typeface="Consolas" panose="020B0609020204030204" pitchFamily="49" charset="0"/>
              </a:rPr>
              <a:t>    COUNT(*) AS </a:t>
            </a:r>
            <a:r>
              <a:rPr lang="en-US" sz="1400" b="0" dirty="0" err="1">
                <a:effectLst/>
                <a:latin typeface="Consolas" panose="020B0609020204030204" pitchFamily="49" charset="0"/>
              </a:rPr>
              <a:t>customer_count</a:t>
            </a:r>
            <a:r>
              <a:rPr lang="en-US" sz="1400" b="0" dirty="0">
                <a:effectLst/>
                <a:latin typeface="Consolas" panose="020B0609020204030204" pitchFamily="49" charset="0"/>
              </a:rPr>
              <a:t>,</a:t>
            </a:r>
          </a:p>
          <a:p>
            <a:pPr>
              <a:lnSpc>
                <a:spcPts val="1425"/>
              </a:lnSpc>
              <a:buNone/>
            </a:pPr>
            <a:r>
              <a:rPr lang="en-US" sz="1400" b="0" dirty="0">
                <a:effectLst/>
                <a:latin typeface="Consolas" panose="020B0609020204030204" pitchFamily="49" charset="0"/>
              </a:rPr>
              <a:t>    AVG(total) AS </a:t>
            </a:r>
            <a:r>
              <a:rPr lang="en-US" sz="1400" b="0" dirty="0" err="1">
                <a:effectLst/>
                <a:latin typeface="Consolas" panose="020B0609020204030204" pitchFamily="49" charset="0"/>
              </a:rPr>
              <a:t>avg_total</a:t>
            </a:r>
            <a:r>
              <a:rPr lang="en-US" sz="1400" b="0" dirty="0">
                <a:effectLst/>
                <a:latin typeface="Consolas" panose="020B0609020204030204" pitchFamily="49" charset="0"/>
              </a:rPr>
              <a:t>,</a:t>
            </a:r>
          </a:p>
          <a:p>
            <a:pPr>
              <a:lnSpc>
                <a:spcPts val="1425"/>
              </a:lnSpc>
              <a:buNone/>
            </a:pPr>
            <a:r>
              <a:rPr lang="en-US" sz="1400" b="0" dirty="0">
                <a:effectLst/>
                <a:latin typeface="Consolas" panose="020B0609020204030204" pitchFamily="49" charset="0"/>
              </a:rPr>
              <a:t>    MIN(</a:t>
            </a:r>
            <a:r>
              <a:rPr lang="en-US" sz="1400" b="0" dirty="0" err="1">
                <a:effectLst/>
                <a:latin typeface="Consolas" panose="020B0609020204030204" pitchFamily="49" charset="0"/>
              </a:rPr>
              <a:t>invoice_date</a:t>
            </a:r>
            <a:r>
              <a:rPr lang="en-US" sz="1400" b="0" dirty="0">
                <a:effectLst/>
                <a:latin typeface="Consolas" panose="020B0609020204030204" pitchFamily="49" charset="0"/>
              </a:rPr>
              <a:t>) AS</a:t>
            </a:r>
            <a:r>
              <a:rPr lang="en-US" sz="1400" dirty="0">
                <a:latin typeface="Consolas" panose="020B0609020204030204" pitchFamily="49" charset="0"/>
              </a:rPr>
              <a:t> </a:t>
            </a:r>
            <a:r>
              <a:rPr lang="en-US" sz="1400" b="0" dirty="0" err="1">
                <a:effectLst/>
                <a:latin typeface="Consolas" panose="020B0609020204030204" pitchFamily="49" charset="0"/>
              </a:rPr>
              <a:t>first_order</a:t>
            </a:r>
            <a:endParaRPr lang="en-US" sz="1400" b="0" dirty="0">
              <a:effectLst/>
              <a:latin typeface="Consolas" panose="020B0609020204030204" pitchFamily="49" charset="0"/>
            </a:endParaRPr>
          </a:p>
          <a:p>
            <a:pPr>
              <a:lnSpc>
                <a:spcPts val="1425"/>
              </a:lnSpc>
              <a:buNone/>
            </a:pPr>
            <a:r>
              <a:rPr lang="en-US" sz="1400" b="0" dirty="0">
                <a:effectLst/>
                <a:latin typeface="Consolas" panose="020B0609020204030204" pitchFamily="49" charset="0"/>
              </a:rPr>
              <a:t>FROM invoice</a:t>
            </a:r>
          </a:p>
          <a:p>
            <a:pPr>
              <a:lnSpc>
                <a:spcPts val="1425"/>
              </a:lnSpc>
              <a:buNone/>
            </a:pPr>
            <a:r>
              <a:rPr lang="en-US" sz="1400" b="0" dirty="0">
                <a:effectLst/>
                <a:latin typeface="Consolas" panose="020B0609020204030204" pitchFamily="49" charset="0"/>
              </a:rPr>
              <a:t>WHERE </a:t>
            </a:r>
            <a:r>
              <a:rPr lang="en-US" sz="1400" b="0" dirty="0" err="1">
                <a:effectLst/>
                <a:latin typeface="Consolas" panose="020B0609020204030204" pitchFamily="49" charset="0"/>
              </a:rPr>
              <a:t>invoice_date</a:t>
            </a:r>
            <a:r>
              <a:rPr lang="en-US" sz="1400" b="0" dirty="0">
                <a:effectLst/>
                <a:latin typeface="Consolas" panose="020B0609020204030204" pitchFamily="49" charset="0"/>
              </a:rPr>
              <a:t> &gt;= NOW() -INTERVAL ‘</a:t>
            </a:r>
            <a:r>
              <a:rPr lang="en-US" sz="1400" dirty="0">
                <a:latin typeface="Consolas" panose="020B0609020204030204" pitchFamily="49" charset="0"/>
              </a:rPr>
              <a:t>1</a:t>
            </a:r>
            <a:r>
              <a:rPr lang="en-US" sz="1400" b="0" dirty="0">
                <a:effectLst/>
                <a:latin typeface="Consolas" panose="020B0609020204030204" pitchFamily="49" charset="0"/>
              </a:rPr>
              <a:t> year'</a:t>
            </a:r>
          </a:p>
          <a:p>
            <a:pPr>
              <a:lnSpc>
                <a:spcPts val="1425"/>
              </a:lnSpc>
              <a:buNone/>
            </a:pPr>
            <a:r>
              <a:rPr lang="en-US" sz="1400" b="0" dirty="0">
                <a:effectLst/>
                <a:latin typeface="Consolas" panose="020B0609020204030204" pitchFamily="49" charset="0"/>
              </a:rPr>
              <a:t>GROUP BY </a:t>
            </a:r>
            <a:r>
              <a:rPr lang="en-US" sz="1400" b="0" dirty="0" err="1">
                <a:effectLst/>
                <a:latin typeface="Consolas" panose="020B0609020204030204" pitchFamily="49" charset="0"/>
              </a:rPr>
              <a:t>billing_country</a:t>
            </a:r>
            <a:endParaRPr lang="en-US" sz="1400" b="0" dirty="0">
              <a:effectLst/>
              <a:latin typeface="Consolas" panose="020B0609020204030204" pitchFamily="49" charset="0"/>
            </a:endParaRPr>
          </a:p>
          <a:p>
            <a:pPr>
              <a:lnSpc>
                <a:spcPts val="1425"/>
              </a:lnSpc>
              <a:buNone/>
            </a:pPr>
            <a:r>
              <a:rPr lang="en-US" sz="1400" b="0" dirty="0">
                <a:effectLst/>
                <a:latin typeface="Consolas" panose="020B0609020204030204" pitchFamily="49" charset="0"/>
              </a:rPr>
              <a:t>HAVING COUNT(*) &gt; 10;</a:t>
            </a:r>
          </a:p>
        </p:txBody>
      </p:sp>
    </p:spTree>
    <p:extLst>
      <p:ext uri="{BB962C8B-B14F-4D97-AF65-F5344CB8AC3E}">
        <p14:creationId xmlns:p14="http://schemas.microsoft.com/office/powerpoint/2010/main" val="19168845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EE335-3D1F-0811-74FC-4A025B3B1680}"/>
              </a:ext>
            </a:extLst>
          </p:cNvPr>
          <p:cNvSpPr>
            <a:spLocks noGrp="1"/>
          </p:cNvSpPr>
          <p:nvPr>
            <p:ph type="title"/>
          </p:nvPr>
        </p:nvSpPr>
        <p:spPr/>
        <p:txBody>
          <a:bodyPr/>
          <a:lstStyle/>
          <a:p>
            <a:r>
              <a:rPr lang="en-US" dirty="0"/>
              <a:t>Scalar Functions</a:t>
            </a:r>
          </a:p>
        </p:txBody>
      </p:sp>
      <p:sp>
        <p:nvSpPr>
          <p:cNvPr id="5" name="TextBox 3">
            <a:extLst>
              <a:ext uri="{FF2B5EF4-FFF2-40B4-BE49-F238E27FC236}">
                <a16:creationId xmlns:a16="http://schemas.microsoft.com/office/drawing/2014/main" id="{474B887F-3189-CD19-9001-0804FB5C36C3}"/>
              </a:ext>
            </a:extLst>
          </p:cNvPr>
          <p:cNvSpPr/>
          <p:nvPr/>
        </p:nvSpPr>
        <p:spPr>
          <a:xfrm>
            <a:off x="1288563" y="2055231"/>
            <a:ext cx="4571640" cy="991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SELECT </a:t>
            </a:r>
            <a:r>
              <a:rPr lang="en-US" sz="1400" b="0" u="none" strike="noStrike" dirty="0" err="1">
                <a:effectLst/>
                <a:uFillTx/>
                <a:latin typeface="Consolas"/>
                <a:ea typeface="Arial"/>
              </a:rPr>
              <a:t>customer_id</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UPPER(</a:t>
            </a:r>
            <a:r>
              <a:rPr lang="en-US" sz="1400" b="0" u="none" strike="noStrike" dirty="0" err="1">
                <a:effectLst/>
                <a:uFillTx/>
                <a:latin typeface="Consolas"/>
                <a:ea typeface="Arial"/>
              </a:rPr>
              <a:t>last_name</a:t>
            </a:r>
            <a:r>
              <a:rPr lang="en-US" sz="1400" b="0" u="none" strike="noStrike" dirty="0">
                <a:effectLst/>
                <a:uFillTx/>
                <a:latin typeface="Consolas"/>
                <a:ea typeface="Arial"/>
              </a:rPr>
              <a:t>) AS </a:t>
            </a:r>
            <a:r>
              <a:rPr lang="en-US" sz="1400" b="0" u="none" strike="noStrike" dirty="0" err="1">
                <a:effectLst/>
                <a:uFillTx/>
                <a:latin typeface="Consolas"/>
                <a:ea typeface="Arial"/>
              </a:rPr>
              <a:t>last_name_upper</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LOWER(</a:t>
            </a:r>
            <a:r>
              <a:rPr lang="en-US" sz="1400" b="0" u="none" strike="noStrike" dirty="0" err="1">
                <a:effectLst/>
                <a:uFillTx/>
                <a:latin typeface="Consolas"/>
                <a:ea typeface="Arial"/>
              </a:rPr>
              <a:t>first_name</a:t>
            </a:r>
            <a:r>
              <a:rPr lang="en-US" sz="1400" b="0" u="none" strike="noStrike" dirty="0">
                <a:effectLst/>
                <a:uFillTx/>
                <a:latin typeface="Consolas"/>
                <a:ea typeface="Arial"/>
              </a:rPr>
              <a:t>) AS </a:t>
            </a:r>
            <a:r>
              <a:rPr lang="en-US" sz="1400" b="0" u="none" strike="noStrike" dirty="0" err="1">
                <a:effectLst/>
                <a:uFillTx/>
                <a:latin typeface="Consolas"/>
                <a:ea typeface="Arial"/>
              </a:rPr>
              <a:t>first_name_lower</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LENGTH(email) AS </a:t>
            </a:r>
            <a:r>
              <a:rPr lang="en-US" sz="1400" b="0" u="none" strike="noStrike" dirty="0" err="1">
                <a:effectLst/>
                <a:uFillTx/>
                <a:latin typeface="Consolas"/>
                <a:ea typeface="Arial"/>
              </a:rPr>
              <a:t>email_length</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customer;</a:t>
            </a:r>
            <a:endParaRPr lang="en-US" sz="1400" b="0" u="none" strike="noStrike" dirty="0">
              <a:effectLst/>
              <a:uFillTx/>
              <a:latin typeface="Arial"/>
            </a:endParaRPr>
          </a:p>
        </p:txBody>
      </p:sp>
      <p:sp>
        <p:nvSpPr>
          <p:cNvPr id="7" name="TextBox 4">
            <a:extLst>
              <a:ext uri="{FF2B5EF4-FFF2-40B4-BE49-F238E27FC236}">
                <a16:creationId xmlns:a16="http://schemas.microsoft.com/office/drawing/2014/main" id="{CD90578E-4B17-6D53-2B72-7EA7115D74D5}"/>
              </a:ext>
            </a:extLst>
          </p:cNvPr>
          <p:cNvSpPr/>
          <p:nvPr/>
        </p:nvSpPr>
        <p:spPr>
          <a:xfrm>
            <a:off x="1926730" y="4837779"/>
            <a:ext cx="457164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String/Text</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UPPER, LOWER, LENGTH, TRIM</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SUBSTRING(str, </a:t>
            </a:r>
            <a:r>
              <a:rPr lang="en-US" sz="1400" b="0" u="none" strike="noStrike" dirty="0" err="1">
                <a:effectLst/>
                <a:uFillTx/>
                <a:latin typeface="Arial"/>
                <a:ea typeface="Arial"/>
              </a:rPr>
              <a:t>start_index_int</a:t>
            </a:r>
            <a:r>
              <a:rPr lang="en-US" sz="1400" b="0" u="none" strike="noStrike" dirty="0">
                <a:effectLst/>
                <a:uFillTx/>
                <a:latin typeface="Arial"/>
                <a:ea typeface="Arial"/>
              </a:rPr>
              <a:t>, </a:t>
            </a:r>
            <a:r>
              <a:rPr lang="en-US" sz="1400" b="0" u="none" strike="noStrike" dirty="0" err="1">
                <a:effectLst/>
                <a:uFillTx/>
                <a:latin typeface="Arial"/>
                <a:ea typeface="Arial"/>
              </a:rPr>
              <a:t>length_int</a:t>
            </a:r>
            <a:r>
              <a:rPr lang="en-US" sz="1400" b="0" u="none" strike="noStrike" dirty="0">
                <a:effectLst/>
                <a:uFillTx/>
                <a:latin typeface="Arial"/>
                <a:ea typeface="Arial"/>
              </a:rPr>
              <a:t>)</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CONCAT(str1, str2)</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REPLACE(str, from, to) </a:t>
            </a:r>
            <a:endParaRPr lang="en-US" sz="1400" b="0" u="none" strike="noStrike" dirty="0">
              <a:effectLst/>
              <a:uFillTx/>
              <a:latin typeface="Arial"/>
            </a:endParaRPr>
          </a:p>
          <a:p>
            <a:pPr marL="285840" lvl="2"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  SELECT REPLACE (‘hello’ , ‘l’, ‘x’); -&gt; ‘</a:t>
            </a:r>
            <a:r>
              <a:rPr lang="en-US" sz="1400" b="0" u="none" strike="noStrike" dirty="0" err="1">
                <a:effectLst/>
                <a:uFillTx/>
                <a:latin typeface="Arial"/>
                <a:ea typeface="Arial"/>
              </a:rPr>
              <a:t>hexxo</a:t>
            </a:r>
            <a:r>
              <a:rPr lang="en-US" sz="1400" b="0" u="none" strike="noStrike" dirty="0">
                <a:effectLst/>
                <a:uFillTx/>
                <a:latin typeface="Arial"/>
                <a:ea typeface="Arial"/>
              </a:rPr>
              <a:t>’</a:t>
            </a:r>
            <a:endParaRPr lang="en-US" sz="1400" b="0" u="none" strike="noStrike" dirty="0">
              <a:effectLst/>
              <a:uFillTx/>
              <a:latin typeface="Arial"/>
            </a:endParaRPr>
          </a:p>
        </p:txBody>
      </p:sp>
      <p:sp>
        <p:nvSpPr>
          <p:cNvPr id="9" name="TextBox 5">
            <a:extLst>
              <a:ext uri="{FF2B5EF4-FFF2-40B4-BE49-F238E27FC236}">
                <a16:creationId xmlns:a16="http://schemas.microsoft.com/office/drawing/2014/main" id="{D0B5B811-9386-7B04-749E-9DFB0DD0B46C}"/>
              </a:ext>
            </a:extLst>
          </p:cNvPr>
          <p:cNvSpPr/>
          <p:nvPr/>
        </p:nvSpPr>
        <p:spPr>
          <a:xfrm>
            <a:off x="6282370" y="4799619"/>
            <a:ext cx="426960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Date/Time Functions</a:t>
            </a: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NOW(), CURRENT_DATE</a:t>
            </a: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AGE(timestamp1, timestamp2) – return the difference between to timestamps</a:t>
            </a: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EXTRACT(field FROM timestamp)</a:t>
            </a:r>
            <a:endParaRPr lang="en-US" sz="1400" b="0" u="none" strike="noStrike">
              <a:effectLst/>
              <a:uFillTx/>
              <a:latin typeface="Arial"/>
            </a:endParaRPr>
          </a:p>
          <a:p>
            <a:pPr marL="285840" indent="-285840">
              <a:lnSpc>
                <a:spcPct val="100000"/>
              </a:lnSpc>
              <a:buClr>
                <a:srgbClr val="FFFFFF"/>
              </a:buClr>
              <a:buFont typeface="Arial"/>
              <a:buChar char="•"/>
            </a:pPr>
            <a:r>
              <a:rPr lang="en-US" sz="1400" b="0" u="none" strike="noStrike">
                <a:effectLst/>
                <a:uFillTx/>
                <a:latin typeface="Arial"/>
                <a:ea typeface="Arial"/>
              </a:rPr>
              <a:t>  SELECT EXTRACT(MONTH from NOW());</a:t>
            </a:r>
            <a:endParaRPr lang="en-US" sz="1400" b="0" u="none" strike="noStrike">
              <a:effectLst/>
              <a:uFillTx/>
              <a:latin typeface="Arial"/>
            </a:endParaRPr>
          </a:p>
        </p:txBody>
      </p:sp>
      <p:sp>
        <p:nvSpPr>
          <p:cNvPr id="11" name="TextBox 7">
            <a:extLst>
              <a:ext uri="{FF2B5EF4-FFF2-40B4-BE49-F238E27FC236}">
                <a16:creationId xmlns:a16="http://schemas.microsoft.com/office/drawing/2014/main" id="{47ACB1AB-D274-C207-6A41-39744B705F4A}"/>
              </a:ext>
            </a:extLst>
          </p:cNvPr>
          <p:cNvSpPr/>
          <p:nvPr/>
        </p:nvSpPr>
        <p:spPr>
          <a:xfrm>
            <a:off x="6498369" y="2055231"/>
            <a:ext cx="4900315" cy="62968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invoice</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WHERE EXTRACT(YEAR FROM </a:t>
            </a:r>
            <a:r>
              <a:rPr lang="en-US" sz="1400" b="0" u="none" strike="noStrike" dirty="0" err="1">
                <a:effectLst/>
                <a:uFillTx/>
                <a:latin typeface="Consolas"/>
                <a:ea typeface="Arial"/>
              </a:rPr>
              <a:t>invoice_date</a:t>
            </a:r>
            <a:r>
              <a:rPr lang="en-US" sz="1400" b="0" u="none" strike="noStrike" dirty="0">
                <a:effectLst/>
                <a:uFillTx/>
                <a:latin typeface="Consolas"/>
                <a:ea typeface="Arial"/>
              </a:rPr>
              <a:t>) = 2025;</a:t>
            </a:r>
            <a:endParaRPr lang="en-US" sz="1400" b="0" u="none" strike="noStrike" dirty="0">
              <a:effectLst/>
              <a:uFillTx/>
              <a:latin typeface="Arial"/>
            </a:endParaRPr>
          </a:p>
        </p:txBody>
      </p:sp>
      <p:sp>
        <p:nvSpPr>
          <p:cNvPr id="13" name="TextBox 9">
            <a:extLst>
              <a:ext uri="{FF2B5EF4-FFF2-40B4-BE49-F238E27FC236}">
                <a16:creationId xmlns:a16="http://schemas.microsoft.com/office/drawing/2014/main" id="{F43274E0-8F0B-713B-7CD2-D3696D29823E}"/>
              </a:ext>
            </a:extLst>
          </p:cNvPr>
          <p:cNvSpPr/>
          <p:nvPr/>
        </p:nvSpPr>
        <p:spPr>
          <a:xfrm>
            <a:off x="4117690" y="3258099"/>
            <a:ext cx="4575600" cy="63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SELECT CONCAT(UPPER(</a:t>
            </a:r>
            <a:r>
              <a:rPr lang="en-US" sz="1400" b="0" u="none" strike="noStrike" dirty="0" err="1">
                <a:effectLst/>
                <a:uFillTx/>
                <a:latin typeface="Consolas"/>
                <a:ea typeface="Arial"/>
              </a:rPr>
              <a:t>first_name</a:t>
            </a:r>
            <a:r>
              <a:rPr lang="en-US" sz="1400" b="0" u="none" strike="noStrike" dirty="0">
                <a:effectLst/>
                <a:uFillTx/>
                <a:latin typeface="Consolas"/>
                <a:ea typeface="Arial"/>
              </a:rPr>
              <a:t>), ' ', UPPER(</a:t>
            </a:r>
            <a:r>
              <a:rPr lang="en-US" sz="1400" b="0" u="none" strike="noStrike" dirty="0" err="1">
                <a:effectLst/>
                <a:uFillTx/>
                <a:latin typeface="Consolas"/>
                <a:ea typeface="Arial"/>
              </a:rPr>
              <a:t>last_name</a:t>
            </a:r>
            <a:r>
              <a:rPr lang="en-US" sz="1400" b="0" u="none" strike="noStrike" dirty="0">
                <a:effectLst/>
                <a:uFillTx/>
                <a:latin typeface="Consolas"/>
                <a:ea typeface="Arial"/>
              </a:rPr>
              <a:t>)) AS </a:t>
            </a:r>
            <a:r>
              <a:rPr lang="en-US" sz="1400" b="0" u="none" strike="noStrike" dirty="0" err="1">
                <a:effectLst/>
                <a:uFillTx/>
                <a:latin typeface="Consolas"/>
                <a:ea typeface="Arial"/>
              </a:rPr>
              <a:t>full_name</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customer;</a:t>
            </a:r>
            <a:endParaRPr lang="en-US" sz="1400" b="0" u="none" strike="noStrike" dirty="0">
              <a:effectLst/>
              <a:uFillTx/>
              <a:latin typeface="Arial"/>
            </a:endParaRPr>
          </a:p>
        </p:txBody>
      </p:sp>
      <p:sp>
        <p:nvSpPr>
          <p:cNvPr id="15" name="TextBox 11">
            <a:extLst>
              <a:ext uri="{FF2B5EF4-FFF2-40B4-BE49-F238E27FC236}">
                <a16:creationId xmlns:a16="http://schemas.microsoft.com/office/drawing/2014/main" id="{10184ECD-F513-BE37-4C2C-09BEDCCB7F22}"/>
              </a:ext>
            </a:extLst>
          </p:cNvPr>
          <p:cNvSpPr/>
          <p:nvPr/>
        </p:nvSpPr>
        <p:spPr>
          <a:xfrm>
            <a:off x="4079890" y="4140819"/>
            <a:ext cx="46512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effectLst/>
                <a:uFillTx/>
                <a:latin typeface="Arial"/>
                <a:ea typeface="Arial"/>
              </a:rPr>
              <a:t>Scalar Functions differ from aggregate functions because they operate on each individual row.</a:t>
            </a:r>
            <a:endParaRPr lang="en-US" sz="1400" b="0" u="none" strike="noStrike">
              <a:effectLst/>
              <a:uFillTx/>
              <a:latin typeface="Arial"/>
            </a:endParaRPr>
          </a:p>
        </p:txBody>
      </p:sp>
    </p:spTree>
    <p:extLst>
      <p:ext uri="{BB962C8B-B14F-4D97-AF65-F5344CB8AC3E}">
        <p14:creationId xmlns:p14="http://schemas.microsoft.com/office/powerpoint/2010/main" val="884374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43BAF-83D5-2DF1-0455-49902D079194}"/>
              </a:ext>
            </a:extLst>
          </p:cNvPr>
          <p:cNvSpPr>
            <a:spLocks noGrp="1"/>
          </p:cNvSpPr>
          <p:nvPr>
            <p:ph type="title"/>
          </p:nvPr>
        </p:nvSpPr>
        <p:spPr/>
        <p:txBody>
          <a:bodyPr/>
          <a:lstStyle/>
          <a:p>
            <a:r>
              <a:rPr lang="en-US" dirty="0"/>
              <a:t>Functions - </a:t>
            </a:r>
            <a:r>
              <a:rPr lang="en-US" dirty="0" err="1"/>
              <a:t>udf</a:t>
            </a:r>
            <a:endParaRPr lang="en-US" dirty="0"/>
          </a:p>
        </p:txBody>
      </p:sp>
      <p:sp>
        <p:nvSpPr>
          <p:cNvPr id="6" name="TextBox 2">
            <a:extLst>
              <a:ext uri="{FF2B5EF4-FFF2-40B4-BE49-F238E27FC236}">
                <a16:creationId xmlns:a16="http://schemas.microsoft.com/office/drawing/2014/main" id="{AEFB4234-262F-9776-CBDE-97145F2F5452}"/>
              </a:ext>
            </a:extLst>
          </p:cNvPr>
          <p:cNvSpPr/>
          <p:nvPr/>
        </p:nvSpPr>
        <p:spPr>
          <a:xfrm>
            <a:off x="950756" y="2172211"/>
            <a:ext cx="4992844" cy="952653"/>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pPr>
            <a:r>
              <a:rPr lang="en-US" sz="1400" b="0" u="none" strike="noStrike" dirty="0">
                <a:effectLst/>
                <a:uFillTx/>
                <a:latin typeface="Arial"/>
                <a:ea typeface="Arial"/>
              </a:rPr>
              <a:t>Functions are predefined operations we can call and reuse.</a:t>
            </a:r>
            <a:endParaRPr lang="en-US" sz="1400" b="0" u="none" strike="noStrike" dirty="0">
              <a:effectLst/>
              <a:uFillTx/>
              <a:latin typeface="Arial"/>
            </a:endParaRPr>
          </a:p>
          <a:p>
            <a:pPr algn="ctr">
              <a:lnSpc>
                <a:spcPct val="100000"/>
              </a:lnSpc>
            </a:pPr>
            <a:r>
              <a:rPr lang="en-US" sz="1400" b="0" u="none" strike="noStrike" dirty="0">
                <a:effectLst/>
                <a:uFillTx/>
                <a:latin typeface="Arial"/>
                <a:ea typeface="Arial"/>
              </a:rPr>
              <a:t>Functions can perform queries, do DML, perform arithmetic. </a:t>
            </a:r>
            <a:endParaRPr lang="en-US" sz="1400" b="0" u="none" strike="noStrike" dirty="0">
              <a:effectLst/>
              <a:uFillTx/>
              <a:latin typeface="Arial"/>
            </a:endParaRPr>
          </a:p>
          <a:p>
            <a:pPr algn="ctr">
              <a:lnSpc>
                <a:spcPct val="100000"/>
              </a:lnSpc>
            </a:pPr>
            <a:r>
              <a:rPr lang="en-US" sz="1400" b="0" u="none" strike="noStrike" dirty="0">
                <a:effectLst/>
                <a:uFillTx/>
                <a:latin typeface="Arial"/>
                <a:ea typeface="Arial"/>
              </a:rPr>
              <a:t>Functions MUST return a value (even if its just void).</a:t>
            </a:r>
            <a:endParaRPr lang="en-US" sz="1400" b="0" u="none" strike="noStrike" dirty="0">
              <a:effectLst/>
              <a:uFillTx/>
              <a:latin typeface="Arial"/>
            </a:endParaRPr>
          </a:p>
          <a:p>
            <a:pPr algn="ctr">
              <a:lnSpc>
                <a:spcPct val="100000"/>
              </a:lnSpc>
            </a:pPr>
            <a:r>
              <a:rPr lang="en-US" sz="1400" b="0" u="none" strike="noStrike" dirty="0">
                <a:effectLst/>
                <a:uFillTx/>
                <a:latin typeface="Arial"/>
                <a:ea typeface="Arial"/>
              </a:rPr>
              <a:t>Functions CANNOT perform TCL.</a:t>
            </a:r>
            <a:endParaRPr lang="en-US" sz="1400" b="0" u="none" strike="noStrike" dirty="0">
              <a:effectLst/>
              <a:uFillTx/>
              <a:latin typeface="Arial"/>
            </a:endParaRPr>
          </a:p>
        </p:txBody>
      </p:sp>
      <p:sp>
        <p:nvSpPr>
          <p:cNvPr id="8" name="TextBox 4">
            <a:extLst>
              <a:ext uri="{FF2B5EF4-FFF2-40B4-BE49-F238E27FC236}">
                <a16:creationId xmlns:a16="http://schemas.microsoft.com/office/drawing/2014/main" id="{1FB5835C-4C2A-BED5-E9A1-984C2C982C56}"/>
              </a:ext>
            </a:extLst>
          </p:cNvPr>
          <p:cNvSpPr/>
          <p:nvPr/>
        </p:nvSpPr>
        <p:spPr>
          <a:xfrm>
            <a:off x="6096000" y="2163344"/>
            <a:ext cx="4926904" cy="62968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PL/</a:t>
            </a:r>
            <a:r>
              <a:rPr lang="en-US" sz="1400" b="0" u="none" strike="noStrike" dirty="0" err="1">
                <a:effectLst/>
                <a:uFillTx/>
                <a:latin typeface="Consolas"/>
                <a:ea typeface="Arial"/>
              </a:rPr>
              <a:t>pgsql</a:t>
            </a:r>
            <a:r>
              <a:rPr lang="en-US" sz="1400" b="0" u="none" strike="noStrike" dirty="0">
                <a:effectLst/>
                <a:uFillTx/>
                <a:latin typeface="Consolas"/>
                <a:ea typeface="Arial"/>
              </a:rPr>
              <a:t> - (Procedural language/</a:t>
            </a:r>
            <a:r>
              <a:rPr lang="en-US" sz="1400" b="0" u="none" strike="noStrike" dirty="0" err="1">
                <a:effectLst/>
                <a:uFillTx/>
                <a:latin typeface="Consolas"/>
                <a:ea typeface="Arial"/>
              </a:rPr>
              <a:t>postgresSQL</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this is how we write logic inside of </a:t>
            </a:r>
            <a:r>
              <a:rPr lang="en-US" sz="1400" b="0" u="none" strike="noStrike" dirty="0" err="1">
                <a:effectLst/>
                <a:uFillTx/>
                <a:latin typeface="Consolas"/>
                <a:ea typeface="Arial"/>
              </a:rPr>
              <a:t>postgres</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control flow, variables, error handling</a:t>
            </a:r>
            <a:endParaRPr lang="en-US" sz="1400" b="0" u="none" strike="noStrike" dirty="0">
              <a:effectLst/>
              <a:uFillTx/>
              <a:latin typeface="Arial"/>
            </a:endParaRPr>
          </a:p>
        </p:txBody>
      </p:sp>
      <p:sp>
        <p:nvSpPr>
          <p:cNvPr id="10" name="TextBox 6">
            <a:extLst>
              <a:ext uri="{FF2B5EF4-FFF2-40B4-BE49-F238E27FC236}">
                <a16:creationId xmlns:a16="http://schemas.microsoft.com/office/drawing/2014/main" id="{4C1A83C3-D8F6-EFA6-D8AD-7ADC77131D8E}"/>
              </a:ext>
            </a:extLst>
          </p:cNvPr>
          <p:cNvSpPr/>
          <p:nvPr/>
        </p:nvSpPr>
        <p:spPr>
          <a:xfrm>
            <a:off x="950756" y="4071236"/>
            <a:ext cx="4571640" cy="1350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CREATE OR REPLACE FUNCTION </a:t>
            </a:r>
            <a:r>
              <a:rPr lang="en-US" sz="1400" b="0" u="none" strike="noStrike" dirty="0" err="1">
                <a:effectLst/>
                <a:uFillTx/>
                <a:latin typeface="Consolas"/>
                <a:ea typeface="Arial"/>
              </a:rPr>
              <a:t>add_numbers</a:t>
            </a:r>
            <a:r>
              <a:rPr lang="en-US" sz="1400" b="0" u="none" strike="noStrike" dirty="0">
                <a:effectLst/>
                <a:uFillTx/>
                <a:latin typeface="Consolas"/>
                <a:ea typeface="Arial"/>
              </a:rPr>
              <a:t>(a INT, b INT)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RETURNS INT AS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BEGIN</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RETURN a + b;</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END;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LANGUAGE </a:t>
            </a:r>
            <a:r>
              <a:rPr lang="en-US" sz="1400" b="0" u="none" strike="noStrike" dirty="0" err="1">
                <a:effectLst/>
                <a:uFillTx/>
                <a:latin typeface="Consolas"/>
                <a:ea typeface="Arial"/>
              </a:rPr>
              <a:t>plpgsql</a:t>
            </a:r>
            <a:r>
              <a:rPr lang="en-US" sz="1400" b="0" u="none" strike="noStrike" dirty="0">
                <a:effectLst/>
                <a:uFillTx/>
                <a:latin typeface="Consolas"/>
                <a:ea typeface="Arial"/>
              </a:rPr>
              <a:t>;</a:t>
            </a:r>
            <a:endParaRPr lang="en-US" sz="1400" b="0" u="none" strike="noStrike" dirty="0">
              <a:effectLst/>
              <a:uFillTx/>
              <a:latin typeface="Arial"/>
            </a:endParaRPr>
          </a:p>
        </p:txBody>
      </p:sp>
      <p:sp>
        <p:nvSpPr>
          <p:cNvPr id="12" name="TextBox 8">
            <a:extLst>
              <a:ext uri="{FF2B5EF4-FFF2-40B4-BE49-F238E27FC236}">
                <a16:creationId xmlns:a16="http://schemas.microsoft.com/office/drawing/2014/main" id="{BFC4FAE7-59B5-9CD6-1650-8750003CD97A}"/>
              </a:ext>
            </a:extLst>
          </p:cNvPr>
          <p:cNvSpPr/>
          <p:nvPr/>
        </p:nvSpPr>
        <p:spPr>
          <a:xfrm>
            <a:off x="998267" y="5783149"/>
            <a:ext cx="4571640" cy="272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SELECT </a:t>
            </a:r>
            <a:r>
              <a:rPr lang="en-US" sz="1400" b="0" u="none" strike="noStrike" dirty="0" err="1">
                <a:effectLst/>
                <a:uFillTx/>
                <a:latin typeface="Consolas"/>
                <a:ea typeface="Arial"/>
              </a:rPr>
              <a:t>add_numbers</a:t>
            </a:r>
            <a:r>
              <a:rPr lang="en-US" sz="1400" b="0" u="none" strike="noStrike" dirty="0">
                <a:effectLst/>
                <a:uFillTx/>
                <a:latin typeface="Consolas"/>
                <a:ea typeface="Arial"/>
              </a:rPr>
              <a:t>(5, 15);</a:t>
            </a:r>
            <a:endParaRPr lang="en-US" sz="1400" b="0" u="none" strike="noStrike" dirty="0">
              <a:effectLst/>
              <a:uFillTx/>
              <a:latin typeface="Arial"/>
            </a:endParaRPr>
          </a:p>
        </p:txBody>
      </p:sp>
      <p:sp>
        <p:nvSpPr>
          <p:cNvPr id="14" name="TextBox 10">
            <a:extLst>
              <a:ext uri="{FF2B5EF4-FFF2-40B4-BE49-F238E27FC236}">
                <a16:creationId xmlns:a16="http://schemas.microsoft.com/office/drawing/2014/main" id="{46F0531E-00EB-893D-7DC8-0985E5E99157}"/>
              </a:ext>
            </a:extLst>
          </p:cNvPr>
          <p:cNvSpPr/>
          <p:nvPr/>
        </p:nvSpPr>
        <p:spPr>
          <a:xfrm>
            <a:off x="5751534" y="4159198"/>
            <a:ext cx="6223348" cy="134782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CREATE OR REPLACE FUNCTION </a:t>
            </a:r>
            <a:r>
              <a:rPr lang="en-US" sz="1400" b="0" u="none" strike="noStrike" dirty="0" err="1">
                <a:effectLst/>
                <a:uFillTx/>
                <a:latin typeface="Consolas"/>
                <a:ea typeface="Arial"/>
              </a:rPr>
              <a:t>add_user</a:t>
            </a:r>
            <a:r>
              <a:rPr lang="en-US" sz="1400" b="0" u="none" strike="noStrike" dirty="0">
                <a:effectLst/>
                <a:uFillTx/>
                <a:latin typeface="Consolas"/>
                <a:ea typeface="Arial"/>
              </a:rPr>
              <a:t>(</a:t>
            </a:r>
            <a:r>
              <a:rPr lang="en-US" sz="1400" b="0" u="none" strike="noStrike" dirty="0" err="1">
                <a:effectLst/>
                <a:uFillTx/>
                <a:latin typeface="Consolas"/>
                <a:ea typeface="Arial"/>
              </a:rPr>
              <a:t>p_email</a:t>
            </a:r>
            <a:r>
              <a:rPr lang="en-US" sz="1400" b="0" u="none" strike="noStrike" dirty="0">
                <a:effectLst/>
                <a:uFillTx/>
                <a:latin typeface="Consolas"/>
                <a:ea typeface="Arial"/>
              </a:rPr>
              <a:t> TEXT, </a:t>
            </a:r>
            <a:r>
              <a:rPr lang="en-US" sz="1400" b="0" u="none" strike="noStrike" dirty="0" err="1">
                <a:effectLst/>
                <a:uFillTx/>
                <a:latin typeface="Consolas"/>
                <a:ea typeface="Arial"/>
              </a:rPr>
              <a:t>p_age</a:t>
            </a:r>
            <a:r>
              <a:rPr lang="en-US" sz="1400" b="0" u="none" strike="noStrike" dirty="0">
                <a:effectLst/>
                <a:uFillTx/>
                <a:latin typeface="Consolas"/>
                <a:ea typeface="Arial"/>
              </a:rPr>
              <a:t> INT)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RETURNS VOID AS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BEGIN</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INSERT INTO </a:t>
            </a:r>
            <a:r>
              <a:rPr lang="en-US" sz="1400" b="0" u="none" strike="noStrike" dirty="0" err="1">
                <a:effectLst/>
                <a:uFillTx/>
                <a:latin typeface="Consolas"/>
                <a:ea typeface="Arial"/>
              </a:rPr>
              <a:t>my_schema.users</a:t>
            </a:r>
            <a:r>
              <a:rPr lang="en-US" sz="1400" b="0" u="none" strike="noStrike" dirty="0">
                <a:effectLst/>
                <a:uFillTx/>
                <a:latin typeface="Consolas"/>
                <a:ea typeface="Arial"/>
              </a:rPr>
              <a:t>(</a:t>
            </a:r>
            <a:r>
              <a:rPr lang="en-US" sz="1400" b="0" u="none" strike="noStrike" dirty="0" err="1">
                <a:effectLst/>
                <a:uFillTx/>
                <a:latin typeface="Consolas"/>
                <a:ea typeface="Arial"/>
              </a:rPr>
              <a:t>user_id</a:t>
            </a:r>
            <a:r>
              <a:rPr lang="en-US" sz="1400" b="0" u="none" strike="noStrike" dirty="0">
                <a:effectLst/>
                <a:uFillTx/>
                <a:latin typeface="Consolas"/>
                <a:ea typeface="Arial"/>
              </a:rPr>
              <a:t>, email, age) VALUES</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a:t>
            </a:r>
            <a:r>
              <a:rPr lang="en-US" sz="1400" b="0" u="none" strike="noStrike" dirty="0" err="1">
                <a:effectLst/>
                <a:uFillTx/>
                <a:latin typeface="Consolas"/>
                <a:ea typeface="Arial"/>
              </a:rPr>
              <a:t>gen_random_uuid</a:t>
            </a:r>
            <a:r>
              <a:rPr lang="en-US" sz="1400" b="0" u="none" strike="noStrike" dirty="0">
                <a:effectLst/>
                <a:uFillTx/>
                <a:latin typeface="Consolas"/>
                <a:ea typeface="Arial"/>
              </a:rPr>
              <a:t>(), </a:t>
            </a:r>
            <a:r>
              <a:rPr lang="en-US" sz="1400" b="0" u="none" strike="noStrike" dirty="0" err="1">
                <a:effectLst/>
                <a:uFillTx/>
                <a:latin typeface="Consolas"/>
                <a:ea typeface="Arial"/>
              </a:rPr>
              <a:t>p_email</a:t>
            </a:r>
            <a:r>
              <a:rPr lang="en-US" sz="1400" b="0" u="none" strike="noStrike" dirty="0">
                <a:effectLst/>
                <a:uFillTx/>
                <a:latin typeface="Consolas"/>
                <a:ea typeface="Arial"/>
              </a:rPr>
              <a:t>, </a:t>
            </a:r>
            <a:r>
              <a:rPr lang="en-US" sz="1400" b="0" u="none" strike="noStrike" dirty="0" err="1">
                <a:effectLst/>
                <a:uFillTx/>
                <a:latin typeface="Consolas"/>
                <a:ea typeface="Arial"/>
              </a:rPr>
              <a:t>p_age</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END;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LANGUAGE </a:t>
            </a:r>
            <a:r>
              <a:rPr lang="en-US" sz="1400" b="0" u="none" strike="noStrike" dirty="0" err="1">
                <a:effectLst/>
                <a:uFillTx/>
                <a:latin typeface="Consolas"/>
                <a:ea typeface="Arial"/>
              </a:rPr>
              <a:t>plpgsql</a:t>
            </a:r>
            <a:r>
              <a:rPr lang="en-US" sz="1400" b="0" u="none" strike="noStrike" dirty="0">
                <a:effectLst/>
                <a:uFillTx/>
                <a:latin typeface="Consolas"/>
                <a:ea typeface="Arial"/>
              </a:rPr>
              <a:t>;</a:t>
            </a:r>
            <a:endParaRPr lang="en-US" sz="1400" b="0" u="none" strike="noStrike" dirty="0">
              <a:effectLst/>
              <a:uFillTx/>
              <a:latin typeface="Arial"/>
            </a:endParaRPr>
          </a:p>
        </p:txBody>
      </p:sp>
    </p:spTree>
    <p:extLst>
      <p:ext uri="{BB962C8B-B14F-4D97-AF65-F5344CB8AC3E}">
        <p14:creationId xmlns:p14="http://schemas.microsoft.com/office/powerpoint/2010/main" val="37138019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6E244-789D-2E06-0279-E16ED702A630}"/>
              </a:ext>
            </a:extLst>
          </p:cNvPr>
          <p:cNvSpPr>
            <a:spLocks noGrp="1"/>
          </p:cNvSpPr>
          <p:nvPr>
            <p:ph type="title"/>
          </p:nvPr>
        </p:nvSpPr>
        <p:spPr/>
        <p:txBody>
          <a:bodyPr/>
          <a:lstStyle/>
          <a:p>
            <a:r>
              <a:rPr lang="en-US" dirty="0"/>
              <a:t>Stored Procedures</a:t>
            </a:r>
          </a:p>
        </p:txBody>
      </p:sp>
      <p:sp>
        <p:nvSpPr>
          <p:cNvPr id="5" name="TextBox 2">
            <a:extLst>
              <a:ext uri="{FF2B5EF4-FFF2-40B4-BE49-F238E27FC236}">
                <a16:creationId xmlns:a16="http://schemas.microsoft.com/office/drawing/2014/main" id="{9C39934F-B32F-76C1-3C29-331ABAF9EDFF}"/>
              </a:ext>
            </a:extLst>
          </p:cNvPr>
          <p:cNvSpPr/>
          <p:nvPr/>
        </p:nvSpPr>
        <p:spPr>
          <a:xfrm>
            <a:off x="1743829" y="2096962"/>
            <a:ext cx="8704341" cy="138354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400" b="0" u="none" strike="noStrike" dirty="0">
                <a:effectLst/>
                <a:uFillTx/>
                <a:latin typeface="Arial"/>
                <a:ea typeface="Arial"/>
              </a:rPr>
              <a:t>Stored Procedures are another way to create predefined and reusable blocks of SQL commands and logic.</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They differ from functions in that: returns are optional, they CAN use TCL</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Functions &gt; one-time calculations, or one-off logic</a:t>
            </a:r>
            <a:endParaRPr lang="en-US" sz="1400" b="0" u="none" strike="noStrike" dirty="0">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effectLst/>
                <a:uFillTx/>
                <a:latin typeface="Arial"/>
                <a:ea typeface="Arial"/>
              </a:rPr>
              <a:t>Stored Procedures &gt; long running transactions, batch operations, etc. </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endParaRPr lang="en-US" sz="1400" b="0" u="none" strike="noStrike" dirty="0">
              <a:effectLst/>
              <a:uFillTx/>
              <a:latin typeface="Arial"/>
            </a:endParaRPr>
          </a:p>
        </p:txBody>
      </p:sp>
      <p:sp>
        <p:nvSpPr>
          <p:cNvPr id="7" name="TextBox 4">
            <a:extLst>
              <a:ext uri="{FF2B5EF4-FFF2-40B4-BE49-F238E27FC236}">
                <a16:creationId xmlns:a16="http://schemas.microsoft.com/office/drawing/2014/main" id="{583DCA41-24BC-F4EF-F362-CC6C67CB7451}"/>
              </a:ext>
            </a:extLst>
          </p:cNvPr>
          <p:cNvSpPr/>
          <p:nvPr/>
        </p:nvSpPr>
        <p:spPr>
          <a:xfrm>
            <a:off x="2642123" y="3680044"/>
            <a:ext cx="7417739" cy="242504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CREATE PROCEDURE </a:t>
            </a:r>
            <a:r>
              <a:rPr lang="en-US" sz="1400" b="0" u="none" strike="noStrike" dirty="0" err="1">
                <a:effectLst/>
                <a:uFillTx/>
                <a:latin typeface="Consolas"/>
                <a:ea typeface="Arial"/>
              </a:rPr>
              <a:t>deactivate_user</a:t>
            </a:r>
            <a:r>
              <a:rPr lang="en-US" sz="1400" b="0" u="none" strike="noStrike" dirty="0">
                <a:effectLst/>
                <a:uFillTx/>
                <a:latin typeface="Consolas"/>
                <a:ea typeface="Arial"/>
              </a:rPr>
              <a:t>(</a:t>
            </a:r>
            <a:r>
              <a:rPr lang="en-US" sz="1400" b="0" u="none" strike="noStrike" dirty="0" err="1">
                <a:effectLst/>
                <a:uFillTx/>
                <a:latin typeface="Consolas"/>
                <a:ea typeface="Arial"/>
              </a:rPr>
              <a:t>p_user_id</a:t>
            </a:r>
            <a:r>
              <a:rPr lang="en-US" sz="1400" b="0" u="none" strike="noStrike" dirty="0">
                <a:effectLst/>
                <a:uFillTx/>
                <a:latin typeface="Consolas"/>
                <a:ea typeface="Arial"/>
              </a:rPr>
              <a:t> UUID)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LANGUAGE </a:t>
            </a:r>
            <a:r>
              <a:rPr lang="en-US" sz="1400" b="0" u="none" strike="noStrike" dirty="0" err="1">
                <a:effectLst/>
                <a:uFillTx/>
                <a:latin typeface="Consolas"/>
                <a:ea typeface="Arial"/>
              </a:rPr>
              <a:t>plpgsql</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AS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BEGIN</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IF EXISTS (SELECT 1 FROM </a:t>
            </a:r>
            <a:r>
              <a:rPr lang="en-US" sz="1400" b="0" u="none" strike="noStrike" dirty="0" err="1">
                <a:effectLst/>
                <a:uFillTx/>
                <a:latin typeface="Consolas"/>
                <a:ea typeface="Arial"/>
              </a:rPr>
              <a:t>my_schema.users</a:t>
            </a:r>
            <a:r>
              <a:rPr lang="en-US" sz="1400" b="0" u="none" strike="noStrike" dirty="0">
                <a:effectLst/>
                <a:uFillTx/>
                <a:latin typeface="Consolas"/>
                <a:ea typeface="Arial"/>
              </a:rPr>
              <a:t> WHERE </a:t>
            </a:r>
            <a:r>
              <a:rPr lang="en-US" sz="1400" b="0" u="none" strike="noStrike" dirty="0" err="1">
                <a:effectLst/>
                <a:uFillTx/>
                <a:latin typeface="Consolas"/>
                <a:ea typeface="Arial"/>
              </a:rPr>
              <a:t>user_id</a:t>
            </a:r>
            <a:r>
              <a:rPr lang="en-US" sz="1400" b="0" u="none" strike="noStrike" dirty="0">
                <a:effectLst/>
                <a:uFillTx/>
                <a:latin typeface="Consolas"/>
                <a:ea typeface="Arial"/>
              </a:rPr>
              <a:t> = </a:t>
            </a:r>
            <a:r>
              <a:rPr lang="en-US" sz="1400" b="0" u="none" strike="noStrike" dirty="0" err="1">
                <a:effectLst/>
                <a:uFillTx/>
                <a:latin typeface="Consolas"/>
                <a:ea typeface="Arial"/>
              </a:rPr>
              <a:t>p_user_id</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THEN</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UPDATE </a:t>
            </a:r>
            <a:r>
              <a:rPr lang="en-US" sz="1400" b="0" u="none" strike="noStrike" dirty="0" err="1">
                <a:effectLst/>
                <a:uFillTx/>
                <a:latin typeface="Consolas"/>
                <a:ea typeface="Arial"/>
              </a:rPr>
              <a:t>my_schema.users</a:t>
            </a:r>
            <a:r>
              <a:rPr lang="en-US" sz="1400" b="0" u="none" strike="noStrike" dirty="0">
                <a:effectLst/>
                <a:uFillTx/>
                <a:latin typeface="Consolas"/>
                <a:ea typeface="Arial"/>
              </a:rPr>
              <a:t> SET </a:t>
            </a:r>
            <a:r>
              <a:rPr lang="en-US" sz="1400" b="0" u="none" strike="noStrike" dirty="0" err="1">
                <a:effectLst/>
                <a:uFillTx/>
                <a:latin typeface="Consolas"/>
                <a:ea typeface="Arial"/>
              </a:rPr>
              <a:t>is_active</a:t>
            </a:r>
            <a:r>
              <a:rPr lang="en-US" sz="1400" b="0" u="none" strike="noStrike" dirty="0">
                <a:effectLst/>
                <a:uFillTx/>
                <a:latin typeface="Consolas"/>
                <a:ea typeface="Arial"/>
              </a:rPr>
              <a:t> = False</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WHERE </a:t>
            </a:r>
            <a:r>
              <a:rPr lang="en-US" sz="1400" b="0" u="none" strike="noStrike" dirty="0" err="1">
                <a:effectLst/>
                <a:uFillTx/>
                <a:latin typeface="Consolas"/>
                <a:ea typeface="Arial"/>
              </a:rPr>
              <a:t>user_id</a:t>
            </a:r>
            <a:r>
              <a:rPr lang="en-US" sz="1400" b="0" u="none" strike="noStrike" dirty="0">
                <a:effectLst/>
                <a:uFillTx/>
                <a:latin typeface="Consolas"/>
                <a:ea typeface="Arial"/>
              </a:rPr>
              <a:t> = </a:t>
            </a:r>
            <a:r>
              <a:rPr lang="en-US" sz="1400" b="0" u="none" strike="noStrike" dirty="0" err="1">
                <a:effectLst/>
                <a:uFillTx/>
                <a:latin typeface="Consolas"/>
                <a:ea typeface="Arial"/>
              </a:rPr>
              <a:t>p_user_id</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ELSE</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RAISE NOTICE 'User % not found', </a:t>
            </a:r>
            <a:r>
              <a:rPr lang="en-US" sz="1400" b="0" u="none" strike="noStrike" dirty="0" err="1">
                <a:effectLst/>
                <a:uFillTx/>
                <a:latin typeface="Consolas"/>
                <a:ea typeface="Arial"/>
              </a:rPr>
              <a:t>p_user_id</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END IF;</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END;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t>
            </a:r>
            <a:endParaRPr lang="en-US" sz="1400" b="0" u="none" strike="noStrike" dirty="0">
              <a:effectLst/>
              <a:uFillTx/>
              <a:latin typeface="Arial"/>
            </a:endParaRPr>
          </a:p>
        </p:txBody>
      </p:sp>
    </p:spTree>
    <p:extLst>
      <p:ext uri="{BB962C8B-B14F-4D97-AF65-F5344CB8AC3E}">
        <p14:creationId xmlns:p14="http://schemas.microsoft.com/office/powerpoint/2010/main" val="21131606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FD2F7-7391-362C-CC5E-810E188A3FEF}"/>
              </a:ext>
            </a:extLst>
          </p:cNvPr>
          <p:cNvSpPr>
            <a:spLocks noGrp="1"/>
          </p:cNvSpPr>
          <p:nvPr>
            <p:ph type="title"/>
          </p:nvPr>
        </p:nvSpPr>
        <p:spPr/>
        <p:txBody>
          <a:bodyPr/>
          <a:lstStyle/>
          <a:p>
            <a:r>
              <a:rPr lang="en-US" dirty="0"/>
              <a:t>Stored Procedures</a:t>
            </a:r>
          </a:p>
        </p:txBody>
      </p:sp>
      <p:sp>
        <p:nvSpPr>
          <p:cNvPr id="5" name="TextBox 8">
            <a:extLst>
              <a:ext uri="{FF2B5EF4-FFF2-40B4-BE49-F238E27FC236}">
                <a16:creationId xmlns:a16="http://schemas.microsoft.com/office/drawing/2014/main" id="{509D2A92-7C75-6447-DBC4-45C6C996152C}"/>
              </a:ext>
            </a:extLst>
          </p:cNvPr>
          <p:cNvSpPr/>
          <p:nvPr/>
        </p:nvSpPr>
        <p:spPr>
          <a:xfrm>
            <a:off x="294362" y="2574540"/>
            <a:ext cx="5330175" cy="134782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CREATE PROCEDURE </a:t>
            </a:r>
            <a:r>
              <a:rPr lang="en-US" sz="1400" b="0" u="none" strike="noStrike" dirty="0" err="1">
                <a:effectLst/>
                <a:uFillTx/>
                <a:latin typeface="Consolas"/>
                <a:ea typeface="Arial"/>
              </a:rPr>
              <a:t>get_user_count</a:t>
            </a:r>
            <a:r>
              <a:rPr lang="en-US" sz="1400" b="0" u="none" strike="noStrike" dirty="0">
                <a:effectLst/>
                <a:uFillTx/>
                <a:latin typeface="Consolas"/>
                <a:ea typeface="Arial"/>
              </a:rPr>
              <a:t>(OUT total INT)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LANGUAGE </a:t>
            </a:r>
            <a:r>
              <a:rPr lang="en-US" sz="1400" b="0" u="none" strike="noStrike" dirty="0" err="1">
                <a:effectLst/>
                <a:uFillTx/>
                <a:latin typeface="Consolas"/>
                <a:ea typeface="Arial"/>
              </a:rPr>
              <a:t>plpgsql</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AS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BEGIN</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SELECT COUNT(*) INTO total FROM </a:t>
            </a:r>
            <a:r>
              <a:rPr lang="en-US" sz="1400" b="0" u="none" strike="noStrike" dirty="0" err="1">
                <a:effectLst/>
                <a:uFillTx/>
                <a:latin typeface="Consolas"/>
                <a:ea typeface="Arial"/>
              </a:rPr>
              <a:t>my_schema.users</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END;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t>
            </a:r>
            <a:endParaRPr lang="en-US" sz="1400" b="0" u="none" strike="noStrike" dirty="0">
              <a:effectLst/>
              <a:uFillTx/>
              <a:latin typeface="Arial"/>
            </a:endParaRPr>
          </a:p>
        </p:txBody>
      </p:sp>
      <p:sp>
        <p:nvSpPr>
          <p:cNvPr id="7" name="TextBox 10">
            <a:extLst>
              <a:ext uri="{FF2B5EF4-FFF2-40B4-BE49-F238E27FC236}">
                <a16:creationId xmlns:a16="http://schemas.microsoft.com/office/drawing/2014/main" id="{7CD4C1A1-883D-0E47-570E-60A478ECD115}"/>
              </a:ext>
            </a:extLst>
          </p:cNvPr>
          <p:cNvSpPr/>
          <p:nvPr/>
        </p:nvSpPr>
        <p:spPr>
          <a:xfrm>
            <a:off x="981257" y="4425047"/>
            <a:ext cx="5151960" cy="272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CALL </a:t>
            </a:r>
            <a:r>
              <a:rPr lang="en-US" sz="1400" b="0" u="none" strike="noStrike" dirty="0" err="1">
                <a:effectLst/>
                <a:uFillTx/>
                <a:latin typeface="Consolas"/>
                <a:ea typeface="Arial"/>
              </a:rPr>
              <a:t>get_user_count</a:t>
            </a:r>
            <a:r>
              <a:rPr lang="en-US" sz="1400" b="0" u="none" strike="noStrike" dirty="0">
                <a:effectLst/>
                <a:uFillTx/>
                <a:latin typeface="Consolas"/>
                <a:ea typeface="Arial"/>
              </a:rPr>
              <a:t>(NULL);</a:t>
            </a:r>
            <a:endParaRPr lang="en-US" sz="1400" b="0" u="none" strike="noStrike" dirty="0">
              <a:effectLst/>
              <a:uFillTx/>
              <a:latin typeface="Arial"/>
            </a:endParaRPr>
          </a:p>
        </p:txBody>
      </p:sp>
      <p:sp>
        <p:nvSpPr>
          <p:cNvPr id="9" name="TextBox 3">
            <a:extLst>
              <a:ext uri="{FF2B5EF4-FFF2-40B4-BE49-F238E27FC236}">
                <a16:creationId xmlns:a16="http://schemas.microsoft.com/office/drawing/2014/main" id="{A709E5FE-4D59-123D-161F-E6063DAD2547}"/>
              </a:ext>
            </a:extLst>
          </p:cNvPr>
          <p:cNvSpPr/>
          <p:nvPr/>
        </p:nvSpPr>
        <p:spPr>
          <a:xfrm>
            <a:off x="5959582" y="4799393"/>
            <a:ext cx="4571640" cy="45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CALL </a:t>
            </a:r>
            <a:r>
              <a:rPr lang="en-US" sz="1400" b="0" u="none" strike="noStrike" dirty="0" err="1">
                <a:effectLst/>
                <a:uFillTx/>
                <a:latin typeface="Consolas"/>
                <a:ea typeface="Arial"/>
              </a:rPr>
              <a:t>get_invoice_sum_by_country</a:t>
            </a:r>
            <a:r>
              <a:rPr lang="en-US" sz="1400" b="0" u="none" strike="noStrike" dirty="0">
                <a:effectLst/>
                <a:uFillTx/>
                <a:latin typeface="Consolas"/>
                <a:ea typeface="Arial"/>
              </a:rPr>
              <a:t>('USA', NULL);</a:t>
            </a:r>
            <a:endParaRPr lang="en-US" sz="1400" b="0" u="none" strike="noStrike" dirty="0">
              <a:effectLst/>
              <a:uFillTx/>
              <a:latin typeface="Arial"/>
            </a:endParaRPr>
          </a:p>
        </p:txBody>
      </p:sp>
      <p:sp>
        <p:nvSpPr>
          <p:cNvPr id="11" name="TextBox 7">
            <a:extLst>
              <a:ext uri="{FF2B5EF4-FFF2-40B4-BE49-F238E27FC236}">
                <a16:creationId xmlns:a16="http://schemas.microsoft.com/office/drawing/2014/main" id="{AEAE007D-124D-0F95-F9C4-B879B8ED6465}"/>
              </a:ext>
            </a:extLst>
          </p:cNvPr>
          <p:cNvSpPr/>
          <p:nvPr/>
        </p:nvSpPr>
        <p:spPr>
          <a:xfrm>
            <a:off x="5959582" y="2576631"/>
            <a:ext cx="5862899" cy="188643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CREATE PROCEDURE </a:t>
            </a:r>
            <a:r>
              <a:rPr lang="en-US" sz="1400" b="0" u="none" strike="noStrike" dirty="0" err="1">
                <a:effectLst/>
                <a:uFillTx/>
                <a:latin typeface="Consolas"/>
                <a:ea typeface="Arial"/>
              </a:rPr>
              <a:t>get_invoice_sum_by_country</a:t>
            </a:r>
            <a:r>
              <a:rPr lang="en-US" sz="1400" b="0" u="none" strike="noStrike" dirty="0">
                <a:effectLst/>
                <a:uFillTx/>
                <a:latin typeface="Consolas"/>
                <a:ea typeface="Arial"/>
              </a:rPr>
              <a:t>(country TEXT, OUT </a:t>
            </a:r>
            <a:r>
              <a:rPr lang="en-US" sz="1400" b="0" u="none" strike="noStrike" dirty="0" err="1">
                <a:effectLst/>
                <a:uFillTx/>
                <a:latin typeface="Consolas"/>
                <a:ea typeface="Arial"/>
              </a:rPr>
              <a:t>total_sum</a:t>
            </a:r>
            <a:r>
              <a:rPr lang="en-US" sz="1400" b="0" u="none" strike="noStrike" dirty="0">
                <a:effectLst/>
                <a:uFillTx/>
                <a:latin typeface="Consolas"/>
                <a:ea typeface="Arial"/>
              </a:rPr>
              <a:t> NUMERIC)</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LANGUAGE </a:t>
            </a:r>
            <a:r>
              <a:rPr lang="en-US" sz="1400" b="0" u="none" strike="noStrike" dirty="0" err="1">
                <a:effectLst/>
                <a:uFillTx/>
                <a:latin typeface="Consolas"/>
                <a:ea typeface="Arial"/>
              </a:rPr>
              <a:t>plpgsql</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AS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BEGIN</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SELECT SUM(total) INTO </a:t>
            </a:r>
            <a:r>
              <a:rPr lang="en-US" sz="1400" b="0" u="none" strike="noStrike" dirty="0" err="1">
                <a:effectLst/>
                <a:uFillTx/>
                <a:latin typeface="Consolas"/>
                <a:ea typeface="Arial"/>
              </a:rPr>
              <a:t>total_sum</a:t>
            </a:r>
            <a:r>
              <a:rPr lang="en-US" sz="1400" b="0" u="none" strike="noStrike" dirty="0">
                <a:effectLst/>
                <a:uFillTx/>
                <a:latin typeface="Consolas"/>
                <a:ea typeface="Arial"/>
              </a:rPr>
              <a:t> FROM invoice</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WHERE </a:t>
            </a:r>
            <a:r>
              <a:rPr lang="en-US" sz="1400" b="0" u="none" strike="noStrike" dirty="0" err="1">
                <a:effectLst/>
                <a:uFillTx/>
                <a:latin typeface="Consolas"/>
                <a:ea typeface="Arial"/>
              </a:rPr>
              <a:t>billing_country</a:t>
            </a:r>
            <a:r>
              <a:rPr lang="en-US" sz="1400" b="0" u="none" strike="noStrike" dirty="0">
                <a:effectLst/>
                <a:uFillTx/>
                <a:latin typeface="Consolas"/>
                <a:ea typeface="Arial"/>
              </a:rPr>
              <a:t> = country</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GROUP BY </a:t>
            </a:r>
            <a:r>
              <a:rPr lang="en-US" sz="1400" b="0" u="none" strike="noStrike" dirty="0" err="1">
                <a:effectLst/>
                <a:uFillTx/>
                <a:latin typeface="Consolas"/>
                <a:ea typeface="Arial"/>
              </a:rPr>
              <a:t>billing_country</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END;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t>
            </a:r>
            <a:endParaRPr lang="en-US" sz="1400" b="0" u="none" strike="noStrike" dirty="0">
              <a:effectLst/>
              <a:uFillTx/>
              <a:latin typeface="Arial"/>
            </a:endParaRPr>
          </a:p>
        </p:txBody>
      </p:sp>
    </p:spTree>
    <p:extLst>
      <p:ext uri="{BB962C8B-B14F-4D97-AF65-F5344CB8AC3E}">
        <p14:creationId xmlns:p14="http://schemas.microsoft.com/office/powerpoint/2010/main" val="8520859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93524-6192-A570-E326-D6B37D0CA766}"/>
              </a:ext>
            </a:extLst>
          </p:cNvPr>
          <p:cNvSpPr>
            <a:spLocks noGrp="1"/>
          </p:cNvSpPr>
          <p:nvPr>
            <p:ph type="title"/>
          </p:nvPr>
        </p:nvSpPr>
        <p:spPr/>
        <p:txBody>
          <a:bodyPr/>
          <a:lstStyle/>
          <a:p>
            <a:r>
              <a:rPr lang="en-US" dirty="0"/>
              <a:t>Challenges - SQL</a:t>
            </a:r>
          </a:p>
        </p:txBody>
      </p:sp>
      <p:sp>
        <p:nvSpPr>
          <p:cNvPr id="3" name="Content Placeholder 2">
            <a:extLst>
              <a:ext uri="{FF2B5EF4-FFF2-40B4-BE49-F238E27FC236}">
                <a16:creationId xmlns:a16="http://schemas.microsoft.com/office/drawing/2014/main" id="{7041A5D0-9C82-D298-8183-CF9350B3160A}"/>
              </a:ext>
            </a:extLst>
          </p:cNvPr>
          <p:cNvSpPr>
            <a:spLocks noGrp="1"/>
          </p:cNvSpPr>
          <p:nvPr>
            <p:ph idx="1"/>
          </p:nvPr>
        </p:nvSpPr>
        <p:spPr>
          <a:xfrm>
            <a:off x="432148" y="2180496"/>
            <a:ext cx="11178659" cy="4138885"/>
          </a:xfrm>
        </p:spPr>
        <p:txBody>
          <a:bodyPr>
            <a:normAutofit fontScale="92500" lnSpcReduction="20000"/>
          </a:bodyPr>
          <a:lstStyle/>
          <a:p>
            <a:r>
              <a:rPr lang="en-US" dirty="0"/>
              <a:t>Get all fields and records from customer</a:t>
            </a:r>
          </a:p>
          <a:p>
            <a:r>
              <a:rPr lang="en-US" dirty="0"/>
              <a:t>Get all fields from customer, but only if they are from Arizona</a:t>
            </a:r>
          </a:p>
          <a:p>
            <a:r>
              <a:rPr lang="en-US" dirty="0"/>
              <a:t>Get all invoices older than 6 months </a:t>
            </a:r>
          </a:p>
          <a:p>
            <a:r>
              <a:rPr lang="en-US" dirty="0"/>
              <a:t>Update all customer phone numbers to NULL if they don’t follow this format: ‘+1 555 555-5555’</a:t>
            </a:r>
          </a:p>
          <a:p>
            <a:r>
              <a:rPr lang="en-US" dirty="0"/>
              <a:t>Get all tracks that are longer than 180000 milliseconds </a:t>
            </a:r>
          </a:p>
          <a:p>
            <a:r>
              <a:rPr lang="en-US" dirty="0"/>
              <a:t>Update all customers not in the USA so that their country=USA and address, city, &amp; state are NULL</a:t>
            </a:r>
          </a:p>
          <a:p>
            <a:r>
              <a:rPr lang="en-US" dirty="0"/>
              <a:t>Given a </a:t>
            </a:r>
            <a:r>
              <a:rPr lang="en-US" dirty="0" err="1"/>
              <a:t>customer_id</a:t>
            </a:r>
            <a:r>
              <a:rPr lang="en-US" dirty="0"/>
              <a:t>, return their total spending across all invoices using a function </a:t>
            </a:r>
          </a:p>
          <a:p>
            <a:r>
              <a:rPr lang="en-US" dirty="0"/>
              <a:t>Given an </a:t>
            </a:r>
            <a:r>
              <a:rPr lang="en-US" dirty="0" err="1"/>
              <a:t>employee_id</a:t>
            </a:r>
            <a:r>
              <a:rPr lang="en-US" dirty="0"/>
              <a:t> + </a:t>
            </a:r>
            <a:r>
              <a:rPr lang="en-US" dirty="0" err="1"/>
              <a:t>new_manager_id</a:t>
            </a:r>
            <a:r>
              <a:rPr lang="en-US" dirty="0"/>
              <a:t>, create a stored procedure to update an Employee’s </a:t>
            </a:r>
            <a:r>
              <a:rPr lang="en-US" dirty="0" err="1"/>
              <a:t>ReportsTo</a:t>
            </a:r>
            <a:r>
              <a:rPr lang="en-US" dirty="0"/>
              <a:t> field.</a:t>
            </a:r>
          </a:p>
          <a:p>
            <a:pPr lvl="1"/>
            <a:r>
              <a:rPr lang="en-US" dirty="0"/>
              <a:t>Prevent an employee reporting to themselves, reporting to a non-existence employee, or creating a circular management relationship</a:t>
            </a:r>
          </a:p>
          <a:p>
            <a:r>
              <a:rPr lang="en-US" dirty="0"/>
              <a:t>Create a new schema: pets</a:t>
            </a:r>
          </a:p>
          <a:p>
            <a:pPr lvl="1"/>
            <a:r>
              <a:rPr lang="en-US" dirty="0"/>
              <a:t>Create two related tables: Customer + Pets</a:t>
            </a:r>
          </a:p>
          <a:p>
            <a:pPr lvl="1"/>
            <a:r>
              <a:rPr lang="en-US" dirty="0"/>
              <a:t>Demonstrate populating records into these tables</a:t>
            </a:r>
          </a:p>
        </p:txBody>
      </p:sp>
    </p:spTree>
    <p:extLst>
      <p:ext uri="{BB962C8B-B14F-4D97-AF65-F5344CB8AC3E}">
        <p14:creationId xmlns:p14="http://schemas.microsoft.com/office/powerpoint/2010/main" val="27134232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6DBAE-B8A7-21C6-72AB-EA14CA0C652C}"/>
              </a:ext>
            </a:extLst>
          </p:cNvPr>
          <p:cNvSpPr>
            <a:spLocks noGrp="1"/>
          </p:cNvSpPr>
          <p:nvPr>
            <p:ph type="title"/>
          </p:nvPr>
        </p:nvSpPr>
        <p:spPr/>
        <p:txBody>
          <a:bodyPr/>
          <a:lstStyle/>
          <a:p>
            <a:r>
              <a:rPr lang="en-US" dirty="0"/>
              <a:t>Joins</a:t>
            </a:r>
          </a:p>
        </p:txBody>
      </p:sp>
      <p:sp>
        <p:nvSpPr>
          <p:cNvPr id="5" name="TextBox 2">
            <a:extLst>
              <a:ext uri="{FF2B5EF4-FFF2-40B4-BE49-F238E27FC236}">
                <a16:creationId xmlns:a16="http://schemas.microsoft.com/office/drawing/2014/main" id="{9B55D9A8-B516-BCA7-E79C-331BDCF6663F}"/>
              </a:ext>
            </a:extLst>
          </p:cNvPr>
          <p:cNvSpPr/>
          <p:nvPr/>
        </p:nvSpPr>
        <p:spPr>
          <a:xfrm>
            <a:off x="2495722" y="2361843"/>
            <a:ext cx="708984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Joins are a way to combine two tables which may or may not include filtering of records.</a:t>
            </a:r>
            <a:endParaRPr lang="en-US" sz="1400" b="0" u="none" strike="noStrike" dirty="0">
              <a:effectLst/>
              <a:uFillTx/>
              <a:latin typeface="Arial"/>
            </a:endParaRPr>
          </a:p>
        </p:txBody>
      </p:sp>
      <p:sp>
        <p:nvSpPr>
          <p:cNvPr id="7" name="TextBox 3">
            <a:extLst>
              <a:ext uri="{FF2B5EF4-FFF2-40B4-BE49-F238E27FC236}">
                <a16:creationId xmlns:a16="http://schemas.microsoft.com/office/drawing/2014/main" id="{96D94643-93C6-851A-AAF8-F2E04CC00A6E}"/>
              </a:ext>
            </a:extLst>
          </p:cNvPr>
          <p:cNvSpPr/>
          <p:nvPr/>
        </p:nvSpPr>
        <p:spPr>
          <a:xfrm>
            <a:off x="2283682" y="2797083"/>
            <a:ext cx="7494840" cy="332253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INNER JOIN – for each row on the left, find a matching row on the right, return the combined result.</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CROSS JOIN – every row from the left table is combined with every row from the second table; This differs from INNER JOIN because no filter is applied to match the records and it returns a Cartesian product</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LEFT JOIN – return all rows from the left table, and for each row, the matching rows on the right table; If no match is found, the columns from the right table will contain NULL values.</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RIGHT JOIN – returns all values from the right table, and for each row, the matching rows for the left table; Rare to use as we can just use a LEFT JOIN and swap the table order. </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FULL OUTER JOIN – returns all rows from both tables where they satisfy a match condition, with NULLs in columns where no match is found on either side. </a:t>
            </a:r>
            <a:endParaRPr lang="en-US" sz="1400" b="0" u="none" strike="noStrike" dirty="0">
              <a:effectLst/>
              <a:uFillTx/>
              <a:latin typeface="Arial"/>
            </a:endParaRPr>
          </a:p>
        </p:txBody>
      </p:sp>
    </p:spTree>
    <p:extLst>
      <p:ext uri="{BB962C8B-B14F-4D97-AF65-F5344CB8AC3E}">
        <p14:creationId xmlns:p14="http://schemas.microsoft.com/office/powerpoint/2010/main" val="35815070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A8228-FE43-BA0E-973E-C966A7193B74}"/>
              </a:ext>
            </a:extLst>
          </p:cNvPr>
          <p:cNvSpPr>
            <a:spLocks noGrp="1"/>
          </p:cNvSpPr>
          <p:nvPr>
            <p:ph type="title"/>
          </p:nvPr>
        </p:nvSpPr>
        <p:spPr/>
        <p:txBody>
          <a:bodyPr/>
          <a:lstStyle/>
          <a:p>
            <a:r>
              <a:rPr lang="en-US" dirty="0"/>
              <a:t>Inner Join</a:t>
            </a:r>
          </a:p>
        </p:txBody>
      </p:sp>
      <p:sp>
        <p:nvSpPr>
          <p:cNvPr id="5" name="TextBox 3">
            <a:extLst>
              <a:ext uri="{FF2B5EF4-FFF2-40B4-BE49-F238E27FC236}">
                <a16:creationId xmlns:a16="http://schemas.microsoft.com/office/drawing/2014/main" id="{002727A3-CD1A-3143-E997-6233BCA0F0E9}"/>
              </a:ext>
            </a:extLst>
          </p:cNvPr>
          <p:cNvSpPr/>
          <p:nvPr/>
        </p:nvSpPr>
        <p:spPr>
          <a:xfrm>
            <a:off x="3810180" y="2377455"/>
            <a:ext cx="4571640" cy="3324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OPTION 1:</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invoice </a:t>
            </a:r>
            <a:r>
              <a:rPr lang="en-US" sz="1400" b="0" u="none" strike="noStrike" dirty="0" err="1">
                <a:effectLst/>
                <a:uFillTx/>
                <a:latin typeface="Consolas"/>
                <a:ea typeface="Arial"/>
              </a:rPr>
              <a:t>i</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JOIN customer c</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ON </a:t>
            </a:r>
            <a:r>
              <a:rPr lang="en-US" sz="1400" b="0" u="none" strike="noStrike" dirty="0" err="1">
                <a:effectLst/>
                <a:uFillTx/>
                <a:latin typeface="Consolas"/>
                <a:ea typeface="Arial"/>
              </a:rPr>
              <a:t>i.customer_id</a:t>
            </a:r>
            <a:r>
              <a:rPr lang="en-US" sz="1400" b="0" u="none" strike="noStrike" dirty="0">
                <a:effectLst/>
                <a:uFillTx/>
                <a:latin typeface="Consolas"/>
                <a:ea typeface="Arial"/>
              </a:rPr>
              <a:t> = </a:t>
            </a:r>
            <a:r>
              <a:rPr lang="en-US" sz="1400" b="0" u="none" strike="noStrike" dirty="0" err="1">
                <a:effectLst/>
                <a:uFillTx/>
                <a:latin typeface="Consolas"/>
                <a:ea typeface="Arial"/>
              </a:rPr>
              <a:t>c.customer_id</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br>
              <a:rPr sz="1400" dirty="0"/>
            </a:br>
            <a:br>
              <a:rPr sz="1400" dirty="0"/>
            </a:br>
            <a:r>
              <a:rPr lang="en-US" sz="1400" b="0" u="none" strike="noStrike" dirty="0">
                <a:effectLst/>
                <a:uFillTx/>
                <a:latin typeface="Consolas"/>
                <a:ea typeface="Arial"/>
              </a:rPr>
              <a:t>OPTION 2:</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invoice </a:t>
            </a:r>
            <a:r>
              <a:rPr lang="en-US" sz="1400" b="0" u="none" strike="noStrike" dirty="0" err="1">
                <a:effectLst/>
                <a:uFillTx/>
                <a:latin typeface="Consolas"/>
                <a:ea typeface="Arial"/>
              </a:rPr>
              <a:t>i</a:t>
            </a:r>
            <a:r>
              <a:rPr lang="en-US" sz="1400" b="0" u="none" strike="noStrike" dirty="0">
                <a:effectLst/>
                <a:uFillTx/>
                <a:latin typeface="Consolas"/>
                <a:ea typeface="Arial"/>
              </a:rPr>
              <a:t>, customer c</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WHERE </a:t>
            </a:r>
            <a:r>
              <a:rPr lang="en-US" sz="1400" b="0" u="none" strike="noStrike" dirty="0" err="1">
                <a:effectLst/>
                <a:uFillTx/>
                <a:latin typeface="Consolas"/>
                <a:ea typeface="Arial"/>
              </a:rPr>
              <a:t>i.customer_id</a:t>
            </a:r>
            <a:r>
              <a:rPr lang="en-US" sz="1400" b="0" u="none" strike="noStrike" dirty="0">
                <a:effectLst/>
                <a:uFillTx/>
                <a:latin typeface="Consolas"/>
                <a:ea typeface="Arial"/>
              </a:rPr>
              <a:t> = </a:t>
            </a:r>
            <a:r>
              <a:rPr lang="en-US" sz="1400" b="0" u="none" strike="noStrike" dirty="0" err="1">
                <a:effectLst/>
                <a:uFillTx/>
                <a:latin typeface="Consolas"/>
                <a:ea typeface="Arial"/>
              </a:rPr>
              <a:t>c.customer_id</a:t>
            </a: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br>
              <a:rPr sz="1400" dirty="0"/>
            </a:b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OPTION 3 THE "PROPER WAY"</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invoice </a:t>
            </a:r>
            <a:r>
              <a:rPr lang="en-US" sz="1400" b="0" u="none" strike="noStrike" dirty="0" err="1">
                <a:effectLst/>
                <a:uFillTx/>
                <a:latin typeface="Consolas"/>
                <a:ea typeface="Arial"/>
              </a:rPr>
              <a:t>i</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INNER JOIN customer c</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ON </a:t>
            </a:r>
            <a:r>
              <a:rPr lang="en-US" sz="1400" b="0" u="none" strike="noStrike" dirty="0" err="1">
                <a:effectLst/>
                <a:uFillTx/>
                <a:latin typeface="Consolas"/>
                <a:ea typeface="Arial"/>
              </a:rPr>
              <a:t>i.customer_id</a:t>
            </a:r>
            <a:r>
              <a:rPr lang="en-US" sz="1400" b="0" u="none" strike="noStrike" dirty="0">
                <a:effectLst/>
                <a:uFillTx/>
                <a:latin typeface="Consolas"/>
                <a:ea typeface="Arial"/>
              </a:rPr>
              <a:t> = </a:t>
            </a:r>
            <a:r>
              <a:rPr lang="en-US" sz="1400" b="0" u="none" strike="noStrike" dirty="0" err="1">
                <a:effectLst/>
                <a:uFillTx/>
                <a:latin typeface="Consolas"/>
                <a:ea typeface="Arial"/>
              </a:rPr>
              <a:t>c.customer_id</a:t>
            </a:r>
            <a:r>
              <a:rPr lang="en-US" sz="1400" b="0" u="none" strike="noStrike" dirty="0">
                <a:effectLst/>
                <a:uFillTx/>
                <a:latin typeface="Consolas"/>
                <a:ea typeface="Arial"/>
              </a:rPr>
              <a:t>;</a:t>
            </a:r>
            <a:endParaRPr lang="en-US" sz="1400" b="0" u="none" strike="noStrike" dirty="0">
              <a:effectLst/>
              <a:uFillTx/>
              <a:latin typeface="Arial"/>
            </a:endParaRPr>
          </a:p>
        </p:txBody>
      </p:sp>
    </p:spTree>
    <p:extLst>
      <p:ext uri="{BB962C8B-B14F-4D97-AF65-F5344CB8AC3E}">
        <p14:creationId xmlns:p14="http://schemas.microsoft.com/office/powerpoint/2010/main" val="9578306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2E2F3-CC43-E080-F182-B8D00173E68D}"/>
              </a:ext>
            </a:extLst>
          </p:cNvPr>
          <p:cNvSpPr>
            <a:spLocks noGrp="1"/>
          </p:cNvSpPr>
          <p:nvPr>
            <p:ph type="title"/>
          </p:nvPr>
        </p:nvSpPr>
        <p:spPr/>
        <p:txBody>
          <a:bodyPr/>
          <a:lstStyle/>
          <a:p>
            <a:r>
              <a:rPr lang="en-US" dirty="0"/>
              <a:t>Cross Join</a:t>
            </a:r>
          </a:p>
        </p:txBody>
      </p:sp>
      <p:sp>
        <p:nvSpPr>
          <p:cNvPr id="5" name="TextBox 3">
            <a:extLst>
              <a:ext uri="{FF2B5EF4-FFF2-40B4-BE49-F238E27FC236}">
                <a16:creationId xmlns:a16="http://schemas.microsoft.com/office/drawing/2014/main" id="{9DDD61DE-3632-3DB5-6C91-1B506C5DBBE9}"/>
              </a:ext>
            </a:extLst>
          </p:cNvPr>
          <p:cNvSpPr/>
          <p:nvPr/>
        </p:nvSpPr>
        <p:spPr>
          <a:xfrm>
            <a:off x="3936628" y="2797200"/>
            <a:ext cx="4571640" cy="63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customer</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CROSS JOIN invoice;</a:t>
            </a:r>
            <a:endParaRPr lang="en-US" sz="1400" b="0" u="none" strike="noStrike" dirty="0">
              <a:effectLst/>
              <a:uFillTx/>
              <a:latin typeface="Arial"/>
            </a:endParaRPr>
          </a:p>
        </p:txBody>
      </p:sp>
      <p:sp>
        <p:nvSpPr>
          <p:cNvPr id="7" name="TextBox 5">
            <a:extLst>
              <a:ext uri="{FF2B5EF4-FFF2-40B4-BE49-F238E27FC236}">
                <a16:creationId xmlns:a16="http://schemas.microsoft.com/office/drawing/2014/main" id="{23C9AFD3-F41B-2848-28C4-28C9AD783117}"/>
              </a:ext>
            </a:extLst>
          </p:cNvPr>
          <p:cNvSpPr/>
          <p:nvPr/>
        </p:nvSpPr>
        <p:spPr>
          <a:xfrm>
            <a:off x="3936628" y="4178520"/>
            <a:ext cx="4571640" cy="81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effectLst/>
                <a:uFillTx/>
                <a:latin typeface="Consolas"/>
                <a:ea typeface="Arial"/>
              </a:rPr>
              <a:t>SELECT * </a:t>
            </a:r>
            <a:endParaRPr lang="en-US" sz="1400" b="0" u="none" strike="noStrike">
              <a:effectLst/>
              <a:uFillTx/>
              <a:latin typeface="Arial"/>
            </a:endParaRPr>
          </a:p>
          <a:p>
            <a:pPr>
              <a:lnSpc>
                <a:spcPts val="1426"/>
              </a:lnSpc>
            </a:pPr>
            <a:r>
              <a:rPr lang="en-US" sz="1400" b="0" u="none" strike="noStrike">
                <a:effectLst/>
                <a:uFillTx/>
                <a:latin typeface="Consolas"/>
                <a:ea typeface="Arial"/>
              </a:rPr>
              <a:t>FROM customer</a:t>
            </a:r>
            <a:endParaRPr lang="en-US" sz="1400" b="0" u="none" strike="noStrike">
              <a:effectLst/>
              <a:uFillTx/>
              <a:latin typeface="Arial"/>
            </a:endParaRPr>
          </a:p>
          <a:p>
            <a:pPr>
              <a:lnSpc>
                <a:spcPts val="1426"/>
              </a:lnSpc>
            </a:pPr>
            <a:r>
              <a:rPr lang="en-US" sz="1400" b="0" u="none" strike="noStrike">
                <a:effectLst/>
                <a:uFillTx/>
                <a:latin typeface="Consolas"/>
                <a:ea typeface="Arial"/>
              </a:rPr>
              <a:t>CROSS JOIN invoice </a:t>
            </a:r>
            <a:endParaRPr lang="en-US" sz="1400" b="0" u="none" strike="noStrike">
              <a:effectLst/>
              <a:uFillTx/>
              <a:latin typeface="Arial"/>
            </a:endParaRPr>
          </a:p>
          <a:p>
            <a:pPr>
              <a:lnSpc>
                <a:spcPts val="1426"/>
              </a:lnSpc>
            </a:pPr>
            <a:r>
              <a:rPr lang="en-US" sz="1400" b="0" u="none" strike="noStrike">
                <a:effectLst/>
                <a:uFillTx/>
                <a:latin typeface="Consolas"/>
                <a:ea typeface="Arial"/>
              </a:rPr>
              <a:t>WHERE customer.country = 'USA';</a:t>
            </a:r>
            <a:endParaRPr lang="en-US" sz="1400" b="0" u="none" strike="noStrike">
              <a:effectLst/>
              <a:uFillTx/>
              <a:latin typeface="Arial"/>
            </a:endParaRPr>
          </a:p>
        </p:txBody>
      </p:sp>
    </p:spTree>
    <p:extLst>
      <p:ext uri="{BB962C8B-B14F-4D97-AF65-F5344CB8AC3E}">
        <p14:creationId xmlns:p14="http://schemas.microsoft.com/office/powerpoint/2010/main" val="4674697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EFF91-E4C9-4900-60AE-6EA3A0916177}"/>
              </a:ext>
            </a:extLst>
          </p:cNvPr>
          <p:cNvSpPr>
            <a:spLocks noGrp="1"/>
          </p:cNvSpPr>
          <p:nvPr>
            <p:ph type="title"/>
          </p:nvPr>
        </p:nvSpPr>
        <p:spPr/>
        <p:txBody>
          <a:bodyPr/>
          <a:lstStyle/>
          <a:p>
            <a:r>
              <a:rPr lang="en-US" dirty="0"/>
              <a:t>Left/Right Join</a:t>
            </a:r>
          </a:p>
        </p:txBody>
      </p:sp>
      <p:sp>
        <p:nvSpPr>
          <p:cNvPr id="5" name="TextBox 3">
            <a:extLst>
              <a:ext uri="{FF2B5EF4-FFF2-40B4-BE49-F238E27FC236}">
                <a16:creationId xmlns:a16="http://schemas.microsoft.com/office/drawing/2014/main" id="{2708EFE0-44A0-6E9F-329D-DA66F5374316}"/>
              </a:ext>
            </a:extLst>
          </p:cNvPr>
          <p:cNvSpPr/>
          <p:nvPr/>
        </p:nvSpPr>
        <p:spPr>
          <a:xfrm>
            <a:off x="1789565" y="3429000"/>
            <a:ext cx="4011120" cy="81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effectLst/>
                <a:uFillTx/>
                <a:latin typeface="Consolas"/>
                <a:ea typeface="Arial"/>
              </a:rPr>
              <a:t>SELECT * </a:t>
            </a:r>
            <a:endParaRPr lang="en-US" sz="1400" b="0" u="none" strike="noStrike">
              <a:effectLst/>
              <a:uFillTx/>
              <a:latin typeface="Arial"/>
            </a:endParaRPr>
          </a:p>
          <a:p>
            <a:pPr>
              <a:lnSpc>
                <a:spcPts val="1426"/>
              </a:lnSpc>
            </a:pPr>
            <a:r>
              <a:rPr lang="en-US" sz="1400" b="0" u="none" strike="noStrike">
                <a:effectLst/>
                <a:uFillTx/>
                <a:latin typeface="Consolas"/>
                <a:ea typeface="Arial"/>
              </a:rPr>
              <a:t>FROM customer c</a:t>
            </a:r>
            <a:endParaRPr lang="en-US" sz="1400" b="0" u="none" strike="noStrike">
              <a:effectLst/>
              <a:uFillTx/>
              <a:latin typeface="Arial"/>
            </a:endParaRPr>
          </a:p>
          <a:p>
            <a:pPr>
              <a:lnSpc>
                <a:spcPts val="1426"/>
              </a:lnSpc>
            </a:pPr>
            <a:r>
              <a:rPr lang="en-US" sz="1400" b="0" u="none" strike="noStrike">
                <a:effectLst/>
                <a:uFillTx/>
                <a:latin typeface="Consolas"/>
                <a:ea typeface="Arial"/>
              </a:rPr>
              <a:t>LEFT JOIN invoice i</a:t>
            </a:r>
            <a:endParaRPr lang="en-US" sz="1400" b="0" u="none" strike="noStrike">
              <a:effectLst/>
              <a:uFillTx/>
              <a:latin typeface="Arial"/>
            </a:endParaRPr>
          </a:p>
          <a:p>
            <a:pPr>
              <a:lnSpc>
                <a:spcPts val="1426"/>
              </a:lnSpc>
            </a:pPr>
            <a:r>
              <a:rPr lang="en-US" sz="1400" b="0" u="none" strike="noStrike">
                <a:effectLst/>
                <a:uFillTx/>
                <a:latin typeface="Consolas"/>
                <a:ea typeface="Arial"/>
              </a:rPr>
              <a:t>    ON i.customer_id = c.customer_id;</a:t>
            </a:r>
            <a:endParaRPr lang="en-US" sz="1400" b="0" u="none" strike="noStrike">
              <a:effectLst/>
              <a:uFillTx/>
              <a:latin typeface="Arial"/>
            </a:endParaRPr>
          </a:p>
        </p:txBody>
      </p:sp>
      <p:sp>
        <p:nvSpPr>
          <p:cNvPr id="7" name="TextBox 5">
            <a:extLst>
              <a:ext uri="{FF2B5EF4-FFF2-40B4-BE49-F238E27FC236}">
                <a16:creationId xmlns:a16="http://schemas.microsoft.com/office/drawing/2014/main" id="{57404FD6-F400-16CF-961F-5CCDB6866668}"/>
              </a:ext>
            </a:extLst>
          </p:cNvPr>
          <p:cNvSpPr/>
          <p:nvPr/>
        </p:nvSpPr>
        <p:spPr>
          <a:xfrm>
            <a:off x="5922005" y="3022920"/>
            <a:ext cx="4571640" cy="81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effectLst/>
                <a:uFillTx/>
                <a:latin typeface="Consolas"/>
                <a:ea typeface="Arial"/>
              </a:rPr>
              <a:t>SELECT * </a:t>
            </a:r>
            <a:endParaRPr lang="en-US" sz="1400" b="0" u="none" strike="noStrike">
              <a:effectLst/>
              <a:uFillTx/>
              <a:latin typeface="Arial"/>
            </a:endParaRPr>
          </a:p>
          <a:p>
            <a:pPr>
              <a:lnSpc>
                <a:spcPts val="1426"/>
              </a:lnSpc>
            </a:pPr>
            <a:r>
              <a:rPr lang="en-US" sz="1400" b="0" u="none" strike="noStrike">
                <a:effectLst/>
                <a:uFillTx/>
                <a:latin typeface="Consolas"/>
                <a:ea typeface="Arial"/>
              </a:rPr>
              <a:t>FROM invoice i</a:t>
            </a:r>
            <a:endParaRPr lang="en-US" sz="1400" b="0" u="none" strike="noStrike">
              <a:effectLst/>
              <a:uFillTx/>
              <a:latin typeface="Arial"/>
            </a:endParaRPr>
          </a:p>
          <a:p>
            <a:pPr>
              <a:lnSpc>
                <a:spcPts val="1426"/>
              </a:lnSpc>
            </a:pPr>
            <a:r>
              <a:rPr lang="en-US" sz="1400" b="0" u="none" strike="noStrike">
                <a:effectLst/>
                <a:uFillTx/>
                <a:latin typeface="Consolas"/>
                <a:ea typeface="Arial"/>
              </a:rPr>
              <a:t>LEFT JOIN customer c</a:t>
            </a:r>
            <a:endParaRPr lang="en-US" sz="1400" b="0" u="none" strike="noStrike">
              <a:effectLst/>
              <a:uFillTx/>
              <a:latin typeface="Arial"/>
            </a:endParaRPr>
          </a:p>
          <a:p>
            <a:pPr>
              <a:lnSpc>
                <a:spcPts val="1426"/>
              </a:lnSpc>
            </a:pPr>
            <a:r>
              <a:rPr lang="en-US" sz="1400" b="0" u="none" strike="noStrike">
                <a:effectLst/>
                <a:uFillTx/>
                <a:latin typeface="Consolas"/>
                <a:ea typeface="Arial"/>
              </a:rPr>
              <a:t>    ON c.customer_id = i.customer_id;</a:t>
            </a:r>
            <a:endParaRPr lang="en-US" sz="1400" b="0" u="none" strike="noStrike">
              <a:effectLst/>
              <a:uFillTx/>
              <a:latin typeface="Arial"/>
            </a:endParaRPr>
          </a:p>
        </p:txBody>
      </p:sp>
      <p:sp>
        <p:nvSpPr>
          <p:cNvPr id="9" name="TextBox 6">
            <a:extLst>
              <a:ext uri="{FF2B5EF4-FFF2-40B4-BE49-F238E27FC236}">
                <a16:creationId xmlns:a16="http://schemas.microsoft.com/office/drawing/2014/main" id="{15F10146-45E6-901F-A287-A35A82CA2927}"/>
              </a:ext>
            </a:extLst>
          </p:cNvPr>
          <p:cNvSpPr/>
          <p:nvPr/>
        </p:nvSpPr>
        <p:spPr>
          <a:xfrm>
            <a:off x="1865165" y="3123000"/>
            <a:ext cx="91044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Left Join:</a:t>
            </a:r>
            <a:endParaRPr lang="en-US" sz="1400" b="0" u="none" strike="noStrike">
              <a:effectLst/>
              <a:uFillTx/>
              <a:latin typeface="Arial"/>
            </a:endParaRPr>
          </a:p>
        </p:txBody>
      </p:sp>
      <p:sp>
        <p:nvSpPr>
          <p:cNvPr id="11" name="TextBox 7">
            <a:extLst>
              <a:ext uri="{FF2B5EF4-FFF2-40B4-BE49-F238E27FC236}">
                <a16:creationId xmlns:a16="http://schemas.microsoft.com/office/drawing/2014/main" id="{D44D8515-FBCB-A5D6-7851-9E7113818895}"/>
              </a:ext>
            </a:extLst>
          </p:cNvPr>
          <p:cNvSpPr/>
          <p:nvPr/>
        </p:nvSpPr>
        <p:spPr>
          <a:xfrm>
            <a:off x="5922005" y="2715120"/>
            <a:ext cx="41551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Right Join via LEFT JOIN (just flip values around):</a:t>
            </a:r>
            <a:endParaRPr lang="en-US" sz="1400" b="0" u="none" strike="noStrike">
              <a:effectLst/>
              <a:uFillTx/>
              <a:latin typeface="Arial"/>
            </a:endParaRPr>
          </a:p>
        </p:txBody>
      </p:sp>
      <p:sp>
        <p:nvSpPr>
          <p:cNvPr id="13" name="TextBox 9">
            <a:extLst>
              <a:ext uri="{FF2B5EF4-FFF2-40B4-BE49-F238E27FC236}">
                <a16:creationId xmlns:a16="http://schemas.microsoft.com/office/drawing/2014/main" id="{0160CFF8-C8B7-7FDF-D151-83B3722005BE}"/>
              </a:ext>
            </a:extLst>
          </p:cNvPr>
          <p:cNvSpPr/>
          <p:nvPr/>
        </p:nvSpPr>
        <p:spPr>
          <a:xfrm>
            <a:off x="6023525" y="4600080"/>
            <a:ext cx="4575600" cy="81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effectLst/>
                <a:uFillTx/>
                <a:latin typeface="Consolas"/>
                <a:ea typeface="Arial"/>
              </a:rPr>
              <a:t>SELECT *</a:t>
            </a:r>
            <a:endParaRPr lang="en-US" sz="1400" b="0" u="none" strike="noStrike">
              <a:effectLst/>
              <a:uFillTx/>
              <a:latin typeface="Arial"/>
            </a:endParaRPr>
          </a:p>
          <a:p>
            <a:pPr>
              <a:lnSpc>
                <a:spcPts val="1426"/>
              </a:lnSpc>
            </a:pPr>
            <a:r>
              <a:rPr lang="en-US" sz="1400" b="0" u="none" strike="noStrike">
                <a:effectLst/>
                <a:uFillTx/>
                <a:latin typeface="Consolas"/>
                <a:ea typeface="Arial"/>
              </a:rPr>
              <a:t>FROM invoice i</a:t>
            </a:r>
            <a:endParaRPr lang="en-US" sz="1400" b="0" u="none" strike="noStrike">
              <a:effectLst/>
              <a:uFillTx/>
              <a:latin typeface="Arial"/>
            </a:endParaRPr>
          </a:p>
          <a:p>
            <a:pPr>
              <a:lnSpc>
                <a:spcPts val="1426"/>
              </a:lnSpc>
            </a:pPr>
            <a:r>
              <a:rPr lang="en-US" sz="1400" b="0" u="none" strike="noStrike">
                <a:effectLst/>
                <a:uFillTx/>
                <a:latin typeface="Consolas"/>
                <a:ea typeface="Arial"/>
              </a:rPr>
              <a:t>RIGHT JOIN customer c</a:t>
            </a:r>
            <a:endParaRPr lang="en-US" sz="1400" b="0" u="none" strike="noStrike">
              <a:effectLst/>
              <a:uFillTx/>
              <a:latin typeface="Arial"/>
            </a:endParaRPr>
          </a:p>
          <a:p>
            <a:pPr>
              <a:lnSpc>
                <a:spcPts val="1426"/>
              </a:lnSpc>
            </a:pPr>
            <a:r>
              <a:rPr lang="en-US" sz="1400" b="0" u="none" strike="noStrike">
                <a:effectLst/>
                <a:uFillTx/>
                <a:latin typeface="Consolas"/>
                <a:ea typeface="Arial"/>
              </a:rPr>
              <a:t>    ON c.customer_id = i.customer_id;</a:t>
            </a:r>
            <a:endParaRPr lang="en-US" sz="1400" b="0" u="none" strike="noStrike">
              <a:effectLst/>
              <a:uFillTx/>
              <a:latin typeface="Arial"/>
            </a:endParaRPr>
          </a:p>
        </p:txBody>
      </p:sp>
      <p:sp>
        <p:nvSpPr>
          <p:cNvPr id="15" name="TextBox 10">
            <a:extLst>
              <a:ext uri="{FF2B5EF4-FFF2-40B4-BE49-F238E27FC236}">
                <a16:creationId xmlns:a16="http://schemas.microsoft.com/office/drawing/2014/main" id="{BDFC1EB6-3B53-7BAB-1516-42647B230954}"/>
              </a:ext>
            </a:extLst>
          </p:cNvPr>
          <p:cNvSpPr/>
          <p:nvPr/>
        </p:nvSpPr>
        <p:spPr>
          <a:xfrm>
            <a:off x="6023525" y="4077000"/>
            <a:ext cx="3967987" cy="521766"/>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effectLst/>
                <a:uFillTx/>
                <a:latin typeface="Arial"/>
                <a:ea typeface="Arial"/>
              </a:rPr>
              <a:t>It’s common to not bother with this, and instead </a:t>
            </a: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Just flip around a left join:</a:t>
            </a:r>
            <a:endParaRPr lang="en-US" sz="1400" b="0" u="none" strike="noStrike" dirty="0">
              <a:effectLst/>
              <a:uFillTx/>
              <a:latin typeface="Arial"/>
            </a:endParaRPr>
          </a:p>
        </p:txBody>
      </p:sp>
    </p:spTree>
    <p:extLst>
      <p:ext uri="{BB962C8B-B14F-4D97-AF65-F5344CB8AC3E}">
        <p14:creationId xmlns:p14="http://schemas.microsoft.com/office/powerpoint/2010/main" val="3740289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A9118-A9A0-10B6-0EEE-3D8F5FA470D0}"/>
              </a:ext>
            </a:extLst>
          </p:cNvPr>
          <p:cNvSpPr>
            <a:spLocks noGrp="1"/>
          </p:cNvSpPr>
          <p:nvPr>
            <p:ph type="title"/>
          </p:nvPr>
        </p:nvSpPr>
        <p:spPr/>
        <p:txBody>
          <a:bodyPr/>
          <a:lstStyle/>
          <a:p>
            <a:r>
              <a:rPr lang="en-US" dirty="0"/>
              <a:t>Full Outer Join</a:t>
            </a:r>
          </a:p>
        </p:txBody>
      </p:sp>
      <p:sp>
        <p:nvSpPr>
          <p:cNvPr id="5" name="TextBox 3">
            <a:extLst>
              <a:ext uri="{FF2B5EF4-FFF2-40B4-BE49-F238E27FC236}">
                <a16:creationId xmlns:a16="http://schemas.microsoft.com/office/drawing/2014/main" id="{562B68AD-36D1-565D-3513-3FE8F33793E5}"/>
              </a:ext>
            </a:extLst>
          </p:cNvPr>
          <p:cNvSpPr/>
          <p:nvPr/>
        </p:nvSpPr>
        <p:spPr>
          <a:xfrm>
            <a:off x="3810180" y="3127614"/>
            <a:ext cx="4776412" cy="80921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invoice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FULL OUTER JOIN customer</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ON </a:t>
            </a:r>
            <a:r>
              <a:rPr lang="en-US" sz="1400" b="0" u="none" strike="noStrike" dirty="0" err="1">
                <a:effectLst/>
                <a:uFillTx/>
                <a:latin typeface="Consolas"/>
                <a:ea typeface="Arial"/>
              </a:rPr>
              <a:t>invoice.customer_id</a:t>
            </a:r>
            <a:r>
              <a:rPr lang="en-US" sz="1400" b="0" u="none" strike="noStrike" dirty="0">
                <a:effectLst/>
                <a:uFillTx/>
                <a:latin typeface="Consolas"/>
                <a:ea typeface="Arial"/>
              </a:rPr>
              <a:t> = </a:t>
            </a:r>
            <a:r>
              <a:rPr lang="en-US" sz="1400" b="0" u="none" strike="noStrike" dirty="0" err="1">
                <a:effectLst/>
                <a:uFillTx/>
                <a:latin typeface="Consolas"/>
                <a:ea typeface="Arial"/>
              </a:rPr>
              <a:t>customer.customer_id</a:t>
            </a:r>
            <a:r>
              <a:rPr lang="en-US" sz="1400" b="0" u="none" strike="noStrike" dirty="0">
                <a:effectLst/>
                <a:uFillTx/>
                <a:latin typeface="Consolas"/>
                <a:ea typeface="Arial"/>
              </a:rPr>
              <a:t>;</a:t>
            </a:r>
            <a:endParaRPr lang="en-US" sz="1400" b="0" u="none" strike="noStrike" dirty="0">
              <a:effectLst/>
              <a:uFillTx/>
              <a:latin typeface="Arial"/>
            </a:endParaRPr>
          </a:p>
        </p:txBody>
      </p:sp>
    </p:spTree>
    <p:extLst>
      <p:ext uri="{BB962C8B-B14F-4D97-AF65-F5344CB8AC3E}">
        <p14:creationId xmlns:p14="http://schemas.microsoft.com/office/powerpoint/2010/main" val="19406304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27C26-769D-A44F-36ED-8DD9D42DBE95}"/>
              </a:ext>
            </a:extLst>
          </p:cNvPr>
          <p:cNvSpPr>
            <a:spLocks noGrp="1"/>
          </p:cNvSpPr>
          <p:nvPr>
            <p:ph type="title"/>
          </p:nvPr>
        </p:nvSpPr>
        <p:spPr/>
        <p:txBody>
          <a:bodyPr/>
          <a:lstStyle/>
          <a:p>
            <a:r>
              <a:rPr lang="en-US" dirty="0"/>
              <a:t>Subqueries &amp; </a:t>
            </a:r>
            <a:r>
              <a:rPr lang="en-US" dirty="0" err="1"/>
              <a:t>Cte</a:t>
            </a:r>
            <a:endParaRPr lang="en-US" dirty="0"/>
          </a:p>
        </p:txBody>
      </p:sp>
      <p:sp>
        <p:nvSpPr>
          <p:cNvPr id="5" name="TextBox 2">
            <a:extLst>
              <a:ext uri="{FF2B5EF4-FFF2-40B4-BE49-F238E27FC236}">
                <a16:creationId xmlns:a16="http://schemas.microsoft.com/office/drawing/2014/main" id="{FA5CA181-F97D-F39E-D29D-E6AFF6E1C01F}"/>
              </a:ext>
            </a:extLst>
          </p:cNvPr>
          <p:cNvSpPr/>
          <p:nvPr/>
        </p:nvSpPr>
        <p:spPr>
          <a:xfrm>
            <a:off x="3263232" y="2598843"/>
            <a:ext cx="566100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Subqueries – a query within a query that helps us get filtered results</a:t>
            </a:r>
            <a:endParaRPr lang="en-US" sz="1400" b="0" u="none" strike="noStrike" dirty="0">
              <a:effectLst/>
              <a:uFillTx/>
              <a:latin typeface="Arial"/>
            </a:endParaRPr>
          </a:p>
        </p:txBody>
      </p:sp>
      <p:sp>
        <p:nvSpPr>
          <p:cNvPr id="7" name="TextBox 4">
            <a:extLst>
              <a:ext uri="{FF2B5EF4-FFF2-40B4-BE49-F238E27FC236}">
                <a16:creationId xmlns:a16="http://schemas.microsoft.com/office/drawing/2014/main" id="{B5B8CBAA-182C-D3C9-13CB-686A2225F54C}"/>
              </a:ext>
            </a:extLst>
          </p:cNvPr>
          <p:cNvSpPr/>
          <p:nvPr/>
        </p:nvSpPr>
        <p:spPr>
          <a:xfrm>
            <a:off x="2012592" y="3911043"/>
            <a:ext cx="3039480" cy="1350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effectLst/>
                <a:uFillTx/>
                <a:latin typeface="Consolas"/>
                <a:ea typeface="Arial"/>
              </a:rPr>
              <a:t>SELECT *</a:t>
            </a:r>
            <a:endParaRPr lang="en-US" sz="1400" b="0" u="none" strike="noStrike">
              <a:effectLst/>
              <a:uFillTx/>
              <a:latin typeface="Arial"/>
            </a:endParaRPr>
          </a:p>
          <a:p>
            <a:pPr>
              <a:lnSpc>
                <a:spcPts val="1426"/>
              </a:lnSpc>
            </a:pPr>
            <a:r>
              <a:rPr lang="en-US" sz="1400" b="0" u="none" strike="noStrike">
                <a:effectLst/>
                <a:uFillTx/>
                <a:latin typeface="Consolas"/>
                <a:ea typeface="Arial"/>
              </a:rPr>
              <a:t>FROM invoice </a:t>
            </a:r>
            <a:endParaRPr lang="en-US" sz="1400" b="0" u="none" strike="noStrike">
              <a:effectLst/>
              <a:uFillTx/>
              <a:latin typeface="Arial"/>
            </a:endParaRPr>
          </a:p>
          <a:p>
            <a:pPr>
              <a:lnSpc>
                <a:spcPts val="1426"/>
              </a:lnSpc>
            </a:pPr>
            <a:r>
              <a:rPr lang="en-US" sz="1400" b="0" u="none" strike="noStrike">
                <a:effectLst/>
                <a:uFillTx/>
                <a:latin typeface="Consolas"/>
                <a:ea typeface="Arial"/>
              </a:rPr>
              <a:t>WHERE customer_id IN (</a:t>
            </a:r>
            <a:endParaRPr lang="en-US" sz="1400" b="0" u="none" strike="noStrike">
              <a:effectLst/>
              <a:uFillTx/>
              <a:latin typeface="Arial"/>
            </a:endParaRPr>
          </a:p>
          <a:p>
            <a:pPr>
              <a:lnSpc>
                <a:spcPts val="1426"/>
              </a:lnSpc>
            </a:pPr>
            <a:r>
              <a:rPr lang="en-US" sz="1400" b="0" u="none" strike="noStrike">
                <a:effectLst/>
                <a:uFillTx/>
                <a:latin typeface="Consolas"/>
                <a:ea typeface="Arial"/>
              </a:rPr>
              <a:t>    SELECT customer_id</a:t>
            </a:r>
            <a:endParaRPr lang="en-US" sz="1400" b="0" u="none" strike="noStrike">
              <a:effectLst/>
              <a:uFillTx/>
              <a:latin typeface="Arial"/>
            </a:endParaRPr>
          </a:p>
          <a:p>
            <a:pPr>
              <a:lnSpc>
                <a:spcPts val="1426"/>
              </a:lnSpc>
            </a:pPr>
            <a:r>
              <a:rPr lang="en-US" sz="1400" b="0" u="none" strike="noStrike">
                <a:effectLst/>
                <a:uFillTx/>
                <a:latin typeface="Consolas"/>
                <a:ea typeface="Arial"/>
              </a:rPr>
              <a:t>    FROM customer</a:t>
            </a:r>
            <a:endParaRPr lang="en-US" sz="1400" b="0" u="none" strike="noStrike">
              <a:effectLst/>
              <a:uFillTx/>
              <a:latin typeface="Arial"/>
            </a:endParaRPr>
          </a:p>
          <a:p>
            <a:pPr>
              <a:lnSpc>
                <a:spcPts val="1426"/>
              </a:lnSpc>
            </a:pPr>
            <a:r>
              <a:rPr lang="en-US" sz="1400" b="0" u="none" strike="noStrike">
                <a:effectLst/>
                <a:uFillTx/>
                <a:latin typeface="Consolas"/>
                <a:ea typeface="Arial"/>
              </a:rPr>
              <a:t>    WHERE country = 'USA'</a:t>
            </a:r>
            <a:endParaRPr lang="en-US" sz="1400" b="0" u="none" strike="noStrike">
              <a:effectLst/>
              <a:uFillTx/>
              <a:latin typeface="Arial"/>
            </a:endParaRPr>
          </a:p>
          <a:p>
            <a:pPr>
              <a:lnSpc>
                <a:spcPts val="1426"/>
              </a:lnSpc>
            </a:pPr>
            <a:r>
              <a:rPr lang="en-US" sz="1400" b="0" u="none" strike="noStrike">
                <a:effectLst/>
                <a:uFillTx/>
                <a:latin typeface="Consolas"/>
                <a:ea typeface="Arial"/>
              </a:rPr>
              <a:t>);</a:t>
            </a:r>
            <a:endParaRPr lang="en-US" sz="1400" b="0" u="none" strike="noStrike">
              <a:effectLst/>
              <a:uFillTx/>
              <a:latin typeface="Arial"/>
            </a:endParaRPr>
          </a:p>
        </p:txBody>
      </p:sp>
      <p:sp>
        <p:nvSpPr>
          <p:cNvPr id="9" name="TextBox 6">
            <a:extLst>
              <a:ext uri="{FF2B5EF4-FFF2-40B4-BE49-F238E27FC236}">
                <a16:creationId xmlns:a16="http://schemas.microsoft.com/office/drawing/2014/main" id="{C2849B2D-B8D4-5A6A-EB65-37BFB052BD7B}"/>
              </a:ext>
            </a:extLst>
          </p:cNvPr>
          <p:cNvSpPr/>
          <p:nvPr/>
        </p:nvSpPr>
        <p:spPr>
          <a:xfrm>
            <a:off x="5740032" y="3587763"/>
            <a:ext cx="4571640" cy="1708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WITH </a:t>
            </a:r>
            <a:r>
              <a:rPr lang="en-US" sz="1400" b="0" u="none" strike="noStrike" dirty="0" err="1">
                <a:effectLst/>
                <a:uFillTx/>
                <a:latin typeface="Consolas"/>
                <a:ea typeface="Arial"/>
              </a:rPr>
              <a:t>us_customers</a:t>
            </a:r>
            <a:r>
              <a:rPr lang="en-US" sz="1400" b="0" u="none" strike="noStrike" dirty="0">
                <a:effectLst/>
                <a:uFillTx/>
                <a:latin typeface="Consolas"/>
                <a:ea typeface="Arial"/>
              </a:rPr>
              <a:t> AS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SELECT </a:t>
            </a:r>
            <a:r>
              <a:rPr lang="en-US" sz="1400" b="0" u="none" strike="noStrike" dirty="0" err="1">
                <a:effectLst/>
                <a:uFillTx/>
                <a:latin typeface="Consolas"/>
                <a:ea typeface="Arial"/>
              </a:rPr>
              <a:t>customer_id</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FROM customer</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    WHERE country = 'USA'</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SELECT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FROM invoice </a:t>
            </a:r>
            <a:endParaRPr lang="en-US" sz="1400" b="0" u="none" strike="noStrike" dirty="0">
              <a:effectLst/>
              <a:uFillTx/>
              <a:latin typeface="Arial"/>
            </a:endParaRPr>
          </a:p>
          <a:p>
            <a:pPr>
              <a:lnSpc>
                <a:spcPts val="1426"/>
              </a:lnSpc>
            </a:pPr>
            <a:r>
              <a:rPr lang="en-US" sz="1400" b="0" u="none" strike="noStrike" dirty="0">
                <a:effectLst/>
                <a:uFillTx/>
                <a:latin typeface="Consolas"/>
                <a:ea typeface="Arial"/>
              </a:rPr>
              <a:t>WHERE </a:t>
            </a:r>
            <a:r>
              <a:rPr lang="en-US" sz="1400" b="0" u="none" strike="noStrike" dirty="0" err="1">
                <a:effectLst/>
                <a:uFillTx/>
                <a:latin typeface="Consolas"/>
                <a:ea typeface="Arial"/>
              </a:rPr>
              <a:t>customer_id</a:t>
            </a:r>
            <a:r>
              <a:rPr lang="en-US" sz="1400" b="0" u="none" strike="noStrike" dirty="0">
                <a:effectLst/>
                <a:uFillTx/>
                <a:latin typeface="Consolas"/>
                <a:ea typeface="Arial"/>
              </a:rPr>
              <a:t> IN (SELECT </a:t>
            </a:r>
            <a:r>
              <a:rPr lang="en-US" sz="1400" b="0" u="none" strike="noStrike" dirty="0" err="1">
                <a:effectLst/>
                <a:uFillTx/>
                <a:latin typeface="Consolas"/>
                <a:ea typeface="Arial"/>
              </a:rPr>
              <a:t>customer_id</a:t>
            </a:r>
            <a:r>
              <a:rPr lang="en-US" sz="1400" b="0" u="none" strike="noStrike" dirty="0">
                <a:effectLst/>
                <a:uFillTx/>
                <a:latin typeface="Consolas"/>
                <a:ea typeface="Arial"/>
              </a:rPr>
              <a:t> FROM </a:t>
            </a:r>
            <a:r>
              <a:rPr lang="en-US" sz="1400" b="0" u="none" strike="noStrike" dirty="0" err="1">
                <a:effectLst/>
                <a:uFillTx/>
                <a:latin typeface="Consolas"/>
                <a:ea typeface="Arial"/>
              </a:rPr>
              <a:t>us_customers</a:t>
            </a:r>
            <a:r>
              <a:rPr lang="en-US" sz="1400" b="0" u="none" strike="noStrike" dirty="0">
                <a:effectLst/>
                <a:uFillTx/>
                <a:latin typeface="Consolas"/>
                <a:ea typeface="Arial"/>
              </a:rPr>
              <a:t>);</a:t>
            </a:r>
            <a:endParaRPr lang="en-US" sz="1400" b="0" u="none" strike="noStrike" dirty="0">
              <a:effectLst/>
              <a:uFillTx/>
              <a:latin typeface="Arial"/>
            </a:endParaRPr>
          </a:p>
        </p:txBody>
      </p:sp>
      <p:sp>
        <p:nvSpPr>
          <p:cNvPr id="11" name="TextBox 7">
            <a:extLst>
              <a:ext uri="{FF2B5EF4-FFF2-40B4-BE49-F238E27FC236}">
                <a16:creationId xmlns:a16="http://schemas.microsoft.com/office/drawing/2014/main" id="{452BE3FD-C9FB-2929-2178-2394B80F5099}"/>
              </a:ext>
            </a:extLst>
          </p:cNvPr>
          <p:cNvSpPr/>
          <p:nvPr/>
        </p:nvSpPr>
        <p:spPr>
          <a:xfrm>
            <a:off x="4744272" y="3185643"/>
            <a:ext cx="561528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Increase your readability by using a CTE (common table expression):</a:t>
            </a:r>
            <a:endParaRPr lang="en-US" sz="1400" b="0" u="none" strike="noStrike">
              <a:effectLst/>
              <a:uFillTx/>
              <a:latin typeface="Arial"/>
            </a:endParaRPr>
          </a:p>
        </p:txBody>
      </p:sp>
      <p:sp>
        <p:nvSpPr>
          <p:cNvPr id="13" name="TextBox 8">
            <a:extLst>
              <a:ext uri="{FF2B5EF4-FFF2-40B4-BE49-F238E27FC236}">
                <a16:creationId xmlns:a16="http://schemas.microsoft.com/office/drawing/2014/main" id="{033173E8-E20A-9C7F-EA11-F971022F5CD3}"/>
              </a:ext>
            </a:extLst>
          </p:cNvPr>
          <p:cNvSpPr/>
          <p:nvPr/>
        </p:nvSpPr>
        <p:spPr>
          <a:xfrm>
            <a:off x="1935552" y="3587763"/>
            <a:ext cx="15966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effectLst/>
                <a:uFillTx/>
                <a:latin typeface="Arial"/>
                <a:ea typeface="Arial"/>
              </a:rPr>
              <a:t>Normal subquery:</a:t>
            </a:r>
            <a:endParaRPr lang="en-US" sz="1400" b="0" u="none" strike="noStrike">
              <a:effectLst/>
              <a:uFillTx/>
              <a:latin typeface="Arial"/>
            </a:endParaRPr>
          </a:p>
        </p:txBody>
      </p:sp>
    </p:spTree>
    <p:extLst>
      <p:ext uri="{BB962C8B-B14F-4D97-AF65-F5344CB8AC3E}">
        <p14:creationId xmlns:p14="http://schemas.microsoft.com/office/powerpoint/2010/main" val="36234509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1E65E-28F6-025A-3864-717E45E5E3FB}"/>
              </a:ext>
            </a:extLst>
          </p:cNvPr>
          <p:cNvSpPr>
            <a:spLocks noGrp="1"/>
          </p:cNvSpPr>
          <p:nvPr>
            <p:ph type="title"/>
          </p:nvPr>
        </p:nvSpPr>
        <p:spPr/>
        <p:txBody>
          <a:bodyPr/>
          <a:lstStyle/>
          <a:p>
            <a:r>
              <a:rPr lang="en-US" dirty="0"/>
              <a:t>Indexing</a:t>
            </a:r>
          </a:p>
        </p:txBody>
      </p:sp>
      <p:sp>
        <p:nvSpPr>
          <p:cNvPr id="5" name="TextBox 3">
            <a:extLst>
              <a:ext uri="{FF2B5EF4-FFF2-40B4-BE49-F238E27FC236}">
                <a16:creationId xmlns:a16="http://schemas.microsoft.com/office/drawing/2014/main" id="{449BF776-BEFF-70C1-01BE-3DD85FA4DBB5}"/>
              </a:ext>
            </a:extLst>
          </p:cNvPr>
          <p:cNvSpPr/>
          <p:nvPr/>
        </p:nvSpPr>
        <p:spPr>
          <a:xfrm>
            <a:off x="2545680" y="5512781"/>
            <a:ext cx="4571640" cy="45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effectLst/>
                <a:uFillTx/>
                <a:latin typeface="Consolas"/>
                <a:ea typeface="Arial"/>
              </a:rPr>
              <a:t>CREATE INDEX </a:t>
            </a:r>
            <a:r>
              <a:rPr lang="en-US" sz="1400" b="0" u="none" strike="noStrike" dirty="0" err="1">
                <a:effectLst/>
                <a:uFillTx/>
                <a:latin typeface="Consolas"/>
                <a:ea typeface="Arial"/>
              </a:rPr>
              <a:t>idx_users_email</a:t>
            </a:r>
            <a:r>
              <a:rPr lang="en-US" sz="1400" b="0" u="none" strike="noStrike" dirty="0">
                <a:effectLst/>
                <a:uFillTx/>
                <a:latin typeface="Consolas"/>
                <a:ea typeface="Arial"/>
              </a:rPr>
              <a:t> ON customer (email);</a:t>
            </a:r>
            <a:endParaRPr lang="en-US" sz="1400" b="0" u="none" strike="noStrike" dirty="0">
              <a:effectLst/>
              <a:uFillTx/>
              <a:latin typeface="Arial"/>
            </a:endParaRPr>
          </a:p>
        </p:txBody>
      </p:sp>
      <p:sp>
        <p:nvSpPr>
          <p:cNvPr id="7" name="TextBox 4">
            <a:extLst>
              <a:ext uri="{FF2B5EF4-FFF2-40B4-BE49-F238E27FC236}">
                <a16:creationId xmlns:a16="http://schemas.microsoft.com/office/drawing/2014/main" id="{4F86EA24-3DB7-8123-D70D-BDBAB140BC94}"/>
              </a:ext>
            </a:extLst>
          </p:cNvPr>
          <p:cNvSpPr/>
          <p:nvPr/>
        </p:nvSpPr>
        <p:spPr>
          <a:xfrm>
            <a:off x="2618760" y="4924181"/>
            <a:ext cx="7234266" cy="521766"/>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dirty="0">
                <a:effectLst/>
                <a:uFillTx/>
                <a:latin typeface="Arial"/>
                <a:ea typeface="Arial"/>
              </a:rPr>
              <a:t>B-Tree Index (the default):</a:t>
            </a:r>
            <a:endParaRPr lang="en-US" sz="1400" b="0" u="none" strike="noStrike" dirty="0">
              <a:effectLst/>
              <a:uFillTx/>
              <a:latin typeface="Arial"/>
            </a:endParaRPr>
          </a:p>
          <a:p>
            <a:pPr>
              <a:lnSpc>
                <a:spcPct val="100000"/>
              </a:lnSpc>
            </a:pPr>
            <a:r>
              <a:rPr lang="en-US" sz="1400" dirty="0">
                <a:latin typeface="Arial"/>
                <a:ea typeface="Arial"/>
              </a:rPr>
              <a:t>Good for a</a:t>
            </a:r>
            <a:r>
              <a:rPr lang="en-US" sz="1400" b="0" u="none" strike="noStrike" dirty="0">
                <a:effectLst/>
                <a:uFillTx/>
                <a:latin typeface="Arial"/>
                <a:ea typeface="Arial"/>
              </a:rPr>
              <a:t>ny operation that uses: =, &lt;, &lt;=, &gt;, &gt;=, BETWEEN, ORDER BY, LIKE ‘prefix%’</a:t>
            </a:r>
            <a:endParaRPr lang="en-US" sz="1400" b="0" u="none" strike="noStrike" dirty="0">
              <a:effectLst/>
              <a:uFillTx/>
              <a:latin typeface="Arial"/>
            </a:endParaRPr>
          </a:p>
        </p:txBody>
      </p:sp>
      <p:sp>
        <p:nvSpPr>
          <p:cNvPr id="9" name="TextBox 5">
            <a:extLst>
              <a:ext uri="{FF2B5EF4-FFF2-40B4-BE49-F238E27FC236}">
                <a16:creationId xmlns:a16="http://schemas.microsoft.com/office/drawing/2014/main" id="{12FD17C4-3685-E0CB-D8AB-9E722FF2C079}"/>
              </a:ext>
            </a:extLst>
          </p:cNvPr>
          <p:cNvSpPr/>
          <p:nvPr/>
        </p:nvSpPr>
        <p:spPr>
          <a:xfrm>
            <a:off x="2774640" y="2198621"/>
            <a:ext cx="6642720" cy="246075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effectLst/>
                <a:uFillTx/>
                <a:latin typeface="Arial"/>
                <a:ea typeface="Arial"/>
              </a:rPr>
              <a:t>Indexing makes queries more efficient. This is a practice in optimization.</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a:effectLst/>
                <a:uFillTx/>
                <a:latin typeface="Arial"/>
                <a:ea typeface="Arial"/>
              </a:rPr>
              <a:t>Different underlying data structures will form depending on the index we use. You don’t need to concern yourself with these internal workings. Just know the different types of indexes and where they are best applied. </a:t>
            </a:r>
            <a:endParaRPr lang="en-US" sz="1400" b="0" u="none" strike="noStrike" dirty="0">
              <a:effectLst/>
              <a:uFillTx/>
              <a:latin typeface="Arial"/>
            </a:endParaRPr>
          </a:p>
          <a:p>
            <a:pPr>
              <a:lnSpc>
                <a:spcPct val="100000"/>
              </a:lnSpc>
            </a:pPr>
            <a:endParaRPr lang="en-US" sz="1400" b="0" u="none" strike="noStrike" dirty="0">
              <a:effectLst/>
              <a:uFillTx/>
              <a:latin typeface="Arial"/>
            </a:endParaRPr>
          </a:p>
          <a:p>
            <a:pPr>
              <a:lnSpc>
                <a:spcPct val="100000"/>
              </a:lnSpc>
            </a:pPr>
            <a:r>
              <a:rPr lang="en-US" sz="1400" b="0" u="none" strike="noStrike" dirty="0" err="1">
                <a:effectLst/>
                <a:uFillTx/>
                <a:latin typeface="Arial"/>
                <a:ea typeface="Arial"/>
              </a:rPr>
              <a:t>Buuuuutt</a:t>
            </a:r>
            <a:r>
              <a:rPr lang="en-US" sz="1400" b="0" u="none" strike="noStrike" dirty="0">
                <a:effectLst/>
                <a:uFillTx/>
                <a:latin typeface="Arial"/>
                <a:ea typeface="Arial"/>
              </a:rPr>
              <a:t>…. B-Tree is short for balanced index tree. Think of a binary tree, but this data structure is much wider. (each node has many children)  </a:t>
            </a:r>
            <a:endParaRPr lang="en-US" sz="1400" b="0" u="none" strike="noStrike" dirty="0">
              <a:effectLst/>
              <a:uFillTx/>
              <a:latin typeface="Arial"/>
            </a:endParaRPr>
          </a:p>
          <a:p>
            <a:pPr>
              <a:lnSpc>
                <a:spcPct val="100000"/>
              </a:lnSpc>
            </a:pPr>
            <a:endParaRPr lang="en-US" sz="1400" b="0" u="none" strike="noStrike" dirty="0">
              <a:effectLst/>
              <a:uFillTx/>
              <a:latin typeface="Arial"/>
              <a:ea typeface="Arial"/>
            </a:endParaRPr>
          </a:p>
          <a:p>
            <a:pPr>
              <a:lnSpc>
                <a:spcPct val="100000"/>
              </a:lnSpc>
            </a:pPr>
            <a:r>
              <a:rPr lang="en-US" sz="1400" b="0" u="none" strike="noStrike" dirty="0">
                <a:effectLst/>
                <a:uFillTx/>
                <a:latin typeface="Arial"/>
                <a:ea typeface="Arial"/>
              </a:rPr>
              <a:t>B-trees store many keys per node. A b-tree is usually only 3-4 levels deep, even for millions of records.</a:t>
            </a:r>
            <a:endParaRPr lang="en-US" sz="1400" b="0" u="none" strike="noStrike" dirty="0">
              <a:effectLst/>
              <a:uFillTx/>
              <a:latin typeface="Arial"/>
            </a:endParaRPr>
          </a:p>
        </p:txBody>
      </p:sp>
    </p:spTree>
    <p:extLst>
      <p:ext uri="{BB962C8B-B14F-4D97-AF65-F5344CB8AC3E}">
        <p14:creationId xmlns:p14="http://schemas.microsoft.com/office/powerpoint/2010/main" val="21014788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E6C14-1015-7896-5726-AC41ACAF916E}"/>
              </a:ext>
            </a:extLst>
          </p:cNvPr>
          <p:cNvSpPr>
            <a:spLocks noGrp="1"/>
          </p:cNvSpPr>
          <p:nvPr>
            <p:ph type="title"/>
          </p:nvPr>
        </p:nvSpPr>
        <p:spPr/>
        <p:txBody>
          <a:bodyPr/>
          <a:lstStyle/>
          <a:p>
            <a:r>
              <a:rPr lang="en-US" dirty="0" err="1"/>
              <a:t>JSONb</a:t>
            </a:r>
            <a:r>
              <a:rPr lang="en-US" dirty="0"/>
              <a:t> – Postgres specific</a:t>
            </a:r>
          </a:p>
        </p:txBody>
      </p:sp>
      <p:sp>
        <p:nvSpPr>
          <p:cNvPr id="5" name="TextBox 4">
            <a:extLst>
              <a:ext uri="{FF2B5EF4-FFF2-40B4-BE49-F238E27FC236}">
                <a16:creationId xmlns:a16="http://schemas.microsoft.com/office/drawing/2014/main" id="{4A6AE139-5B91-ECC7-20A0-829DBC4059C3}"/>
              </a:ext>
            </a:extLst>
          </p:cNvPr>
          <p:cNvSpPr txBox="1"/>
          <p:nvPr/>
        </p:nvSpPr>
        <p:spPr>
          <a:xfrm>
            <a:off x="2552700" y="2570968"/>
            <a:ext cx="7086600" cy="1198875"/>
          </a:xfrm>
          <a:prstGeom prst="rect">
            <a:avLst/>
          </a:prstGeom>
          <a:noFill/>
          <a:ln w="0">
            <a:noFill/>
          </a:ln>
        </p:spPr>
        <p:txBody>
          <a:bodyPr lIns="90000" tIns="45000" rIns="90000" bIns="45000" anchor="t" anchorCtr="1">
            <a:spAutoFit/>
          </a:bodyPr>
          <a:lstStyle/>
          <a:p>
            <a:pPr algn="ctr"/>
            <a:r>
              <a:rPr lang="en-US" sz="1800" b="0" u="none" strike="noStrike" dirty="0">
                <a:effectLst/>
                <a:uFillTx/>
                <a:latin typeface="Arial"/>
              </a:rPr>
              <a:t>Even though we also have a JSON datatype, JSONB is the preferred datatype most often for </a:t>
            </a:r>
            <a:r>
              <a:rPr lang="en-US" sz="1800" b="0" u="none" strike="noStrike" dirty="0" err="1">
                <a:effectLst/>
                <a:uFillTx/>
                <a:latin typeface="Arial"/>
              </a:rPr>
              <a:t>json</a:t>
            </a:r>
            <a:r>
              <a:rPr lang="en-US" sz="1800" b="0" u="none" strike="noStrike" dirty="0">
                <a:effectLst/>
                <a:uFillTx/>
                <a:latin typeface="Arial"/>
              </a:rPr>
              <a:t>.</a:t>
            </a:r>
          </a:p>
          <a:p>
            <a:endParaRPr lang="en-US" sz="1800" b="0" u="none" strike="noStrike" dirty="0">
              <a:effectLst/>
              <a:uFillTx/>
              <a:latin typeface="Arial"/>
            </a:endParaRPr>
          </a:p>
          <a:p>
            <a:r>
              <a:rPr lang="en-US" sz="1800" b="0" u="none" strike="noStrike" dirty="0">
                <a:effectLst/>
                <a:uFillTx/>
                <a:latin typeface="Arial"/>
              </a:rPr>
              <a:t>It stores decomposed binary </a:t>
            </a:r>
            <a:r>
              <a:rPr lang="en-US" sz="1800" b="0" u="none" strike="noStrike" dirty="0" err="1">
                <a:effectLst/>
                <a:uFillTx/>
                <a:latin typeface="Arial"/>
              </a:rPr>
              <a:t>json</a:t>
            </a:r>
            <a:r>
              <a:rPr lang="en-US" sz="1800" b="0" u="none" strike="noStrike" dirty="0">
                <a:effectLst/>
                <a:uFillTx/>
                <a:latin typeface="Arial"/>
              </a:rPr>
              <a:t> which is ideal for query speeds</a:t>
            </a:r>
          </a:p>
        </p:txBody>
      </p:sp>
      <p:sp>
        <p:nvSpPr>
          <p:cNvPr id="7" name="TextBox 6">
            <a:extLst>
              <a:ext uri="{FF2B5EF4-FFF2-40B4-BE49-F238E27FC236}">
                <a16:creationId xmlns:a16="http://schemas.microsoft.com/office/drawing/2014/main" id="{0321E8EC-D559-8213-E0F6-09682BA1DA96}"/>
              </a:ext>
            </a:extLst>
          </p:cNvPr>
          <p:cNvSpPr txBox="1"/>
          <p:nvPr/>
        </p:nvSpPr>
        <p:spPr>
          <a:xfrm>
            <a:off x="2975452" y="4173530"/>
            <a:ext cx="6788585" cy="1352763"/>
          </a:xfrm>
          <a:prstGeom prst="rect">
            <a:avLst/>
          </a:prstGeom>
          <a:noFill/>
          <a:ln w="0">
            <a:noFill/>
          </a:ln>
        </p:spPr>
        <p:txBody>
          <a:bodyPr wrap="square" lIns="90000" tIns="45000" rIns="90000" bIns="45000" anchor="t">
            <a:spAutoFit/>
          </a:bodyPr>
          <a:lstStyle/>
          <a:p>
            <a:r>
              <a:rPr lang="en-US" sz="1100" b="0" u="none" strike="noStrike" dirty="0">
                <a:effectLst/>
                <a:uFillTx/>
                <a:latin typeface="Arial"/>
              </a:rPr>
              <a:t>ALTER TABLE customer ADD COLUMN attributes JSONB;</a:t>
            </a:r>
          </a:p>
          <a:p>
            <a:pPr>
              <a:lnSpc>
                <a:spcPct val="100000"/>
              </a:lnSpc>
              <a:spcBef>
                <a:spcPts val="57"/>
              </a:spcBef>
            </a:pPr>
            <a:r>
              <a:rPr lang="en-US" sz="1100" b="0" u="none" strike="noStrike" dirty="0">
                <a:effectLst/>
                <a:uFillTx/>
                <a:latin typeface="Arial"/>
              </a:rPr>
              <a:t>INSERT INTO customer (</a:t>
            </a:r>
            <a:r>
              <a:rPr lang="en-US" sz="1100" b="0" u="none" strike="noStrike" dirty="0" err="1">
                <a:effectLst/>
                <a:uFillTx/>
                <a:latin typeface="Arial"/>
              </a:rPr>
              <a:t>customer_id</a:t>
            </a:r>
            <a:r>
              <a:rPr lang="en-US" sz="1100" b="0" u="none" strike="noStrike" dirty="0">
                <a:effectLst/>
                <a:uFillTx/>
                <a:latin typeface="Arial"/>
              </a:rPr>
              <a:t>, email, </a:t>
            </a:r>
            <a:r>
              <a:rPr lang="en-US" sz="1100" b="0" u="none" strike="noStrike" dirty="0" err="1">
                <a:effectLst/>
                <a:uFillTx/>
                <a:latin typeface="Arial"/>
              </a:rPr>
              <a:t>first_name</a:t>
            </a:r>
            <a:r>
              <a:rPr lang="en-US" sz="1100" b="0" u="none" strike="noStrike" dirty="0">
                <a:effectLst/>
                <a:uFillTx/>
                <a:latin typeface="Arial"/>
              </a:rPr>
              <a:t>, </a:t>
            </a:r>
            <a:r>
              <a:rPr lang="en-US" sz="1100" b="0" u="none" strike="noStrike" dirty="0" err="1">
                <a:effectLst/>
                <a:uFillTx/>
                <a:latin typeface="Arial"/>
              </a:rPr>
              <a:t>last_name</a:t>
            </a:r>
            <a:r>
              <a:rPr lang="en-US" sz="1100" b="0" u="none" strike="noStrike" dirty="0">
                <a:effectLst/>
                <a:uFillTx/>
                <a:latin typeface="Arial"/>
              </a:rPr>
              <a:t>, attributes) VALUES</a:t>
            </a:r>
          </a:p>
          <a:p>
            <a:pPr>
              <a:lnSpc>
                <a:spcPct val="100000"/>
              </a:lnSpc>
              <a:spcBef>
                <a:spcPts val="57"/>
              </a:spcBef>
            </a:pPr>
            <a:r>
              <a:rPr lang="en-US" sz="1100" b="0" u="none" strike="noStrike" dirty="0">
                <a:effectLst/>
                <a:uFillTx/>
                <a:latin typeface="Arial"/>
              </a:rPr>
              <a:t>(60, 'alice@a.com', 'Alice', 'A', '{"segment":"enterprise","region":"us","</a:t>
            </a:r>
            <a:r>
              <a:rPr lang="en-US" sz="1100" b="0" u="none" strike="noStrike" dirty="0" err="1">
                <a:effectLst/>
                <a:uFillTx/>
                <a:latin typeface="Arial"/>
              </a:rPr>
              <a:t>vip</a:t>
            </a:r>
            <a:r>
              <a:rPr lang="en-US" sz="1100" b="0" u="none" strike="noStrike" dirty="0">
                <a:effectLst/>
                <a:uFillTx/>
                <a:latin typeface="Arial"/>
              </a:rPr>
              <a:t>":</a:t>
            </a:r>
            <a:r>
              <a:rPr lang="en-US" sz="1100" b="0" u="none" strike="noStrike" dirty="0" err="1">
                <a:effectLst/>
                <a:uFillTx/>
                <a:latin typeface="Arial"/>
              </a:rPr>
              <a:t>true,"marketing</a:t>
            </a:r>
            <a:r>
              <a:rPr lang="en-US" sz="1100" b="0" u="none" strike="noStrike" dirty="0">
                <a:effectLst/>
                <a:uFillTx/>
                <a:latin typeface="Arial"/>
              </a:rPr>
              <a:t>":{"</a:t>
            </a:r>
            <a:r>
              <a:rPr lang="en-US" sz="1100" b="0" u="none" strike="noStrike" dirty="0" err="1">
                <a:effectLst/>
                <a:uFillTx/>
                <a:latin typeface="Arial"/>
              </a:rPr>
              <a:t>email":true</a:t>
            </a:r>
            <a:r>
              <a:rPr lang="en-US" sz="1100" b="0" u="none" strike="noStrike" dirty="0">
                <a:effectLst/>
                <a:uFillTx/>
                <a:latin typeface="Arial"/>
              </a:rPr>
              <a:t>}}'),</a:t>
            </a:r>
          </a:p>
          <a:p>
            <a:pPr>
              <a:lnSpc>
                <a:spcPct val="100000"/>
              </a:lnSpc>
              <a:spcBef>
                <a:spcPts val="57"/>
              </a:spcBef>
            </a:pPr>
            <a:r>
              <a:rPr lang="en-US" sz="1100" b="0" u="none" strike="noStrike" dirty="0">
                <a:effectLst/>
                <a:uFillTx/>
                <a:latin typeface="Arial"/>
              </a:rPr>
              <a:t>(61, 'bob@b.com', 'Bob', 'B', '{"segment":"</a:t>
            </a:r>
            <a:r>
              <a:rPr lang="en-US" sz="1100" b="0" u="none" strike="noStrike" dirty="0" err="1">
                <a:effectLst/>
                <a:uFillTx/>
                <a:latin typeface="Arial"/>
              </a:rPr>
              <a:t>smb</a:t>
            </a:r>
            <a:r>
              <a:rPr lang="en-US" sz="1100" b="0" u="none" strike="noStrike" dirty="0">
                <a:effectLst/>
                <a:uFillTx/>
                <a:latin typeface="Arial"/>
              </a:rPr>
              <a:t>","region":"</a:t>
            </a:r>
            <a:r>
              <a:rPr lang="en-US" sz="1100" b="0" u="none" strike="noStrike" dirty="0" err="1">
                <a:effectLst/>
                <a:uFillTx/>
                <a:latin typeface="Arial"/>
              </a:rPr>
              <a:t>eu</a:t>
            </a:r>
            <a:r>
              <a:rPr lang="en-US" sz="1100" b="0" u="none" strike="noStrike" dirty="0">
                <a:effectLst/>
                <a:uFillTx/>
                <a:latin typeface="Arial"/>
              </a:rPr>
              <a:t>","</a:t>
            </a:r>
            <a:r>
              <a:rPr lang="en-US" sz="1100" b="0" u="none" strike="noStrike" dirty="0" err="1">
                <a:effectLst/>
                <a:uFillTx/>
                <a:latin typeface="Arial"/>
              </a:rPr>
              <a:t>vip</a:t>
            </a:r>
            <a:r>
              <a:rPr lang="en-US" sz="1100" b="0" u="none" strike="noStrike" dirty="0">
                <a:effectLst/>
                <a:uFillTx/>
                <a:latin typeface="Arial"/>
              </a:rPr>
              <a:t>":</a:t>
            </a:r>
            <a:r>
              <a:rPr lang="en-US" sz="1100" b="0" u="none" strike="noStrike" dirty="0" err="1">
                <a:effectLst/>
                <a:uFillTx/>
                <a:latin typeface="Arial"/>
              </a:rPr>
              <a:t>false,"marketing</a:t>
            </a:r>
            <a:r>
              <a:rPr lang="en-US" sz="1100" b="0" u="none" strike="noStrike" dirty="0">
                <a:effectLst/>
                <a:uFillTx/>
                <a:latin typeface="Arial"/>
              </a:rPr>
              <a:t>":{"</a:t>
            </a:r>
            <a:r>
              <a:rPr lang="en-US" sz="1100" b="0" u="none" strike="noStrike" dirty="0" err="1">
                <a:effectLst/>
                <a:uFillTx/>
                <a:latin typeface="Arial"/>
              </a:rPr>
              <a:t>email":false</a:t>
            </a:r>
            <a:r>
              <a:rPr lang="en-US" sz="1100" b="0" u="none" strike="noStrike" dirty="0">
                <a:effectLst/>
                <a:uFillTx/>
                <a:latin typeface="Arial"/>
              </a:rPr>
              <a:t>}}'),</a:t>
            </a:r>
          </a:p>
          <a:p>
            <a:pPr>
              <a:lnSpc>
                <a:spcPct val="100000"/>
              </a:lnSpc>
              <a:spcBef>
                <a:spcPts val="57"/>
              </a:spcBef>
            </a:pPr>
            <a:r>
              <a:rPr lang="en-US" sz="1100" b="0" u="none" strike="noStrike" dirty="0">
                <a:effectLst/>
                <a:uFillTx/>
                <a:latin typeface="Arial"/>
              </a:rPr>
              <a:t>(62, 'carol@c.com', 'Carol', 'C', '{"segment":"enterprise","region":"us","</a:t>
            </a:r>
            <a:r>
              <a:rPr lang="en-US" sz="1100" b="0" u="none" strike="noStrike" dirty="0" err="1">
                <a:effectLst/>
                <a:uFillTx/>
                <a:latin typeface="Arial"/>
              </a:rPr>
              <a:t>vip</a:t>
            </a:r>
            <a:r>
              <a:rPr lang="en-US" sz="1100" b="0" u="none" strike="noStrike" dirty="0">
                <a:effectLst/>
                <a:uFillTx/>
                <a:latin typeface="Arial"/>
              </a:rPr>
              <a:t>":</a:t>
            </a:r>
            <a:r>
              <a:rPr lang="en-US" sz="1100" b="0" u="none" strike="noStrike" dirty="0" err="1">
                <a:effectLst/>
                <a:uFillTx/>
                <a:latin typeface="Arial"/>
              </a:rPr>
              <a:t>false,"marketing</a:t>
            </a:r>
            <a:r>
              <a:rPr lang="en-US" sz="1100" b="0" u="none" strike="noStrike" dirty="0">
                <a:effectLst/>
                <a:uFillTx/>
                <a:latin typeface="Arial"/>
              </a:rPr>
              <a:t>":{"</a:t>
            </a:r>
            <a:r>
              <a:rPr lang="en-US" sz="1100" b="0" u="none" strike="noStrike" dirty="0" err="1">
                <a:effectLst/>
                <a:uFillTx/>
                <a:latin typeface="Arial"/>
              </a:rPr>
              <a:t>email":true</a:t>
            </a:r>
            <a:r>
              <a:rPr lang="en-US" sz="1100" b="0" u="none" strike="noStrike" dirty="0">
                <a:effectLst/>
                <a:uFillTx/>
                <a:latin typeface="Arial"/>
              </a:rPr>
              <a:t>}}'),</a:t>
            </a:r>
          </a:p>
          <a:p>
            <a:pPr>
              <a:lnSpc>
                <a:spcPct val="100000"/>
              </a:lnSpc>
              <a:spcBef>
                <a:spcPts val="57"/>
              </a:spcBef>
            </a:pPr>
            <a:r>
              <a:rPr lang="en-US" sz="1100" b="0" u="none" strike="noStrike" dirty="0">
                <a:effectLst/>
                <a:uFillTx/>
                <a:latin typeface="Arial"/>
              </a:rPr>
              <a:t>(63, 'dave@d.com', 'Dave', 'D', '{"segment":"</a:t>
            </a:r>
            <a:r>
              <a:rPr lang="en-US" sz="1100" b="0" u="none" strike="noStrike" dirty="0" err="1">
                <a:effectLst/>
                <a:uFillTx/>
                <a:latin typeface="Arial"/>
              </a:rPr>
              <a:t>smb</a:t>
            </a:r>
            <a:r>
              <a:rPr lang="en-US" sz="1100" b="0" u="none" strike="noStrike" dirty="0">
                <a:effectLst/>
                <a:uFillTx/>
                <a:latin typeface="Arial"/>
              </a:rPr>
              <a:t>","region":"us","</a:t>
            </a:r>
            <a:r>
              <a:rPr lang="en-US" sz="1100" b="0" u="none" strike="noStrike" dirty="0" err="1">
                <a:effectLst/>
                <a:uFillTx/>
                <a:latin typeface="Arial"/>
              </a:rPr>
              <a:t>vip</a:t>
            </a:r>
            <a:r>
              <a:rPr lang="en-US" sz="1100" b="0" u="none" strike="noStrike" dirty="0">
                <a:effectLst/>
                <a:uFillTx/>
                <a:latin typeface="Arial"/>
              </a:rPr>
              <a:t>":</a:t>
            </a:r>
            <a:r>
              <a:rPr lang="en-US" sz="1100" b="0" u="none" strike="noStrike" dirty="0" err="1">
                <a:effectLst/>
                <a:uFillTx/>
                <a:latin typeface="Arial"/>
              </a:rPr>
              <a:t>true,"marketing</a:t>
            </a:r>
            <a:r>
              <a:rPr lang="en-US" sz="1100" b="0" u="none" strike="noStrike" dirty="0">
                <a:effectLst/>
                <a:uFillTx/>
                <a:latin typeface="Arial"/>
              </a:rPr>
              <a:t>":{"</a:t>
            </a:r>
            <a:r>
              <a:rPr lang="en-US" sz="1100" b="0" u="none" strike="noStrike" dirty="0" err="1">
                <a:effectLst/>
                <a:uFillTx/>
                <a:latin typeface="Arial"/>
              </a:rPr>
              <a:t>email":false</a:t>
            </a:r>
            <a:r>
              <a:rPr lang="en-US" sz="1100" b="0" u="none" strike="noStrike" dirty="0">
                <a:effectLst/>
                <a:uFillTx/>
                <a:latin typeface="Arial"/>
              </a:rPr>
              <a:t>}}'),</a:t>
            </a:r>
          </a:p>
          <a:p>
            <a:pPr>
              <a:lnSpc>
                <a:spcPct val="100000"/>
              </a:lnSpc>
              <a:spcBef>
                <a:spcPts val="57"/>
              </a:spcBef>
            </a:pPr>
            <a:r>
              <a:rPr lang="en-US" sz="1100" b="0" u="none" strike="noStrike" dirty="0">
                <a:effectLst/>
                <a:uFillTx/>
                <a:latin typeface="Arial"/>
              </a:rPr>
              <a:t>(64, 'eve@e.com', 'Eve', 'E', '{"segment":"startup","region":"</a:t>
            </a:r>
            <a:r>
              <a:rPr lang="en-US" sz="1100" b="0" u="none" strike="noStrike" dirty="0" err="1">
                <a:effectLst/>
                <a:uFillTx/>
                <a:latin typeface="Arial"/>
              </a:rPr>
              <a:t>apac</a:t>
            </a:r>
            <a:r>
              <a:rPr lang="en-US" sz="1100" b="0" u="none" strike="noStrike" dirty="0">
                <a:effectLst/>
                <a:uFillTx/>
                <a:latin typeface="Arial"/>
              </a:rPr>
              <a:t>","</a:t>
            </a:r>
            <a:r>
              <a:rPr lang="en-US" sz="1100" b="0" u="none" strike="noStrike" dirty="0" err="1">
                <a:effectLst/>
                <a:uFillTx/>
                <a:latin typeface="Arial"/>
              </a:rPr>
              <a:t>vip</a:t>
            </a:r>
            <a:r>
              <a:rPr lang="en-US" sz="1100" b="0" u="none" strike="noStrike" dirty="0">
                <a:effectLst/>
                <a:uFillTx/>
                <a:latin typeface="Arial"/>
              </a:rPr>
              <a:t>":</a:t>
            </a:r>
            <a:r>
              <a:rPr lang="en-US" sz="1100" b="0" u="none" strike="noStrike" dirty="0" err="1">
                <a:effectLst/>
                <a:uFillTx/>
                <a:latin typeface="Arial"/>
              </a:rPr>
              <a:t>false,"marketing</a:t>
            </a:r>
            <a:r>
              <a:rPr lang="en-US" sz="1100" b="0" u="none" strike="noStrike" dirty="0">
                <a:effectLst/>
                <a:uFillTx/>
                <a:latin typeface="Arial"/>
              </a:rPr>
              <a:t>":{"</a:t>
            </a:r>
            <a:r>
              <a:rPr lang="en-US" sz="1100" b="0" u="none" strike="noStrike" dirty="0" err="1">
                <a:effectLst/>
                <a:uFillTx/>
                <a:latin typeface="Arial"/>
              </a:rPr>
              <a:t>email":true</a:t>
            </a:r>
            <a:r>
              <a:rPr lang="en-US" sz="1100" b="0" u="none" strike="noStrike" dirty="0">
                <a:effectLst/>
                <a:uFillTx/>
                <a:latin typeface="Arial"/>
              </a:rPr>
              <a:t>}}');</a:t>
            </a:r>
          </a:p>
        </p:txBody>
      </p:sp>
      <p:sp>
        <p:nvSpPr>
          <p:cNvPr id="4" name="Rectangle 3">
            <a:extLst>
              <a:ext uri="{FF2B5EF4-FFF2-40B4-BE49-F238E27FC236}">
                <a16:creationId xmlns:a16="http://schemas.microsoft.com/office/drawing/2014/main" id="{C457C3DD-E641-396D-4FDD-174C4323C816}"/>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78744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F2D4D-9533-9A92-F2F5-6B46316B7A1A}"/>
              </a:ext>
            </a:extLst>
          </p:cNvPr>
          <p:cNvSpPr>
            <a:spLocks noGrp="1"/>
          </p:cNvSpPr>
          <p:nvPr>
            <p:ph type="title"/>
          </p:nvPr>
        </p:nvSpPr>
        <p:spPr/>
        <p:txBody>
          <a:bodyPr/>
          <a:lstStyle/>
          <a:p>
            <a:r>
              <a:rPr lang="en-US" dirty="0"/>
              <a:t>JSONB - Containment Queries</a:t>
            </a:r>
          </a:p>
        </p:txBody>
      </p:sp>
      <p:sp>
        <p:nvSpPr>
          <p:cNvPr id="5" name="TextBox 4">
            <a:extLst>
              <a:ext uri="{FF2B5EF4-FFF2-40B4-BE49-F238E27FC236}">
                <a16:creationId xmlns:a16="http://schemas.microsoft.com/office/drawing/2014/main" id="{5EC94DB3-0728-5CBF-AD48-59ED4D0316A7}"/>
              </a:ext>
            </a:extLst>
          </p:cNvPr>
          <p:cNvSpPr txBox="1"/>
          <p:nvPr/>
        </p:nvSpPr>
        <p:spPr>
          <a:xfrm>
            <a:off x="2789338" y="2411260"/>
            <a:ext cx="6939000" cy="3399477"/>
          </a:xfrm>
          <a:prstGeom prst="rect">
            <a:avLst/>
          </a:prstGeom>
          <a:noFill/>
          <a:ln w="0">
            <a:noFill/>
          </a:ln>
        </p:spPr>
        <p:txBody>
          <a:bodyPr lIns="90000" tIns="45000" rIns="90000" bIns="45000" anchor="t">
            <a:spAutoFit/>
          </a:bodyPr>
          <a:lstStyle/>
          <a:p>
            <a:pPr>
              <a:lnSpc>
                <a:spcPct val="100000"/>
              </a:lnSpc>
              <a:spcBef>
                <a:spcPts val="340"/>
              </a:spcBef>
              <a:spcAft>
                <a:spcPts val="142"/>
              </a:spcAft>
            </a:pPr>
            <a:r>
              <a:rPr lang="en-US" sz="1000" b="0" u="none" strike="noStrike" dirty="0">
                <a:solidFill>
                  <a:schemeClr val="accent2"/>
                </a:solidFill>
                <a:effectLst/>
                <a:uFillTx/>
                <a:latin typeface="Arial"/>
              </a:rPr>
              <a:t>@&gt; checks if the multivalued column contains the specified multivalued structure. </a:t>
            </a:r>
          </a:p>
          <a:p>
            <a:pPr>
              <a:lnSpc>
                <a:spcPct val="100000"/>
              </a:lnSpc>
              <a:spcBef>
                <a:spcPts val="340"/>
              </a:spcBef>
              <a:spcAft>
                <a:spcPts val="142"/>
              </a:spcAft>
            </a:pPr>
            <a:r>
              <a:rPr lang="en-US" sz="1000" b="0" u="none" strike="noStrike" dirty="0">
                <a:solidFill>
                  <a:schemeClr val="accent2"/>
                </a:solidFill>
                <a:effectLst/>
                <a:uFillTx/>
                <a:latin typeface="Arial"/>
              </a:rPr>
              <a:t>-- Every element to the right is present to the item on the left. The left item may have more.</a:t>
            </a:r>
          </a:p>
          <a:p>
            <a:pPr>
              <a:lnSpc>
                <a:spcPct val="100000"/>
              </a:lnSpc>
              <a:spcBef>
                <a:spcPts val="340"/>
              </a:spcBef>
              <a:spcAft>
                <a:spcPts val="142"/>
              </a:spcAft>
            </a:pPr>
            <a:r>
              <a:rPr lang="en-US" sz="1000" b="0" u="none" strike="noStrike" dirty="0">
                <a:effectLst/>
                <a:uFillTx/>
                <a:latin typeface="Arial"/>
              </a:rPr>
              <a:t>-- Example: Find customers in the "enterprise" segment.</a:t>
            </a:r>
          </a:p>
          <a:p>
            <a:pPr>
              <a:lnSpc>
                <a:spcPts val="865"/>
              </a:lnSpc>
              <a:spcBef>
                <a:spcPts val="57"/>
              </a:spcBef>
            </a:pPr>
            <a:r>
              <a:rPr lang="en-US" sz="1000" b="0" u="none" strike="noStrike" dirty="0">
                <a:effectLst/>
                <a:uFillTx/>
                <a:latin typeface="Arial"/>
              </a:rPr>
              <a:t>SELECT * </a:t>
            </a:r>
          </a:p>
          <a:p>
            <a:pPr>
              <a:lnSpc>
                <a:spcPts val="865"/>
              </a:lnSpc>
              <a:spcBef>
                <a:spcPts val="57"/>
              </a:spcBef>
            </a:pPr>
            <a:r>
              <a:rPr lang="en-US" sz="1000" b="0" u="none" strike="noStrike" dirty="0">
                <a:effectLst/>
                <a:uFillTx/>
                <a:latin typeface="Arial"/>
              </a:rPr>
              <a:t>FROM customer</a:t>
            </a:r>
          </a:p>
          <a:p>
            <a:pPr>
              <a:lnSpc>
                <a:spcPts val="865"/>
              </a:lnSpc>
              <a:spcBef>
                <a:spcPts val="57"/>
              </a:spcBef>
            </a:pPr>
            <a:r>
              <a:rPr lang="en-US" sz="1000" b="0" u="none" strike="noStrike" dirty="0">
                <a:effectLst/>
                <a:uFillTx/>
                <a:latin typeface="Arial"/>
              </a:rPr>
              <a:t>WHERE attributes @&gt; '{"</a:t>
            </a:r>
            <a:r>
              <a:rPr lang="en-US" sz="1000" b="0" u="none" strike="noStrike" dirty="0" err="1">
                <a:effectLst/>
                <a:uFillTx/>
                <a:latin typeface="Arial"/>
              </a:rPr>
              <a:t>segment":"enterprise</a:t>
            </a:r>
            <a:r>
              <a:rPr lang="en-US" sz="1000" b="0" u="none" strike="noStrike" dirty="0">
                <a:effectLst/>
                <a:uFillTx/>
                <a:latin typeface="Arial"/>
              </a:rPr>
              <a:t>"}';</a:t>
            </a:r>
          </a:p>
          <a:p>
            <a:pPr>
              <a:lnSpc>
                <a:spcPts val="865"/>
              </a:lnSpc>
              <a:spcBef>
                <a:spcPts val="57"/>
              </a:spcBef>
            </a:pPr>
            <a:endParaRPr lang="en-US" sz="1000" b="0" u="none" strike="noStrike" dirty="0">
              <a:effectLst/>
              <a:uFillTx/>
              <a:latin typeface="Arial"/>
            </a:endParaRPr>
          </a:p>
          <a:p>
            <a:pPr>
              <a:lnSpc>
                <a:spcPct val="100000"/>
              </a:lnSpc>
              <a:spcBef>
                <a:spcPts val="340"/>
              </a:spcBef>
              <a:spcAft>
                <a:spcPts val="283"/>
              </a:spcAft>
            </a:pPr>
            <a:r>
              <a:rPr lang="en-US" sz="1000" b="0" u="none" strike="noStrike" dirty="0">
                <a:solidFill>
                  <a:schemeClr val="accent2"/>
                </a:solidFill>
                <a:effectLst/>
                <a:uFillTx/>
                <a:latin typeface="Arial"/>
                <a:ea typeface="Noto Sans CJK SC"/>
              </a:rPr>
              <a:t>&lt;@ checks if the multivalued column is fully contained within the specified </a:t>
            </a:r>
            <a:r>
              <a:rPr lang="en-US" sz="1000" b="0" u="none" strike="noStrike" dirty="0">
                <a:solidFill>
                  <a:schemeClr val="accent2"/>
                </a:solidFill>
                <a:effectLst/>
                <a:uFillTx/>
                <a:latin typeface="Arial"/>
              </a:rPr>
              <a:t>multivalued structure. </a:t>
            </a:r>
          </a:p>
          <a:p>
            <a:pPr>
              <a:lnSpc>
                <a:spcPct val="100000"/>
              </a:lnSpc>
              <a:spcBef>
                <a:spcPts val="340"/>
              </a:spcBef>
              <a:spcAft>
                <a:spcPts val="283"/>
              </a:spcAft>
            </a:pPr>
            <a:r>
              <a:rPr lang="en-US" sz="1000" b="0" u="none" strike="noStrike" dirty="0">
                <a:solidFill>
                  <a:schemeClr val="accent2"/>
                </a:solidFill>
                <a:effectLst/>
                <a:uFillTx/>
                <a:latin typeface="Arial"/>
              </a:rPr>
              <a:t>-- Every element in left is present on the right side. The right side could have more stuff.</a:t>
            </a:r>
          </a:p>
          <a:p>
            <a:pPr>
              <a:lnSpc>
                <a:spcPct val="100000"/>
              </a:lnSpc>
              <a:spcBef>
                <a:spcPts val="340"/>
              </a:spcBef>
              <a:spcAft>
                <a:spcPts val="283"/>
              </a:spcAft>
            </a:pPr>
            <a:r>
              <a:rPr lang="en-US" sz="1000" b="0" u="none" strike="noStrike" dirty="0">
                <a:effectLst/>
                <a:uFillTx/>
                <a:latin typeface="Arial"/>
              </a:rPr>
              <a:t>-- Example: Find all enterprise customers in the US. (but they may have more attributes beyond that)</a:t>
            </a:r>
          </a:p>
          <a:p>
            <a:pPr>
              <a:lnSpc>
                <a:spcPct val="100000"/>
              </a:lnSpc>
            </a:pPr>
            <a:r>
              <a:rPr lang="en-US" sz="1000" b="0" u="none" strike="noStrike" dirty="0">
                <a:effectLst/>
                <a:uFillTx/>
                <a:latin typeface="Arial"/>
              </a:rPr>
              <a:t>SELECT * </a:t>
            </a:r>
          </a:p>
          <a:p>
            <a:pPr>
              <a:lnSpc>
                <a:spcPct val="100000"/>
              </a:lnSpc>
            </a:pPr>
            <a:r>
              <a:rPr lang="en-US" sz="1000" b="0" u="none" strike="noStrike" dirty="0">
                <a:effectLst/>
                <a:uFillTx/>
                <a:latin typeface="Arial"/>
              </a:rPr>
              <a:t>FROM customer</a:t>
            </a:r>
          </a:p>
          <a:p>
            <a:pPr>
              <a:lnSpc>
                <a:spcPct val="100000"/>
              </a:lnSpc>
            </a:pPr>
            <a:r>
              <a:rPr lang="en-US" sz="1000" b="0" u="none" strike="noStrike" dirty="0">
                <a:effectLst/>
                <a:uFillTx/>
                <a:latin typeface="Arial"/>
              </a:rPr>
              <a:t>WHERE '{"</a:t>
            </a:r>
            <a:r>
              <a:rPr lang="en-US" sz="1000" b="0" u="none" strike="noStrike" dirty="0" err="1">
                <a:effectLst/>
                <a:uFillTx/>
                <a:latin typeface="Arial"/>
              </a:rPr>
              <a:t>segment":"enterprise","region":"us</a:t>
            </a:r>
            <a:r>
              <a:rPr lang="en-US" sz="1000" b="0" u="none" strike="noStrike" dirty="0">
                <a:effectLst/>
                <a:uFillTx/>
                <a:latin typeface="Arial"/>
              </a:rPr>
              <a:t>"}' &lt;@ attributes;</a:t>
            </a:r>
          </a:p>
          <a:p>
            <a:pPr>
              <a:lnSpc>
                <a:spcPct val="100000"/>
              </a:lnSpc>
              <a:spcBef>
                <a:spcPts val="624"/>
              </a:spcBef>
              <a:spcAft>
                <a:spcPts val="425"/>
              </a:spcAft>
            </a:pPr>
            <a:r>
              <a:rPr lang="en-US" sz="1000" b="0" u="none" strike="noStrike" dirty="0">
                <a:solidFill>
                  <a:schemeClr val="accent2"/>
                </a:solidFill>
                <a:effectLst/>
                <a:uFillTx/>
                <a:latin typeface="Arial"/>
                <a:ea typeface="Noto Sans CJK SC"/>
              </a:rPr>
              <a:t>&amp;&amp; checks if there is any overlap between the multivalued column and the specified multivalued</a:t>
            </a:r>
            <a:r>
              <a:rPr lang="en-US" sz="1000" b="0" u="none" strike="noStrike" dirty="0">
                <a:solidFill>
                  <a:schemeClr val="accent2"/>
                </a:solidFill>
                <a:effectLst/>
                <a:uFillTx/>
                <a:latin typeface="Arial"/>
              </a:rPr>
              <a:t> structure.</a:t>
            </a:r>
          </a:p>
          <a:p>
            <a:pPr>
              <a:lnSpc>
                <a:spcPct val="100000"/>
              </a:lnSpc>
              <a:spcBef>
                <a:spcPts val="624"/>
              </a:spcBef>
              <a:spcAft>
                <a:spcPts val="425"/>
              </a:spcAft>
            </a:pPr>
            <a:r>
              <a:rPr lang="en-US" sz="1000" b="0" u="none" strike="noStrike" dirty="0">
                <a:effectLst/>
                <a:uFillTx/>
                <a:latin typeface="Arial"/>
              </a:rPr>
              <a:t>-- Example: Find rows with at least one matching attribute.</a:t>
            </a:r>
          </a:p>
          <a:p>
            <a:pPr>
              <a:lnSpc>
                <a:spcPct val="100000"/>
              </a:lnSpc>
              <a:spcBef>
                <a:spcPts val="57"/>
              </a:spcBef>
            </a:pPr>
            <a:r>
              <a:rPr lang="en-US" sz="1000" b="0" u="none" strike="noStrike" dirty="0">
                <a:effectLst/>
                <a:uFillTx/>
                <a:latin typeface="Arial"/>
              </a:rPr>
              <a:t>SELECT * </a:t>
            </a:r>
          </a:p>
          <a:p>
            <a:pPr>
              <a:lnSpc>
                <a:spcPct val="100000"/>
              </a:lnSpc>
              <a:spcBef>
                <a:spcPts val="57"/>
              </a:spcBef>
            </a:pPr>
            <a:r>
              <a:rPr lang="en-US" sz="1000" b="0" u="none" strike="noStrike" dirty="0">
                <a:effectLst/>
                <a:uFillTx/>
                <a:latin typeface="Arial"/>
              </a:rPr>
              <a:t>FROM customer</a:t>
            </a:r>
          </a:p>
          <a:p>
            <a:pPr>
              <a:lnSpc>
                <a:spcPct val="100000"/>
              </a:lnSpc>
              <a:spcBef>
                <a:spcPts val="57"/>
              </a:spcBef>
            </a:pPr>
            <a:r>
              <a:rPr lang="en-US" sz="1000" b="0" u="none" strike="noStrike" dirty="0">
                <a:effectLst/>
                <a:uFillTx/>
                <a:latin typeface="Arial"/>
              </a:rPr>
              <a:t>WHERE attributes &amp;&amp; '{"segment":"enterprise","</a:t>
            </a:r>
            <a:r>
              <a:rPr lang="en-US" sz="1000" b="0" u="none" strike="noStrike" dirty="0" err="1">
                <a:effectLst/>
                <a:uFillTx/>
                <a:latin typeface="Arial"/>
              </a:rPr>
              <a:t>vip</a:t>
            </a:r>
            <a:r>
              <a:rPr lang="en-US" sz="1000" b="0" u="none" strike="noStrike" dirty="0">
                <a:effectLst/>
                <a:uFillTx/>
                <a:latin typeface="Arial"/>
              </a:rPr>
              <a:t>":true}';</a:t>
            </a:r>
          </a:p>
        </p:txBody>
      </p:sp>
      <p:sp>
        <p:nvSpPr>
          <p:cNvPr id="4" name="Rectangle 3">
            <a:extLst>
              <a:ext uri="{FF2B5EF4-FFF2-40B4-BE49-F238E27FC236}">
                <a16:creationId xmlns:a16="http://schemas.microsoft.com/office/drawing/2014/main" id="{A8C74A8C-338C-9433-BCCB-D27F748526B0}"/>
              </a:ext>
            </a:extLst>
          </p:cNvPr>
          <p:cNvSpPr/>
          <p:nvPr/>
        </p:nvSpPr>
        <p:spPr>
          <a:xfrm>
            <a:off x="10674981" y="927100"/>
            <a:ext cx="735969" cy="57150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26927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741DD-8A72-0F8B-80F3-C1A61E38D36F}"/>
              </a:ext>
            </a:extLst>
          </p:cNvPr>
          <p:cNvSpPr>
            <a:spLocks noGrp="1"/>
          </p:cNvSpPr>
          <p:nvPr>
            <p:ph type="title"/>
          </p:nvPr>
        </p:nvSpPr>
        <p:spPr/>
        <p:txBody>
          <a:bodyPr/>
          <a:lstStyle/>
          <a:p>
            <a:r>
              <a:rPr lang="en-US" dirty="0"/>
              <a:t>GIN – Generalized inverted index</a:t>
            </a:r>
          </a:p>
        </p:txBody>
      </p:sp>
      <p:sp>
        <p:nvSpPr>
          <p:cNvPr id="5" name="TextBox 4">
            <a:extLst>
              <a:ext uri="{FF2B5EF4-FFF2-40B4-BE49-F238E27FC236}">
                <a16:creationId xmlns:a16="http://schemas.microsoft.com/office/drawing/2014/main" id="{A03734EF-4391-9561-80A1-79572E95E2AF}"/>
              </a:ext>
            </a:extLst>
          </p:cNvPr>
          <p:cNvSpPr txBox="1"/>
          <p:nvPr/>
        </p:nvSpPr>
        <p:spPr>
          <a:xfrm>
            <a:off x="3050088" y="2884117"/>
            <a:ext cx="6400800" cy="2029871"/>
          </a:xfrm>
          <a:prstGeom prst="rect">
            <a:avLst/>
          </a:prstGeom>
          <a:noFill/>
          <a:ln w="0">
            <a:noFill/>
          </a:ln>
        </p:spPr>
        <p:txBody>
          <a:bodyPr lIns="90000" tIns="45000" rIns="90000" bIns="45000" anchor="t">
            <a:spAutoFit/>
          </a:bodyPr>
          <a:lstStyle/>
          <a:p>
            <a:r>
              <a:rPr lang="en-US" sz="1800" b="0" u="none" strike="noStrike" dirty="0">
                <a:effectLst/>
                <a:uFillTx/>
                <a:latin typeface="Arial"/>
              </a:rPr>
              <a:t>- GIN solves problems b-trees can’t handle.</a:t>
            </a:r>
          </a:p>
          <a:p>
            <a:r>
              <a:rPr lang="en-US" sz="1800" b="0" u="none" strike="noStrike" dirty="0">
                <a:effectLst/>
                <a:uFillTx/>
                <a:latin typeface="Arial"/>
              </a:rPr>
              <a:t>- query JSON, query array data, full text search</a:t>
            </a:r>
          </a:p>
          <a:p>
            <a:r>
              <a:rPr lang="en-US" sz="1800" b="0" u="none" strike="noStrike" dirty="0">
                <a:effectLst/>
                <a:uFillTx/>
                <a:latin typeface="Arial"/>
              </a:rPr>
              <a:t>- Improved performance when querying </a:t>
            </a:r>
            <a:r>
              <a:rPr lang="en-US" sz="1800" b="0" u="none" strike="noStrike" dirty="0" err="1">
                <a:effectLst/>
                <a:uFillTx/>
                <a:latin typeface="Arial"/>
              </a:rPr>
              <a:t>json</a:t>
            </a:r>
            <a:r>
              <a:rPr lang="en-US" sz="1800" b="0" u="none" strike="noStrike" dirty="0">
                <a:effectLst/>
                <a:uFillTx/>
                <a:latin typeface="Arial"/>
              </a:rPr>
              <a:t> or arrays</a:t>
            </a:r>
          </a:p>
          <a:p>
            <a:endParaRPr lang="en-US" sz="1800" b="0" u="none" strike="noStrike" dirty="0">
              <a:effectLst/>
              <a:uFillTx/>
              <a:latin typeface="Arial"/>
            </a:endParaRPr>
          </a:p>
          <a:p>
            <a:r>
              <a:rPr lang="en-US" sz="1800" b="0" u="none" strike="noStrike" dirty="0">
                <a:effectLst/>
                <a:uFillTx/>
                <a:latin typeface="Arial"/>
              </a:rPr>
              <a:t>CREATE INDEX </a:t>
            </a:r>
            <a:r>
              <a:rPr lang="en-US" sz="1800" b="0" u="none" strike="noStrike" dirty="0" err="1">
                <a:effectLst/>
                <a:uFillTx/>
                <a:latin typeface="Arial"/>
              </a:rPr>
              <a:t>idx_customer_attributes</a:t>
            </a:r>
            <a:endParaRPr lang="en-US" sz="1800" b="0" u="none" strike="noStrike" dirty="0">
              <a:effectLst/>
              <a:uFillTx/>
              <a:latin typeface="Arial"/>
            </a:endParaRPr>
          </a:p>
          <a:p>
            <a:r>
              <a:rPr lang="en-US" sz="1800" b="0" u="none" strike="noStrike" dirty="0">
                <a:effectLst/>
                <a:uFillTx/>
                <a:latin typeface="Arial"/>
              </a:rPr>
              <a:t>ON customer</a:t>
            </a:r>
          </a:p>
          <a:p>
            <a:r>
              <a:rPr lang="en-US" sz="1800" b="0" u="none" strike="noStrike" dirty="0">
                <a:effectLst/>
                <a:uFillTx/>
                <a:latin typeface="Arial"/>
              </a:rPr>
              <a:t>USING GIN (attributes);</a:t>
            </a:r>
          </a:p>
        </p:txBody>
      </p:sp>
    </p:spTree>
    <p:extLst>
      <p:ext uri="{BB962C8B-B14F-4D97-AF65-F5344CB8AC3E}">
        <p14:creationId xmlns:p14="http://schemas.microsoft.com/office/powerpoint/2010/main" val="7924800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42C8C-BA4F-A2B4-1E0F-0EA0D8C17010}"/>
              </a:ext>
            </a:extLst>
          </p:cNvPr>
          <p:cNvSpPr>
            <a:spLocks noGrp="1"/>
          </p:cNvSpPr>
          <p:nvPr>
            <p:ph type="title"/>
          </p:nvPr>
        </p:nvSpPr>
        <p:spPr/>
        <p:txBody>
          <a:bodyPr/>
          <a:lstStyle/>
          <a:p>
            <a:r>
              <a:rPr lang="en-US" dirty="0"/>
              <a:t>Gin – With arrays</a:t>
            </a:r>
          </a:p>
        </p:txBody>
      </p:sp>
      <p:sp>
        <p:nvSpPr>
          <p:cNvPr id="5" name="TextBox 4">
            <a:extLst>
              <a:ext uri="{FF2B5EF4-FFF2-40B4-BE49-F238E27FC236}">
                <a16:creationId xmlns:a16="http://schemas.microsoft.com/office/drawing/2014/main" id="{1F0B4E62-2721-6E8F-DA6C-36EA00A794A0}"/>
              </a:ext>
            </a:extLst>
          </p:cNvPr>
          <p:cNvSpPr txBox="1"/>
          <p:nvPr/>
        </p:nvSpPr>
        <p:spPr>
          <a:xfrm>
            <a:off x="3686232" y="2195186"/>
            <a:ext cx="5150880" cy="1847770"/>
          </a:xfrm>
          <a:prstGeom prst="rect">
            <a:avLst/>
          </a:prstGeom>
          <a:noFill/>
          <a:ln w="0">
            <a:noFill/>
          </a:ln>
        </p:spPr>
        <p:txBody>
          <a:bodyPr lIns="90000" tIns="45000" rIns="90000" bIns="45000" anchor="t">
            <a:spAutoFit/>
          </a:bodyPr>
          <a:lstStyle/>
          <a:p>
            <a:pPr>
              <a:lnSpc>
                <a:spcPct val="100000"/>
              </a:lnSpc>
              <a:spcBef>
                <a:spcPts val="340"/>
              </a:spcBef>
              <a:spcAft>
                <a:spcPts val="142"/>
              </a:spcAft>
            </a:pPr>
            <a:r>
              <a:rPr lang="en-US" sz="1100" b="0" u="none" strike="noStrike" dirty="0">
                <a:effectLst/>
                <a:uFillTx/>
                <a:latin typeface="Arial"/>
              </a:rPr>
              <a:t>ALTER TABLE invoice </a:t>
            </a:r>
          </a:p>
          <a:p>
            <a:pPr>
              <a:lnSpc>
                <a:spcPct val="100000"/>
              </a:lnSpc>
              <a:spcBef>
                <a:spcPts val="340"/>
              </a:spcBef>
              <a:spcAft>
                <a:spcPts val="142"/>
              </a:spcAft>
            </a:pPr>
            <a:r>
              <a:rPr lang="en-US" sz="1100" b="0" u="none" strike="noStrike" dirty="0">
                <a:effectLst/>
                <a:uFillTx/>
                <a:latin typeface="Arial"/>
              </a:rPr>
              <a:t>ADD COLUMN tags TEXT[];</a:t>
            </a:r>
          </a:p>
          <a:p>
            <a:pPr>
              <a:lnSpc>
                <a:spcPct val="100000"/>
              </a:lnSpc>
            </a:pPr>
            <a:r>
              <a:rPr lang="en-US" sz="1100" b="0" u="none" strike="noStrike" dirty="0">
                <a:effectLst/>
                <a:uFillTx/>
                <a:latin typeface="Arial"/>
              </a:rPr>
              <a:t>INSERT INTO invoice (</a:t>
            </a:r>
            <a:r>
              <a:rPr lang="en-US" sz="1100" b="0" u="none" strike="noStrike" dirty="0" err="1">
                <a:effectLst/>
                <a:uFillTx/>
                <a:latin typeface="Arial"/>
              </a:rPr>
              <a:t>customer_id</a:t>
            </a:r>
            <a:r>
              <a:rPr lang="en-US" sz="1100" b="0" u="none" strike="noStrike" dirty="0">
                <a:effectLst/>
                <a:uFillTx/>
                <a:latin typeface="Arial"/>
              </a:rPr>
              <a:t>, </a:t>
            </a:r>
            <a:r>
              <a:rPr lang="en-US" sz="1100" b="0" u="none" strike="noStrike" dirty="0" err="1">
                <a:effectLst/>
                <a:uFillTx/>
                <a:latin typeface="Arial"/>
              </a:rPr>
              <a:t>invoice_id</a:t>
            </a:r>
            <a:r>
              <a:rPr lang="en-US" sz="1100" b="0" u="none" strike="noStrike" dirty="0">
                <a:effectLst/>
                <a:uFillTx/>
                <a:latin typeface="Arial"/>
              </a:rPr>
              <a:t>, </a:t>
            </a:r>
            <a:r>
              <a:rPr lang="en-US" sz="1100" b="0" u="none" strike="noStrike" dirty="0" err="1">
                <a:effectLst/>
                <a:uFillTx/>
                <a:latin typeface="Arial"/>
              </a:rPr>
              <a:t>invoice_date</a:t>
            </a:r>
            <a:r>
              <a:rPr lang="en-US" sz="1100" b="0" u="none" strike="noStrike" dirty="0">
                <a:effectLst/>
                <a:uFillTx/>
                <a:latin typeface="Arial"/>
              </a:rPr>
              <a:t>, total, tags) VALUES</a:t>
            </a:r>
          </a:p>
          <a:p>
            <a:pPr>
              <a:lnSpc>
                <a:spcPct val="100000"/>
              </a:lnSpc>
            </a:pPr>
            <a:r>
              <a:rPr lang="en-US" sz="1100" b="0" u="none" strike="noStrike" dirty="0">
                <a:effectLst/>
                <a:uFillTx/>
                <a:latin typeface="Arial"/>
              </a:rPr>
              <a:t>(18, 413, NOW(), 1200.00, ARRAY['</a:t>
            </a:r>
            <a:r>
              <a:rPr lang="en-US" sz="1100" b="0" u="none" strike="noStrike" dirty="0" err="1">
                <a:effectLst/>
                <a:uFillTx/>
                <a:latin typeface="Arial"/>
              </a:rPr>
              <a:t>enterprise','priority</a:t>
            </a:r>
            <a:r>
              <a:rPr lang="en-US" sz="1100" b="0" u="none" strike="noStrike" dirty="0">
                <a:effectLst/>
                <a:uFillTx/>
                <a:latin typeface="Arial"/>
              </a:rPr>
              <a:t>']),</a:t>
            </a:r>
          </a:p>
          <a:p>
            <a:pPr>
              <a:lnSpc>
                <a:spcPct val="100000"/>
              </a:lnSpc>
            </a:pPr>
            <a:r>
              <a:rPr lang="en-US" sz="1100" b="0" u="none" strike="noStrike" dirty="0">
                <a:effectLst/>
                <a:uFillTx/>
                <a:latin typeface="Arial"/>
              </a:rPr>
              <a:t>(21, 414, NOW(), 300.00, ARRAY['recurring']),</a:t>
            </a:r>
          </a:p>
          <a:p>
            <a:pPr>
              <a:lnSpc>
                <a:spcPct val="100000"/>
              </a:lnSpc>
            </a:pPr>
            <a:r>
              <a:rPr lang="en-US" sz="1100" b="0" u="none" strike="noStrike" dirty="0">
                <a:effectLst/>
                <a:uFillTx/>
                <a:latin typeface="Arial"/>
              </a:rPr>
              <a:t>(22, 415, NOW(), 150.00, ARRAY['overdue']),</a:t>
            </a:r>
          </a:p>
          <a:p>
            <a:pPr>
              <a:lnSpc>
                <a:spcPct val="100000"/>
              </a:lnSpc>
            </a:pPr>
            <a:r>
              <a:rPr lang="en-US" sz="1100" b="0" u="none" strike="noStrike" dirty="0">
                <a:effectLst/>
                <a:uFillTx/>
                <a:latin typeface="Arial"/>
              </a:rPr>
              <a:t>(60, 416, NOW(), 5000.00, ARRAY['</a:t>
            </a:r>
            <a:r>
              <a:rPr lang="en-US" sz="1100" b="0" u="none" strike="noStrike" dirty="0" err="1">
                <a:effectLst/>
                <a:uFillTx/>
                <a:latin typeface="Arial"/>
              </a:rPr>
              <a:t>enterprise','export</a:t>
            </a:r>
            <a:r>
              <a:rPr lang="en-US" sz="1100" b="0" u="none" strike="noStrike" dirty="0">
                <a:effectLst/>
                <a:uFillTx/>
                <a:latin typeface="Arial"/>
              </a:rPr>
              <a:t>']),</a:t>
            </a:r>
          </a:p>
          <a:p>
            <a:pPr>
              <a:lnSpc>
                <a:spcPct val="100000"/>
              </a:lnSpc>
            </a:pPr>
            <a:r>
              <a:rPr lang="en-US" sz="1100" b="0" u="none" strike="noStrike" dirty="0">
                <a:effectLst/>
                <a:uFillTx/>
                <a:latin typeface="Arial"/>
              </a:rPr>
              <a:t>(62, 417, NOW(), 700.00, ARRAY['</a:t>
            </a:r>
            <a:r>
              <a:rPr lang="en-US" sz="1100" b="0" u="none" strike="noStrike" dirty="0" err="1">
                <a:effectLst/>
                <a:uFillTx/>
                <a:latin typeface="Arial"/>
              </a:rPr>
              <a:t>priority','overdue</a:t>
            </a:r>
            <a:r>
              <a:rPr lang="en-US" sz="1100" b="0" u="none" strike="noStrike" dirty="0">
                <a:effectLst/>
                <a:uFillTx/>
                <a:latin typeface="Arial"/>
              </a:rPr>
              <a:t>']),</a:t>
            </a:r>
          </a:p>
          <a:p>
            <a:pPr>
              <a:lnSpc>
                <a:spcPct val="100000"/>
              </a:lnSpc>
            </a:pPr>
            <a:r>
              <a:rPr lang="en-US" sz="1100" b="0" u="none" strike="noStrike" dirty="0">
                <a:effectLst/>
                <a:uFillTx/>
                <a:latin typeface="Arial"/>
              </a:rPr>
              <a:t>(63, 418, NOW(), 100.00, ARRAY['</a:t>
            </a:r>
            <a:r>
              <a:rPr lang="en-US" sz="1100" b="0" u="none" strike="noStrike" dirty="0" err="1">
                <a:effectLst/>
                <a:uFillTx/>
                <a:latin typeface="Arial"/>
              </a:rPr>
              <a:t>overdue','enterprise</a:t>
            </a:r>
            <a:r>
              <a:rPr lang="en-US" sz="1100" b="0" u="none" strike="noStrike" dirty="0">
                <a:effectLst/>
                <a:uFillTx/>
                <a:latin typeface="Arial"/>
              </a:rPr>
              <a:t>']);</a:t>
            </a:r>
          </a:p>
        </p:txBody>
      </p:sp>
      <p:sp>
        <p:nvSpPr>
          <p:cNvPr id="7" name="TextBox 6">
            <a:extLst>
              <a:ext uri="{FF2B5EF4-FFF2-40B4-BE49-F238E27FC236}">
                <a16:creationId xmlns:a16="http://schemas.microsoft.com/office/drawing/2014/main" id="{298B3313-36C0-1A42-014D-D8952EA043DD}"/>
              </a:ext>
            </a:extLst>
          </p:cNvPr>
          <p:cNvSpPr txBox="1"/>
          <p:nvPr/>
        </p:nvSpPr>
        <p:spPr>
          <a:xfrm>
            <a:off x="2200152" y="4205066"/>
            <a:ext cx="3665160" cy="1647720"/>
          </a:xfrm>
          <a:prstGeom prst="rect">
            <a:avLst/>
          </a:prstGeom>
          <a:noFill/>
          <a:ln w="0">
            <a:noFill/>
          </a:ln>
        </p:spPr>
        <p:txBody>
          <a:bodyPr lIns="90000" tIns="45000" rIns="90000" bIns="45000" anchor="t">
            <a:spAutoFit/>
          </a:bodyPr>
          <a:lstStyle/>
          <a:p>
            <a:pPr>
              <a:lnSpc>
                <a:spcPct val="100000"/>
              </a:lnSpc>
              <a:spcBef>
                <a:spcPts val="57"/>
              </a:spcBef>
            </a:pPr>
            <a:r>
              <a:rPr lang="en-US" sz="1200" b="0" u="none" strike="noStrike">
                <a:effectLst/>
                <a:uFillTx/>
                <a:latin typeface="Arial"/>
              </a:rPr>
              <a:t>CREATE INDEX idx_invoice_tags</a:t>
            </a:r>
          </a:p>
          <a:p>
            <a:pPr>
              <a:lnSpc>
                <a:spcPct val="100000"/>
              </a:lnSpc>
              <a:spcBef>
                <a:spcPts val="57"/>
              </a:spcBef>
            </a:pPr>
            <a:r>
              <a:rPr lang="en-US" sz="1200" b="0" u="none" strike="noStrike">
                <a:effectLst/>
                <a:uFillTx/>
                <a:latin typeface="Arial"/>
              </a:rPr>
              <a:t>ON invoice</a:t>
            </a:r>
          </a:p>
          <a:p>
            <a:pPr>
              <a:lnSpc>
                <a:spcPct val="100000"/>
              </a:lnSpc>
              <a:spcBef>
                <a:spcPts val="57"/>
              </a:spcBef>
            </a:pPr>
            <a:r>
              <a:rPr lang="en-US" sz="1200" b="0" u="none" strike="noStrike">
                <a:effectLst/>
                <a:uFillTx/>
                <a:latin typeface="Arial"/>
              </a:rPr>
              <a:t>USING GIN (tags);</a:t>
            </a:r>
          </a:p>
          <a:p>
            <a:pPr>
              <a:lnSpc>
                <a:spcPct val="100000"/>
              </a:lnSpc>
              <a:spcBef>
                <a:spcPts val="57"/>
              </a:spcBef>
            </a:pPr>
            <a:endParaRPr lang="en-US" sz="1000" b="0" u="none" strike="noStrike">
              <a:effectLst/>
              <a:uFillTx/>
              <a:latin typeface="Arial"/>
            </a:endParaRPr>
          </a:p>
          <a:p>
            <a:pPr>
              <a:lnSpc>
                <a:spcPct val="100000"/>
              </a:lnSpc>
              <a:spcBef>
                <a:spcPts val="57"/>
              </a:spcBef>
            </a:pPr>
            <a:r>
              <a:rPr lang="en-US" sz="1200" b="0" u="none" strike="noStrike">
                <a:effectLst/>
                <a:uFillTx/>
                <a:latin typeface="Arial"/>
              </a:rPr>
              <a:t>This query runs much faster after adding the index:</a:t>
            </a:r>
          </a:p>
          <a:p>
            <a:pPr>
              <a:lnSpc>
                <a:spcPct val="100000"/>
              </a:lnSpc>
              <a:spcBef>
                <a:spcPts val="57"/>
              </a:spcBef>
            </a:pPr>
            <a:r>
              <a:rPr lang="en-US" sz="1200" b="0" u="none" strike="noStrike">
                <a:effectLst/>
                <a:uFillTx/>
                <a:latin typeface="Arial"/>
              </a:rPr>
              <a:t>SELECT *</a:t>
            </a:r>
          </a:p>
          <a:p>
            <a:pPr>
              <a:lnSpc>
                <a:spcPct val="100000"/>
              </a:lnSpc>
              <a:spcBef>
                <a:spcPts val="57"/>
              </a:spcBef>
            </a:pPr>
            <a:r>
              <a:rPr lang="en-US" sz="1200" b="0" u="none" strike="noStrike">
                <a:effectLst/>
                <a:uFillTx/>
                <a:latin typeface="Arial"/>
              </a:rPr>
              <a:t>FROM invoice</a:t>
            </a:r>
          </a:p>
          <a:p>
            <a:pPr>
              <a:lnSpc>
                <a:spcPct val="100000"/>
              </a:lnSpc>
              <a:spcBef>
                <a:spcPts val="57"/>
              </a:spcBef>
            </a:pPr>
            <a:r>
              <a:rPr lang="en-US" sz="1200" b="0" u="none" strike="noStrike">
                <a:effectLst/>
                <a:uFillTx/>
                <a:latin typeface="Arial"/>
              </a:rPr>
              <a:t>WHERE tags @&gt; ARRAY['overdue'];</a:t>
            </a:r>
          </a:p>
        </p:txBody>
      </p:sp>
      <p:sp>
        <p:nvSpPr>
          <p:cNvPr id="9" name="TextBox 8">
            <a:extLst>
              <a:ext uri="{FF2B5EF4-FFF2-40B4-BE49-F238E27FC236}">
                <a16:creationId xmlns:a16="http://schemas.microsoft.com/office/drawing/2014/main" id="{769CC7FC-9D94-2F6B-F4A9-A490B3BE1D38}"/>
              </a:ext>
            </a:extLst>
          </p:cNvPr>
          <p:cNvSpPr txBox="1"/>
          <p:nvPr/>
        </p:nvSpPr>
        <p:spPr>
          <a:xfrm>
            <a:off x="6322512" y="4339346"/>
            <a:ext cx="2979360" cy="1383540"/>
          </a:xfrm>
          <a:prstGeom prst="rect">
            <a:avLst/>
          </a:prstGeom>
          <a:noFill/>
          <a:ln w="0">
            <a:noFill/>
          </a:ln>
        </p:spPr>
        <p:txBody>
          <a:bodyPr lIns="90000" tIns="45000" rIns="90000" bIns="45000" anchor="t">
            <a:spAutoFit/>
          </a:bodyPr>
          <a:lstStyle/>
          <a:p>
            <a:r>
              <a:rPr lang="en-US" sz="1200" b="0" u="none" strike="noStrike">
                <a:effectLst/>
                <a:uFillTx/>
                <a:latin typeface="Arial"/>
              </a:rPr>
              <a:t>We can also do stuff like this:</a:t>
            </a:r>
          </a:p>
          <a:p>
            <a:r>
              <a:rPr lang="en-US" sz="1200" b="0" u="none" strike="noStrike">
                <a:effectLst/>
                <a:uFillTx/>
                <a:latin typeface="Arial"/>
              </a:rPr>
              <a:t>SELECT i.*, c.*</a:t>
            </a:r>
          </a:p>
          <a:p>
            <a:r>
              <a:rPr lang="en-US" sz="1200" b="0" u="none" strike="noStrike">
                <a:effectLst/>
                <a:uFillTx/>
                <a:latin typeface="Arial"/>
              </a:rPr>
              <a:t>FROM invoice I</a:t>
            </a:r>
          </a:p>
          <a:p>
            <a:r>
              <a:rPr lang="en-US" sz="1200" b="0" u="none" strike="noStrike">
                <a:effectLst/>
                <a:uFillTx/>
                <a:latin typeface="Arial"/>
              </a:rPr>
              <a:t>INNER JOIN customer c </a:t>
            </a:r>
          </a:p>
          <a:p>
            <a:r>
              <a:rPr lang="en-US" sz="1200" b="0" u="none" strike="noStrike">
                <a:effectLst/>
                <a:uFillTx/>
                <a:latin typeface="Arial"/>
              </a:rPr>
              <a:t>ON c.customer_id = i.customer_id</a:t>
            </a:r>
          </a:p>
          <a:p>
            <a:r>
              <a:rPr lang="en-US" sz="1200" b="0" u="none" strike="noStrike">
                <a:effectLst/>
                <a:uFillTx/>
                <a:latin typeface="Arial"/>
              </a:rPr>
              <a:t>WHERE i.tags @&gt; ARRAY['overdue'] </a:t>
            </a:r>
          </a:p>
          <a:p>
            <a:r>
              <a:rPr lang="en-US" sz="1200" b="0" u="none" strike="noStrike">
                <a:effectLst/>
                <a:uFillTx/>
                <a:latin typeface="Arial"/>
              </a:rPr>
              <a:t>AND c.attributes @&gt; '{"region":"us"}';</a:t>
            </a:r>
          </a:p>
        </p:txBody>
      </p:sp>
    </p:spTree>
    <p:extLst>
      <p:ext uri="{BB962C8B-B14F-4D97-AF65-F5344CB8AC3E}">
        <p14:creationId xmlns:p14="http://schemas.microsoft.com/office/powerpoint/2010/main" val="1227777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5D678-FBFF-D1E9-DEB6-C1B221F6F2DA}"/>
              </a:ext>
            </a:extLst>
          </p:cNvPr>
          <p:cNvSpPr>
            <a:spLocks noGrp="1"/>
          </p:cNvSpPr>
          <p:nvPr>
            <p:ph type="title"/>
          </p:nvPr>
        </p:nvSpPr>
        <p:spPr/>
        <p:txBody>
          <a:bodyPr/>
          <a:lstStyle/>
          <a:p>
            <a:r>
              <a:rPr lang="en-US" dirty="0"/>
              <a:t>Partial Indexes</a:t>
            </a:r>
          </a:p>
        </p:txBody>
      </p:sp>
      <p:sp>
        <p:nvSpPr>
          <p:cNvPr id="5" name="TextBox 4">
            <a:extLst>
              <a:ext uri="{FF2B5EF4-FFF2-40B4-BE49-F238E27FC236}">
                <a16:creationId xmlns:a16="http://schemas.microsoft.com/office/drawing/2014/main" id="{7C0A2D6C-8A40-69FE-1493-6506BE3DE7EC}"/>
              </a:ext>
            </a:extLst>
          </p:cNvPr>
          <p:cNvSpPr txBox="1"/>
          <p:nvPr/>
        </p:nvSpPr>
        <p:spPr>
          <a:xfrm>
            <a:off x="2401864" y="2808961"/>
            <a:ext cx="7769269" cy="2424851"/>
          </a:xfrm>
          <a:prstGeom prst="rect">
            <a:avLst/>
          </a:prstGeom>
          <a:noFill/>
          <a:ln w="0">
            <a:noFill/>
          </a:ln>
        </p:spPr>
        <p:txBody>
          <a:bodyPr wrap="square" lIns="90000" tIns="45000" rIns="90000" bIns="45000" anchor="t">
            <a:spAutoFit/>
          </a:bodyPr>
          <a:lstStyle/>
          <a:p>
            <a:pPr>
              <a:lnSpc>
                <a:spcPct val="100000"/>
              </a:lnSpc>
              <a:spcBef>
                <a:spcPts val="340"/>
              </a:spcBef>
              <a:spcAft>
                <a:spcPts val="142"/>
              </a:spcAft>
            </a:pPr>
            <a:r>
              <a:rPr lang="en-US" sz="1200" b="0" u="none" strike="noStrike" dirty="0">
                <a:effectLst/>
                <a:uFillTx/>
                <a:latin typeface="Arial"/>
              </a:rPr>
              <a:t>CREATE INDEX </a:t>
            </a:r>
            <a:r>
              <a:rPr lang="en-US" sz="1200" b="0" u="none" strike="noStrike" dirty="0" err="1">
                <a:effectLst/>
                <a:uFillTx/>
                <a:latin typeface="Arial"/>
              </a:rPr>
              <a:t>idx_users_active</a:t>
            </a:r>
            <a:endParaRPr lang="en-US" sz="1200" b="0" u="none" strike="noStrike" dirty="0">
              <a:effectLst/>
              <a:uFillTx/>
              <a:latin typeface="Arial"/>
            </a:endParaRPr>
          </a:p>
          <a:p>
            <a:pPr>
              <a:lnSpc>
                <a:spcPct val="100000"/>
              </a:lnSpc>
              <a:spcBef>
                <a:spcPts val="340"/>
              </a:spcBef>
              <a:spcAft>
                <a:spcPts val="142"/>
              </a:spcAft>
            </a:pPr>
            <a:r>
              <a:rPr lang="en-US" sz="1200" b="0" u="none" strike="noStrike" dirty="0">
                <a:effectLst/>
                <a:uFillTx/>
                <a:latin typeface="Arial"/>
              </a:rPr>
              <a:t>ON </a:t>
            </a:r>
            <a:r>
              <a:rPr lang="en-US" sz="1200" b="0" u="none" strike="noStrike" dirty="0" err="1">
                <a:effectLst/>
                <a:uFillTx/>
                <a:latin typeface="Arial"/>
              </a:rPr>
              <a:t>my_schema.users</a:t>
            </a:r>
            <a:r>
              <a:rPr lang="en-US" sz="1200" b="0" u="none" strike="noStrike" dirty="0">
                <a:effectLst/>
                <a:uFillTx/>
                <a:latin typeface="Arial"/>
              </a:rPr>
              <a:t> (</a:t>
            </a:r>
            <a:r>
              <a:rPr lang="en-US" sz="1200" b="0" u="none" strike="noStrike" dirty="0" err="1">
                <a:effectLst/>
                <a:uFillTx/>
                <a:latin typeface="Arial"/>
              </a:rPr>
              <a:t>created_at</a:t>
            </a:r>
            <a:r>
              <a:rPr lang="en-US" sz="1200" b="0" u="none" strike="noStrike" dirty="0">
                <a:effectLst/>
                <a:uFillTx/>
                <a:latin typeface="Arial"/>
              </a:rPr>
              <a:t>)</a:t>
            </a:r>
          </a:p>
          <a:p>
            <a:pPr>
              <a:lnSpc>
                <a:spcPct val="100000"/>
              </a:lnSpc>
              <a:spcBef>
                <a:spcPts val="340"/>
              </a:spcBef>
              <a:spcAft>
                <a:spcPts val="142"/>
              </a:spcAft>
            </a:pPr>
            <a:r>
              <a:rPr lang="en-US" sz="1200" b="0" u="none" strike="noStrike" dirty="0">
                <a:effectLst/>
                <a:uFillTx/>
                <a:latin typeface="Arial"/>
              </a:rPr>
              <a:t>WHERE </a:t>
            </a:r>
            <a:r>
              <a:rPr lang="en-US" sz="1200" b="0" u="none" strike="noStrike" dirty="0" err="1">
                <a:effectLst/>
                <a:uFillTx/>
                <a:latin typeface="Arial"/>
              </a:rPr>
              <a:t>is_active</a:t>
            </a:r>
            <a:r>
              <a:rPr lang="en-US" sz="1200" b="0" u="none" strike="noStrike" dirty="0">
                <a:effectLst/>
                <a:uFillTx/>
                <a:latin typeface="Arial"/>
              </a:rPr>
              <a:t> = True;</a:t>
            </a:r>
          </a:p>
          <a:p>
            <a:pPr>
              <a:lnSpc>
                <a:spcPct val="100000"/>
              </a:lnSpc>
              <a:spcBef>
                <a:spcPts val="340"/>
              </a:spcBef>
              <a:spcAft>
                <a:spcPts val="142"/>
              </a:spcAft>
            </a:pPr>
            <a:endParaRPr lang="en-US" sz="1200" dirty="0">
              <a:latin typeface="Arial"/>
            </a:endParaRPr>
          </a:p>
          <a:p>
            <a:pPr>
              <a:lnSpc>
                <a:spcPct val="100000"/>
              </a:lnSpc>
              <a:spcBef>
                <a:spcPts val="340"/>
              </a:spcBef>
              <a:spcAft>
                <a:spcPts val="142"/>
              </a:spcAft>
            </a:pPr>
            <a:endParaRPr lang="en-US" sz="1200" b="0" u="none" strike="noStrike" dirty="0">
              <a:effectLst/>
              <a:uFillTx/>
              <a:latin typeface="Arial"/>
            </a:endParaRPr>
          </a:p>
          <a:p>
            <a:r>
              <a:rPr lang="en-US" sz="1200" b="0" u="none" strike="noStrike" dirty="0">
                <a:effectLst/>
                <a:uFillTx/>
                <a:latin typeface="Arial"/>
              </a:rPr>
              <a:t>The below query will now be optimized and using our index. Note that you MUST use </a:t>
            </a:r>
            <a:r>
              <a:rPr lang="en-US" sz="1200" b="0" u="none" strike="noStrike" dirty="0" err="1">
                <a:effectLst/>
                <a:uFillTx/>
                <a:latin typeface="Arial"/>
              </a:rPr>
              <a:t>created_at</a:t>
            </a:r>
            <a:r>
              <a:rPr lang="en-US" sz="1200" b="0" u="none" strike="noStrike" dirty="0">
                <a:effectLst/>
                <a:uFillTx/>
                <a:latin typeface="Arial"/>
              </a:rPr>
              <a:t> and </a:t>
            </a:r>
            <a:r>
              <a:rPr lang="en-US" sz="1200" b="0" u="none" strike="noStrike" dirty="0" err="1">
                <a:effectLst/>
                <a:uFillTx/>
                <a:latin typeface="Arial"/>
              </a:rPr>
              <a:t>is_active</a:t>
            </a:r>
            <a:r>
              <a:rPr lang="en-US" sz="1200" b="0" u="none" strike="noStrike" dirty="0">
                <a:effectLst/>
                <a:uFillTx/>
                <a:latin typeface="Arial"/>
              </a:rPr>
              <a:t>:</a:t>
            </a:r>
          </a:p>
          <a:p>
            <a:pPr>
              <a:lnSpc>
                <a:spcPct val="100000"/>
              </a:lnSpc>
              <a:spcBef>
                <a:spcPts val="340"/>
              </a:spcBef>
              <a:spcAft>
                <a:spcPts val="283"/>
              </a:spcAft>
            </a:pPr>
            <a:r>
              <a:rPr lang="en-US" sz="1200" b="0" u="none" strike="noStrike" dirty="0">
                <a:effectLst/>
                <a:uFillTx/>
                <a:latin typeface="Arial"/>
              </a:rPr>
              <a:t>SELECT * </a:t>
            </a:r>
          </a:p>
          <a:p>
            <a:pPr>
              <a:lnSpc>
                <a:spcPct val="100000"/>
              </a:lnSpc>
              <a:spcBef>
                <a:spcPts val="340"/>
              </a:spcBef>
              <a:spcAft>
                <a:spcPts val="283"/>
              </a:spcAft>
            </a:pPr>
            <a:r>
              <a:rPr lang="en-US" sz="1200" b="0" u="none" strike="noStrike" dirty="0">
                <a:effectLst/>
                <a:uFillTx/>
                <a:latin typeface="Arial"/>
              </a:rPr>
              <a:t>FROM </a:t>
            </a:r>
            <a:r>
              <a:rPr lang="en-US" sz="1200" b="0" u="none" strike="noStrike" dirty="0" err="1">
                <a:effectLst/>
                <a:uFillTx/>
                <a:latin typeface="Arial"/>
              </a:rPr>
              <a:t>my_schema.users</a:t>
            </a:r>
            <a:endParaRPr lang="en-US" sz="1200" b="0" u="none" strike="noStrike" dirty="0">
              <a:effectLst/>
              <a:uFillTx/>
              <a:latin typeface="Arial"/>
            </a:endParaRPr>
          </a:p>
          <a:p>
            <a:pPr>
              <a:lnSpc>
                <a:spcPct val="100000"/>
              </a:lnSpc>
              <a:spcBef>
                <a:spcPts val="340"/>
              </a:spcBef>
              <a:spcAft>
                <a:spcPts val="283"/>
              </a:spcAft>
            </a:pPr>
            <a:r>
              <a:rPr lang="en-US" sz="1200" b="0" u="none" strike="noStrike" dirty="0">
                <a:effectLst/>
                <a:uFillTx/>
                <a:latin typeface="Arial"/>
              </a:rPr>
              <a:t>WHERE </a:t>
            </a:r>
            <a:r>
              <a:rPr lang="en-US" sz="1200" b="0" u="none" strike="noStrike" dirty="0" err="1">
                <a:effectLst/>
                <a:uFillTx/>
                <a:latin typeface="Arial"/>
              </a:rPr>
              <a:t>is_active</a:t>
            </a:r>
            <a:r>
              <a:rPr lang="en-US" sz="1200" b="0" u="none" strike="noStrike" dirty="0">
                <a:effectLst/>
                <a:uFillTx/>
                <a:latin typeface="Arial"/>
              </a:rPr>
              <a:t> = True</a:t>
            </a:r>
          </a:p>
          <a:p>
            <a:pPr>
              <a:lnSpc>
                <a:spcPct val="100000"/>
              </a:lnSpc>
              <a:spcBef>
                <a:spcPts val="340"/>
              </a:spcBef>
              <a:spcAft>
                <a:spcPts val="283"/>
              </a:spcAft>
            </a:pPr>
            <a:r>
              <a:rPr lang="en-US" sz="1200" b="0" u="none" strike="noStrike" dirty="0">
                <a:effectLst/>
                <a:uFillTx/>
                <a:latin typeface="Arial"/>
              </a:rPr>
              <a:t>ORDER BY </a:t>
            </a:r>
            <a:r>
              <a:rPr lang="en-US" sz="1200" b="0" u="none" strike="noStrike" dirty="0" err="1">
                <a:effectLst/>
                <a:uFillTx/>
                <a:latin typeface="Arial"/>
              </a:rPr>
              <a:t>created_at</a:t>
            </a:r>
            <a:r>
              <a:rPr lang="en-US" sz="1200" b="0" u="none" strike="noStrike" dirty="0">
                <a:effectLst/>
                <a:uFillTx/>
                <a:latin typeface="Arial"/>
              </a:rPr>
              <a:t> DESC;</a:t>
            </a:r>
          </a:p>
        </p:txBody>
      </p:sp>
    </p:spTree>
    <p:extLst>
      <p:ext uri="{BB962C8B-B14F-4D97-AF65-F5344CB8AC3E}">
        <p14:creationId xmlns:p14="http://schemas.microsoft.com/office/powerpoint/2010/main" val="3617110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B20D6-2788-7FED-99E8-F290CE75D832}"/>
              </a:ext>
            </a:extLst>
          </p:cNvPr>
          <p:cNvSpPr>
            <a:spLocks noGrp="1"/>
          </p:cNvSpPr>
          <p:nvPr>
            <p:ph type="title"/>
          </p:nvPr>
        </p:nvSpPr>
        <p:spPr/>
        <p:txBody>
          <a:bodyPr/>
          <a:lstStyle/>
          <a:p>
            <a:r>
              <a:rPr lang="en-US" dirty="0"/>
              <a:t>Gist – Generalized search tree</a:t>
            </a:r>
          </a:p>
        </p:txBody>
      </p:sp>
      <p:sp>
        <p:nvSpPr>
          <p:cNvPr id="5" name="Content Placeholder 4">
            <a:extLst>
              <a:ext uri="{FF2B5EF4-FFF2-40B4-BE49-F238E27FC236}">
                <a16:creationId xmlns:a16="http://schemas.microsoft.com/office/drawing/2014/main" id="{F6947B6F-2FE6-7B66-08A7-BAC0C073C805}"/>
              </a:ext>
            </a:extLst>
          </p:cNvPr>
          <p:cNvSpPr txBox="1">
            <a:spLocks noGrp="1"/>
          </p:cNvSpPr>
          <p:nvPr>
            <p:ph idx="1"/>
          </p:nvPr>
        </p:nvSpPr>
        <p:spPr>
          <a:xfrm>
            <a:off x="668875" y="2819324"/>
            <a:ext cx="11029615" cy="1595906"/>
          </a:xfrm>
          <a:prstGeom prst="rect">
            <a:avLst/>
          </a:prstGeom>
          <a:noFill/>
          <a:ln w="0">
            <a:noFill/>
          </a:ln>
        </p:spPr>
        <p:txBody>
          <a:bodyPr lIns="90000" tIns="45000" rIns="90000" bIns="45000" anchor="t">
            <a:spAutoFit/>
          </a:bodyPr>
          <a:lstStyle/>
          <a:p>
            <a:r>
              <a:rPr lang="en-US" sz="1800" b="0" u="none" strike="noStrike" dirty="0">
                <a:solidFill>
                  <a:schemeClr val="tx1"/>
                </a:solidFill>
                <a:effectLst/>
                <a:uFillTx/>
                <a:latin typeface="Arial"/>
              </a:rPr>
              <a:t>Good for ranges/overlapping data. </a:t>
            </a:r>
          </a:p>
          <a:p>
            <a:r>
              <a:rPr lang="en-US" sz="1800" b="0" u="none" strike="noStrike" dirty="0">
                <a:solidFill>
                  <a:schemeClr val="tx1"/>
                </a:solidFill>
                <a:effectLst/>
                <a:uFillTx/>
                <a:latin typeface="Arial"/>
              </a:rPr>
              <a:t>i.e. </a:t>
            </a:r>
            <a:r>
              <a:rPr lang="en-US" sz="1800" b="0" u="none" strike="noStrike" dirty="0" err="1">
                <a:solidFill>
                  <a:schemeClr val="tx1"/>
                </a:solidFill>
                <a:effectLst/>
                <a:uFillTx/>
                <a:latin typeface="Arial"/>
              </a:rPr>
              <a:t>timeranges</a:t>
            </a:r>
            <a:r>
              <a:rPr lang="en-US" sz="1800" b="0" u="none" strike="noStrike" dirty="0">
                <a:solidFill>
                  <a:schemeClr val="tx1"/>
                </a:solidFill>
                <a:effectLst/>
                <a:uFillTx/>
                <a:latin typeface="Arial"/>
              </a:rPr>
              <a:t> </a:t>
            </a:r>
          </a:p>
          <a:p>
            <a:endParaRPr lang="en-US" sz="1800" b="0" u="none" strike="noStrike" dirty="0">
              <a:solidFill>
                <a:schemeClr val="tx1"/>
              </a:solidFill>
              <a:effectLst/>
              <a:uFillTx/>
              <a:latin typeface="Arial"/>
            </a:endParaRPr>
          </a:p>
          <a:p>
            <a:r>
              <a:rPr lang="en-US" sz="1800" b="0" u="none" strike="noStrike" dirty="0">
                <a:solidFill>
                  <a:schemeClr val="tx1"/>
                </a:solidFill>
                <a:effectLst/>
                <a:uFillTx/>
                <a:latin typeface="Arial"/>
              </a:rPr>
              <a:t>Works well with geospatial data. </a:t>
            </a:r>
          </a:p>
        </p:txBody>
      </p:sp>
    </p:spTree>
    <p:extLst>
      <p:ext uri="{BB962C8B-B14F-4D97-AF65-F5344CB8AC3E}">
        <p14:creationId xmlns:p14="http://schemas.microsoft.com/office/powerpoint/2010/main" val="34384416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534AE-A7E2-B57B-36BE-730F202876E5}"/>
              </a:ext>
            </a:extLst>
          </p:cNvPr>
          <p:cNvSpPr>
            <a:spLocks noGrp="1"/>
          </p:cNvSpPr>
          <p:nvPr>
            <p:ph type="title"/>
          </p:nvPr>
        </p:nvSpPr>
        <p:spPr/>
        <p:txBody>
          <a:bodyPr/>
          <a:lstStyle/>
          <a:p>
            <a:r>
              <a:rPr lang="en-US" dirty="0"/>
              <a:t>Distinct, Union, Union all</a:t>
            </a:r>
          </a:p>
        </p:txBody>
      </p:sp>
      <p:sp>
        <p:nvSpPr>
          <p:cNvPr id="5" name="TextBox 4">
            <a:extLst>
              <a:ext uri="{FF2B5EF4-FFF2-40B4-BE49-F238E27FC236}">
                <a16:creationId xmlns:a16="http://schemas.microsoft.com/office/drawing/2014/main" id="{4528BD3D-2A7C-6A75-F56A-4DA09BF0F8DA}"/>
              </a:ext>
            </a:extLst>
          </p:cNvPr>
          <p:cNvSpPr txBox="1"/>
          <p:nvPr/>
        </p:nvSpPr>
        <p:spPr>
          <a:xfrm>
            <a:off x="3079842" y="2246220"/>
            <a:ext cx="5423760" cy="2365560"/>
          </a:xfrm>
          <a:prstGeom prst="rect">
            <a:avLst/>
          </a:prstGeom>
          <a:noFill/>
          <a:ln w="0">
            <a:noFill/>
          </a:ln>
        </p:spPr>
        <p:txBody>
          <a:bodyPr wrap="square" lIns="90000" tIns="45000" rIns="90000" bIns="45000" anchor="t" anchorCtr="1">
            <a:spAutoFit/>
          </a:bodyPr>
          <a:lstStyle/>
          <a:p>
            <a:pPr algn="ctr">
              <a:lnSpc>
                <a:spcPct val="100000"/>
              </a:lnSpc>
              <a:spcBef>
                <a:spcPts val="624"/>
              </a:spcBef>
              <a:spcAft>
                <a:spcPts val="425"/>
              </a:spcAft>
            </a:pPr>
            <a:r>
              <a:rPr lang="en-US" sz="1000" b="0" u="none" strike="noStrike" dirty="0">
                <a:solidFill>
                  <a:schemeClr val="accent2"/>
                </a:solidFill>
                <a:effectLst/>
                <a:uFillTx/>
                <a:latin typeface="Arial"/>
              </a:rPr>
              <a:t>DISTINCT removes duplicate rows from a result set.</a:t>
            </a:r>
          </a:p>
          <a:p>
            <a:pPr algn="ctr">
              <a:lnSpc>
                <a:spcPct val="100000"/>
              </a:lnSpc>
              <a:spcBef>
                <a:spcPts val="624"/>
              </a:spcBef>
              <a:spcAft>
                <a:spcPts val="425"/>
              </a:spcAft>
            </a:pPr>
            <a:r>
              <a:rPr lang="en-US" sz="1000" b="0" u="none" strike="noStrike" dirty="0">
                <a:effectLst/>
                <a:uFillTx/>
                <a:latin typeface="Arial"/>
              </a:rPr>
              <a:t>SELECT DISTINCT country FROM customer;</a:t>
            </a:r>
          </a:p>
          <a:p>
            <a:pPr algn="ctr">
              <a:lnSpc>
                <a:spcPct val="100000"/>
              </a:lnSpc>
              <a:spcBef>
                <a:spcPts val="624"/>
              </a:spcBef>
              <a:spcAft>
                <a:spcPts val="425"/>
              </a:spcAft>
            </a:pPr>
            <a:r>
              <a:rPr lang="en-US" sz="1000" b="0" u="none" strike="noStrike" dirty="0">
                <a:solidFill>
                  <a:schemeClr val="accent2"/>
                </a:solidFill>
                <a:effectLst/>
                <a:uFillTx/>
                <a:latin typeface="Arial"/>
              </a:rPr>
              <a:t>You can use on multiple columns:</a:t>
            </a:r>
          </a:p>
          <a:p>
            <a:pPr algn="ctr">
              <a:lnSpc>
                <a:spcPct val="100000"/>
              </a:lnSpc>
              <a:spcBef>
                <a:spcPts val="624"/>
              </a:spcBef>
              <a:spcAft>
                <a:spcPts val="425"/>
              </a:spcAft>
            </a:pPr>
            <a:r>
              <a:rPr lang="en-US" sz="1000" b="0" u="none" strike="noStrike" dirty="0">
                <a:effectLst/>
                <a:uFillTx/>
                <a:latin typeface="Arial"/>
              </a:rPr>
              <a:t>SELECT DISTINCT country, city FROM customer;</a:t>
            </a:r>
          </a:p>
          <a:p>
            <a:pPr algn="ctr">
              <a:lnSpc>
                <a:spcPct val="100000"/>
              </a:lnSpc>
              <a:spcBef>
                <a:spcPts val="340"/>
              </a:spcBef>
              <a:spcAft>
                <a:spcPts val="142"/>
              </a:spcAft>
            </a:pPr>
            <a:r>
              <a:rPr lang="en-US" sz="1000" b="0" u="none" strike="noStrike" dirty="0">
                <a:solidFill>
                  <a:schemeClr val="accent2"/>
                </a:solidFill>
                <a:effectLst/>
                <a:uFillTx/>
                <a:latin typeface="Arial"/>
                <a:ea typeface="Noto Sans CJK SC"/>
              </a:rPr>
              <a:t>UNION and UNION ALL</a:t>
            </a:r>
            <a:r>
              <a:rPr lang="en-US" sz="1000" b="0" u="none" strike="noStrike" dirty="0">
                <a:solidFill>
                  <a:schemeClr val="accent2"/>
                </a:solidFill>
                <a:effectLst/>
                <a:uFillTx/>
                <a:latin typeface="Arial"/>
              </a:rPr>
              <a:t> combine results from multiple select statements into one result set:</a:t>
            </a:r>
          </a:p>
          <a:p>
            <a:pPr algn="ctr">
              <a:lnSpc>
                <a:spcPct val="100000"/>
              </a:lnSpc>
              <a:spcBef>
                <a:spcPts val="340"/>
              </a:spcBef>
              <a:spcAft>
                <a:spcPts val="142"/>
              </a:spcAft>
            </a:pPr>
            <a:r>
              <a:rPr lang="en-US" sz="1000" b="0" u="none" strike="noStrike" dirty="0">
                <a:solidFill>
                  <a:schemeClr val="accent2"/>
                </a:solidFill>
                <a:effectLst/>
                <a:uFillTx/>
                <a:latin typeface="Arial"/>
              </a:rPr>
              <a:t>UNION - combines results and removes duplicates </a:t>
            </a:r>
          </a:p>
          <a:p>
            <a:pPr algn="ctr">
              <a:lnSpc>
                <a:spcPct val="100000"/>
              </a:lnSpc>
              <a:spcBef>
                <a:spcPts val="340"/>
              </a:spcBef>
              <a:spcAft>
                <a:spcPts val="142"/>
              </a:spcAft>
            </a:pPr>
            <a:r>
              <a:rPr lang="en-US" sz="1000" b="0" u="none" strike="noStrike" dirty="0">
                <a:solidFill>
                  <a:schemeClr val="accent2"/>
                </a:solidFill>
                <a:effectLst/>
                <a:uFillTx/>
                <a:latin typeface="Arial"/>
              </a:rPr>
              <a:t>UNION ALL - combines results and keeps duplicates</a:t>
            </a:r>
          </a:p>
          <a:p>
            <a:pPr algn="ctr">
              <a:lnSpc>
                <a:spcPct val="100000"/>
              </a:lnSpc>
              <a:spcBef>
                <a:spcPts val="340"/>
              </a:spcBef>
              <a:spcAft>
                <a:spcPts val="142"/>
              </a:spcAft>
            </a:pPr>
            <a:r>
              <a:rPr lang="en-US" sz="1000" b="0" u="none" strike="noStrike" dirty="0">
                <a:solidFill>
                  <a:schemeClr val="accent2"/>
                </a:solidFill>
                <a:effectLst/>
                <a:uFillTx/>
                <a:latin typeface="Arial"/>
              </a:rPr>
              <a:t># of columns and datatypes must be a match!</a:t>
            </a:r>
          </a:p>
          <a:p>
            <a:pPr algn="ctr">
              <a:lnSpc>
                <a:spcPct val="100000"/>
              </a:lnSpc>
              <a:spcBef>
                <a:spcPts val="57"/>
              </a:spcBef>
            </a:pPr>
            <a:endParaRPr lang="en-US" sz="1000" b="0" u="none" strike="noStrike" dirty="0">
              <a:effectLst/>
              <a:uFillTx/>
              <a:latin typeface="Arial"/>
            </a:endParaRPr>
          </a:p>
          <a:p>
            <a:endParaRPr lang="en-US" sz="1000" b="0" u="none" strike="noStrike" dirty="0">
              <a:effectLst/>
              <a:uFillTx/>
              <a:latin typeface="Arial"/>
            </a:endParaRPr>
          </a:p>
        </p:txBody>
      </p:sp>
      <p:sp>
        <p:nvSpPr>
          <p:cNvPr id="7" name="TextBox 6">
            <a:extLst>
              <a:ext uri="{FF2B5EF4-FFF2-40B4-BE49-F238E27FC236}">
                <a16:creationId xmlns:a16="http://schemas.microsoft.com/office/drawing/2014/main" id="{31180EBC-9E2A-BD52-8D12-523EA82DF79B}"/>
              </a:ext>
            </a:extLst>
          </p:cNvPr>
          <p:cNvSpPr txBox="1"/>
          <p:nvPr/>
        </p:nvSpPr>
        <p:spPr>
          <a:xfrm>
            <a:off x="2934222" y="4467060"/>
            <a:ext cx="2743200" cy="1386105"/>
          </a:xfrm>
          <a:prstGeom prst="rect">
            <a:avLst/>
          </a:prstGeom>
          <a:noFill/>
          <a:ln w="0">
            <a:noFill/>
          </a:ln>
        </p:spPr>
        <p:txBody>
          <a:bodyPr lIns="90000" tIns="45000" rIns="90000" bIns="45000" anchor="t">
            <a:spAutoFit/>
          </a:bodyPr>
          <a:lstStyle/>
          <a:p>
            <a:pPr algn="ctr">
              <a:lnSpc>
                <a:spcPct val="100000"/>
              </a:lnSpc>
              <a:spcBef>
                <a:spcPts val="57"/>
              </a:spcBef>
            </a:pPr>
            <a:r>
              <a:rPr lang="en-US" sz="1000" b="0" u="none" strike="noStrike" dirty="0">
                <a:solidFill>
                  <a:schemeClr val="accent2"/>
                </a:solidFill>
                <a:effectLst/>
                <a:uFillTx/>
                <a:latin typeface="Arial"/>
                <a:ea typeface="Noto Sans CJK SC"/>
              </a:rPr>
              <a:t>Merges the results, removes duplicate rows, like DISTINCT would do, but for both tables at once:</a:t>
            </a:r>
            <a:endParaRPr lang="en-US" sz="1000" b="0" u="none" strike="noStrike" dirty="0">
              <a:solidFill>
                <a:schemeClr val="accent2"/>
              </a:solidFill>
              <a:effectLst/>
              <a:uFillTx/>
              <a:latin typeface="Arial"/>
            </a:endParaRPr>
          </a:p>
          <a:p>
            <a:pPr>
              <a:lnSpc>
                <a:spcPct val="100000"/>
              </a:lnSpc>
              <a:spcBef>
                <a:spcPts val="57"/>
              </a:spcBef>
            </a:pPr>
            <a:r>
              <a:rPr lang="en-US" sz="1000" b="0" u="none" strike="noStrike" dirty="0">
                <a:effectLst/>
                <a:uFillTx/>
                <a:latin typeface="Arial"/>
                <a:ea typeface="Noto Sans CJK SC"/>
              </a:rPr>
              <a:t>SELECT country </a:t>
            </a:r>
            <a:endParaRPr lang="en-US" sz="1000" b="0" u="none" strike="noStrike" dirty="0">
              <a:effectLst/>
              <a:uFillTx/>
              <a:latin typeface="Arial"/>
            </a:endParaRPr>
          </a:p>
          <a:p>
            <a:pPr>
              <a:lnSpc>
                <a:spcPct val="100000"/>
              </a:lnSpc>
              <a:spcBef>
                <a:spcPts val="57"/>
              </a:spcBef>
            </a:pPr>
            <a:r>
              <a:rPr lang="en-US" sz="1000" b="0" u="none" strike="noStrike" dirty="0">
                <a:effectLst/>
                <a:uFillTx/>
                <a:latin typeface="Arial"/>
                <a:ea typeface="Noto Sans CJK SC"/>
              </a:rPr>
              <a:t>FROM customer</a:t>
            </a:r>
            <a:endParaRPr lang="en-US" sz="1000" b="0" u="none" strike="noStrike" dirty="0">
              <a:effectLst/>
              <a:uFillTx/>
              <a:latin typeface="Arial"/>
            </a:endParaRPr>
          </a:p>
          <a:p>
            <a:pPr>
              <a:lnSpc>
                <a:spcPct val="100000"/>
              </a:lnSpc>
              <a:spcBef>
                <a:spcPts val="57"/>
              </a:spcBef>
            </a:pPr>
            <a:r>
              <a:rPr lang="en-US" sz="1000" b="0" u="none" strike="noStrike" dirty="0">
                <a:effectLst/>
                <a:uFillTx/>
                <a:latin typeface="Arial"/>
                <a:ea typeface="Noto Sans CJK SC"/>
              </a:rPr>
              <a:t>UNION</a:t>
            </a:r>
            <a:endParaRPr lang="en-US" sz="1000" b="0" u="none" strike="noStrike" dirty="0">
              <a:effectLst/>
              <a:uFillTx/>
              <a:latin typeface="Arial"/>
            </a:endParaRPr>
          </a:p>
          <a:p>
            <a:pPr>
              <a:lnSpc>
                <a:spcPct val="100000"/>
              </a:lnSpc>
              <a:spcBef>
                <a:spcPts val="57"/>
              </a:spcBef>
            </a:pPr>
            <a:r>
              <a:rPr lang="en-US" sz="1000" b="0" u="none" strike="noStrike" dirty="0">
                <a:effectLst/>
                <a:uFillTx/>
                <a:latin typeface="Arial"/>
                <a:ea typeface="Noto Sans CJK SC"/>
              </a:rPr>
              <a:t>SELECT </a:t>
            </a:r>
            <a:r>
              <a:rPr lang="en-US" sz="1000" b="0" u="none" strike="noStrike" dirty="0" err="1">
                <a:effectLst/>
                <a:uFillTx/>
                <a:latin typeface="Arial"/>
                <a:ea typeface="Noto Sans CJK SC"/>
              </a:rPr>
              <a:t>billing_country</a:t>
            </a:r>
            <a:r>
              <a:rPr lang="en-US" sz="1000" b="0" u="none" strike="noStrike" dirty="0">
                <a:effectLst/>
                <a:uFillTx/>
                <a:latin typeface="Arial"/>
                <a:ea typeface="Noto Sans CJK SC"/>
              </a:rPr>
              <a:t> </a:t>
            </a:r>
            <a:endParaRPr lang="en-US" sz="1000" b="0" u="none" strike="noStrike" dirty="0">
              <a:effectLst/>
              <a:uFillTx/>
              <a:latin typeface="Arial"/>
            </a:endParaRPr>
          </a:p>
          <a:p>
            <a:pPr>
              <a:lnSpc>
                <a:spcPct val="100000"/>
              </a:lnSpc>
              <a:spcBef>
                <a:spcPts val="57"/>
              </a:spcBef>
            </a:pPr>
            <a:r>
              <a:rPr lang="en-US" sz="1000" b="0" u="none" strike="noStrike" dirty="0">
                <a:effectLst/>
                <a:uFillTx/>
                <a:latin typeface="Arial"/>
                <a:ea typeface="Noto Sans CJK SC"/>
              </a:rPr>
              <a:t>FROM invoice;</a:t>
            </a:r>
            <a:endParaRPr lang="en-US" sz="1000" b="0" u="none" strike="noStrike" dirty="0">
              <a:effectLst/>
              <a:uFillTx/>
              <a:latin typeface="Arial"/>
            </a:endParaRPr>
          </a:p>
        </p:txBody>
      </p:sp>
      <p:sp>
        <p:nvSpPr>
          <p:cNvPr id="9" name="TextBox 8">
            <a:extLst>
              <a:ext uri="{FF2B5EF4-FFF2-40B4-BE49-F238E27FC236}">
                <a16:creationId xmlns:a16="http://schemas.microsoft.com/office/drawing/2014/main" id="{A944CEAF-6311-01EA-2ED9-930262520539}"/>
              </a:ext>
            </a:extLst>
          </p:cNvPr>
          <p:cNvSpPr txBox="1"/>
          <p:nvPr/>
        </p:nvSpPr>
        <p:spPr>
          <a:xfrm>
            <a:off x="5906022" y="4451580"/>
            <a:ext cx="3200400" cy="1514346"/>
          </a:xfrm>
          <a:prstGeom prst="rect">
            <a:avLst/>
          </a:prstGeom>
          <a:noFill/>
          <a:ln w="0">
            <a:noFill/>
          </a:ln>
        </p:spPr>
        <p:txBody>
          <a:bodyPr lIns="90000" tIns="45000" rIns="90000" bIns="45000" anchor="t">
            <a:spAutoFit/>
          </a:bodyPr>
          <a:lstStyle/>
          <a:p>
            <a:pPr>
              <a:lnSpc>
                <a:spcPct val="100000"/>
              </a:lnSpc>
              <a:spcBef>
                <a:spcPts val="1191"/>
              </a:spcBef>
              <a:spcAft>
                <a:spcPts val="992"/>
              </a:spcAft>
            </a:pPr>
            <a:r>
              <a:rPr lang="en-US" sz="1000" b="0" u="none" strike="noStrike" dirty="0">
                <a:solidFill>
                  <a:schemeClr val="accent2"/>
                </a:solidFill>
                <a:effectLst/>
                <a:uFillTx/>
                <a:latin typeface="Arial"/>
              </a:rPr>
              <a:t>Merges the results and KEEPS ALL ROWS. UNION ALL runs faster because it doesn't have to remove duplicates:</a:t>
            </a:r>
          </a:p>
          <a:p>
            <a:pPr>
              <a:lnSpc>
                <a:spcPct val="100000"/>
              </a:lnSpc>
              <a:spcBef>
                <a:spcPts val="57"/>
              </a:spcBef>
            </a:pPr>
            <a:r>
              <a:rPr lang="en-US" sz="1000" b="0" u="none" strike="noStrike" dirty="0">
                <a:effectLst/>
                <a:uFillTx/>
                <a:latin typeface="Arial"/>
              </a:rPr>
              <a:t>SELECT country </a:t>
            </a:r>
          </a:p>
          <a:p>
            <a:pPr>
              <a:lnSpc>
                <a:spcPct val="100000"/>
              </a:lnSpc>
              <a:spcBef>
                <a:spcPts val="57"/>
              </a:spcBef>
            </a:pPr>
            <a:r>
              <a:rPr lang="en-US" sz="1000" b="0" u="none" strike="noStrike" dirty="0">
                <a:effectLst/>
                <a:uFillTx/>
                <a:latin typeface="Arial"/>
              </a:rPr>
              <a:t>FROM customer</a:t>
            </a:r>
          </a:p>
          <a:p>
            <a:pPr>
              <a:lnSpc>
                <a:spcPct val="100000"/>
              </a:lnSpc>
              <a:spcBef>
                <a:spcPts val="57"/>
              </a:spcBef>
            </a:pPr>
            <a:r>
              <a:rPr lang="en-US" sz="1000" b="0" u="none" strike="noStrike" dirty="0">
                <a:effectLst/>
                <a:uFillTx/>
                <a:latin typeface="Arial"/>
              </a:rPr>
              <a:t>UNION ALL</a:t>
            </a:r>
          </a:p>
          <a:p>
            <a:pPr>
              <a:lnSpc>
                <a:spcPct val="100000"/>
              </a:lnSpc>
              <a:spcBef>
                <a:spcPts val="57"/>
              </a:spcBef>
            </a:pPr>
            <a:r>
              <a:rPr lang="en-US" sz="1000" b="0" u="none" strike="noStrike" dirty="0">
                <a:effectLst/>
                <a:uFillTx/>
                <a:latin typeface="Arial"/>
              </a:rPr>
              <a:t>SELECT </a:t>
            </a:r>
            <a:r>
              <a:rPr lang="en-US" sz="1000" b="0" u="none" strike="noStrike" dirty="0" err="1">
                <a:effectLst/>
                <a:uFillTx/>
                <a:latin typeface="Arial"/>
              </a:rPr>
              <a:t>billing_country</a:t>
            </a:r>
            <a:r>
              <a:rPr lang="en-US" sz="1000" b="0" u="none" strike="noStrike" dirty="0">
                <a:effectLst/>
                <a:uFillTx/>
                <a:latin typeface="Arial"/>
              </a:rPr>
              <a:t> </a:t>
            </a:r>
          </a:p>
          <a:p>
            <a:pPr>
              <a:lnSpc>
                <a:spcPct val="100000"/>
              </a:lnSpc>
              <a:spcBef>
                <a:spcPts val="57"/>
              </a:spcBef>
            </a:pPr>
            <a:r>
              <a:rPr lang="en-US" sz="1000" b="0" u="none" strike="noStrike" dirty="0">
                <a:effectLst/>
                <a:uFillTx/>
                <a:latin typeface="Arial"/>
              </a:rPr>
              <a:t>FROM invoice;</a:t>
            </a:r>
          </a:p>
        </p:txBody>
      </p:sp>
    </p:spTree>
    <p:extLst>
      <p:ext uri="{BB962C8B-B14F-4D97-AF65-F5344CB8AC3E}">
        <p14:creationId xmlns:p14="http://schemas.microsoft.com/office/powerpoint/2010/main" val="2039444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A5816-C81A-4014-2BB9-0D902A550733}"/>
              </a:ext>
            </a:extLst>
          </p:cNvPr>
          <p:cNvSpPr>
            <a:spLocks noGrp="1"/>
          </p:cNvSpPr>
          <p:nvPr>
            <p:ph type="title"/>
          </p:nvPr>
        </p:nvSpPr>
        <p:spPr/>
        <p:txBody>
          <a:bodyPr/>
          <a:lstStyle/>
          <a:p>
            <a:r>
              <a:rPr lang="en-US" dirty="0"/>
              <a:t>Union Example &amp; Source</a:t>
            </a:r>
          </a:p>
        </p:txBody>
      </p:sp>
      <p:sp>
        <p:nvSpPr>
          <p:cNvPr id="5" name="TextBox 4">
            <a:extLst>
              <a:ext uri="{FF2B5EF4-FFF2-40B4-BE49-F238E27FC236}">
                <a16:creationId xmlns:a16="http://schemas.microsoft.com/office/drawing/2014/main" id="{C0A9B404-1BFF-0D7A-CACC-D740C7E2DCD6}"/>
              </a:ext>
            </a:extLst>
          </p:cNvPr>
          <p:cNvSpPr txBox="1"/>
          <p:nvPr/>
        </p:nvSpPr>
        <p:spPr>
          <a:xfrm>
            <a:off x="2209800" y="3513551"/>
            <a:ext cx="3886200" cy="1993964"/>
          </a:xfrm>
          <a:prstGeom prst="rect">
            <a:avLst/>
          </a:prstGeom>
          <a:noFill/>
          <a:ln w="0">
            <a:noFill/>
          </a:ln>
        </p:spPr>
        <p:txBody>
          <a:bodyPr lIns="90000" tIns="45000" rIns="90000" bIns="45000" anchor="t">
            <a:spAutoFit/>
          </a:bodyPr>
          <a:lstStyle/>
          <a:p>
            <a:pPr>
              <a:lnSpc>
                <a:spcPct val="100000"/>
              </a:lnSpc>
              <a:spcBef>
                <a:spcPts val="57"/>
              </a:spcBef>
            </a:pPr>
            <a:r>
              <a:rPr lang="en-US" sz="1300" b="0" u="none" strike="noStrike">
                <a:effectLst/>
                <a:uFillTx/>
                <a:latin typeface="Arial"/>
              </a:rPr>
              <a:t>SELECT total AS transaction_amount,</a:t>
            </a:r>
          </a:p>
          <a:p>
            <a:pPr>
              <a:lnSpc>
                <a:spcPct val="100000"/>
              </a:lnSpc>
              <a:spcBef>
                <a:spcPts val="57"/>
              </a:spcBef>
            </a:pPr>
            <a:r>
              <a:rPr lang="en-US" sz="1300" b="0" u="none" strike="noStrike">
                <a:effectLst/>
                <a:uFillTx/>
                <a:latin typeface="Arial"/>
              </a:rPr>
              <a:t>'Invoice' AS source,</a:t>
            </a:r>
          </a:p>
          <a:p>
            <a:pPr>
              <a:lnSpc>
                <a:spcPct val="100000"/>
              </a:lnSpc>
              <a:spcBef>
                <a:spcPts val="57"/>
              </a:spcBef>
            </a:pPr>
            <a:r>
              <a:rPr lang="en-US" sz="1300" b="0" u="none" strike="noStrike">
                <a:effectLst/>
                <a:uFillTx/>
                <a:latin typeface="Arial"/>
              </a:rPr>
              <a:t>invoice_id AS transaction_id</a:t>
            </a:r>
          </a:p>
          <a:p>
            <a:pPr>
              <a:lnSpc>
                <a:spcPct val="100000"/>
              </a:lnSpc>
              <a:spcBef>
                <a:spcPts val="57"/>
              </a:spcBef>
            </a:pPr>
            <a:r>
              <a:rPr lang="en-US" sz="1300" b="0" u="none" strike="noStrike">
                <a:effectLst/>
                <a:uFillTx/>
                <a:latin typeface="Arial"/>
              </a:rPr>
              <a:t>FROM invoice</a:t>
            </a:r>
          </a:p>
          <a:p>
            <a:pPr>
              <a:lnSpc>
                <a:spcPct val="100000"/>
              </a:lnSpc>
              <a:spcBef>
                <a:spcPts val="57"/>
              </a:spcBef>
            </a:pPr>
            <a:r>
              <a:rPr lang="en-US" sz="1300" b="0" u="none" strike="noStrike">
                <a:effectLst/>
                <a:uFillTx/>
                <a:latin typeface="Arial"/>
              </a:rPr>
              <a:t>UNION</a:t>
            </a:r>
          </a:p>
          <a:p>
            <a:pPr>
              <a:lnSpc>
                <a:spcPct val="100000"/>
              </a:lnSpc>
              <a:spcBef>
                <a:spcPts val="57"/>
              </a:spcBef>
            </a:pPr>
            <a:r>
              <a:rPr lang="en-US" sz="1300" b="0" u="none" strike="noStrike">
                <a:effectLst/>
                <a:uFillTx/>
                <a:latin typeface="Arial"/>
              </a:rPr>
              <a:t>SELECT unit_price AS transaction_amount,</a:t>
            </a:r>
          </a:p>
          <a:p>
            <a:pPr>
              <a:lnSpc>
                <a:spcPct val="100000"/>
              </a:lnSpc>
              <a:spcBef>
                <a:spcPts val="57"/>
              </a:spcBef>
            </a:pPr>
            <a:r>
              <a:rPr lang="en-US" sz="1300" b="0" u="none" strike="noStrike">
                <a:effectLst/>
                <a:uFillTx/>
                <a:latin typeface="Arial"/>
              </a:rPr>
              <a:t>'Invoice Line' AS source,</a:t>
            </a:r>
          </a:p>
          <a:p>
            <a:pPr>
              <a:lnSpc>
                <a:spcPct val="100000"/>
              </a:lnSpc>
              <a:spcBef>
                <a:spcPts val="57"/>
              </a:spcBef>
            </a:pPr>
            <a:r>
              <a:rPr lang="en-US" sz="1300" b="0" u="none" strike="noStrike">
                <a:effectLst/>
                <a:uFillTx/>
                <a:latin typeface="Arial"/>
              </a:rPr>
              <a:t>invoice_line_id AS transaction_id</a:t>
            </a:r>
          </a:p>
          <a:p>
            <a:pPr>
              <a:lnSpc>
                <a:spcPct val="100000"/>
              </a:lnSpc>
              <a:spcBef>
                <a:spcPts val="57"/>
              </a:spcBef>
            </a:pPr>
            <a:r>
              <a:rPr lang="en-US" sz="1300" b="0" u="none" strike="noStrike">
                <a:effectLst/>
                <a:uFillTx/>
                <a:latin typeface="Arial"/>
              </a:rPr>
              <a:t>FROM invoice_line;</a:t>
            </a:r>
          </a:p>
        </p:txBody>
      </p:sp>
      <p:sp>
        <p:nvSpPr>
          <p:cNvPr id="7" name="TextBox 6">
            <a:extLst>
              <a:ext uri="{FF2B5EF4-FFF2-40B4-BE49-F238E27FC236}">
                <a16:creationId xmlns:a16="http://schemas.microsoft.com/office/drawing/2014/main" id="{B7875EC7-F1BB-665F-640D-4810EE83BD21}"/>
              </a:ext>
            </a:extLst>
          </p:cNvPr>
          <p:cNvSpPr txBox="1"/>
          <p:nvPr/>
        </p:nvSpPr>
        <p:spPr>
          <a:xfrm>
            <a:off x="3124200" y="2159231"/>
            <a:ext cx="5486400" cy="1198875"/>
          </a:xfrm>
          <a:prstGeom prst="rect">
            <a:avLst/>
          </a:prstGeom>
          <a:noFill/>
          <a:ln w="0">
            <a:noFill/>
          </a:ln>
        </p:spPr>
        <p:txBody>
          <a:bodyPr lIns="90000" tIns="45000" rIns="90000" bIns="45000" anchor="t" anchorCtr="1">
            <a:spAutoFit/>
          </a:bodyPr>
          <a:lstStyle/>
          <a:p>
            <a:pPr algn="ctr"/>
            <a:r>
              <a:rPr lang="en-US" sz="1800" b="0" u="none" strike="noStrike" dirty="0">
                <a:effectLst/>
                <a:uFillTx/>
                <a:latin typeface="Arial"/>
              </a:rPr>
              <a:t>Invoices have a total. </a:t>
            </a:r>
          </a:p>
          <a:p>
            <a:pPr algn="ctr"/>
            <a:r>
              <a:rPr lang="en-US" sz="1800" b="0" u="none" strike="noStrike" dirty="0">
                <a:effectLst/>
                <a:uFillTx/>
                <a:latin typeface="Arial"/>
              </a:rPr>
              <a:t>Invoice line items have a </a:t>
            </a:r>
            <a:r>
              <a:rPr lang="en-US" sz="1800" b="0" u="none" strike="noStrike" dirty="0" err="1">
                <a:effectLst/>
                <a:uFillTx/>
                <a:latin typeface="Arial"/>
              </a:rPr>
              <a:t>unit_price</a:t>
            </a:r>
            <a:r>
              <a:rPr lang="en-US" sz="1800" b="0" u="none" strike="noStrike" dirty="0">
                <a:effectLst/>
                <a:uFillTx/>
                <a:latin typeface="Arial"/>
              </a:rPr>
              <a:t>. </a:t>
            </a:r>
          </a:p>
          <a:p>
            <a:pPr algn="ctr"/>
            <a:r>
              <a:rPr lang="en-US" sz="1800" b="0" u="none" strike="noStrike" dirty="0">
                <a:effectLst/>
                <a:uFillTx/>
                <a:latin typeface="Arial"/>
              </a:rPr>
              <a:t>Print all combined records, showing if the total came from the invoice itself, or a line item.</a:t>
            </a:r>
          </a:p>
        </p:txBody>
      </p:sp>
      <p:pic>
        <p:nvPicPr>
          <p:cNvPr id="9" name="Picture 8">
            <a:extLst>
              <a:ext uri="{FF2B5EF4-FFF2-40B4-BE49-F238E27FC236}">
                <a16:creationId xmlns:a16="http://schemas.microsoft.com/office/drawing/2014/main" id="{5EBAF65F-EAF7-F5F9-6428-C1BC64DD39B4}"/>
              </a:ext>
            </a:extLst>
          </p:cNvPr>
          <p:cNvPicPr/>
          <p:nvPr/>
        </p:nvPicPr>
        <p:blipFill>
          <a:blip r:embed="rId2"/>
          <a:stretch/>
        </p:blipFill>
        <p:spPr>
          <a:xfrm>
            <a:off x="5563200" y="3513551"/>
            <a:ext cx="4647600" cy="2286000"/>
          </a:xfrm>
          <a:prstGeom prst="rect">
            <a:avLst/>
          </a:prstGeom>
          <a:noFill/>
          <a:ln w="0">
            <a:noFill/>
          </a:ln>
        </p:spPr>
      </p:pic>
    </p:spTree>
    <p:extLst>
      <p:ext uri="{BB962C8B-B14F-4D97-AF65-F5344CB8AC3E}">
        <p14:creationId xmlns:p14="http://schemas.microsoft.com/office/powerpoint/2010/main" val="32634150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8BD16-4804-2BBA-E113-6F6F4E51D78C}"/>
              </a:ext>
            </a:extLst>
          </p:cNvPr>
          <p:cNvSpPr>
            <a:spLocks noGrp="1"/>
          </p:cNvSpPr>
          <p:nvPr>
            <p:ph type="title"/>
          </p:nvPr>
        </p:nvSpPr>
        <p:spPr/>
        <p:txBody>
          <a:bodyPr/>
          <a:lstStyle/>
          <a:p>
            <a:r>
              <a:rPr lang="en-US" dirty="0"/>
              <a:t>Joins vs Unions</a:t>
            </a:r>
          </a:p>
        </p:txBody>
      </p:sp>
      <p:sp>
        <p:nvSpPr>
          <p:cNvPr id="5" name="TextBox 4">
            <a:extLst>
              <a:ext uri="{FF2B5EF4-FFF2-40B4-BE49-F238E27FC236}">
                <a16:creationId xmlns:a16="http://schemas.microsoft.com/office/drawing/2014/main" id="{B42013E7-5830-DBB1-71CD-E00BD0A00DE4}"/>
              </a:ext>
            </a:extLst>
          </p:cNvPr>
          <p:cNvSpPr txBox="1"/>
          <p:nvPr/>
        </p:nvSpPr>
        <p:spPr>
          <a:xfrm>
            <a:off x="3497578" y="2696228"/>
            <a:ext cx="4519080" cy="2830090"/>
          </a:xfrm>
          <a:prstGeom prst="rect">
            <a:avLst/>
          </a:prstGeom>
          <a:noFill/>
          <a:ln w="0">
            <a:noFill/>
          </a:ln>
        </p:spPr>
        <p:txBody>
          <a:bodyPr lIns="90000" tIns="45000" rIns="90000" bIns="45000" anchor="t">
            <a:spAutoFit/>
          </a:bodyPr>
          <a:lstStyle/>
          <a:p>
            <a:pPr>
              <a:lnSpc>
                <a:spcPct val="100000"/>
              </a:lnSpc>
              <a:spcBef>
                <a:spcPts val="340"/>
              </a:spcBef>
              <a:spcAft>
                <a:spcPts val="142"/>
              </a:spcAft>
            </a:pPr>
            <a:endParaRPr lang="en-US" sz="1200" b="1" u="none" strike="noStrike" dirty="0">
              <a:effectLst/>
              <a:uFillTx/>
              <a:latin typeface="Arial"/>
            </a:endParaRPr>
          </a:p>
          <a:p>
            <a:pPr>
              <a:lnSpc>
                <a:spcPct val="100000"/>
              </a:lnSpc>
              <a:spcBef>
                <a:spcPts val="340"/>
              </a:spcBef>
              <a:spcAft>
                <a:spcPts val="142"/>
              </a:spcAft>
            </a:pPr>
            <a:r>
              <a:rPr lang="en-US" sz="1200" b="0" u="none" strike="noStrike" dirty="0">
                <a:effectLst/>
                <a:uFillTx/>
                <a:latin typeface="Arial"/>
              </a:rPr>
              <a:t>Just remember:</a:t>
            </a:r>
          </a:p>
          <a:p>
            <a:pPr>
              <a:lnSpc>
                <a:spcPct val="100000"/>
              </a:lnSpc>
              <a:spcBef>
                <a:spcPts val="340"/>
              </a:spcBef>
              <a:spcAft>
                <a:spcPts val="142"/>
              </a:spcAft>
            </a:pPr>
            <a:r>
              <a:rPr lang="en-US" sz="1200" b="0" u="none" strike="noStrike" dirty="0">
                <a:effectLst/>
                <a:uFillTx/>
                <a:latin typeface="Arial"/>
              </a:rPr>
              <a:t>JOINS combine columns.</a:t>
            </a:r>
          </a:p>
          <a:p>
            <a:pPr>
              <a:lnSpc>
                <a:spcPct val="100000"/>
              </a:lnSpc>
              <a:spcBef>
                <a:spcPts val="340"/>
              </a:spcBef>
              <a:spcAft>
                <a:spcPts val="142"/>
              </a:spcAft>
            </a:pPr>
            <a:r>
              <a:rPr lang="en-US" sz="1200" b="0" u="none" strike="noStrike" dirty="0">
                <a:effectLst/>
                <a:uFillTx/>
                <a:latin typeface="Arial"/>
              </a:rPr>
              <a:t>UNIONS combine rows.</a:t>
            </a:r>
          </a:p>
          <a:p>
            <a:pPr>
              <a:lnSpc>
                <a:spcPct val="100000"/>
              </a:lnSpc>
              <a:spcBef>
                <a:spcPts val="340"/>
              </a:spcBef>
              <a:spcAft>
                <a:spcPts val="142"/>
              </a:spcAft>
            </a:pPr>
            <a:endParaRPr lang="en-US" sz="1000" b="0" u="none" strike="noStrike" dirty="0">
              <a:effectLst/>
              <a:uFillTx/>
              <a:latin typeface="Arial"/>
            </a:endParaRPr>
          </a:p>
          <a:p>
            <a:pPr>
              <a:lnSpc>
                <a:spcPct val="100000"/>
              </a:lnSpc>
              <a:spcBef>
                <a:spcPts val="340"/>
              </a:spcBef>
              <a:spcAft>
                <a:spcPts val="142"/>
              </a:spcAft>
            </a:pPr>
            <a:r>
              <a:rPr lang="en-US" sz="1200" b="0" u="none" strike="noStrike" dirty="0">
                <a:effectLst/>
                <a:uFillTx/>
                <a:latin typeface="Arial"/>
              </a:rPr>
              <a:t>JOINS answer the question “how do table A and table B relate? Tables are side-by-side. The result is WIDER. </a:t>
            </a:r>
          </a:p>
          <a:p>
            <a:pPr>
              <a:lnSpc>
                <a:spcPct val="100000"/>
              </a:lnSpc>
              <a:spcBef>
                <a:spcPts val="340"/>
              </a:spcBef>
              <a:spcAft>
                <a:spcPts val="142"/>
              </a:spcAft>
            </a:pPr>
            <a:endParaRPr lang="en-US" sz="1000" b="0" u="none" strike="noStrike" dirty="0">
              <a:effectLst/>
              <a:uFillTx/>
              <a:latin typeface="Arial"/>
            </a:endParaRPr>
          </a:p>
          <a:p>
            <a:pPr>
              <a:lnSpc>
                <a:spcPct val="100000"/>
              </a:lnSpc>
              <a:spcBef>
                <a:spcPts val="340"/>
              </a:spcBef>
              <a:spcAft>
                <a:spcPts val="142"/>
              </a:spcAft>
            </a:pPr>
            <a:r>
              <a:rPr lang="en-US" sz="1200" b="0" u="none" strike="noStrike" dirty="0">
                <a:effectLst/>
                <a:uFillTx/>
                <a:latin typeface="Arial"/>
              </a:rPr>
              <a:t>UNIONS answer the question “these queries produce the same shape of data, can I stack them?” Tables are vertical and the result is LONGER. </a:t>
            </a:r>
          </a:p>
          <a:p>
            <a:pPr>
              <a:lnSpc>
                <a:spcPct val="100000"/>
              </a:lnSpc>
              <a:spcBef>
                <a:spcPts val="340"/>
              </a:spcBef>
              <a:spcAft>
                <a:spcPts val="142"/>
              </a:spcAft>
            </a:pPr>
            <a:endParaRPr lang="en-US" sz="1000" b="0" u="none" strike="noStrike" dirty="0">
              <a:effectLst/>
              <a:uFillTx/>
              <a:latin typeface="Arial"/>
            </a:endParaRPr>
          </a:p>
          <a:p>
            <a:pPr>
              <a:lnSpc>
                <a:spcPct val="100000"/>
              </a:lnSpc>
              <a:spcBef>
                <a:spcPts val="340"/>
              </a:spcBef>
              <a:spcAft>
                <a:spcPts val="142"/>
              </a:spcAft>
            </a:pPr>
            <a:endParaRPr lang="en-US" sz="1000" b="0" u="none" strike="noStrike" dirty="0">
              <a:effectLst/>
              <a:uFillTx/>
              <a:latin typeface="Arial"/>
            </a:endParaRPr>
          </a:p>
        </p:txBody>
      </p:sp>
    </p:spTree>
    <p:extLst>
      <p:ext uri="{BB962C8B-B14F-4D97-AF65-F5344CB8AC3E}">
        <p14:creationId xmlns:p14="http://schemas.microsoft.com/office/powerpoint/2010/main" val="35082530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6D7C-02BF-FD38-0F70-FF01A17DF9F2}"/>
              </a:ext>
            </a:extLst>
          </p:cNvPr>
          <p:cNvSpPr>
            <a:spLocks noGrp="1"/>
          </p:cNvSpPr>
          <p:nvPr>
            <p:ph type="title"/>
          </p:nvPr>
        </p:nvSpPr>
        <p:spPr/>
        <p:txBody>
          <a:bodyPr/>
          <a:lstStyle/>
          <a:p>
            <a:r>
              <a:rPr lang="en-US" dirty="0"/>
              <a:t>Views</a:t>
            </a:r>
          </a:p>
        </p:txBody>
      </p:sp>
      <p:sp>
        <p:nvSpPr>
          <p:cNvPr id="5" name="TextBox 4">
            <a:extLst>
              <a:ext uri="{FF2B5EF4-FFF2-40B4-BE49-F238E27FC236}">
                <a16:creationId xmlns:a16="http://schemas.microsoft.com/office/drawing/2014/main" id="{16C91A35-0678-DC95-A6B2-0AD9F8C7F3FE}"/>
              </a:ext>
            </a:extLst>
          </p:cNvPr>
          <p:cNvSpPr txBox="1"/>
          <p:nvPr/>
        </p:nvSpPr>
        <p:spPr>
          <a:xfrm>
            <a:off x="868993" y="2444627"/>
            <a:ext cx="6097044" cy="2820516"/>
          </a:xfrm>
          <a:prstGeom prst="rect">
            <a:avLst/>
          </a:prstGeom>
          <a:noFill/>
        </p:spPr>
        <p:txBody>
          <a:bodyPr wrap="square">
            <a:spAutoFit/>
          </a:bodyPr>
          <a:lstStyle/>
          <a:p>
            <a:pPr>
              <a:lnSpc>
                <a:spcPct val="100000"/>
              </a:lnSpc>
              <a:buNone/>
            </a:pPr>
            <a:r>
              <a:rPr lang="en-US" sz="1800" b="0" dirty="0">
                <a:solidFill>
                  <a:schemeClr val="tx1"/>
                </a:solidFill>
                <a:effectLst/>
                <a:latin typeface="+mn-lt"/>
              </a:rPr>
              <a:t>CREATE VIEW </a:t>
            </a:r>
            <a:r>
              <a:rPr lang="en-US" sz="1800" b="0" dirty="0" err="1">
                <a:solidFill>
                  <a:schemeClr val="tx1"/>
                </a:solidFill>
                <a:effectLst/>
                <a:latin typeface="+mn-lt"/>
              </a:rPr>
              <a:t>customer_spending</a:t>
            </a:r>
            <a:r>
              <a:rPr lang="en-US" sz="1800" b="0" dirty="0">
                <a:solidFill>
                  <a:schemeClr val="tx1"/>
                </a:solidFill>
                <a:effectLst/>
                <a:latin typeface="+mn-lt"/>
              </a:rPr>
              <a:t> AS</a:t>
            </a:r>
          </a:p>
          <a:p>
            <a:pPr>
              <a:lnSpc>
                <a:spcPct val="100000"/>
              </a:lnSpc>
              <a:buNone/>
            </a:pPr>
            <a:r>
              <a:rPr lang="en-US" sz="1800" b="0" dirty="0">
                <a:solidFill>
                  <a:schemeClr val="tx1"/>
                </a:solidFill>
                <a:effectLst/>
                <a:latin typeface="+mn-lt"/>
              </a:rPr>
              <a:t>SELECT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c.customer_id</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c.first_name</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c.last_name</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c.email</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SUM(</a:t>
            </a:r>
            <a:r>
              <a:rPr lang="en-US" sz="1800" b="0" dirty="0" err="1">
                <a:solidFill>
                  <a:schemeClr val="tx1"/>
                </a:solidFill>
                <a:effectLst/>
                <a:latin typeface="+mn-lt"/>
              </a:rPr>
              <a:t>i.total</a:t>
            </a:r>
            <a:r>
              <a:rPr lang="en-US" sz="1800" b="0" dirty="0">
                <a:solidFill>
                  <a:schemeClr val="tx1"/>
                </a:solidFill>
                <a:effectLst/>
                <a:latin typeface="+mn-lt"/>
              </a:rPr>
              <a:t>) AS </a:t>
            </a:r>
            <a:r>
              <a:rPr lang="en-US" sz="1800" b="0" dirty="0" err="1">
                <a:solidFill>
                  <a:schemeClr val="tx1"/>
                </a:solidFill>
                <a:effectLst/>
                <a:latin typeface="+mn-lt"/>
              </a:rPr>
              <a:t>total_spent</a:t>
            </a: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FROM Customer c</a:t>
            </a:r>
          </a:p>
          <a:p>
            <a:pPr>
              <a:lnSpc>
                <a:spcPct val="100000"/>
              </a:lnSpc>
              <a:buNone/>
            </a:pPr>
            <a:r>
              <a:rPr lang="en-US" sz="1800" b="0" dirty="0">
                <a:solidFill>
                  <a:schemeClr val="tx1"/>
                </a:solidFill>
                <a:effectLst/>
                <a:latin typeface="+mn-lt"/>
              </a:rPr>
              <a:t>JOIN Invoice </a:t>
            </a:r>
            <a:r>
              <a:rPr lang="en-US" sz="1800" b="0" dirty="0" err="1">
                <a:solidFill>
                  <a:schemeClr val="tx1"/>
                </a:solidFill>
                <a:effectLst/>
                <a:latin typeface="+mn-lt"/>
              </a:rPr>
              <a:t>i</a:t>
            </a: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    ON </a:t>
            </a:r>
            <a:r>
              <a:rPr lang="en-US" sz="1800" b="0" dirty="0" err="1">
                <a:solidFill>
                  <a:schemeClr val="tx1"/>
                </a:solidFill>
                <a:effectLst/>
                <a:latin typeface="+mn-lt"/>
              </a:rPr>
              <a:t>c.customer_id</a:t>
            </a:r>
            <a:r>
              <a:rPr lang="en-US" sz="1800" b="0" dirty="0">
                <a:solidFill>
                  <a:schemeClr val="tx1"/>
                </a:solidFill>
                <a:effectLst/>
                <a:latin typeface="+mn-lt"/>
              </a:rPr>
              <a:t> = </a:t>
            </a:r>
            <a:r>
              <a:rPr lang="en-US" sz="1800" b="0" dirty="0" err="1">
                <a:solidFill>
                  <a:schemeClr val="tx1"/>
                </a:solidFill>
                <a:effectLst/>
                <a:latin typeface="+mn-lt"/>
              </a:rPr>
              <a:t>i.customer_id</a:t>
            </a: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GROUP BY</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c.customer_id</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c.first_name</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c.last_name</a:t>
            </a:r>
            <a:r>
              <a:rPr lang="en-US" sz="1800" b="0" dirty="0">
                <a:solidFill>
                  <a:schemeClr val="tx1"/>
                </a:solidFill>
                <a:effectLst/>
                <a:latin typeface="+mn-lt"/>
              </a:rPr>
              <a:t>,</a:t>
            </a:r>
          </a:p>
          <a:p>
            <a:pPr>
              <a:lnSpc>
                <a:spcPct val="100000"/>
              </a:lnSpc>
              <a:buNone/>
            </a:pPr>
            <a:r>
              <a:rPr lang="en-US" sz="1800" b="0" dirty="0">
                <a:solidFill>
                  <a:schemeClr val="tx1"/>
                </a:solidFill>
                <a:effectLst/>
                <a:latin typeface="+mn-lt"/>
              </a:rPr>
              <a:t>    </a:t>
            </a:r>
            <a:r>
              <a:rPr lang="en-US" sz="1800" b="0" dirty="0" err="1">
                <a:solidFill>
                  <a:schemeClr val="tx1"/>
                </a:solidFill>
                <a:effectLst/>
                <a:latin typeface="+mn-lt"/>
              </a:rPr>
              <a:t>c.email</a:t>
            </a:r>
            <a:r>
              <a:rPr lang="en-US" sz="1800" b="0" dirty="0">
                <a:solidFill>
                  <a:schemeClr val="tx1"/>
                </a:solidFill>
                <a:effectLst/>
                <a:latin typeface="+mn-lt"/>
              </a:rPr>
              <a:t>;</a:t>
            </a:r>
            <a:endParaRPr lang="en-US" sz="1050" b="0" dirty="0">
              <a:solidFill>
                <a:srgbClr val="BBBEB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096E2098-6464-EEC4-20F3-1EF68EADF9D5}"/>
              </a:ext>
            </a:extLst>
          </p:cNvPr>
          <p:cNvSpPr txBox="1"/>
          <p:nvPr/>
        </p:nvSpPr>
        <p:spPr>
          <a:xfrm>
            <a:off x="7037975" y="3478930"/>
            <a:ext cx="3164388" cy="923330"/>
          </a:xfrm>
          <a:prstGeom prst="rect">
            <a:avLst/>
          </a:prstGeom>
          <a:noFill/>
        </p:spPr>
        <p:txBody>
          <a:bodyPr wrap="square">
            <a:spAutoFit/>
          </a:bodyPr>
          <a:lstStyle/>
          <a:p>
            <a:pPr>
              <a:lnSpc>
                <a:spcPct val="100000"/>
              </a:lnSpc>
              <a:buNone/>
            </a:pPr>
            <a:r>
              <a:rPr lang="en-US" sz="1800" b="0" dirty="0">
                <a:solidFill>
                  <a:schemeClr val="tx1"/>
                </a:solidFill>
                <a:effectLst/>
                <a:latin typeface="+mn-lt"/>
              </a:rPr>
              <a:t>SELECT *</a:t>
            </a:r>
          </a:p>
          <a:p>
            <a:pPr>
              <a:lnSpc>
                <a:spcPct val="100000"/>
              </a:lnSpc>
              <a:buNone/>
            </a:pPr>
            <a:r>
              <a:rPr lang="en-US" sz="1800" b="0" dirty="0">
                <a:solidFill>
                  <a:schemeClr val="tx1"/>
                </a:solidFill>
                <a:effectLst/>
                <a:latin typeface="+mn-lt"/>
              </a:rPr>
              <a:t>FROM </a:t>
            </a:r>
            <a:r>
              <a:rPr lang="en-US" sz="1800" b="0" dirty="0" err="1">
                <a:solidFill>
                  <a:schemeClr val="tx1"/>
                </a:solidFill>
                <a:effectLst/>
                <a:latin typeface="+mn-lt"/>
              </a:rPr>
              <a:t>customer_spending</a:t>
            </a:r>
            <a:endParaRPr lang="en-US" sz="1800" b="0" dirty="0">
              <a:solidFill>
                <a:schemeClr val="tx1"/>
              </a:solidFill>
              <a:effectLst/>
              <a:latin typeface="+mn-lt"/>
            </a:endParaRPr>
          </a:p>
          <a:p>
            <a:pPr>
              <a:lnSpc>
                <a:spcPct val="100000"/>
              </a:lnSpc>
              <a:buNone/>
            </a:pPr>
            <a:r>
              <a:rPr lang="en-US" sz="1800" b="0" dirty="0">
                <a:solidFill>
                  <a:schemeClr val="tx1"/>
                </a:solidFill>
                <a:effectLst/>
                <a:latin typeface="+mn-lt"/>
              </a:rPr>
              <a:t>ORDER BY </a:t>
            </a:r>
            <a:r>
              <a:rPr lang="en-US" sz="1800" b="0" dirty="0" err="1">
                <a:solidFill>
                  <a:schemeClr val="tx1"/>
                </a:solidFill>
                <a:effectLst/>
                <a:latin typeface="+mn-lt"/>
              </a:rPr>
              <a:t>total_spent</a:t>
            </a:r>
            <a:r>
              <a:rPr lang="en-US" sz="1800" b="0" dirty="0">
                <a:solidFill>
                  <a:schemeClr val="tx1"/>
                </a:solidFill>
                <a:effectLst/>
                <a:latin typeface="+mn-lt"/>
              </a:rPr>
              <a:t> DESC;</a:t>
            </a:r>
            <a:endParaRPr lang="en-US" sz="1050" b="0" dirty="0">
              <a:solidFill>
                <a:srgbClr val="BBBEBF"/>
              </a:solidFill>
              <a:effectLst/>
              <a:latin typeface="Consolas" panose="020B0609020204030204" pitchFamily="49" charset="0"/>
            </a:endParaRPr>
          </a:p>
        </p:txBody>
      </p:sp>
      <p:sp>
        <p:nvSpPr>
          <p:cNvPr id="8" name="TextBox 7">
            <a:extLst>
              <a:ext uri="{FF2B5EF4-FFF2-40B4-BE49-F238E27FC236}">
                <a16:creationId xmlns:a16="http://schemas.microsoft.com/office/drawing/2014/main" id="{F5CCEFD4-202A-415A-5ADD-C66C08C34CBB}"/>
              </a:ext>
            </a:extLst>
          </p:cNvPr>
          <p:cNvSpPr txBox="1"/>
          <p:nvPr/>
        </p:nvSpPr>
        <p:spPr>
          <a:xfrm>
            <a:off x="3356975" y="1941534"/>
            <a:ext cx="5324727" cy="369332"/>
          </a:xfrm>
          <a:prstGeom prst="rect">
            <a:avLst/>
          </a:prstGeom>
          <a:noFill/>
        </p:spPr>
        <p:txBody>
          <a:bodyPr wrap="none" rtlCol="0">
            <a:spAutoFit/>
          </a:bodyPr>
          <a:lstStyle/>
          <a:p>
            <a:r>
              <a:rPr lang="en-US" dirty="0"/>
              <a:t>Views allow us to save a query that behaves like a table:</a:t>
            </a:r>
          </a:p>
        </p:txBody>
      </p:sp>
    </p:spTree>
    <p:extLst>
      <p:ext uri="{BB962C8B-B14F-4D97-AF65-F5344CB8AC3E}">
        <p14:creationId xmlns:p14="http://schemas.microsoft.com/office/powerpoint/2010/main" val="13523238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FD6DB-BCB9-040E-4CE1-3074030042FF}"/>
              </a:ext>
            </a:extLst>
          </p:cNvPr>
          <p:cNvSpPr>
            <a:spLocks noGrp="1"/>
          </p:cNvSpPr>
          <p:nvPr>
            <p:ph type="title"/>
          </p:nvPr>
        </p:nvSpPr>
        <p:spPr/>
        <p:txBody>
          <a:bodyPr/>
          <a:lstStyle/>
          <a:p>
            <a:r>
              <a:rPr lang="en-US" dirty="0"/>
              <a:t>The query Planner</a:t>
            </a:r>
          </a:p>
        </p:txBody>
      </p:sp>
      <p:sp>
        <p:nvSpPr>
          <p:cNvPr id="5" name="TextBox 4">
            <a:extLst>
              <a:ext uri="{FF2B5EF4-FFF2-40B4-BE49-F238E27FC236}">
                <a16:creationId xmlns:a16="http://schemas.microsoft.com/office/drawing/2014/main" id="{F35E79A2-D6AE-0207-9302-AE90912C9FFF}"/>
              </a:ext>
            </a:extLst>
          </p:cNvPr>
          <p:cNvSpPr txBox="1"/>
          <p:nvPr/>
        </p:nvSpPr>
        <p:spPr>
          <a:xfrm>
            <a:off x="2430048" y="2478667"/>
            <a:ext cx="8467595" cy="2663378"/>
          </a:xfrm>
          <a:prstGeom prst="rect">
            <a:avLst/>
          </a:prstGeom>
          <a:noFill/>
          <a:ln w="0">
            <a:noFill/>
          </a:ln>
        </p:spPr>
        <p:txBody>
          <a:bodyPr wrap="square" lIns="90000" tIns="45000" rIns="90000" bIns="45000" anchor="t">
            <a:spAutoFit/>
          </a:bodyPr>
          <a:lstStyle/>
          <a:p>
            <a:pPr>
              <a:lnSpc>
                <a:spcPct val="100000"/>
              </a:lnSpc>
              <a:spcBef>
                <a:spcPts val="57"/>
              </a:spcBef>
            </a:pPr>
            <a:r>
              <a:rPr lang="en-US" sz="1200" b="0" u="none" strike="noStrike" dirty="0">
                <a:effectLst/>
                <a:uFillTx/>
                <a:latin typeface="Arial"/>
              </a:rPr>
              <a:t>The query planner is </a:t>
            </a:r>
            <a:r>
              <a:rPr lang="en-US" sz="1200" b="0" u="none" strike="noStrike" dirty="0" err="1">
                <a:effectLst/>
                <a:uFillTx/>
                <a:latin typeface="Arial"/>
              </a:rPr>
              <a:t>PostgesSQL's</a:t>
            </a:r>
            <a:r>
              <a:rPr lang="en-US" sz="1200" b="0" u="none" strike="noStrike" dirty="0">
                <a:effectLst/>
                <a:uFillTx/>
                <a:latin typeface="Arial"/>
              </a:rPr>
              <a:t> brain. </a:t>
            </a:r>
          </a:p>
          <a:p>
            <a:pPr>
              <a:lnSpc>
                <a:spcPct val="100000"/>
              </a:lnSpc>
              <a:spcBef>
                <a:spcPts val="57"/>
              </a:spcBef>
            </a:pPr>
            <a:r>
              <a:rPr lang="en-US" sz="1200" b="0" u="none" strike="noStrike" dirty="0">
                <a:effectLst/>
                <a:uFillTx/>
                <a:latin typeface="Arial"/>
              </a:rPr>
              <a:t>It decides how an SQL query is executed. It considers: indexes, join strategies, filters, etc.</a:t>
            </a:r>
          </a:p>
          <a:p>
            <a:r>
              <a:rPr lang="en-US" sz="1200" b="0" u="none" strike="noStrike" dirty="0">
                <a:effectLst/>
                <a:uFillTx/>
                <a:latin typeface="Arial"/>
              </a:rPr>
              <a:t>EXPLAIN shows the query plan WITHOUT running the query: </a:t>
            </a:r>
          </a:p>
          <a:p>
            <a:pPr>
              <a:lnSpc>
                <a:spcPct val="100000"/>
              </a:lnSpc>
              <a:spcBef>
                <a:spcPts val="57"/>
              </a:spcBef>
            </a:pPr>
            <a:r>
              <a:rPr lang="en-US" sz="1200" b="0" u="none" strike="noStrike" dirty="0">
                <a:effectLst/>
                <a:uFillTx/>
                <a:latin typeface="Arial"/>
              </a:rPr>
              <a:t>EXPLAIN SELECT * </a:t>
            </a:r>
          </a:p>
          <a:p>
            <a:pPr>
              <a:lnSpc>
                <a:spcPct val="100000"/>
              </a:lnSpc>
              <a:spcBef>
                <a:spcPts val="57"/>
              </a:spcBef>
            </a:pPr>
            <a:r>
              <a:rPr lang="en-US" sz="1200" b="0" u="none" strike="noStrike" dirty="0">
                <a:effectLst/>
                <a:uFillTx/>
                <a:latin typeface="Arial"/>
              </a:rPr>
              <a:t>FROM customer; </a:t>
            </a:r>
          </a:p>
          <a:p>
            <a:endParaRPr lang="en-US" sz="1000" b="0" u="none" strike="noStrike" dirty="0">
              <a:effectLst/>
              <a:uFillTx/>
              <a:latin typeface="Arial"/>
            </a:endParaRPr>
          </a:p>
          <a:p>
            <a:endParaRPr lang="en-US" sz="1000" b="0" u="none" strike="noStrike" dirty="0">
              <a:effectLst/>
              <a:uFillTx/>
              <a:latin typeface="Arial"/>
            </a:endParaRPr>
          </a:p>
          <a:p>
            <a:r>
              <a:rPr lang="en-US" sz="1200" b="0" u="none" strike="noStrike" dirty="0">
                <a:effectLst/>
                <a:uFillTx/>
                <a:latin typeface="Arial"/>
              </a:rPr>
              <a:t>plans a sequential scan, cost estimates: startup and total cost (lower is better), rows = estimated number of rows returned</a:t>
            </a:r>
          </a:p>
          <a:p>
            <a:endParaRPr lang="en-US" sz="1200" b="0" u="none" strike="noStrike" dirty="0">
              <a:effectLst/>
              <a:uFillTx/>
              <a:latin typeface="Arial"/>
            </a:endParaRPr>
          </a:p>
          <a:p>
            <a:pPr>
              <a:lnSpc>
                <a:spcPct val="100000"/>
              </a:lnSpc>
              <a:spcBef>
                <a:spcPts val="624"/>
              </a:spcBef>
              <a:spcAft>
                <a:spcPts val="425"/>
              </a:spcAft>
            </a:pPr>
            <a:r>
              <a:rPr lang="en-US" sz="1200" b="0" u="none" strike="noStrike" dirty="0">
                <a:effectLst/>
                <a:uFillTx/>
                <a:latin typeface="Arial"/>
              </a:rPr>
              <a:t>The following actually runs the query and shows real execution times:</a:t>
            </a:r>
          </a:p>
          <a:p>
            <a:pPr>
              <a:lnSpc>
                <a:spcPct val="100000"/>
              </a:lnSpc>
              <a:spcBef>
                <a:spcPts val="624"/>
              </a:spcBef>
              <a:spcAft>
                <a:spcPts val="425"/>
              </a:spcAft>
            </a:pPr>
            <a:r>
              <a:rPr lang="en-US" sz="1200" b="0" u="none" strike="noStrike" dirty="0">
                <a:effectLst/>
                <a:uFillTx/>
                <a:latin typeface="Arial"/>
              </a:rPr>
              <a:t> EXPLAIN ANALYZE SELECT * FROM customer;</a:t>
            </a:r>
          </a:p>
          <a:p>
            <a:endParaRPr lang="en-US" sz="1000" b="0" u="none" strike="noStrike" dirty="0">
              <a:effectLst/>
              <a:uFillTx/>
              <a:latin typeface="Arial"/>
            </a:endParaRPr>
          </a:p>
          <a:p>
            <a:endParaRPr lang="en-US" sz="1000" b="0" u="none" strike="noStrike" dirty="0">
              <a:effectLst/>
              <a:uFillTx/>
              <a:latin typeface="Arial"/>
            </a:endParaRPr>
          </a:p>
        </p:txBody>
      </p:sp>
      <p:pic>
        <p:nvPicPr>
          <p:cNvPr id="7" name="Picture 6">
            <a:extLst>
              <a:ext uri="{FF2B5EF4-FFF2-40B4-BE49-F238E27FC236}">
                <a16:creationId xmlns:a16="http://schemas.microsoft.com/office/drawing/2014/main" id="{0E4A28F3-E6D1-753D-469D-2C07EF4C7F14}"/>
              </a:ext>
            </a:extLst>
          </p:cNvPr>
          <p:cNvPicPr/>
          <p:nvPr/>
        </p:nvPicPr>
        <p:blipFill>
          <a:blip r:embed="rId2"/>
          <a:stretch/>
        </p:blipFill>
        <p:spPr>
          <a:xfrm>
            <a:off x="4114849" y="3209467"/>
            <a:ext cx="5038200" cy="504360"/>
          </a:xfrm>
          <a:prstGeom prst="rect">
            <a:avLst/>
          </a:prstGeom>
          <a:noFill/>
          <a:ln w="0">
            <a:noFill/>
          </a:ln>
        </p:spPr>
      </p:pic>
      <p:pic>
        <p:nvPicPr>
          <p:cNvPr id="9" name="Picture 8">
            <a:extLst>
              <a:ext uri="{FF2B5EF4-FFF2-40B4-BE49-F238E27FC236}">
                <a16:creationId xmlns:a16="http://schemas.microsoft.com/office/drawing/2014/main" id="{D90F91E0-D350-28AF-1E6E-34565F9822E5}"/>
              </a:ext>
            </a:extLst>
          </p:cNvPr>
          <p:cNvPicPr/>
          <p:nvPr/>
        </p:nvPicPr>
        <p:blipFill>
          <a:blip r:embed="rId3"/>
          <a:stretch/>
        </p:blipFill>
        <p:spPr>
          <a:xfrm>
            <a:off x="2559353" y="4822725"/>
            <a:ext cx="5257800" cy="638640"/>
          </a:xfrm>
          <a:prstGeom prst="rect">
            <a:avLst/>
          </a:prstGeom>
          <a:noFill/>
          <a:ln w="0">
            <a:noFill/>
          </a:ln>
        </p:spPr>
      </p:pic>
    </p:spTree>
    <p:extLst>
      <p:ext uri="{BB962C8B-B14F-4D97-AF65-F5344CB8AC3E}">
        <p14:creationId xmlns:p14="http://schemas.microsoft.com/office/powerpoint/2010/main" val="36859800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3932D-357D-1499-C3CB-EEA4FD369202}"/>
              </a:ext>
            </a:extLst>
          </p:cNvPr>
          <p:cNvSpPr>
            <a:spLocks noGrp="1"/>
          </p:cNvSpPr>
          <p:nvPr>
            <p:ph type="title"/>
          </p:nvPr>
        </p:nvSpPr>
        <p:spPr/>
        <p:txBody>
          <a:bodyPr/>
          <a:lstStyle/>
          <a:p>
            <a:r>
              <a:rPr lang="en-US" dirty="0"/>
              <a:t>Triggers</a:t>
            </a:r>
          </a:p>
        </p:txBody>
      </p:sp>
      <p:sp>
        <p:nvSpPr>
          <p:cNvPr id="4" name="Text Placeholder 2">
            <a:extLst>
              <a:ext uri="{FF2B5EF4-FFF2-40B4-BE49-F238E27FC236}">
                <a16:creationId xmlns:a16="http://schemas.microsoft.com/office/drawing/2014/main" id="{341DE069-6D30-26D9-AF40-FBF142E06963}"/>
              </a:ext>
            </a:extLst>
          </p:cNvPr>
          <p:cNvSpPr txBox="1">
            <a:spLocks/>
          </p:cNvSpPr>
          <p:nvPr/>
        </p:nvSpPr>
        <p:spPr>
          <a:xfrm>
            <a:off x="1981455" y="2048305"/>
            <a:ext cx="7736400" cy="293832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Bef>
                <a:spcPts val="0"/>
              </a:spcBef>
            </a:pPr>
            <a:r>
              <a:rPr lang="en-US" sz="1200" dirty="0">
                <a:solidFill>
                  <a:schemeClr val="accent1"/>
                </a:solidFill>
              </a:rPr>
              <a:t>Triggers are database logic that runs automatically whenever a database event occurs.</a:t>
            </a:r>
          </a:p>
          <a:p>
            <a:pPr>
              <a:spcBef>
                <a:spcPts val="0"/>
              </a:spcBef>
            </a:pPr>
            <a:r>
              <a:rPr lang="en-US" sz="1200" dirty="0">
                <a:solidFill>
                  <a:schemeClr val="accent1"/>
                </a:solidFill>
              </a:rPr>
              <a:t>When records are inserted, updated, deleted, or a table is truncated </a:t>
            </a:r>
          </a:p>
          <a:p>
            <a:pPr>
              <a:spcBef>
                <a:spcPts val="0"/>
              </a:spcBef>
            </a:pPr>
            <a:endParaRPr lang="en-US" sz="1200" dirty="0">
              <a:solidFill>
                <a:schemeClr val="accent1"/>
              </a:solidFill>
            </a:endParaRPr>
          </a:p>
          <a:p>
            <a:r>
              <a:rPr lang="en-US" sz="1200" dirty="0">
                <a:solidFill>
                  <a:schemeClr val="accent1"/>
                </a:solidFill>
              </a:rPr>
              <a:t>2 Components: </a:t>
            </a:r>
          </a:p>
          <a:p>
            <a:pPr>
              <a:spcBef>
                <a:spcPts val="0"/>
              </a:spcBef>
            </a:pPr>
            <a:r>
              <a:rPr lang="en-US" sz="1200" dirty="0">
                <a:solidFill>
                  <a:schemeClr val="accent2"/>
                </a:solidFill>
              </a:rPr>
              <a:t>Trigger Function </a:t>
            </a:r>
            <a:r>
              <a:rPr lang="en-US" sz="1200" dirty="0">
                <a:solidFill>
                  <a:schemeClr val="tx1"/>
                </a:solidFill>
              </a:rPr>
              <a:t>– written in PL/</a:t>
            </a:r>
            <a:r>
              <a:rPr lang="en-US" sz="1200" dirty="0" err="1">
                <a:solidFill>
                  <a:schemeClr val="tx1"/>
                </a:solidFill>
              </a:rPr>
              <a:t>pgSQL</a:t>
            </a:r>
            <a:r>
              <a:rPr lang="en-US" sz="1200" dirty="0">
                <a:solidFill>
                  <a:schemeClr val="tx1"/>
                </a:solidFill>
              </a:rPr>
              <a:t> (usually); returns a trigger, contains the logic</a:t>
            </a:r>
          </a:p>
          <a:p>
            <a:pPr>
              <a:spcBef>
                <a:spcPts val="0"/>
              </a:spcBef>
            </a:pPr>
            <a:r>
              <a:rPr lang="en-US" sz="1200" dirty="0">
                <a:solidFill>
                  <a:schemeClr val="accent2"/>
                </a:solidFill>
              </a:rPr>
              <a:t>Trigger</a:t>
            </a:r>
            <a:r>
              <a:rPr lang="en-US" sz="1200" dirty="0">
                <a:solidFill>
                  <a:schemeClr val="tx1"/>
                </a:solidFill>
              </a:rPr>
              <a:t> – attached to a specific table, defines the event (insert, update, </a:t>
            </a:r>
            <a:r>
              <a:rPr lang="en-US" sz="1200" dirty="0" err="1">
                <a:solidFill>
                  <a:schemeClr val="tx1"/>
                </a:solidFill>
              </a:rPr>
              <a:t>etc</a:t>
            </a:r>
            <a:r>
              <a:rPr lang="en-US" sz="1200" dirty="0">
                <a:solidFill>
                  <a:schemeClr val="tx1"/>
                </a:solidFill>
              </a:rPr>
              <a:t>), calls the function</a:t>
            </a:r>
          </a:p>
          <a:p>
            <a:r>
              <a:rPr lang="en-US" sz="1200" dirty="0">
                <a:solidFill>
                  <a:schemeClr val="tx1"/>
                </a:solidFill>
              </a:rPr>
              <a:t>Note that logic CANNOT be placed directly inside a trigger. You CANNOT attach a trigger without a trigger function!</a:t>
            </a:r>
          </a:p>
          <a:p>
            <a:endParaRPr lang="en-US" sz="1200" dirty="0">
              <a:solidFill>
                <a:schemeClr val="tx1"/>
              </a:solidFill>
            </a:endParaRPr>
          </a:p>
          <a:p>
            <a:r>
              <a:rPr lang="en-US" sz="1200" dirty="0">
                <a:solidFill>
                  <a:schemeClr val="accent1"/>
                </a:solidFill>
              </a:rPr>
              <a:t>2 types:</a:t>
            </a:r>
          </a:p>
          <a:p>
            <a:r>
              <a:rPr lang="en-US" sz="1200" dirty="0">
                <a:solidFill>
                  <a:schemeClr val="accent2"/>
                </a:solidFill>
              </a:rPr>
              <a:t>Before Triggers </a:t>
            </a:r>
            <a:r>
              <a:rPr lang="en-US" sz="1200" dirty="0">
                <a:solidFill>
                  <a:schemeClr val="tx1"/>
                </a:solidFill>
              </a:rPr>
              <a:t>– run before the row is written; used for validation or automatically setting values; it can change the values on the triggering record</a:t>
            </a:r>
          </a:p>
          <a:p>
            <a:r>
              <a:rPr lang="en-US" sz="1200" dirty="0">
                <a:solidFill>
                  <a:schemeClr val="accent2"/>
                </a:solidFill>
              </a:rPr>
              <a:t>After Triggers </a:t>
            </a:r>
            <a:r>
              <a:rPr lang="en-US" sz="1200" dirty="0">
                <a:solidFill>
                  <a:schemeClr val="tx1"/>
                </a:solidFill>
              </a:rPr>
              <a:t>– run after the row is written; used for logging, audits, syncing to other tables; you CANNOT change values of the triggering record</a:t>
            </a:r>
          </a:p>
        </p:txBody>
      </p:sp>
      <p:graphicFrame>
        <p:nvGraphicFramePr>
          <p:cNvPr id="5" name="Table 4">
            <a:extLst>
              <a:ext uri="{FF2B5EF4-FFF2-40B4-BE49-F238E27FC236}">
                <a16:creationId xmlns:a16="http://schemas.microsoft.com/office/drawing/2014/main" id="{793C22E1-D440-E824-E634-DE4B0C250841}"/>
              </a:ext>
            </a:extLst>
          </p:cNvPr>
          <p:cNvGraphicFramePr>
            <a:graphicFrameLocks noGrp="1"/>
          </p:cNvGraphicFramePr>
          <p:nvPr>
            <p:extLst>
              <p:ext uri="{D42A27DB-BD31-4B8C-83A1-F6EECF244321}">
                <p14:modId xmlns:p14="http://schemas.microsoft.com/office/powerpoint/2010/main" val="3507392467"/>
              </p:ext>
            </p:extLst>
          </p:nvPr>
        </p:nvGraphicFramePr>
        <p:xfrm>
          <a:off x="2919255" y="4994095"/>
          <a:ext cx="6140700" cy="1036320"/>
        </p:xfrm>
        <a:graphic>
          <a:graphicData uri="http://schemas.openxmlformats.org/drawingml/2006/table">
            <a:tbl>
              <a:tblPr/>
              <a:tblGrid>
                <a:gridCol w="3070350">
                  <a:extLst>
                    <a:ext uri="{9D8B030D-6E8A-4147-A177-3AD203B41FA5}">
                      <a16:colId xmlns:a16="http://schemas.microsoft.com/office/drawing/2014/main" val="4235353623"/>
                    </a:ext>
                  </a:extLst>
                </a:gridCol>
                <a:gridCol w="3070350">
                  <a:extLst>
                    <a:ext uri="{9D8B030D-6E8A-4147-A177-3AD203B41FA5}">
                      <a16:colId xmlns:a16="http://schemas.microsoft.com/office/drawing/2014/main" val="2081253907"/>
                    </a:ext>
                  </a:extLst>
                </a:gridCol>
              </a:tblGrid>
              <a:tr h="211050">
                <a:tc>
                  <a:txBody>
                    <a:bodyPr/>
                    <a:lstStyle/>
                    <a:p>
                      <a:pPr>
                        <a:buNone/>
                      </a:pPr>
                      <a:r>
                        <a:rPr lang="en-US" sz="1100"/>
                        <a:t>Event</a:t>
                      </a:r>
                    </a:p>
                  </a:txBody>
                  <a:tcPr anchor="ctr">
                    <a:lnL>
                      <a:noFill/>
                    </a:lnL>
                    <a:lnR>
                      <a:noFill/>
                    </a:lnR>
                    <a:lnT>
                      <a:noFill/>
                    </a:lnT>
                    <a:lnB>
                      <a:noFill/>
                    </a:lnB>
                    <a:noFill/>
                  </a:tcPr>
                </a:tc>
                <a:tc>
                  <a:txBody>
                    <a:bodyPr/>
                    <a:lstStyle/>
                    <a:p>
                      <a:pPr>
                        <a:buNone/>
                      </a:pPr>
                      <a:r>
                        <a:rPr lang="en-US" sz="1100"/>
                        <a:t>Available variables</a:t>
                      </a:r>
                    </a:p>
                  </a:txBody>
                  <a:tcPr anchor="ctr">
                    <a:lnL>
                      <a:noFill/>
                    </a:lnL>
                    <a:lnR>
                      <a:noFill/>
                    </a:lnR>
                    <a:lnT>
                      <a:noFill/>
                    </a:lnT>
                    <a:lnB>
                      <a:noFill/>
                    </a:lnB>
                    <a:noFill/>
                  </a:tcPr>
                </a:tc>
                <a:extLst>
                  <a:ext uri="{0D108BD9-81ED-4DB2-BD59-A6C34878D82A}">
                    <a16:rowId xmlns:a16="http://schemas.microsoft.com/office/drawing/2014/main" val="457969445"/>
                  </a:ext>
                </a:extLst>
              </a:tr>
              <a:tr h="211050">
                <a:tc>
                  <a:txBody>
                    <a:bodyPr/>
                    <a:lstStyle/>
                    <a:p>
                      <a:pPr>
                        <a:buNone/>
                      </a:pPr>
                      <a:r>
                        <a:rPr lang="en-US" sz="1100"/>
                        <a:t>INSERT</a:t>
                      </a:r>
                    </a:p>
                  </a:txBody>
                  <a:tcPr anchor="ctr">
                    <a:lnL>
                      <a:noFill/>
                    </a:lnL>
                    <a:lnR>
                      <a:noFill/>
                    </a:lnR>
                    <a:lnT>
                      <a:noFill/>
                    </a:lnT>
                    <a:lnB>
                      <a:noFill/>
                    </a:lnB>
                    <a:noFill/>
                  </a:tcPr>
                </a:tc>
                <a:tc>
                  <a:txBody>
                    <a:bodyPr/>
                    <a:lstStyle/>
                    <a:p>
                      <a:pPr>
                        <a:buNone/>
                      </a:pPr>
                      <a:r>
                        <a:rPr lang="en-US" sz="1100">
                          <a:latin typeface="Courier New" panose="02070309020205020404" pitchFamily="49" charset="0"/>
                        </a:rPr>
                        <a:t>NEW</a:t>
                      </a:r>
                      <a:endParaRPr lang="en-US" sz="1100"/>
                    </a:p>
                  </a:txBody>
                  <a:tcPr anchor="ctr">
                    <a:lnL>
                      <a:noFill/>
                    </a:lnL>
                    <a:lnR>
                      <a:noFill/>
                    </a:lnR>
                    <a:lnT>
                      <a:noFill/>
                    </a:lnT>
                    <a:lnB>
                      <a:noFill/>
                    </a:lnB>
                    <a:noFill/>
                  </a:tcPr>
                </a:tc>
                <a:extLst>
                  <a:ext uri="{0D108BD9-81ED-4DB2-BD59-A6C34878D82A}">
                    <a16:rowId xmlns:a16="http://schemas.microsoft.com/office/drawing/2014/main" val="2737647807"/>
                  </a:ext>
                </a:extLst>
              </a:tr>
              <a:tr h="211050">
                <a:tc>
                  <a:txBody>
                    <a:bodyPr/>
                    <a:lstStyle/>
                    <a:p>
                      <a:pPr>
                        <a:buNone/>
                      </a:pPr>
                      <a:r>
                        <a:rPr lang="en-US" sz="1100" dirty="0"/>
                        <a:t>UPDATE</a:t>
                      </a:r>
                    </a:p>
                  </a:txBody>
                  <a:tcPr anchor="ctr">
                    <a:lnL>
                      <a:noFill/>
                    </a:lnL>
                    <a:lnR>
                      <a:noFill/>
                    </a:lnR>
                    <a:lnT>
                      <a:noFill/>
                    </a:lnT>
                    <a:lnB>
                      <a:noFill/>
                    </a:lnB>
                    <a:noFill/>
                  </a:tcPr>
                </a:tc>
                <a:tc>
                  <a:txBody>
                    <a:bodyPr/>
                    <a:lstStyle/>
                    <a:p>
                      <a:pPr>
                        <a:buNone/>
                      </a:pPr>
                      <a:r>
                        <a:rPr lang="en-US" sz="1100">
                          <a:latin typeface="Courier New" panose="02070309020205020404" pitchFamily="49" charset="0"/>
                        </a:rPr>
                        <a:t>OLD</a:t>
                      </a:r>
                      <a:r>
                        <a:rPr lang="en-US" sz="1100"/>
                        <a:t>, </a:t>
                      </a:r>
                      <a:r>
                        <a:rPr lang="en-US" sz="1100">
                          <a:latin typeface="Courier New" panose="02070309020205020404" pitchFamily="49" charset="0"/>
                        </a:rPr>
                        <a:t>NEW</a:t>
                      </a:r>
                      <a:endParaRPr lang="en-US" sz="1100"/>
                    </a:p>
                  </a:txBody>
                  <a:tcPr anchor="ctr">
                    <a:lnL>
                      <a:noFill/>
                    </a:lnL>
                    <a:lnR>
                      <a:noFill/>
                    </a:lnR>
                    <a:lnT>
                      <a:noFill/>
                    </a:lnT>
                    <a:lnB>
                      <a:noFill/>
                    </a:lnB>
                    <a:noFill/>
                  </a:tcPr>
                </a:tc>
                <a:extLst>
                  <a:ext uri="{0D108BD9-81ED-4DB2-BD59-A6C34878D82A}">
                    <a16:rowId xmlns:a16="http://schemas.microsoft.com/office/drawing/2014/main" val="3545045447"/>
                  </a:ext>
                </a:extLst>
              </a:tr>
              <a:tr h="211050">
                <a:tc>
                  <a:txBody>
                    <a:bodyPr/>
                    <a:lstStyle/>
                    <a:p>
                      <a:pPr>
                        <a:buNone/>
                      </a:pPr>
                      <a:r>
                        <a:rPr lang="en-US" sz="1100"/>
                        <a:t>DELETE</a:t>
                      </a:r>
                    </a:p>
                  </a:txBody>
                  <a:tcPr anchor="ctr">
                    <a:lnL>
                      <a:noFill/>
                    </a:lnL>
                    <a:lnR>
                      <a:noFill/>
                    </a:lnR>
                    <a:lnT>
                      <a:noFill/>
                    </a:lnT>
                    <a:lnB>
                      <a:noFill/>
                    </a:lnB>
                    <a:noFill/>
                  </a:tcPr>
                </a:tc>
                <a:tc>
                  <a:txBody>
                    <a:bodyPr/>
                    <a:lstStyle/>
                    <a:p>
                      <a:pPr>
                        <a:buNone/>
                      </a:pPr>
                      <a:r>
                        <a:rPr lang="en-US" sz="1100" dirty="0">
                          <a:latin typeface="Courier New" panose="02070309020205020404" pitchFamily="49" charset="0"/>
                        </a:rPr>
                        <a:t>OLD</a:t>
                      </a:r>
                      <a:endParaRPr lang="en-US" sz="1100" dirty="0"/>
                    </a:p>
                  </a:txBody>
                  <a:tcPr anchor="ctr">
                    <a:lnL>
                      <a:noFill/>
                    </a:lnL>
                    <a:lnR>
                      <a:noFill/>
                    </a:lnR>
                    <a:lnT>
                      <a:noFill/>
                    </a:lnT>
                    <a:lnB>
                      <a:noFill/>
                    </a:lnB>
                    <a:noFill/>
                  </a:tcPr>
                </a:tc>
                <a:extLst>
                  <a:ext uri="{0D108BD9-81ED-4DB2-BD59-A6C34878D82A}">
                    <a16:rowId xmlns:a16="http://schemas.microsoft.com/office/drawing/2014/main" val="1645948514"/>
                  </a:ext>
                </a:extLst>
              </a:tr>
            </a:tbl>
          </a:graphicData>
        </a:graphic>
      </p:graphicFrame>
    </p:spTree>
    <p:extLst>
      <p:ext uri="{BB962C8B-B14F-4D97-AF65-F5344CB8AC3E}">
        <p14:creationId xmlns:p14="http://schemas.microsoft.com/office/powerpoint/2010/main" val="7620350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6F93A-AD0A-1229-CC89-E4DB90220FBE}"/>
              </a:ext>
            </a:extLst>
          </p:cNvPr>
          <p:cNvSpPr>
            <a:spLocks noGrp="1"/>
          </p:cNvSpPr>
          <p:nvPr>
            <p:ph type="title"/>
          </p:nvPr>
        </p:nvSpPr>
        <p:spPr/>
        <p:txBody>
          <a:bodyPr/>
          <a:lstStyle/>
          <a:p>
            <a:r>
              <a:rPr lang="en-US" dirty="0"/>
              <a:t>Triggers</a:t>
            </a:r>
          </a:p>
        </p:txBody>
      </p:sp>
      <p:sp>
        <p:nvSpPr>
          <p:cNvPr id="5" name="TextBox 4">
            <a:extLst>
              <a:ext uri="{FF2B5EF4-FFF2-40B4-BE49-F238E27FC236}">
                <a16:creationId xmlns:a16="http://schemas.microsoft.com/office/drawing/2014/main" id="{F172CDA4-0960-A834-37B8-87E4686A750F}"/>
              </a:ext>
            </a:extLst>
          </p:cNvPr>
          <p:cNvSpPr txBox="1"/>
          <p:nvPr/>
        </p:nvSpPr>
        <p:spPr>
          <a:xfrm>
            <a:off x="1521469" y="2590224"/>
            <a:ext cx="4572000" cy="465897"/>
          </a:xfrm>
          <a:prstGeom prst="rect">
            <a:avLst/>
          </a:prstGeom>
          <a:noFill/>
        </p:spPr>
        <p:txBody>
          <a:bodyPr wrap="square">
            <a:spAutoFit/>
          </a:bodyPr>
          <a:lstStyle/>
          <a:p>
            <a:pPr>
              <a:lnSpc>
                <a:spcPts val="1425"/>
              </a:lnSpc>
              <a:buNone/>
            </a:pPr>
            <a:r>
              <a:rPr lang="en-US" sz="1200" b="0" dirty="0">
                <a:effectLst/>
                <a:latin typeface="Consolas" panose="020B0609020204030204" pitchFamily="49" charset="0"/>
              </a:rPr>
              <a:t>ALTER TABLE </a:t>
            </a:r>
            <a:r>
              <a:rPr lang="en-US" sz="1200" b="0" dirty="0" err="1">
                <a:effectLst/>
                <a:latin typeface="Consolas" panose="020B0609020204030204" pitchFamily="49" charset="0"/>
              </a:rPr>
              <a:t>my_schema.users</a:t>
            </a:r>
            <a:endParaRPr lang="en-US" sz="1200" b="0" dirty="0">
              <a:effectLst/>
              <a:latin typeface="Consolas" panose="020B0609020204030204" pitchFamily="49" charset="0"/>
            </a:endParaRPr>
          </a:p>
          <a:p>
            <a:pPr>
              <a:lnSpc>
                <a:spcPts val="1425"/>
              </a:lnSpc>
              <a:buNone/>
            </a:pPr>
            <a:r>
              <a:rPr lang="en-US" sz="1200" b="0" dirty="0">
                <a:effectLst/>
                <a:latin typeface="Consolas" panose="020B0609020204030204" pitchFamily="49" charset="0"/>
              </a:rPr>
              <a:t>ADD COLUMN </a:t>
            </a:r>
            <a:r>
              <a:rPr lang="en-US" sz="1200" b="0" dirty="0" err="1">
                <a:effectLst/>
                <a:latin typeface="Consolas" panose="020B0609020204030204" pitchFamily="49" charset="0"/>
              </a:rPr>
              <a:t>last_update</a:t>
            </a:r>
            <a:r>
              <a:rPr lang="en-US" sz="1200" b="0" dirty="0">
                <a:effectLst/>
                <a:latin typeface="Consolas" panose="020B0609020204030204" pitchFamily="49" charset="0"/>
              </a:rPr>
              <a:t> TIMESTAMP;</a:t>
            </a:r>
          </a:p>
        </p:txBody>
      </p:sp>
      <p:sp>
        <p:nvSpPr>
          <p:cNvPr id="7" name="TextBox 6">
            <a:extLst>
              <a:ext uri="{FF2B5EF4-FFF2-40B4-BE49-F238E27FC236}">
                <a16:creationId xmlns:a16="http://schemas.microsoft.com/office/drawing/2014/main" id="{55A6669B-5EBA-FAF4-4404-04267D37F9C0}"/>
              </a:ext>
            </a:extLst>
          </p:cNvPr>
          <p:cNvSpPr txBox="1"/>
          <p:nvPr/>
        </p:nvSpPr>
        <p:spPr>
          <a:xfrm>
            <a:off x="1521469" y="2984313"/>
            <a:ext cx="7043760" cy="2799869"/>
          </a:xfrm>
          <a:prstGeom prst="rect">
            <a:avLst/>
          </a:prstGeom>
          <a:noFill/>
        </p:spPr>
        <p:txBody>
          <a:bodyPr wrap="square">
            <a:spAutoFit/>
          </a:bodyPr>
          <a:lstStyle/>
          <a:p>
            <a:pPr>
              <a:lnSpc>
                <a:spcPts val="1425"/>
              </a:lnSpc>
              <a:buNone/>
            </a:pPr>
            <a:r>
              <a:rPr lang="en-US" sz="1200" b="0" dirty="0">
                <a:effectLst/>
                <a:latin typeface="Consolas" panose="020B0609020204030204" pitchFamily="49" charset="0"/>
              </a:rPr>
              <a:t>CREATE OR REPLACE FUNCTION </a:t>
            </a:r>
            <a:r>
              <a:rPr lang="en-US" sz="1200" b="0" dirty="0" err="1">
                <a:effectLst/>
                <a:latin typeface="Consolas" panose="020B0609020204030204" pitchFamily="49" charset="0"/>
              </a:rPr>
              <a:t>set_last_update</a:t>
            </a:r>
            <a:r>
              <a:rPr lang="en-US" sz="1200" b="0" dirty="0">
                <a:effectLst/>
                <a:latin typeface="Consolas" panose="020B0609020204030204" pitchFamily="49" charset="0"/>
              </a:rPr>
              <a:t>()</a:t>
            </a:r>
          </a:p>
          <a:p>
            <a:pPr>
              <a:lnSpc>
                <a:spcPts val="1425"/>
              </a:lnSpc>
              <a:buNone/>
            </a:pPr>
            <a:r>
              <a:rPr lang="en-US" sz="1200" b="0" dirty="0">
                <a:effectLst/>
                <a:latin typeface="Consolas" panose="020B0609020204030204" pitchFamily="49" charset="0"/>
              </a:rPr>
              <a:t>RETURNS TRIGGER</a:t>
            </a:r>
          </a:p>
          <a:p>
            <a:pPr>
              <a:lnSpc>
                <a:spcPts val="1425"/>
              </a:lnSpc>
              <a:buNone/>
            </a:pPr>
            <a:r>
              <a:rPr lang="en-US" sz="1200" b="0" dirty="0">
                <a:effectLst/>
                <a:latin typeface="Consolas" panose="020B0609020204030204" pitchFamily="49" charset="0"/>
              </a:rPr>
              <a:t>LANGUAGE </a:t>
            </a:r>
            <a:r>
              <a:rPr lang="en-US" sz="1200" b="0" dirty="0" err="1">
                <a:effectLst/>
                <a:latin typeface="Consolas" panose="020B0609020204030204" pitchFamily="49" charset="0"/>
              </a:rPr>
              <a:t>plpgsql</a:t>
            </a:r>
            <a:endParaRPr lang="en-US" sz="1200" b="0" dirty="0">
              <a:effectLst/>
              <a:latin typeface="Consolas" panose="020B0609020204030204" pitchFamily="49" charset="0"/>
            </a:endParaRPr>
          </a:p>
          <a:p>
            <a:pPr>
              <a:lnSpc>
                <a:spcPts val="1425"/>
              </a:lnSpc>
              <a:buNone/>
            </a:pPr>
            <a:r>
              <a:rPr lang="en-US" sz="1200" b="0" dirty="0">
                <a:effectLst/>
                <a:latin typeface="Consolas" panose="020B0609020204030204" pitchFamily="49" charset="0"/>
              </a:rPr>
              <a:t>AS $$</a:t>
            </a:r>
          </a:p>
          <a:p>
            <a:pPr>
              <a:lnSpc>
                <a:spcPts val="1425"/>
              </a:lnSpc>
              <a:buNone/>
            </a:pPr>
            <a:r>
              <a:rPr lang="en-US" sz="1200" b="0" dirty="0">
                <a:effectLst/>
                <a:latin typeface="Consolas" panose="020B0609020204030204" pitchFamily="49" charset="0"/>
              </a:rPr>
              <a:t>BEGIN</a:t>
            </a:r>
          </a:p>
          <a:p>
            <a:pPr>
              <a:lnSpc>
                <a:spcPts val="1425"/>
              </a:lnSpc>
              <a:buNone/>
            </a:pPr>
            <a:r>
              <a:rPr lang="en-US" sz="1200" b="0" dirty="0">
                <a:effectLst/>
                <a:latin typeface="Consolas" panose="020B0609020204030204" pitchFamily="49" charset="0"/>
              </a:rPr>
              <a:t>    </a:t>
            </a:r>
            <a:r>
              <a:rPr lang="en-US" sz="1200" b="0" dirty="0" err="1">
                <a:effectLst/>
                <a:latin typeface="Consolas" panose="020B0609020204030204" pitchFamily="49" charset="0"/>
              </a:rPr>
              <a:t>NEW.</a:t>
            </a:r>
            <a:r>
              <a:rPr lang="en-US" sz="1200" dirty="0" err="1">
                <a:latin typeface="Consolas" panose="020B0609020204030204" pitchFamily="49" charset="0"/>
              </a:rPr>
              <a:t>last_udate</a:t>
            </a:r>
            <a:r>
              <a:rPr lang="en-US" sz="1200" b="0" dirty="0">
                <a:effectLst/>
                <a:latin typeface="Consolas" panose="020B0609020204030204" pitchFamily="49" charset="0"/>
              </a:rPr>
              <a:t> = NOW();</a:t>
            </a:r>
          </a:p>
          <a:p>
            <a:pPr>
              <a:lnSpc>
                <a:spcPts val="1425"/>
              </a:lnSpc>
              <a:buNone/>
            </a:pPr>
            <a:r>
              <a:rPr lang="en-US" sz="1200" b="0" dirty="0">
                <a:effectLst/>
                <a:latin typeface="Consolas" panose="020B0609020204030204" pitchFamily="49" charset="0"/>
              </a:rPr>
              <a:t>    RETURN NEW;</a:t>
            </a:r>
          </a:p>
          <a:p>
            <a:pPr>
              <a:lnSpc>
                <a:spcPts val="1425"/>
              </a:lnSpc>
              <a:buNone/>
            </a:pPr>
            <a:r>
              <a:rPr lang="en-US" sz="1200" b="0" dirty="0">
                <a:effectLst/>
                <a:latin typeface="Consolas" panose="020B0609020204030204" pitchFamily="49" charset="0"/>
              </a:rPr>
              <a:t>END;</a:t>
            </a:r>
          </a:p>
          <a:p>
            <a:pPr>
              <a:lnSpc>
                <a:spcPts val="1425"/>
              </a:lnSpc>
              <a:buNone/>
            </a:pPr>
            <a:r>
              <a:rPr lang="en-US" sz="1200" b="0" dirty="0">
                <a:effectLst/>
                <a:latin typeface="Consolas" panose="020B0609020204030204" pitchFamily="49" charset="0"/>
              </a:rPr>
              <a:t>$$;</a:t>
            </a:r>
          </a:p>
          <a:p>
            <a:pPr>
              <a:lnSpc>
                <a:spcPts val="1425"/>
              </a:lnSpc>
              <a:buNone/>
            </a:pPr>
            <a:br>
              <a:rPr lang="en-US" sz="1200" b="0" dirty="0">
                <a:effectLst/>
                <a:latin typeface="Consolas" panose="020B0609020204030204" pitchFamily="49" charset="0"/>
              </a:rPr>
            </a:br>
            <a:endParaRPr lang="en-US" sz="1200" b="0" dirty="0">
              <a:effectLst/>
              <a:latin typeface="Consolas" panose="020B0609020204030204" pitchFamily="49" charset="0"/>
            </a:endParaRPr>
          </a:p>
          <a:p>
            <a:pPr>
              <a:lnSpc>
                <a:spcPts val="1425"/>
              </a:lnSpc>
              <a:buNone/>
            </a:pPr>
            <a:r>
              <a:rPr lang="en-US" sz="1200" b="0" dirty="0">
                <a:effectLst/>
                <a:latin typeface="Consolas" panose="020B0609020204030204" pitchFamily="49" charset="0"/>
              </a:rPr>
              <a:t>CREATE TRIGGER </a:t>
            </a:r>
            <a:r>
              <a:rPr lang="en-US" sz="1200" b="0" dirty="0" err="1">
                <a:effectLst/>
                <a:latin typeface="Consolas" panose="020B0609020204030204" pitchFamily="49" charset="0"/>
              </a:rPr>
              <a:t>users_set_last_update</a:t>
            </a:r>
            <a:endParaRPr lang="en-US" sz="1200" b="0" dirty="0">
              <a:effectLst/>
              <a:latin typeface="Consolas" panose="020B0609020204030204" pitchFamily="49" charset="0"/>
            </a:endParaRPr>
          </a:p>
          <a:p>
            <a:pPr>
              <a:lnSpc>
                <a:spcPts val="1425"/>
              </a:lnSpc>
              <a:buNone/>
            </a:pPr>
            <a:r>
              <a:rPr lang="en-US" sz="1200" b="0" dirty="0">
                <a:effectLst/>
                <a:latin typeface="Consolas" panose="020B0609020204030204" pitchFamily="49" charset="0"/>
              </a:rPr>
              <a:t>BEFORE UPDATE ON </a:t>
            </a:r>
            <a:r>
              <a:rPr lang="en-US" sz="1200" b="0" dirty="0" err="1">
                <a:effectLst/>
                <a:latin typeface="Consolas" panose="020B0609020204030204" pitchFamily="49" charset="0"/>
              </a:rPr>
              <a:t>my_schema.users</a:t>
            </a:r>
            <a:endParaRPr lang="en-US" sz="1200" b="0" dirty="0">
              <a:effectLst/>
              <a:latin typeface="Consolas" panose="020B0609020204030204" pitchFamily="49" charset="0"/>
            </a:endParaRPr>
          </a:p>
          <a:p>
            <a:pPr>
              <a:lnSpc>
                <a:spcPts val="1425"/>
              </a:lnSpc>
              <a:buNone/>
            </a:pPr>
            <a:r>
              <a:rPr lang="en-US" sz="1200" b="0" dirty="0">
                <a:effectLst/>
                <a:latin typeface="Consolas" panose="020B0609020204030204" pitchFamily="49" charset="0"/>
              </a:rPr>
              <a:t>FOR EACH ROW</a:t>
            </a:r>
          </a:p>
          <a:p>
            <a:pPr>
              <a:lnSpc>
                <a:spcPts val="1425"/>
              </a:lnSpc>
              <a:buNone/>
            </a:pPr>
            <a:r>
              <a:rPr lang="en-US" sz="1200" b="0" dirty="0">
                <a:effectLst/>
                <a:latin typeface="Consolas" panose="020B0609020204030204" pitchFamily="49" charset="0"/>
              </a:rPr>
              <a:t>EXECUTE FUNCTION </a:t>
            </a:r>
            <a:r>
              <a:rPr lang="en-US" sz="1200" b="0" dirty="0" err="1">
                <a:effectLst/>
                <a:latin typeface="Consolas" panose="020B0609020204030204" pitchFamily="49" charset="0"/>
              </a:rPr>
              <a:t>set_last_update</a:t>
            </a:r>
            <a:r>
              <a:rPr lang="en-US" sz="1200" b="0" dirty="0">
                <a:effectLst/>
                <a:latin typeface="Consolas" panose="020B0609020204030204" pitchFamily="49" charset="0"/>
              </a:rPr>
              <a:t>();</a:t>
            </a:r>
          </a:p>
        </p:txBody>
      </p:sp>
      <p:sp>
        <p:nvSpPr>
          <p:cNvPr id="9" name="TextBox 8">
            <a:extLst>
              <a:ext uri="{FF2B5EF4-FFF2-40B4-BE49-F238E27FC236}">
                <a16:creationId xmlns:a16="http://schemas.microsoft.com/office/drawing/2014/main" id="{6C6364B8-C1FE-1F7A-DE2E-CB2AF882FAFF}"/>
              </a:ext>
            </a:extLst>
          </p:cNvPr>
          <p:cNvSpPr txBox="1"/>
          <p:nvPr/>
        </p:nvSpPr>
        <p:spPr>
          <a:xfrm>
            <a:off x="5711869" y="3910509"/>
            <a:ext cx="4572000" cy="824969"/>
          </a:xfrm>
          <a:prstGeom prst="rect">
            <a:avLst/>
          </a:prstGeom>
          <a:noFill/>
        </p:spPr>
        <p:txBody>
          <a:bodyPr wrap="square">
            <a:spAutoFit/>
          </a:bodyPr>
          <a:lstStyle/>
          <a:p>
            <a:pPr>
              <a:lnSpc>
                <a:spcPts val="1425"/>
              </a:lnSpc>
              <a:buNone/>
            </a:pPr>
            <a:r>
              <a:rPr lang="en-US" sz="1200" b="0" dirty="0">
                <a:effectLst/>
                <a:latin typeface="Consolas" panose="020B0609020204030204" pitchFamily="49" charset="0"/>
              </a:rPr>
              <a:t>SELECT </a:t>
            </a:r>
            <a:r>
              <a:rPr lang="en-US" sz="1200" b="0" dirty="0" err="1">
                <a:effectLst/>
                <a:latin typeface="Consolas" panose="020B0609020204030204" pitchFamily="49" charset="0"/>
              </a:rPr>
              <a:t>add_user</a:t>
            </a:r>
            <a:r>
              <a:rPr lang="en-US" sz="1200" b="0" dirty="0">
                <a:effectLst/>
                <a:latin typeface="Consolas" panose="020B0609020204030204" pitchFamily="49" charset="0"/>
              </a:rPr>
              <a:t>('test@test.co', 44);</a:t>
            </a:r>
          </a:p>
          <a:p>
            <a:pPr>
              <a:lnSpc>
                <a:spcPts val="1425"/>
              </a:lnSpc>
              <a:buNone/>
            </a:pPr>
            <a:r>
              <a:rPr lang="en-US" sz="1200" b="0" dirty="0">
                <a:effectLst/>
                <a:latin typeface="Consolas" panose="020B0609020204030204" pitchFamily="49" charset="0"/>
              </a:rPr>
              <a:t>CALL </a:t>
            </a:r>
            <a:r>
              <a:rPr lang="en-US" sz="1200" b="0" dirty="0" err="1">
                <a:effectLst/>
                <a:latin typeface="Consolas" panose="020B0609020204030204" pitchFamily="49" charset="0"/>
              </a:rPr>
              <a:t>deactivate_user</a:t>
            </a:r>
            <a:r>
              <a:rPr lang="en-US" sz="1200" b="0" dirty="0">
                <a:effectLst/>
                <a:latin typeface="Consolas" panose="020B0609020204030204" pitchFamily="49" charset="0"/>
              </a:rPr>
              <a:t>('2f9b581e-f70b-4292-9387-75e260b894dd');</a:t>
            </a:r>
          </a:p>
          <a:p>
            <a:pPr>
              <a:lnSpc>
                <a:spcPts val="1425"/>
              </a:lnSpc>
              <a:buNone/>
            </a:pPr>
            <a:r>
              <a:rPr lang="en-US" sz="1200" b="0" dirty="0">
                <a:effectLst/>
                <a:latin typeface="Consolas" panose="020B0609020204030204" pitchFamily="49" charset="0"/>
              </a:rPr>
              <a:t>SELECT * FROM </a:t>
            </a:r>
            <a:r>
              <a:rPr lang="en-US" sz="1200" b="0" dirty="0" err="1">
                <a:effectLst/>
                <a:latin typeface="Consolas" panose="020B0609020204030204" pitchFamily="49" charset="0"/>
              </a:rPr>
              <a:t>my_schema.users</a:t>
            </a:r>
            <a:r>
              <a:rPr lang="en-US" sz="1200" b="0" dirty="0">
                <a:effectLst/>
                <a:latin typeface="Consolas" panose="020B0609020204030204" pitchFamily="49" charset="0"/>
              </a:rPr>
              <a:t>;</a:t>
            </a:r>
          </a:p>
        </p:txBody>
      </p:sp>
    </p:spTree>
    <p:extLst>
      <p:ext uri="{BB962C8B-B14F-4D97-AF65-F5344CB8AC3E}">
        <p14:creationId xmlns:p14="http://schemas.microsoft.com/office/powerpoint/2010/main" val="12420325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88686-EE57-D7D4-BF91-F2A330157A05}"/>
              </a:ext>
            </a:extLst>
          </p:cNvPr>
          <p:cNvSpPr>
            <a:spLocks noGrp="1"/>
          </p:cNvSpPr>
          <p:nvPr>
            <p:ph type="title"/>
          </p:nvPr>
        </p:nvSpPr>
        <p:spPr/>
        <p:txBody>
          <a:bodyPr/>
          <a:lstStyle/>
          <a:p>
            <a:r>
              <a:rPr lang="en-US" dirty="0"/>
              <a:t>TCL</a:t>
            </a:r>
          </a:p>
        </p:txBody>
      </p:sp>
      <p:sp>
        <p:nvSpPr>
          <p:cNvPr id="4" name="Text Placeholder 2">
            <a:extLst>
              <a:ext uri="{FF2B5EF4-FFF2-40B4-BE49-F238E27FC236}">
                <a16:creationId xmlns:a16="http://schemas.microsoft.com/office/drawing/2014/main" id="{D18FF352-9065-F6D2-B3A2-EF41DB6080D4}"/>
              </a:ext>
            </a:extLst>
          </p:cNvPr>
          <p:cNvSpPr txBox="1">
            <a:spLocks/>
          </p:cNvSpPr>
          <p:nvPr/>
        </p:nvSpPr>
        <p:spPr>
          <a:xfrm>
            <a:off x="1756903" y="2368820"/>
            <a:ext cx="8678194" cy="3586320"/>
          </a:xfrm>
          <a:prstGeom prst="rect">
            <a:avLst/>
          </a:prstGeom>
        </p:spPr>
        <p:txBody>
          <a:bodyPr vert="horz" lIns="91440" tIns="45720" rIns="91440" bIns="45720" rtlCol="0" anchor="b">
            <a:normAutofit fontScale="92500" lnSpcReduction="2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solidFill>
                  <a:schemeClr val="accent2"/>
                </a:solidFill>
              </a:rPr>
              <a:t>Transaction Control Language (TCL) </a:t>
            </a:r>
            <a:r>
              <a:rPr lang="en-US" sz="1800" dirty="0">
                <a:solidFill>
                  <a:schemeClr val="tx1"/>
                </a:solidFill>
              </a:rPr>
              <a:t>controls how SQL statements are committed, undone, or partially rolled back.</a:t>
            </a:r>
          </a:p>
          <a:p>
            <a:endParaRPr lang="en-US" sz="1800" dirty="0">
              <a:solidFill>
                <a:schemeClr val="tx1"/>
              </a:solidFill>
            </a:endParaRPr>
          </a:p>
          <a:p>
            <a:r>
              <a:rPr lang="en-US" sz="1800" dirty="0">
                <a:solidFill>
                  <a:schemeClr val="tx1"/>
                </a:solidFill>
              </a:rPr>
              <a:t>TCL controls </a:t>
            </a:r>
            <a:r>
              <a:rPr lang="en-US" sz="1800" dirty="0">
                <a:solidFill>
                  <a:schemeClr val="accent2"/>
                </a:solidFill>
              </a:rPr>
              <a:t>transactions</a:t>
            </a:r>
            <a:r>
              <a:rPr lang="en-US" sz="1800" dirty="0">
                <a:solidFill>
                  <a:schemeClr val="tx1"/>
                </a:solidFill>
              </a:rPr>
              <a:t>. </a:t>
            </a:r>
            <a:r>
              <a:rPr lang="en-US" sz="1800" dirty="0">
                <a:solidFill>
                  <a:schemeClr val="accent2"/>
                </a:solidFill>
              </a:rPr>
              <a:t>Transactions</a:t>
            </a:r>
            <a:r>
              <a:rPr lang="en-US" sz="1800" dirty="0">
                <a:solidFill>
                  <a:schemeClr val="tx1"/>
                </a:solidFill>
              </a:rPr>
              <a:t> are a single running process that encapsulate changes to the DB. Think of a transaction as “Either all of this happens… or none of it does.”</a:t>
            </a:r>
          </a:p>
          <a:p>
            <a:endParaRPr lang="en-US" sz="1800" dirty="0">
              <a:solidFill>
                <a:schemeClr val="tx1"/>
              </a:solidFill>
            </a:endParaRPr>
          </a:p>
          <a:p>
            <a:r>
              <a:rPr lang="en-US" sz="1800" dirty="0">
                <a:solidFill>
                  <a:schemeClr val="tx1"/>
                </a:solidFill>
              </a:rPr>
              <a:t>By default, Postgres runs in </a:t>
            </a:r>
            <a:r>
              <a:rPr lang="en-US" sz="1800" dirty="0" err="1">
                <a:solidFill>
                  <a:schemeClr val="tx1"/>
                </a:solidFill>
              </a:rPr>
              <a:t>autocommit</a:t>
            </a:r>
            <a:r>
              <a:rPr lang="en-US" sz="1800" dirty="0">
                <a:solidFill>
                  <a:schemeClr val="tx1"/>
                </a:solidFill>
              </a:rPr>
              <a:t> mode, so any DML is implicitly wrapped in BEGIN/COMMIT. </a:t>
            </a:r>
          </a:p>
          <a:p>
            <a:endParaRPr lang="en-US" sz="1800" dirty="0">
              <a:solidFill>
                <a:schemeClr val="tx1"/>
              </a:solidFill>
            </a:endParaRPr>
          </a:p>
          <a:p>
            <a:r>
              <a:rPr lang="en-US" sz="1800" dirty="0">
                <a:solidFill>
                  <a:schemeClr val="accent2"/>
                </a:solidFill>
              </a:rPr>
              <a:t>TCL Clauses:</a:t>
            </a:r>
          </a:p>
          <a:p>
            <a:r>
              <a:rPr lang="en-US" sz="1800" dirty="0">
                <a:solidFill>
                  <a:schemeClr val="accent2"/>
                </a:solidFill>
              </a:rPr>
              <a:t>BEGIN</a:t>
            </a:r>
            <a:r>
              <a:rPr lang="en-US" sz="1800" dirty="0">
                <a:solidFill>
                  <a:schemeClr val="tx1"/>
                </a:solidFill>
              </a:rPr>
              <a:t> (or </a:t>
            </a:r>
            <a:r>
              <a:rPr lang="en-US" sz="1800" dirty="0">
                <a:solidFill>
                  <a:schemeClr val="accent2"/>
                </a:solidFill>
              </a:rPr>
              <a:t>START TRANSACTION</a:t>
            </a:r>
            <a:r>
              <a:rPr lang="en-US" sz="1800" dirty="0">
                <a:solidFill>
                  <a:schemeClr val="tx1"/>
                </a:solidFill>
              </a:rPr>
              <a:t>) – starts a transaction block</a:t>
            </a:r>
          </a:p>
          <a:p>
            <a:r>
              <a:rPr lang="en-US" sz="1800" dirty="0">
                <a:solidFill>
                  <a:schemeClr val="accent2"/>
                </a:solidFill>
              </a:rPr>
              <a:t>COMMIT</a:t>
            </a:r>
            <a:r>
              <a:rPr lang="en-US" sz="1800" dirty="0">
                <a:solidFill>
                  <a:schemeClr val="tx1"/>
                </a:solidFill>
              </a:rPr>
              <a:t> – make everything in the transaction permanent</a:t>
            </a:r>
          </a:p>
          <a:p>
            <a:r>
              <a:rPr lang="en-US" sz="1800" dirty="0">
                <a:solidFill>
                  <a:schemeClr val="accent2"/>
                </a:solidFill>
              </a:rPr>
              <a:t>ROLLBACK</a:t>
            </a:r>
            <a:r>
              <a:rPr lang="en-US" sz="1800" dirty="0">
                <a:solidFill>
                  <a:schemeClr val="tx1"/>
                </a:solidFill>
              </a:rPr>
              <a:t> – undoes everything since the last BEGIN</a:t>
            </a:r>
          </a:p>
          <a:p>
            <a:r>
              <a:rPr lang="en-US" sz="1800" dirty="0">
                <a:solidFill>
                  <a:schemeClr val="accent2"/>
                </a:solidFill>
              </a:rPr>
              <a:t>SAVEPOINT</a:t>
            </a:r>
            <a:r>
              <a:rPr lang="en-US" sz="1800" dirty="0">
                <a:solidFill>
                  <a:schemeClr val="tx1"/>
                </a:solidFill>
              </a:rPr>
              <a:t> – creates a checkpoint inside a transaction, we can rollback to a specific checkpoint.</a:t>
            </a:r>
          </a:p>
        </p:txBody>
      </p:sp>
    </p:spTree>
    <p:extLst>
      <p:ext uri="{BB962C8B-B14F-4D97-AF65-F5344CB8AC3E}">
        <p14:creationId xmlns:p14="http://schemas.microsoft.com/office/powerpoint/2010/main" val="17608748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DAF07-AC3F-8FA1-FBA2-B587F0BBC8D8}"/>
              </a:ext>
            </a:extLst>
          </p:cNvPr>
          <p:cNvSpPr>
            <a:spLocks noGrp="1"/>
          </p:cNvSpPr>
          <p:nvPr>
            <p:ph type="title"/>
          </p:nvPr>
        </p:nvSpPr>
        <p:spPr/>
        <p:txBody>
          <a:bodyPr/>
          <a:lstStyle/>
          <a:p>
            <a:r>
              <a:rPr lang="en-US" dirty="0"/>
              <a:t>TCL</a:t>
            </a:r>
          </a:p>
        </p:txBody>
      </p:sp>
      <p:sp>
        <p:nvSpPr>
          <p:cNvPr id="5" name="TextBox 4">
            <a:extLst>
              <a:ext uri="{FF2B5EF4-FFF2-40B4-BE49-F238E27FC236}">
                <a16:creationId xmlns:a16="http://schemas.microsoft.com/office/drawing/2014/main" id="{84FC29BD-59F6-8211-8374-0D29D6CA509D}"/>
              </a:ext>
            </a:extLst>
          </p:cNvPr>
          <p:cNvSpPr txBox="1"/>
          <p:nvPr/>
        </p:nvSpPr>
        <p:spPr>
          <a:xfrm>
            <a:off x="1598350" y="2278757"/>
            <a:ext cx="4572000" cy="3877087"/>
          </a:xfrm>
          <a:prstGeom prst="rect">
            <a:avLst/>
          </a:prstGeom>
          <a:noFill/>
        </p:spPr>
        <p:txBody>
          <a:bodyPr wrap="square">
            <a:spAutoFit/>
          </a:bodyPr>
          <a:lstStyle/>
          <a:p>
            <a:pPr>
              <a:lnSpc>
                <a:spcPts val="1425"/>
              </a:lnSpc>
              <a:buNone/>
            </a:pPr>
            <a:r>
              <a:rPr lang="en-US" b="0" dirty="0">
                <a:effectLst/>
                <a:latin typeface="Consolas" panose="020B0609020204030204" pitchFamily="49" charset="0"/>
              </a:rPr>
              <a:t>BEGIN;</a:t>
            </a:r>
          </a:p>
          <a:p>
            <a:pPr>
              <a:lnSpc>
                <a:spcPts val="1425"/>
              </a:lnSpc>
              <a:buNone/>
            </a:pPr>
            <a:br>
              <a:rPr lang="en-US" b="0" dirty="0">
                <a:effectLst/>
                <a:latin typeface="Consolas" panose="020B0609020204030204" pitchFamily="49" charset="0"/>
              </a:rPr>
            </a:br>
            <a:endParaRPr lang="en-US" b="0" dirty="0">
              <a:effectLst/>
              <a:latin typeface="Consolas" panose="020B0609020204030204" pitchFamily="49" charset="0"/>
            </a:endParaRPr>
          </a:p>
          <a:p>
            <a:pPr>
              <a:lnSpc>
                <a:spcPts val="1425"/>
              </a:lnSpc>
              <a:buNone/>
            </a:pPr>
            <a:r>
              <a:rPr lang="en-US" b="0" dirty="0">
                <a:effectLst/>
                <a:latin typeface="Consolas" panose="020B0609020204030204" pitchFamily="49" charset="0"/>
              </a:rPr>
              <a:t>DROP TABLE IF EXISTS </a:t>
            </a:r>
            <a:r>
              <a:rPr lang="en-US" b="0" dirty="0" err="1">
                <a:effectLst/>
                <a:latin typeface="Consolas" panose="020B0609020204030204" pitchFamily="49" charset="0"/>
              </a:rPr>
              <a:t>tcl_demo</a:t>
            </a:r>
            <a:r>
              <a:rPr lang="en-US" b="0" dirty="0">
                <a:effectLst/>
                <a:latin typeface="Consolas" panose="020B0609020204030204" pitchFamily="49" charset="0"/>
              </a:rPr>
              <a:t>;</a:t>
            </a:r>
          </a:p>
          <a:p>
            <a:pPr>
              <a:lnSpc>
                <a:spcPts val="1425"/>
              </a:lnSpc>
              <a:buNone/>
            </a:pPr>
            <a:br>
              <a:rPr lang="en-US" b="0" dirty="0">
                <a:effectLst/>
                <a:latin typeface="Consolas" panose="020B0609020204030204" pitchFamily="49" charset="0"/>
              </a:rPr>
            </a:br>
            <a:endParaRPr lang="en-US" b="0" dirty="0">
              <a:effectLst/>
              <a:latin typeface="Consolas" panose="020B0609020204030204" pitchFamily="49" charset="0"/>
            </a:endParaRPr>
          </a:p>
          <a:p>
            <a:pPr>
              <a:lnSpc>
                <a:spcPts val="1425"/>
              </a:lnSpc>
              <a:buNone/>
            </a:pPr>
            <a:r>
              <a:rPr lang="en-US" b="0" dirty="0">
                <a:effectLst/>
                <a:latin typeface="Consolas" panose="020B0609020204030204" pitchFamily="49" charset="0"/>
              </a:rPr>
              <a:t>CREATE TABLE </a:t>
            </a:r>
            <a:r>
              <a:rPr lang="en-US" b="0" dirty="0" err="1">
                <a:effectLst/>
                <a:latin typeface="Consolas" panose="020B0609020204030204" pitchFamily="49" charset="0"/>
              </a:rPr>
              <a:t>tcl_demo</a:t>
            </a:r>
            <a:r>
              <a:rPr lang="en-US" b="0" dirty="0">
                <a:effectLst/>
                <a:latin typeface="Consolas" panose="020B0609020204030204" pitchFamily="49" charset="0"/>
              </a:rPr>
              <a:t> (</a:t>
            </a:r>
          </a:p>
          <a:p>
            <a:pPr>
              <a:lnSpc>
                <a:spcPts val="1425"/>
              </a:lnSpc>
              <a:buNone/>
            </a:pPr>
            <a:r>
              <a:rPr lang="en-US" b="0" dirty="0">
                <a:effectLst/>
                <a:latin typeface="Consolas" panose="020B0609020204030204" pitchFamily="49" charset="0"/>
              </a:rPr>
              <a:t>    id   INT PRIMARY KEY,</a:t>
            </a:r>
          </a:p>
          <a:p>
            <a:pPr>
              <a:lnSpc>
                <a:spcPts val="1425"/>
              </a:lnSpc>
              <a:buNone/>
            </a:pPr>
            <a:r>
              <a:rPr lang="en-US" b="0" dirty="0">
                <a:effectLst/>
                <a:latin typeface="Consolas" panose="020B0609020204030204" pitchFamily="49" charset="0"/>
              </a:rPr>
              <a:t>    note TEXT</a:t>
            </a:r>
          </a:p>
          <a:p>
            <a:pPr>
              <a:lnSpc>
                <a:spcPts val="1425"/>
              </a:lnSpc>
              <a:buNone/>
            </a:pPr>
            <a:r>
              <a:rPr lang="en-US" b="0" dirty="0">
                <a:effectLst/>
                <a:latin typeface="Consolas" panose="020B0609020204030204" pitchFamily="49" charset="0"/>
              </a:rPr>
              <a:t>);</a:t>
            </a:r>
          </a:p>
          <a:p>
            <a:pPr>
              <a:lnSpc>
                <a:spcPts val="1425"/>
              </a:lnSpc>
              <a:buNone/>
            </a:pPr>
            <a:br>
              <a:rPr lang="en-US" b="0" dirty="0">
                <a:effectLst/>
                <a:latin typeface="Consolas" panose="020B0609020204030204" pitchFamily="49" charset="0"/>
              </a:rPr>
            </a:br>
            <a:endParaRPr lang="en-US" b="0" dirty="0">
              <a:effectLst/>
              <a:latin typeface="Consolas" panose="020B0609020204030204" pitchFamily="49" charset="0"/>
            </a:endParaRPr>
          </a:p>
          <a:p>
            <a:pPr>
              <a:lnSpc>
                <a:spcPts val="1425"/>
              </a:lnSpc>
              <a:buNone/>
            </a:pPr>
            <a:r>
              <a:rPr lang="en-US" b="0" dirty="0">
                <a:effectLst/>
                <a:latin typeface="Consolas" panose="020B0609020204030204" pitchFamily="49" charset="0"/>
              </a:rPr>
              <a:t>INSERT INTO </a:t>
            </a:r>
            <a:r>
              <a:rPr lang="en-US" b="0" dirty="0" err="1">
                <a:effectLst/>
                <a:latin typeface="Consolas" panose="020B0609020204030204" pitchFamily="49" charset="0"/>
              </a:rPr>
              <a:t>tcl_demo</a:t>
            </a:r>
            <a:r>
              <a:rPr lang="en-US" b="0" dirty="0">
                <a:effectLst/>
                <a:latin typeface="Consolas" panose="020B0609020204030204" pitchFamily="49" charset="0"/>
              </a:rPr>
              <a:t> VALUES (1, 'first row')</a:t>
            </a:r>
          </a:p>
          <a:p>
            <a:pPr>
              <a:lnSpc>
                <a:spcPts val="1425"/>
              </a:lnSpc>
              <a:buNone/>
            </a:pPr>
            <a:r>
              <a:rPr lang="en-US" b="0" dirty="0">
                <a:effectLst/>
                <a:latin typeface="Consolas" panose="020B0609020204030204" pitchFamily="49" charset="0"/>
              </a:rPr>
              <a:t>ON CONFLICT DO NOTHING; </a:t>
            </a:r>
          </a:p>
          <a:p>
            <a:pPr>
              <a:lnSpc>
                <a:spcPts val="1425"/>
              </a:lnSpc>
              <a:buNone/>
            </a:pPr>
            <a:r>
              <a:rPr lang="en-US" b="0" dirty="0">
                <a:effectLst/>
                <a:latin typeface="Consolas" panose="020B0609020204030204" pitchFamily="49" charset="0"/>
              </a:rPr>
              <a:t>SAVEPOINT sp1;</a:t>
            </a:r>
          </a:p>
          <a:p>
            <a:pPr>
              <a:lnSpc>
                <a:spcPts val="1425"/>
              </a:lnSpc>
              <a:buNone/>
            </a:pPr>
            <a:r>
              <a:rPr lang="en-US" b="0" dirty="0">
                <a:effectLst/>
                <a:latin typeface="Consolas" panose="020B0609020204030204" pitchFamily="49" charset="0"/>
              </a:rPr>
              <a:t>INSERT INTO </a:t>
            </a:r>
            <a:r>
              <a:rPr lang="en-US" b="0" dirty="0" err="1">
                <a:effectLst/>
                <a:latin typeface="Consolas" panose="020B0609020204030204" pitchFamily="49" charset="0"/>
              </a:rPr>
              <a:t>tcl_demo</a:t>
            </a:r>
            <a:r>
              <a:rPr lang="en-US" b="0" dirty="0">
                <a:effectLst/>
                <a:latin typeface="Consolas" panose="020B0609020204030204" pitchFamily="49" charset="0"/>
              </a:rPr>
              <a:t> VALUES (1, 'duplicate id')</a:t>
            </a:r>
          </a:p>
          <a:p>
            <a:pPr>
              <a:lnSpc>
                <a:spcPts val="1425"/>
              </a:lnSpc>
              <a:buNone/>
            </a:pPr>
            <a:r>
              <a:rPr lang="en-US" b="0" dirty="0">
                <a:effectLst/>
                <a:latin typeface="Consolas" panose="020B0609020204030204" pitchFamily="49" charset="0"/>
              </a:rPr>
              <a:t>ON CONFLICT DO NOTHING;</a:t>
            </a:r>
          </a:p>
          <a:p>
            <a:pPr>
              <a:lnSpc>
                <a:spcPts val="1425"/>
              </a:lnSpc>
              <a:buNone/>
            </a:pPr>
            <a:r>
              <a:rPr lang="en-US" b="0" dirty="0">
                <a:effectLst/>
                <a:latin typeface="Consolas" panose="020B0609020204030204" pitchFamily="49" charset="0"/>
              </a:rPr>
              <a:t>ROLLBACK TO SAVEPOINT sp1;</a:t>
            </a:r>
          </a:p>
          <a:p>
            <a:pPr>
              <a:lnSpc>
                <a:spcPts val="1425"/>
              </a:lnSpc>
              <a:buNone/>
            </a:pPr>
            <a:r>
              <a:rPr lang="en-US" b="0" dirty="0">
                <a:effectLst/>
                <a:latin typeface="Consolas" panose="020B0609020204030204" pitchFamily="49" charset="0"/>
              </a:rPr>
              <a:t>COMMIT;</a:t>
            </a:r>
          </a:p>
        </p:txBody>
      </p:sp>
      <p:sp>
        <p:nvSpPr>
          <p:cNvPr id="7" name="TextBox 6">
            <a:extLst>
              <a:ext uri="{FF2B5EF4-FFF2-40B4-BE49-F238E27FC236}">
                <a16:creationId xmlns:a16="http://schemas.microsoft.com/office/drawing/2014/main" id="{7D522C82-246A-A04F-829A-D0BA2654883A}"/>
              </a:ext>
            </a:extLst>
          </p:cNvPr>
          <p:cNvSpPr txBox="1"/>
          <p:nvPr/>
        </p:nvSpPr>
        <p:spPr>
          <a:xfrm>
            <a:off x="6314174" y="4217300"/>
            <a:ext cx="3225600" cy="286360"/>
          </a:xfrm>
          <a:prstGeom prst="rect">
            <a:avLst/>
          </a:prstGeom>
          <a:noFill/>
        </p:spPr>
        <p:txBody>
          <a:bodyPr wrap="square">
            <a:spAutoFit/>
          </a:bodyPr>
          <a:lstStyle/>
          <a:p>
            <a:pPr>
              <a:lnSpc>
                <a:spcPts val="1425"/>
              </a:lnSpc>
              <a:buNone/>
            </a:pPr>
            <a:r>
              <a:rPr lang="en-US" b="0" dirty="0">
                <a:effectLst/>
                <a:latin typeface="Consolas" panose="020B0609020204030204" pitchFamily="49" charset="0"/>
              </a:rPr>
              <a:t>SELECT * FROM </a:t>
            </a:r>
            <a:r>
              <a:rPr lang="en-US" b="0" dirty="0" err="1">
                <a:effectLst/>
                <a:latin typeface="Consolas" panose="020B0609020204030204" pitchFamily="49" charset="0"/>
              </a:rPr>
              <a:t>tcl_demo</a:t>
            </a:r>
            <a:r>
              <a:rPr lang="en-US" b="0" dirty="0">
                <a:effectLst/>
                <a:latin typeface="Consolas" panose="020B0609020204030204" pitchFamily="49" charset="0"/>
              </a:rPr>
              <a:t>;</a:t>
            </a:r>
          </a:p>
        </p:txBody>
      </p:sp>
      <p:pic>
        <p:nvPicPr>
          <p:cNvPr id="9" name="Picture 8">
            <a:extLst>
              <a:ext uri="{FF2B5EF4-FFF2-40B4-BE49-F238E27FC236}">
                <a16:creationId xmlns:a16="http://schemas.microsoft.com/office/drawing/2014/main" id="{2DBBA34F-4626-3607-1029-8544F3213B73}"/>
              </a:ext>
            </a:extLst>
          </p:cNvPr>
          <p:cNvPicPr>
            <a:picLocks noChangeAspect="1"/>
          </p:cNvPicPr>
          <p:nvPr/>
        </p:nvPicPr>
        <p:blipFill>
          <a:blip r:embed="rId2"/>
          <a:stretch>
            <a:fillRect/>
          </a:stretch>
        </p:blipFill>
        <p:spPr>
          <a:xfrm>
            <a:off x="6617766" y="4503660"/>
            <a:ext cx="2791215" cy="790685"/>
          </a:xfrm>
          <a:prstGeom prst="rect">
            <a:avLst/>
          </a:prstGeom>
        </p:spPr>
      </p:pic>
      <p:sp>
        <p:nvSpPr>
          <p:cNvPr id="11" name="TextBox 10">
            <a:extLst>
              <a:ext uri="{FF2B5EF4-FFF2-40B4-BE49-F238E27FC236}">
                <a16:creationId xmlns:a16="http://schemas.microsoft.com/office/drawing/2014/main" id="{B69711F5-99E8-CA41-7E3B-FB962833FA58}"/>
              </a:ext>
            </a:extLst>
          </p:cNvPr>
          <p:cNvSpPr txBox="1"/>
          <p:nvPr/>
        </p:nvSpPr>
        <p:spPr>
          <a:xfrm>
            <a:off x="6094397" y="2390432"/>
            <a:ext cx="3837952" cy="1754326"/>
          </a:xfrm>
          <a:prstGeom prst="rect">
            <a:avLst/>
          </a:prstGeom>
          <a:noFill/>
        </p:spPr>
        <p:txBody>
          <a:bodyPr wrap="square" rtlCol="0">
            <a:spAutoFit/>
          </a:bodyPr>
          <a:lstStyle/>
          <a:p>
            <a:r>
              <a:rPr lang="en-US" sz="1200" dirty="0"/>
              <a:t>Note: rolling back to a checkpoint only rolls back records, not the state of the transaction. If any error occurs in a transaction, it will be ‘aborted’ and the entire transaction must be rolled back (ROLLBACK;). </a:t>
            </a:r>
          </a:p>
          <a:p>
            <a:endParaRPr lang="en-US" sz="1200" dirty="0"/>
          </a:p>
          <a:p>
            <a:r>
              <a:rPr lang="en-US" sz="1200" dirty="0"/>
              <a:t>You still need to implement exception handling so the transaction doesn’t get aborted and so you can enable partial updates to tables (ON CONFLICT in this example).</a:t>
            </a:r>
          </a:p>
        </p:txBody>
      </p:sp>
    </p:spTree>
    <p:extLst>
      <p:ext uri="{BB962C8B-B14F-4D97-AF65-F5344CB8AC3E}">
        <p14:creationId xmlns:p14="http://schemas.microsoft.com/office/powerpoint/2010/main" val="4653044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CFDCB-C4CE-B726-CDF8-49ACA542DC65}"/>
              </a:ext>
            </a:extLst>
          </p:cNvPr>
          <p:cNvSpPr>
            <a:spLocks noGrp="1"/>
          </p:cNvSpPr>
          <p:nvPr>
            <p:ph type="title"/>
          </p:nvPr>
        </p:nvSpPr>
        <p:spPr/>
        <p:txBody>
          <a:bodyPr/>
          <a:lstStyle/>
          <a:p>
            <a:r>
              <a:rPr lang="en-US" dirty="0"/>
              <a:t>MVCC</a:t>
            </a:r>
          </a:p>
        </p:txBody>
      </p:sp>
      <p:sp>
        <p:nvSpPr>
          <p:cNvPr id="5" name="TextBox 4">
            <a:extLst>
              <a:ext uri="{FF2B5EF4-FFF2-40B4-BE49-F238E27FC236}">
                <a16:creationId xmlns:a16="http://schemas.microsoft.com/office/drawing/2014/main" id="{EAB1A7D9-1945-782B-EE2F-04A729A40352}"/>
              </a:ext>
            </a:extLst>
          </p:cNvPr>
          <p:cNvSpPr txBox="1"/>
          <p:nvPr/>
        </p:nvSpPr>
        <p:spPr>
          <a:xfrm>
            <a:off x="1833978" y="2046831"/>
            <a:ext cx="8294399" cy="4154984"/>
          </a:xfrm>
          <a:prstGeom prst="rect">
            <a:avLst/>
          </a:prstGeom>
          <a:noFill/>
        </p:spPr>
        <p:txBody>
          <a:bodyPr wrap="square" rtlCol="0">
            <a:spAutoFit/>
          </a:bodyPr>
          <a:lstStyle/>
          <a:p>
            <a:r>
              <a:rPr lang="en-US" sz="1200" dirty="0"/>
              <a:t>Multi-Version Concurrency Control (MVCC) is how </a:t>
            </a:r>
            <a:r>
              <a:rPr lang="en-US" sz="1200" dirty="0" err="1"/>
              <a:t>postgres</a:t>
            </a:r>
            <a:r>
              <a:rPr lang="en-US" sz="1200" dirty="0"/>
              <a:t> lets multiple transactions read and write data at the same time without blocking each other unnecessarily. </a:t>
            </a:r>
          </a:p>
          <a:p>
            <a:endParaRPr lang="en-US" sz="1200" dirty="0"/>
          </a:p>
          <a:p>
            <a:r>
              <a:rPr lang="en-US" sz="1200" dirty="0"/>
              <a:t>Instead of locking rows for reads, </a:t>
            </a:r>
            <a:r>
              <a:rPr lang="en-US" sz="1200" dirty="0" err="1"/>
              <a:t>postgres</a:t>
            </a:r>
            <a:r>
              <a:rPr lang="en-US" sz="1200" dirty="0"/>
              <a:t> keeps multiple versions of each row and lets each transaction see the correct version based on its snapshot. </a:t>
            </a:r>
          </a:p>
          <a:p>
            <a:endParaRPr lang="en-US" sz="1200" dirty="0"/>
          </a:p>
          <a:p>
            <a:r>
              <a:rPr lang="en-US" sz="1200" dirty="0"/>
              <a:t>When you update a row in </a:t>
            </a:r>
            <a:r>
              <a:rPr lang="en-US" sz="1200" b="1" dirty="0"/>
              <a:t>PostgreSQL</a:t>
            </a:r>
            <a:r>
              <a:rPr lang="en-US" sz="1200" dirty="0"/>
              <a:t>:</a:t>
            </a:r>
          </a:p>
          <a:p>
            <a:pPr marL="171450" indent="-171450">
              <a:buFont typeface="Arial" panose="020B0604020202020204" pitchFamily="34" charset="0"/>
              <a:buChar char="•"/>
            </a:pPr>
            <a:r>
              <a:rPr lang="en-US" sz="1200" dirty="0"/>
              <a:t>It does </a:t>
            </a:r>
            <a:r>
              <a:rPr lang="en-US" sz="1200" b="1" dirty="0"/>
              <a:t>NOT overwrite the existing row</a:t>
            </a:r>
            <a:endParaRPr lang="en-US" sz="1200" dirty="0"/>
          </a:p>
          <a:p>
            <a:pPr marL="171450" indent="-171450">
              <a:buFont typeface="Arial" panose="020B0604020202020204" pitchFamily="34" charset="0"/>
              <a:buChar char="•"/>
            </a:pPr>
            <a:r>
              <a:rPr lang="en-US" sz="1200" dirty="0"/>
              <a:t>It creates a </a:t>
            </a:r>
            <a:r>
              <a:rPr lang="en-US" sz="1200" b="1" dirty="0"/>
              <a:t>new version</a:t>
            </a:r>
            <a:endParaRPr lang="en-US" sz="1200" dirty="0"/>
          </a:p>
          <a:p>
            <a:pPr marL="171450" indent="-171450">
              <a:buFont typeface="Arial" panose="020B0604020202020204" pitchFamily="34" charset="0"/>
              <a:buChar char="•"/>
            </a:pPr>
            <a:r>
              <a:rPr lang="en-US" sz="1200" dirty="0"/>
              <a:t>The old version remains until no transaction needs it</a:t>
            </a:r>
          </a:p>
          <a:p>
            <a:endParaRPr lang="en-US" sz="1200" dirty="0"/>
          </a:p>
          <a:p>
            <a:r>
              <a:rPr lang="en-US" sz="1200" dirty="0"/>
              <a:t>When a transaction starts, it gets a </a:t>
            </a:r>
            <a:r>
              <a:rPr lang="en-US" sz="1200" b="1" dirty="0"/>
              <a:t>snapshot</a:t>
            </a:r>
            <a:r>
              <a:rPr lang="en-US" sz="1200" dirty="0"/>
              <a:t>:</a:t>
            </a:r>
          </a:p>
          <a:p>
            <a:pPr marL="171450" indent="-171450">
              <a:buFont typeface="Arial" panose="020B0604020202020204" pitchFamily="34" charset="0"/>
              <a:buChar char="•"/>
            </a:pPr>
            <a:r>
              <a:rPr lang="en-US" sz="1200" dirty="0"/>
              <a:t>A list of transaction IDs that were committed</a:t>
            </a:r>
          </a:p>
          <a:p>
            <a:pPr marL="171450" indent="-171450">
              <a:buFont typeface="Arial" panose="020B0604020202020204" pitchFamily="34" charset="0"/>
              <a:buChar char="•"/>
            </a:pPr>
            <a:r>
              <a:rPr lang="en-US" sz="1200" dirty="0"/>
              <a:t>A list of ones still in progress</a:t>
            </a:r>
          </a:p>
          <a:p>
            <a:r>
              <a:rPr lang="en-US" sz="1200" dirty="0"/>
              <a:t>When reading a row, PostgreSQL checks hidden system fields:</a:t>
            </a:r>
          </a:p>
          <a:p>
            <a:pPr marL="171450" indent="-171450">
              <a:buFont typeface="Arial" panose="020B0604020202020204" pitchFamily="34" charset="0"/>
              <a:buChar char="•"/>
            </a:pPr>
            <a:r>
              <a:rPr lang="en-US" sz="1200" dirty="0"/>
              <a:t>Was </a:t>
            </a:r>
            <a:r>
              <a:rPr lang="en-US" sz="1200" dirty="0" err="1"/>
              <a:t>xmin</a:t>
            </a:r>
            <a:r>
              <a:rPr lang="en-US" sz="1200" dirty="0"/>
              <a:t> committed before my snapshot?</a:t>
            </a:r>
          </a:p>
          <a:p>
            <a:pPr marL="171450" indent="-171450">
              <a:buFont typeface="Arial" panose="020B0604020202020204" pitchFamily="34" charset="0"/>
              <a:buChar char="•"/>
            </a:pPr>
            <a:r>
              <a:rPr lang="en-US" sz="1200" dirty="0"/>
              <a:t>Is </a:t>
            </a:r>
            <a:r>
              <a:rPr lang="en-US" sz="1200" dirty="0" err="1"/>
              <a:t>xmax</a:t>
            </a:r>
            <a:r>
              <a:rPr lang="en-US" sz="1200" dirty="0"/>
              <a:t> empty (row not deleted)?</a:t>
            </a:r>
          </a:p>
          <a:p>
            <a:pPr marL="171450" indent="-171450">
              <a:buFont typeface="Arial" panose="020B0604020202020204" pitchFamily="34" charset="0"/>
              <a:buChar char="•"/>
            </a:pPr>
            <a:r>
              <a:rPr lang="en-US" sz="1200" dirty="0"/>
              <a:t>Was </a:t>
            </a:r>
            <a:r>
              <a:rPr lang="en-US" sz="1200" dirty="0" err="1"/>
              <a:t>xmax</a:t>
            </a:r>
            <a:r>
              <a:rPr lang="en-US" sz="1200" dirty="0"/>
              <a:t> committed after my snapshot?</a:t>
            </a:r>
          </a:p>
          <a:p>
            <a:pPr marL="171450" indent="-171450">
              <a:buFont typeface="Arial" panose="020B0604020202020204" pitchFamily="34" charset="0"/>
              <a:buChar char="•"/>
            </a:pPr>
            <a:r>
              <a:rPr lang="en-US" sz="1200" dirty="0"/>
              <a:t>If yes → you see it</a:t>
            </a:r>
          </a:p>
          <a:p>
            <a:pPr marL="171450" indent="-171450">
              <a:buFont typeface="Arial" panose="020B0604020202020204" pitchFamily="34" charset="0"/>
              <a:buChar char="•"/>
            </a:pPr>
            <a:r>
              <a:rPr lang="en-US" sz="1200" dirty="0"/>
              <a:t>If not → it’s invisible to you</a:t>
            </a:r>
          </a:p>
          <a:p>
            <a:pPr marL="171450" indent="-171450">
              <a:buFont typeface="Arial" panose="020B0604020202020204" pitchFamily="34" charset="0"/>
              <a:buChar char="•"/>
            </a:pPr>
            <a:r>
              <a:rPr lang="en-US" sz="1200" dirty="0"/>
              <a:t>So every transaction sees a </a:t>
            </a:r>
            <a:r>
              <a:rPr lang="en-US" sz="1200" b="1" dirty="0"/>
              <a:t>consistent view of the database at a point in time</a:t>
            </a:r>
            <a:r>
              <a:rPr lang="en-US" sz="1200" dirty="0"/>
              <a:t>.</a:t>
            </a:r>
          </a:p>
          <a:p>
            <a:endParaRPr lang="en-US" sz="1200" dirty="0"/>
          </a:p>
        </p:txBody>
      </p:sp>
    </p:spTree>
    <p:extLst>
      <p:ext uri="{BB962C8B-B14F-4D97-AF65-F5344CB8AC3E}">
        <p14:creationId xmlns:p14="http://schemas.microsoft.com/office/powerpoint/2010/main" val="226954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C3887-FE78-8E1C-72B3-8BA513E531B9}"/>
              </a:ext>
            </a:extLst>
          </p:cNvPr>
          <p:cNvSpPr>
            <a:spLocks noGrp="1"/>
          </p:cNvSpPr>
          <p:nvPr>
            <p:ph type="title"/>
          </p:nvPr>
        </p:nvSpPr>
        <p:spPr/>
        <p:txBody>
          <a:bodyPr/>
          <a:lstStyle/>
          <a:p>
            <a:r>
              <a:rPr lang="en-US" dirty="0"/>
              <a:t>Challenges</a:t>
            </a:r>
          </a:p>
        </p:txBody>
      </p:sp>
      <p:sp>
        <p:nvSpPr>
          <p:cNvPr id="5" name="TextBox 4">
            <a:extLst>
              <a:ext uri="{FF2B5EF4-FFF2-40B4-BE49-F238E27FC236}">
                <a16:creationId xmlns:a16="http://schemas.microsoft.com/office/drawing/2014/main" id="{5B0349E7-E75D-4DF3-9FCA-5B11142065FF}"/>
              </a:ext>
            </a:extLst>
          </p:cNvPr>
          <p:cNvSpPr txBox="1"/>
          <p:nvPr/>
        </p:nvSpPr>
        <p:spPr>
          <a:xfrm>
            <a:off x="2653951" y="3082751"/>
            <a:ext cx="7360607" cy="692497"/>
          </a:xfrm>
          <a:prstGeom prst="rect">
            <a:avLst/>
          </a:prstGeom>
          <a:noFill/>
        </p:spPr>
        <p:txBody>
          <a:bodyPr wrap="square">
            <a:spAutoFit/>
          </a:bodyPr>
          <a:lstStyle/>
          <a:p>
            <a:r>
              <a:rPr lang="en-US" sz="1300" b="0" u="none" strike="noStrike" dirty="0">
                <a:effectLst/>
                <a:uFillTx/>
                <a:latin typeface="Arial"/>
              </a:rPr>
              <a:t>1. Get all invoice ids with the customers first name, last name, and the invoice total</a:t>
            </a:r>
          </a:p>
          <a:p>
            <a:r>
              <a:rPr lang="en-US" sz="1300" b="0" u="none" strike="noStrike" dirty="0">
                <a:effectLst/>
                <a:uFillTx/>
                <a:latin typeface="Arial"/>
              </a:rPr>
              <a:t>2. Print the invoice id, customer's first name, and invoice total. But only if the invoice is over $30.</a:t>
            </a:r>
          </a:p>
          <a:p>
            <a:r>
              <a:rPr lang="en-US" sz="1300" b="0" u="none" strike="noStrike" dirty="0">
                <a:effectLst/>
                <a:uFillTx/>
                <a:latin typeface="Arial"/>
              </a:rPr>
              <a:t>3. Get all the invoices for USA customers in the last 6 months. Use a CTE. </a:t>
            </a:r>
          </a:p>
        </p:txBody>
      </p:sp>
    </p:spTree>
    <p:extLst>
      <p:ext uri="{BB962C8B-B14F-4D97-AF65-F5344CB8AC3E}">
        <p14:creationId xmlns:p14="http://schemas.microsoft.com/office/powerpoint/2010/main" val="12111161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D94FC-9DFB-24C8-FCC1-D0A40C3A4113}"/>
              </a:ext>
            </a:extLst>
          </p:cNvPr>
          <p:cNvSpPr>
            <a:spLocks noGrp="1"/>
          </p:cNvSpPr>
          <p:nvPr>
            <p:ph type="title"/>
          </p:nvPr>
        </p:nvSpPr>
        <p:spPr/>
        <p:txBody>
          <a:bodyPr/>
          <a:lstStyle/>
          <a:p>
            <a:r>
              <a:rPr lang="en-US" dirty="0"/>
              <a:t>Challenges</a:t>
            </a:r>
          </a:p>
        </p:txBody>
      </p:sp>
      <p:sp>
        <p:nvSpPr>
          <p:cNvPr id="5" name="TextBox 4">
            <a:extLst>
              <a:ext uri="{FF2B5EF4-FFF2-40B4-BE49-F238E27FC236}">
                <a16:creationId xmlns:a16="http://schemas.microsoft.com/office/drawing/2014/main" id="{19DEB1E8-D71D-DA71-F734-61F0767CBEEA}"/>
              </a:ext>
            </a:extLst>
          </p:cNvPr>
          <p:cNvSpPr txBox="1"/>
          <p:nvPr/>
        </p:nvSpPr>
        <p:spPr>
          <a:xfrm>
            <a:off x="2390904" y="3233425"/>
            <a:ext cx="7730125" cy="692497"/>
          </a:xfrm>
          <a:prstGeom prst="rect">
            <a:avLst/>
          </a:prstGeom>
          <a:noFill/>
        </p:spPr>
        <p:txBody>
          <a:bodyPr wrap="square">
            <a:spAutoFit/>
          </a:bodyPr>
          <a:lstStyle/>
          <a:p>
            <a:pPr marL="342900" indent="-342900">
              <a:buAutoNum type="arabicPeriod"/>
            </a:pPr>
            <a:r>
              <a:rPr lang="en-US" sz="1300" b="0" u="none" strike="noStrike" dirty="0">
                <a:effectLst/>
                <a:uFillTx/>
                <a:latin typeface="Arial"/>
              </a:rPr>
              <a:t>Create a new table called </a:t>
            </a:r>
            <a:r>
              <a:rPr lang="en-US" sz="1300" dirty="0" err="1">
                <a:latin typeface="Arial"/>
              </a:rPr>
              <a:t>r</a:t>
            </a:r>
            <a:r>
              <a:rPr lang="en-US" sz="1300" b="0" u="none" strike="noStrike" dirty="0" err="1">
                <a:effectLst/>
                <a:uFillTx/>
                <a:latin typeface="Arial"/>
              </a:rPr>
              <a:t>ecord_logs</a:t>
            </a:r>
            <a:endParaRPr lang="en-US" sz="1300" b="0" u="none" strike="noStrike" dirty="0">
              <a:effectLst/>
              <a:uFillTx/>
              <a:latin typeface="Arial"/>
            </a:endParaRPr>
          </a:p>
          <a:p>
            <a:pPr marL="800100" lvl="1" indent="-342900">
              <a:buAutoNum type="arabicPeriod"/>
            </a:pPr>
            <a:r>
              <a:rPr lang="en-US" sz="1300" dirty="0">
                <a:latin typeface="Arial"/>
              </a:rPr>
              <a:t>Fields: </a:t>
            </a:r>
            <a:r>
              <a:rPr lang="en-US" sz="1300" dirty="0" err="1">
                <a:latin typeface="Arial"/>
              </a:rPr>
              <a:t>log_id</a:t>
            </a:r>
            <a:r>
              <a:rPr lang="en-US" sz="1300" dirty="0">
                <a:latin typeface="Arial"/>
              </a:rPr>
              <a:t>, </a:t>
            </a:r>
            <a:r>
              <a:rPr lang="en-US" sz="1300" dirty="0" err="1">
                <a:latin typeface="Arial"/>
              </a:rPr>
              <a:t>record_id</a:t>
            </a:r>
            <a:r>
              <a:rPr lang="en-US" sz="1300" dirty="0">
                <a:latin typeface="Arial"/>
              </a:rPr>
              <a:t>, </a:t>
            </a:r>
            <a:r>
              <a:rPr lang="en-US" sz="1300" dirty="0" err="1">
                <a:latin typeface="Arial"/>
              </a:rPr>
              <a:t>field_changed</a:t>
            </a:r>
            <a:r>
              <a:rPr lang="en-US" sz="1300" dirty="0">
                <a:latin typeface="Arial"/>
              </a:rPr>
              <a:t>, </a:t>
            </a:r>
            <a:r>
              <a:rPr lang="en-US" sz="1300" dirty="0" err="1">
                <a:latin typeface="Arial"/>
              </a:rPr>
              <a:t>last_update</a:t>
            </a:r>
            <a:r>
              <a:rPr lang="en-US" sz="1300" dirty="0">
                <a:latin typeface="Arial"/>
              </a:rPr>
              <a:t>, </a:t>
            </a:r>
            <a:r>
              <a:rPr lang="en-US" sz="1300" dirty="0" err="1">
                <a:latin typeface="Arial"/>
              </a:rPr>
              <a:t>old_value</a:t>
            </a:r>
            <a:r>
              <a:rPr lang="en-US" sz="1300" dirty="0">
                <a:latin typeface="Arial"/>
              </a:rPr>
              <a:t>, </a:t>
            </a:r>
            <a:r>
              <a:rPr lang="en-US" sz="1300" dirty="0" err="1">
                <a:latin typeface="Arial"/>
              </a:rPr>
              <a:t>new_value</a:t>
            </a:r>
            <a:endParaRPr lang="en-US" sz="1300" dirty="0">
              <a:latin typeface="Arial"/>
            </a:endParaRPr>
          </a:p>
          <a:p>
            <a:pPr marL="342900" indent="-342900">
              <a:buAutoNum type="arabicPeriod"/>
            </a:pPr>
            <a:r>
              <a:rPr lang="en-US" sz="1300" b="0" u="none" strike="noStrike" dirty="0">
                <a:effectLst/>
                <a:uFillTx/>
                <a:latin typeface="Arial"/>
              </a:rPr>
              <a:t>Create a trigger that tracks </a:t>
            </a:r>
            <a:r>
              <a:rPr lang="en-US" sz="1300" dirty="0">
                <a:latin typeface="Arial"/>
              </a:rPr>
              <a:t>changes to customer records and logs the changes in our new table</a:t>
            </a:r>
            <a:endParaRPr lang="en-US" sz="1300" b="0" u="none" strike="noStrike" dirty="0">
              <a:effectLst/>
              <a:uFillTx/>
              <a:latin typeface="Arial"/>
            </a:endParaRPr>
          </a:p>
        </p:txBody>
      </p:sp>
    </p:spTree>
    <p:extLst>
      <p:ext uri="{BB962C8B-B14F-4D97-AF65-F5344CB8AC3E}">
        <p14:creationId xmlns:p14="http://schemas.microsoft.com/office/powerpoint/2010/main" val="3110656059"/>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Metadata/LabelInfo.xml><?xml version="1.0" encoding="utf-8"?>
<clbl:labelList xmlns:clbl="http://schemas.microsoft.com/office/2020/mipLabelMetadata">
  <clbl:label id="{6b63e28a-a8f9-47b5-aa40-97e231215164}" enabled="0" method="" siteId="{6b63e28a-a8f9-47b5-aa40-97e231215164}" removed="1"/>
</clbl:labelList>
</file>

<file path=docProps/app.xml><?xml version="1.0" encoding="utf-8"?>
<Properties xmlns="http://schemas.openxmlformats.org/officeDocument/2006/extended-properties" xmlns:vt="http://schemas.openxmlformats.org/officeDocument/2006/docPropsVTypes">
  <Template>office theme</Template>
  <TotalTime>1891</TotalTime>
  <Words>7352</Words>
  <Application>Microsoft Office PowerPoint</Application>
  <PresentationFormat>Widescreen</PresentationFormat>
  <Paragraphs>953</Paragraphs>
  <Slides>83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83</vt:i4>
      </vt:variant>
    </vt:vector>
  </HeadingPairs>
  <TitlesOfParts>
    <vt:vector size="91" baseType="lpstr">
      <vt:lpstr>Arial</vt:lpstr>
      <vt:lpstr>Consolas</vt:lpstr>
      <vt:lpstr>Courier New</vt:lpstr>
      <vt:lpstr>Gill Sans MT</vt:lpstr>
      <vt:lpstr>Google Sans</vt:lpstr>
      <vt:lpstr>Wingdings</vt:lpstr>
      <vt:lpstr>Wingdings 2</vt:lpstr>
      <vt:lpstr>Dividend</vt:lpstr>
      <vt:lpstr>SQL</vt:lpstr>
      <vt:lpstr>Types of Databases</vt:lpstr>
      <vt:lpstr>Docker Desktop Install</vt:lpstr>
      <vt:lpstr>Docker Key Terms</vt:lpstr>
      <vt:lpstr>PostgreSQL Docker Desktop setup</vt:lpstr>
      <vt:lpstr>Database setup - tools</vt:lpstr>
      <vt:lpstr>PostgreSQL hierarchy </vt:lpstr>
      <vt:lpstr>Beginner commands</vt:lpstr>
      <vt:lpstr>PostgreSQL UUID support &amp; Creating tables</vt:lpstr>
      <vt:lpstr>SQL Constraints – Examples</vt:lpstr>
      <vt:lpstr>SQL - Comments</vt:lpstr>
      <vt:lpstr>SQL Sublanguages</vt:lpstr>
      <vt:lpstr>What is a database schema?</vt:lpstr>
      <vt:lpstr>Three-schema Approach</vt:lpstr>
      <vt:lpstr>ERD vs UML</vt:lpstr>
      <vt:lpstr>External to Conceptual Level</vt:lpstr>
      <vt:lpstr>Entity Relationship Diagram</vt:lpstr>
      <vt:lpstr>ERDs</vt:lpstr>
      <vt:lpstr>Complex Attributes</vt:lpstr>
      <vt:lpstr>Relationships</vt:lpstr>
      <vt:lpstr>Relationships – Recursive(self)</vt:lpstr>
      <vt:lpstr>Constraints on Binary Relationships</vt:lpstr>
      <vt:lpstr>Database Normalization – first normal form</vt:lpstr>
      <vt:lpstr>Database normalization – second normal form</vt:lpstr>
      <vt:lpstr>Database normalization – third normal form</vt:lpstr>
      <vt:lpstr>Data Mapping Algorithm</vt:lpstr>
      <vt:lpstr>Data Mapping algorithm</vt:lpstr>
      <vt:lpstr>Data Mapping Algorithm</vt:lpstr>
      <vt:lpstr>Data Mapping Algorithm</vt:lpstr>
      <vt:lpstr>Data Mapping algorithm</vt:lpstr>
      <vt:lpstr>ACID</vt:lpstr>
      <vt:lpstr>We don’t always want normalization</vt:lpstr>
      <vt:lpstr>Common OLAP Schema Patterns</vt:lpstr>
      <vt:lpstr>Common OLAP Schema Patterns</vt:lpstr>
      <vt:lpstr>Common OLAP Schema Patterns</vt:lpstr>
      <vt:lpstr>Chinook DB</vt:lpstr>
      <vt:lpstr>Team Challenge – ERD</vt:lpstr>
      <vt:lpstr>Datatypes</vt:lpstr>
      <vt:lpstr>More on IDs</vt:lpstr>
      <vt:lpstr>Custom datatypes, ENUM, &amp; Regex</vt:lpstr>
      <vt:lpstr>Create/Alter Tables &amp; Check constraints</vt:lpstr>
      <vt:lpstr>Postgres specific – rename columns</vt:lpstr>
      <vt:lpstr>Foreign Key</vt:lpstr>
      <vt:lpstr>Insert &amp; update</vt:lpstr>
      <vt:lpstr>Delete</vt:lpstr>
      <vt:lpstr>Postgres specific - returning</vt:lpstr>
      <vt:lpstr>Postgres specific - upsert</vt:lpstr>
      <vt:lpstr>SELECT</vt:lpstr>
      <vt:lpstr>Select with wildcards – case sensitive</vt:lpstr>
      <vt:lpstr>Select with wildcards – case insensitive Ilike (Postgres specific)</vt:lpstr>
      <vt:lpstr>Order by, Offset, &amp; Limit</vt:lpstr>
      <vt:lpstr>DROP &amp; Truncate</vt:lpstr>
      <vt:lpstr>Aggregate Functions</vt:lpstr>
      <vt:lpstr>Scalar Functions</vt:lpstr>
      <vt:lpstr>Functions - udf</vt:lpstr>
      <vt:lpstr>Stored Procedures</vt:lpstr>
      <vt:lpstr>Stored Procedures</vt:lpstr>
      <vt:lpstr>Challenges - SQL</vt:lpstr>
      <vt:lpstr>Joins</vt:lpstr>
      <vt:lpstr>Inner Join</vt:lpstr>
      <vt:lpstr>Cross Join</vt:lpstr>
      <vt:lpstr>Left/Right Join</vt:lpstr>
      <vt:lpstr>Full Outer Join</vt:lpstr>
      <vt:lpstr>Subqueries &amp; Cte</vt:lpstr>
      <vt:lpstr>Indexing</vt:lpstr>
      <vt:lpstr>JSONb – Postgres specific</vt:lpstr>
      <vt:lpstr>JSONB - Containment Queries</vt:lpstr>
      <vt:lpstr>GIN – Generalized inverted index</vt:lpstr>
      <vt:lpstr>Gin – With arrays</vt:lpstr>
      <vt:lpstr>Partial Indexes</vt:lpstr>
      <vt:lpstr>Gist – Generalized search tree</vt:lpstr>
      <vt:lpstr>Distinct, Union, Union all</vt:lpstr>
      <vt:lpstr>Union Example &amp; Source</vt:lpstr>
      <vt:lpstr>Joins vs Unions</vt:lpstr>
      <vt:lpstr>Views</vt:lpstr>
      <vt:lpstr>The query Planner</vt:lpstr>
      <vt:lpstr>Triggers</vt:lpstr>
      <vt:lpstr>Triggers</vt:lpstr>
      <vt:lpstr>TCL</vt:lpstr>
      <vt:lpstr>TCL</vt:lpstr>
      <vt:lpstr>MVCC</vt:lpstr>
      <vt:lpstr>Challenges</vt:lpstr>
      <vt:lpstr>Challenges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Wilson</dc:creator>
  <cp:lastModifiedBy>Ethan Wilson</cp:lastModifiedBy>
  <cp:revision>605</cp:revision>
  <dcterms:created xsi:type="dcterms:W3CDTF">2025-02-12T19:53:45Z</dcterms:created>
  <dcterms:modified xsi:type="dcterms:W3CDTF">2026-09-21T15:30:47Z</dcterms:modified>
</cp:coreProperties>
</file>