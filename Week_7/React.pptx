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17" r:id="rId3"/>
    <p:sldId id="325" r:id="rId4"/>
    <p:sldId id="318" r:id="rId5"/>
    <p:sldId id="319" r:id="rId6"/>
    <p:sldId id="322" r:id="rId7"/>
    <p:sldId id="320" r:id="rId8"/>
    <p:sldId id="321" r:id="rId9"/>
    <p:sldId id="323" r:id="rId10"/>
    <p:sldId id="324" r:id="rId11"/>
    <p:sldId id="263" r:id="rId12"/>
    <p:sldId id="264" r:id="rId13"/>
    <p:sldId id="265" r:id="rId14"/>
    <p:sldId id="262" r:id="rId15"/>
    <p:sldId id="316" r:id="rId16"/>
    <p:sldId id="266" r:id="rId17"/>
    <p:sldId id="267" r:id="rId18"/>
    <p:sldId id="269" r:id="rId19"/>
    <p:sldId id="268" r:id="rId20"/>
    <p:sldId id="270" r:id="rId21"/>
    <p:sldId id="273" r:id="rId22"/>
    <p:sldId id="274" r:id="rId23"/>
    <p:sldId id="275" r:id="rId24"/>
    <p:sldId id="272" r:id="rId25"/>
    <p:sldId id="271" r:id="rId26"/>
    <p:sldId id="276" r:id="rId27"/>
    <p:sldId id="291" r:id="rId28"/>
    <p:sldId id="282" r:id="rId29"/>
    <p:sldId id="295" r:id="rId30"/>
    <p:sldId id="297" r:id="rId31"/>
    <p:sldId id="296" r:id="rId32"/>
    <p:sldId id="303" r:id="rId33"/>
    <p:sldId id="277" r:id="rId34"/>
    <p:sldId id="278" r:id="rId35"/>
    <p:sldId id="279" r:id="rId36"/>
    <p:sldId id="312" r:id="rId37"/>
    <p:sldId id="311" r:id="rId38"/>
    <p:sldId id="313" r:id="rId39"/>
    <p:sldId id="314" r:id="rId40"/>
    <p:sldId id="327" r:id="rId41"/>
    <p:sldId id="328" r:id="rId42"/>
    <p:sldId id="315" r:id="rId43"/>
    <p:sldId id="326" r:id="rId44"/>
    <p:sldId id="307" r:id="rId45"/>
    <p:sldId id="310" r:id="rId46"/>
    <p:sldId id="309" r:id="rId47"/>
    <p:sldId id="280" r:id="rId48"/>
    <p:sldId id="281" r:id="rId49"/>
    <p:sldId id="283" r:id="rId50"/>
    <p:sldId id="284" r:id="rId51"/>
    <p:sldId id="329" r:id="rId52"/>
    <p:sldId id="330" r:id="rId53"/>
    <p:sldId id="331" r:id="rId54"/>
    <p:sldId id="332" r:id="rId55"/>
    <p:sldId id="333" r:id="rId56"/>
    <p:sldId id="336" r:id="rId57"/>
    <p:sldId id="335" r:id="rId58"/>
    <p:sldId id="334" r:id="rId59"/>
    <p:sldId id="339" r:id="rId60"/>
    <p:sldId id="292" r:id="rId61"/>
    <p:sldId id="286" r:id="rId62"/>
    <p:sldId id="287" r:id="rId63"/>
    <p:sldId id="288" r:id="rId64"/>
    <p:sldId id="293" r:id="rId65"/>
    <p:sldId id="299" r:id="rId66"/>
    <p:sldId id="300" r:id="rId67"/>
    <p:sldId id="301" r:id="rId68"/>
    <p:sldId id="304" r:id="rId69"/>
    <p:sldId id="305" r:id="rId70"/>
    <p:sldId id="306" r:id="rId71"/>
    <p:sldId id="338" r:id="rId72"/>
    <p:sldId id="340" r:id="rId73"/>
    <p:sldId id="341" r:id="rId74"/>
    <p:sldId id="342" r:id="rId75"/>
    <p:sldId id="343" r:id="rId76"/>
    <p:sldId id="344" r:id="rId77"/>
    <p:sldId id="345" r:id="rId78"/>
    <p:sldId id="308" r:id="rId79"/>
    <p:sldId id="285" r:id="rId80"/>
    <p:sldId id="290" r:id="rId81"/>
    <p:sldId id="289" r:id="rId82"/>
    <p:sldId id="294" r:id="rId83"/>
    <p:sldId id="298" r:id="rId84"/>
    <p:sldId id="302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3D65C-8931-47DD-A990-F3B8405C861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98671D-2D77-41C0-86B7-5B9DCF2A59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It’s common to group up components in your project folder based on features</a:t>
          </a:r>
        </a:p>
      </dgm:t>
    </dgm:pt>
    <dgm:pt modelId="{06064ABE-0F0D-4A1D-AE43-66B9DB09EB18}" type="parTrans" cxnId="{209D1261-C4B3-463C-AF68-649DB5024103}">
      <dgm:prSet/>
      <dgm:spPr/>
      <dgm:t>
        <a:bodyPr/>
        <a:lstStyle/>
        <a:p>
          <a:endParaRPr lang="en-US"/>
        </a:p>
      </dgm:t>
    </dgm:pt>
    <dgm:pt modelId="{EF3F3E5A-1C21-4F1E-8291-8D6646D04213}" type="sibTrans" cxnId="{209D1261-C4B3-463C-AF68-649DB5024103}">
      <dgm:prSet/>
      <dgm:spPr/>
      <dgm:t>
        <a:bodyPr/>
        <a:lstStyle/>
        <a:p>
          <a:endParaRPr lang="en-US"/>
        </a:p>
      </dgm:t>
    </dgm:pt>
    <dgm:pt modelId="{145E74D0-10BA-4829-BF4A-7CEA034790D5}" type="pres">
      <dgm:prSet presAssocID="{6E43D65C-8931-47DD-A990-F3B8405C8612}" presName="root" presStyleCnt="0">
        <dgm:presLayoutVars>
          <dgm:dir/>
          <dgm:resizeHandles val="exact"/>
        </dgm:presLayoutVars>
      </dgm:prSet>
      <dgm:spPr/>
    </dgm:pt>
    <dgm:pt modelId="{A3C1F0FE-CA92-44A2-8A2A-57473F82C054}" type="pres">
      <dgm:prSet presAssocID="{A498671D-2D77-41C0-86B7-5B9DCF2A594F}" presName="compNode" presStyleCnt="0"/>
      <dgm:spPr/>
    </dgm:pt>
    <dgm:pt modelId="{6233FC53-5290-4539-A927-EDB59F773E72}" type="pres">
      <dgm:prSet presAssocID="{A498671D-2D77-41C0-86B7-5B9DCF2A594F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010B96A-6623-4F92-8382-8A60E83567A2}" type="pres">
      <dgm:prSet presAssocID="{A498671D-2D77-41C0-86B7-5B9DCF2A594F}" presName="spaceRect" presStyleCnt="0"/>
      <dgm:spPr/>
    </dgm:pt>
    <dgm:pt modelId="{3BD1305E-B700-4EAC-93C6-194EC97808D2}" type="pres">
      <dgm:prSet presAssocID="{A498671D-2D77-41C0-86B7-5B9DCF2A594F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C1D7AD0E-DD3F-4190-9AAE-8E1D6A05524B}" type="presOf" srcId="{6E43D65C-8931-47DD-A990-F3B8405C8612}" destId="{145E74D0-10BA-4829-BF4A-7CEA034790D5}" srcOrd="0" destOrd="0" presId="urn:microsoft.com/office/officeart/2018/2/layout/IconLabelList"/>
    <dgm:cxn modelId="{209D1261-C4B3-463C-AF68-649DB5024103}" srcId="{6E43D65C-8931-47DD-A990-F3B8405C8612}" destId="{A498671D-2D77-41C0-86B7-5B9DCF2A594F}" srcOrd="0" destOrd="0" parTransId="{06064ABE-0F0D-4A1D-AE43-66B9DB09EB18}" sibTransId="{EF3F3E5A-1C21-4F1E-8291-8D6646D04213}"/>
    <dgm:cxn modelId="{761B1D49-8982-4142-BA7B-C872B68BEE82}" type="presOf" srcId="{A498671D-2D77-41C0-86B7-5B9DCF2A594F}" destId="{3BD1305E-B700-4EAC-93C6-194EC97808D2}" srcOrd="0" destOrd="0" presId="urn:microsoft.com/office/officeart/2018/2/layout/IconLabelList"/>
    <dgm:cxn modelId="{E890585D-F497-4539-87CB-FCB6A10BC018}" type="presParOf" srcId="{145E74D0-10BA-4829-BF4A-7CEA034790D5}" destId="{A3C1F0FE-CA92-44A2-8A2A-57473F82C054}" srcOrd="0" destOrd="0" presId="urn:microsoft.com/office/officeart/2018/2/layout/IconLabelList"/>
    <dgm:cxn modelId="{2AA23498-CE42-4BBC-A7C0-196BB8A1909D}" type="presParOf" srcId="{A3C1F0FE-CA92-44A2-8A2A-57473F82C054}" destId="{6233FC53-5290-4539-A927-EDB59F773E72}" srcOrd="0" destOrd="0" presId="urn:microsoft.com/office/officeart/2018/2/layout/IconLabelList"/>
    <dgm:cxn modelId="{87D68434-E48E-44D9-B03A-555236487174}" type="presParOf" srcId="{A3C1F0FE-CA92-44A2-8A2A-57473F82C054}" destId="{D010B96A-6623-4F92-8382-8A60E83567A2}" srcOrd="1" destOrd="0" presId="urn:microsoft.com/office/officeart/2018/2/layout/IconLabelList"/>
    <dgm:cxn modelId="{36855CBA-609E-43F7-87CF-2D0AA1D3FA25}" type="presParOf" srcId="{A3C1F0FE-CA92-44A2-8A2A-57473F82C054}" destId="{3BD1305E-B700-4EAC-93C6-194EC97808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3FC53-5290-4539-A927-EDB59F773E72}">
      <dsp:nvSpPr>
        <dsp:cNvPr id="0" name=""/>
        <dsp:cNvSpPr/>
      </dsp:nvSpPr>
      <dsp:spPr>
        <a:xfrm>
          <a:off x="713531" y="104224"/>
          <a:ext cx="845437" cy="845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1305E-B700-4EAC-93C6-194EC97808D2}">
      <dsp:nvSpPr>
        <dsp:cNvPr id="0" name=""/>
        <dsp:cNvSpPr/>
      </dsp:nvSpPr>
      <dsp:spPr>
        <a:xfrm>
          <a:off x="196875" y="1225956"/>
          <a:ext cx="187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It’s common to group up components in your project folder based on features</a:t>
          </a:r>
        </a:p>
      </dsp:txBody>
      <dsp:txXfrm>
        <a:off x="196875" y="1225956"/>
        <a:ext cx="187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TypeScript &amp;</a:t>
            </a:r>
            <a:br>
              <a:rPr lang="en-US" dirty="0"/>
            </a:br>
            <a:r>
              <a:rPr lang="en-US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2529-4BC9-51D9-D3FF-3CA6EA03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77C23-20F5-B927-8EF3-A31AA53DE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71292" cy="3678303"/>
          </a:xfrm>
        </p:spPr>
        <p:txBody>
          <a:bodyPr/>
          <a:lstStyle/>
          <a:p>
            <a:r>
              <a:rPr lang="en-US" dirty="0"/>
              <a:t>TypeScript is JavaScript + Types</a:t>
            </a:r>
          </a:p>
          <a:p>
            <a:r>
              <a:rPr lang="en-US" dirty="0"/>
              <a:t>Made by Microsoft</a:t>
            </a:r>
          </a:p>
          <a:p>
            <a:r>
              <a:rPr lang="en-US" dirty="0"/>
              <a:t>Makes larger apps scale easier</a:t>
            </a:r>
          </a:p>
          <a:p>
            <a:r>
              <a:rPr lang="en-US" dirty="0"/>
              <a:t>Gives our linters warnings when we make typos / use incorrect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F334B-51BB-7DE2-B783-57407F25A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018" y="3274828"/>
            <a:ext cx="3777270" cy="1553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396783-25E7-5CB7-FA9E-3DA85B37F77A}"/>
              </a:ext>
            </a:extLst>
          </p:cNvPr>
          <p:cNvSpPr txBox="1"/>
          <p:nvPr/>
        </p:nvSpPr>
        <p:spPr>
          <a:xfrm>
            <a:off x="6749018" y="2806996"/>
            <a:ext cx="212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Code extensions:</a:t>
            </a:r>
          </a:p>
        </p:txBody>
      </p:sp>
    </p:spTree>
    <p:extLst>
      <p:ext uri="{BB962C8B-B14F-4D97-AF65-F5344CB8AC3E}">
        <p14:creationId xmlns:p14="http://schemas.microsoft.com/office/powerpoint/2010/main" val="164067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F62C-6F70-4738-71AB-91C8740C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Intro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25094-B417-9E5B-42E9-297D57E6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0446" y="2193196"/>
            <a:ext cx="6391108" cy="3678303"/>
          </a:xfrm>
        </p:spPr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-g typescript</a:t>
            </a:r>
          </a:p>
          <a:p>
            <a:r>
              <a:rPr lang="en-US" dirty="0" err="1"/>
              <a:t>tsc</a:t>
            </a:r>
            <a:r>
              <a:rPr lang="en-US" dirty="0"/>
              <a:t> --version</a:t>
            </a:r>
          </a:p>
          <a:p>
            <a:r>
              <a:rPr lang="en-US" dirty="0"/>
              <a:t>compile a file:</a:t>
            </a:r>
          </a:p>
          <a:p>
            <a:pPr lvl="1"/>
            <a:r>
              <a:rPr lang="en-US" dirty="0" err="1"/>
              <a:t>tsc</a:t>
            </a:r>
            <a:r>
              <a:rPr lang="en-US" dirty="0"/>
              <a:t> </a:t>
            </a:r>
            <a:r>
              <a:rPr lang="en-US" dirty="0" err="1"/>
              <a:t>app.ts</a:t>
            </a:r>
            <a:r>
              <a:rPr lang="en-US" dirty="0"/>
              <a:t> -&gt; compiles into .</a:t>
            </a:r>
            <a:r>
              <a:rPr lang="en-US" dirty="0" err="1"/>
              <a:t>js</a:t>
            </a:r>
            <a:r>
              <a:rPr lang="en-US" dirty="0"/>
              <a:t> file </a:t>
            </a:r>
          </a:p>
          <a:p>
            <a:r>
              <a:rPr lang="en-US" dirty="0" err="1"/>
              <a:t>tsc</a:t>
            </a:r>
            <a:r>
              <a:rPr lang="en-US" dirty="0"/>
              <a:t> --</a:t>
            </a:r>
            <a:r>
              <a:rPr lang="en-US" dirty="0" err="1"/>
              <a:t>init</a:t>
            </a:r>
            <a:r>
              <a:rPr lang="en-US" dirty="0"/>
              <a:t> -&gt; generates </a:t>
            </a:r>
            <a:r>
              <a:rPr lang="en-US" dirty="0" err="1"/>
              <a:t>tsconfig.json</a:t>
            </a:r>
            <a:r>
              <a:rPr lang="en-US" dirty="0"/>
              <a:t> file (compiler settings)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22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7CA4-00AC-992A-8E4C-62BBD723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6D755-8285-DC44-5E8E-FA7AF5971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743158" cy="3678303"/>
          </a:xfrm>
        </p:spPr>
        <p:txBody>
          <a:bodyPr/>
          <a:lstStyle/>
          <a:p>
            <a:r>
              <a:rPr lang="en-US" dirty="0"/>
              <a:t>With TypeScript we assign types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r>
              <a:rPr lang="en-US" dirty="0">
                <a:sym typeface="Wingdings" panose="05000000000000000000" pitchFamily="2" charset="2"/>
              </a:rPr>
              <a:t>Variables, functions, classes,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 may now all accept type definitions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EB619-3C76-C463-FEB8-E5E94B4A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949" y="2312888"/>
            <a:ext cx="4124901" cy="1419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FD20A0-3F14-DE4B-DE0B-56CEDD30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949" y="4235354"/>
            <a:ext cx="4163006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A243-5DF5-2666-3396-AF4CD821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Objects &amp;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494D-C126-2655-1136-51C9195E2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594" y="2387965"/>
            <a:ext cx="3768558" cy="3678303"/>
          </a:xfrm>
        </p:spPr>
        <p:txBody>
          <a:bodyPr/>
          <a:lstStyle/>
          <a:p>
            <a:r>
              <a:rPr lang="en-US" dirty="0"/>
              <a:t>We can define object literals with types</a:t>
            </a:r>
          </a:p>
          <a:p>
            <a:r>
              <a:rPr lang="en-US" dirty="0"/>
              <a:t>We use interfaces to define reusable types</a:t>
            </a:r>
          </a:p>
          <a:p>
            <a:r>
              <a:rPr lang="en-US" dirty="0"/>
              <a:t>We typically use interfaces over classes when defining new types because interfaces define only a contract and will not generate any runtime code like a class would</a:t>
            </a:r>
          </a:p>
          <a:p>
            <a:r>
              <a:rPr lang="en-US" dirty="0"/>
              <a:t>We can mark a field as nullable with ‘?’ when defining interfaces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55E04-5A3B-C591-641F-3F605F867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104" y="2534471"/>
            <a:ext cx="1733792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30F22-21BB-7357-F706-D0C04FED9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325" y="2285392"/>
            <a:ext cx="2048161" cy="2410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CE9ED-6600-CE13-71DF-43E21D4CD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645" y="5291982"/>
            <a:ext cx="181000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0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19D6-0835-754F-7A39-1C3C41AF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Definition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2BF7-7C42-527E-FCF6-6E967724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82263" cy="3678303"/>
          </a:xfrm>
        </p:spPr>
        <p:txBody>
          <a:bodyPr/>
          <a:lstStyle/>
          <a:p>
            <a:r>
              <a:rPr lang="en-US" dirty="0"/>
              <a:t>‘.</a:t>
            </a:r>
            <a:r>
              <a:rPr lang="en-US" dirty="0" err="1"/>
              <a:t>d.ts</a:t>
            </a:r>
            <a:r>
              <a:rPr lang="en-US" dirty="0"/>
              <a:t>.’ file extension</a:t>
            </a:r>
          </a:p>
          <a:p>
            <a:r>
              <a:rPr lang="en-US" dirty="0"/>
              <a:t>Contains no runtime code, only definitions for types used elsewhere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522C8-31D8-9CA0-81DD-B5A80E6C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39" y="2754320"/>
            <a:ext cx="3010320" cy="2124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8A25D2-CBDF-4CF7-1E3A-62CE6E502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993" y="2754319"/>
            <a:ext cx="2029108" cy="2124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167BB3-51EF-44BC-33EF-49BE99CDE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707" y="5388609"/>
            <a:ext cx="4163006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0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EAA8-62CE-E627-E8F2-4E82AC01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Type Aliases &amp; Type Unions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15FB3-AB8C-6EEA-48F7-73E45BFD6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12999" cy="3678303"/>
          </a:xfrm>
        </p:spPr>
        <p:txBody>
          <a:bodyPr/>
          <a:lstStyle/>
          <a:p>
            <a:r>
              <a:rPr lang="en-US" dirty="0"/>
              <a:t>We can create type aliases with the ‘type’ keyword: ID is either a string OR a number</a:t>
            </a:r>
          </a:p>
          <a:p>
            <a:r>
              <a:rPr lang="en-US" dirty="0"/>
              <a:t>Type union = when we have a new type made from 2 or more other types; </a:t>
            </a:r>
          </a:p>
          <a:p>
            <a:pPr lvl="1"/>
            <a:r>
              <a:rPr lang="en-US" dirty="0"/>
              <a:t>i.e. ‘string | number’ syntax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C9CD7-DF5C-A8A3-3AB7-D4796180A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56" y="3695752"/>
            <a:ext cx="2857899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7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C5F5-E926-6D5E-A18F-BC6093C6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16B3B-F153-B5DB-3173-FA0048C16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416" y="2475751"/>
            <a:ext cx="4096322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3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BE7D-6D25-7596-0E1C-5F77E7AFD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Generic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24AD-9994-2693-971B-310D0DD7A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7" cy="3678303"/>
          </a:xfrm>
        </p:spPr>
        <p:txBody>
          <a:bodyPr/>
          <a:lstStyle/>
          <a:p>
            <a:r>
              <a:rPr lang="en-US" dirty="0"/>
              <a:t>‘T’ represents a generic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888F9-9BD2-F044-920F-153B86AC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101" y="3060173"/>
            <a:ext cx="3772426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4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C666-2C02-F5EA-6C73-0FF63852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- Enum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E60F-BF6F-4CB5-53FB-3A2E0731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895" y="2211232"/>
            <a:ext cx="8678069" cy="1013801"/>
          </a:xfrm>
        </p:spPr>
        <p:txBody>
          <a:bodyPr/>
          <a:lstStyle/>
          <a:p>
            <a:r>
              <a:rPr lang="en-US" dirty="0"/>
              <a:t>We typically use ‘type’ syntax instead of defining an actual </a:t>
            </a:r>
            <a:r>
              <a:rPr lang="en-US" dirty="0" err="1"/>
              <a:t>enum</a:t>
            </a:r>
            <a:r>
              <a:rPr lang="en-US" dirty="0"/>
              <a:t> with ‘</a:t>
            </a:r>
            <a:r>
              <a:rPr lang="en-US" dirty="0" err="1"/>
              <a:t>enum</a:t>
            </a:r>
            <a:r>
              <a:rPr lang="en-US" dirty="0"/>
              <a:t>’ keyword</a:t>
            </a:r>
          </a:p>
          <a:p>
            <a:r>
              <a:rPr lang="en-US" dirty="0"/>
              <a:t>Doing it this way generates zero runtime cost (less bundled code after compilation)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622EE-C89E-91C2-117B-342FCA55E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35" y="3720309"/>
            <a:ext cx="8906528" cy="444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7FE744-69F3-3AFE-1A6F-7E5069B97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788" y="5493440"/>
            <a:ext cx="1600423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2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FDC9B-E008-C5DA-8CAB-63321668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is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85CE1-91C2-05D6-C8B9-88412DDBD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Definition: </a:t>
            </a:r>
            <a:r>
              <a:rPr lang="en-US" dirty="0">
                <a:solidFill>
                  <a:schemeClr val="accent2"/>
                </a:solidFill>
              </a:rPr>
              <a:t>React</a:t>
            </a:r>
            <a:r>
              <a:rPr lang="en-US" dirty="0">
                <a:solidFill>
                  <a:schemeClr val="bg1"/>
                </a:solidFill>
              </a:rPr>
              <a:t> is a front-end JavaScript library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React is also known as React.js or ReactJS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React is a tool for building UI components</a:t>
            </a:r>
          </a:p>
          <a:p>
            <a:r>
              <a:rPr lang="en-US" dirty="0" err="1">
                <a:solidFill>
                  <a:schemeClr val="bg1"/>
                </a:solidFill>
              </a:rPr>
              <a:t>react.dev</a:t>
            </a:r>
            <a:r>
              <a:rPr lang="en-US" dirty="0">
                <a:solidFill>
                  <a:schemeClr val="bg1"/>
                </a:solidFill>
              </a:rPr>
              <a:t>/learn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ACAEC-8645-F494-584E-E0B6A07E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250" y="718314"/>
            <a:ext cx="6340790" cy="271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CE7030-0458-1D8B-C108-9447BDFF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251" y="3635363"/>
            <a:ext cx="6340790" cy="274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30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D4A6-DD2E-5DF2-1E7A-3CC10388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React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7794F-23F3-26FD-CC67-AAE322DC1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932102" cy="3678303"/>
          </a:xfrm>
        </p:spPr>
        <p:txBody>
          <a:bodyPr/>
          <a:lstStyle/>
          <a:p>
            <a:r>
              <a:rPr lang="en-US" dirty="0"/>
              <a:t>React creates a virtual DOM in memory</a:t>
            </a:r>
          </a:p>
          <a:p>
            <a:pPr lvl="1"/>
            <a:r>
              <a:rPr lang="en-US" dirty="0"/>
              <a:t>Instead of manipulating the browser’s DOM directly, React creates a virtual DOM in memory, where it does all the necessary manipulating, before making changes in the browser DOM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DFA8A-953B-F0D5-304B-0BBAE13B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14514"/>
            <a:ext cx="417253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12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0524-623B-0575-4BFF-61A1D601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2E14D-AABC-A444-62EC-94DEB522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26708"/>
            <a:ext cx="3371075" cy="3678303"/>
          </a:xfrm>
        </p:spPr>
        <p:txBody>
          <a:bodyPr/>
          <a:lstStyle/>
          <a:p>
            <a:r>
              <a:rPr lang="en-US" dirty="0"/>
              <a:t>NPM, included with Node.js</a:t>
            </a:r>
          </a:p>
          <a:p>
            <a:r>
              <a:rPr lang="en-US" dirty="0" err="1"/>
              <a:t>Vscode</a:t>
            </a:r>
            <a:endParaRPr lang="en-US" dirty="0"/>
          </a:p>
          <a:p>
            <a:r>
              <a:rPr lang="en-US" dirty="0"/>
              <a:t>Vite</a:t>
            </a:r>
          </a:p>
          <a:p>
            <a:pPr lvl="1"/>
            <a:r>
              <a:rPr lang="en-US" dirty="0"/>
              <a:t>Project names all lowercase/dashes</a:t>
            </a:r>
          </a:p>
          <a:p>
            <a:r>
              <a:rPr lang="en-US" dirty="0"/>
              <a:t>Recommended: </a:t>
            </a:r>
            <a:br>
              <a:rPr lang="en-US" dirty="0"/>
            </a:br>
            <a:r>
              <a:rPr lang="en-US" dirty="0"/>
              <a:t>React Developer Tools browser extension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7E017-B7EC-959E-7408-C51E6D17F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680" y="2256320"/>
            <a:ext cx="3581900" cy="50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CEC70B-C25C-AB4B-AD0F-FAE10C7E2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16671"/>
            <a:ext cx="3286062" cy="2885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AD11A9-B4A1-B4D6-B247-FD3DF2885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277" y="3116671"/>
            <a:ext cx="3753374" cy="1943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CCC6B7-04F0-2500-EC0A-8AB5F294381C}"/>
              </a:ext>
            </a:extLst>
          </p:cNvPr>
          <p:cNvSpPr txBox="1"/>
          <p:nvPr/>
        </p:nvSpPr>
        <p:spPr>
          <a:xfrm>
            <a:off x="4122840" y="6091425"/>
            <a:ext cx="5142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 – use Typescript – Compiler option NOT SWC</a:t>
            </a:r>
          </a:p>
        </p:txBody>
      </p:sp>
    </p:spTree>
    <p:extLst>
      <p:ext uri="{BB962C8B-B14F-4D97-AF65-F5344CB8AC3E}">
        <p14:creationId xmlns:p14="http://schemas.microsoft.com/office/powerpoint/2010/main" val="864873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Your First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React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456103" y="3130666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 records. This application will be written in React.</a:t>
            </a:r>
          </a:p>
          <a:p>
            <a:endParaRPr lang="en-US" dirty="0"/>
          </a:p>
          <a:p>
            <a:r>
              <a:rPr lang="en-US" dirty="0"/>
              <a:t>To get started, setup your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3A36-FBD4-17B2-FFC7-C04C087B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Project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C2931-CF57-FDFD-93DB-94F2E7B7F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98" y="2054268"/>
            <a:ext cx="1866449" cy="4508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5BF44-7359-BB55-06F9-E9AA636C8F74}"/>
              </a:ext>
            </a:extLst>
          </p:cNvPr>
          <p:cNvSpPr txBox="1"/>
          <p:nvPr/>
        </p:nvSpPr>
        <p:spPr>
          <a:xfrm>
            <a:off x="4835047" y="2589757"/>
            <a:ext cx="65260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Index.html – </a:t>
            </a:r>
            <a:r>
              <a:rPr lang="en-US" dirty="0" err="1"/>
              <a:t>entrypoint</a:t>
            </a:r>
            <a:r>
              <a:rPr lang="en-US" dirty="0"/>
              <a:t>; loads our </a:t>
            </a:r>
            <a:r>
              <a:rPr lang="en-US" dirty="0" err="1"/>
              <a:t>main.tsx</a:t>
            </a:r>
            <a:endParaRPr lang="en-US" dirty="0"/>
          </a:p>
          <a:p>
            <a:r>
              <a:rPr lang="en-US" dirty="0" err="1"/>
              <a:t>Main.tsx</a:t>
            </a:r>
            <a:r>
              <a:rPr lang="en-US" dirty="0"/>
              <a:t> – loads </a:t>
            </a:r>
            <a:r>
              <a:rPr lang="en-US" dirty="0" err="1"/>
              <a:t>app.tsx</a:t>
            </a:r>
            <a:r>
              <a:rPr lang="en-US" dirty="0"/>
              <a:t>; typically add global dependencies here</a:t>
            </a:r>
          </a:p>
          <a:p>
            <a:r>
              <a:rPr lang="en-US" dirty="0" err="1"/>
              <a:t>App.tsx</a:t>
            </a:r>
            <a:r>
              <a:rPr lang="en-US" dirty="0"/>
              <a:t> – main app structure/components go here</a:t>
            </a:r>
          </a:p>
          <a:p>
            <a:r>
              <a:rPr lang="en-US" dirty="0" err="1"/>
              <a:t>Package.json</a:t>
            </a:r>
            <a:r>
              <a:rPr lang="en-US" dirty="0"/>
              <a:t> – contains our NPM dependencies + versions</a:t>
            </a:r>
          </a:p>
          <a:p>
            <a:r>
              <a:rPr lang="en-US" dirty="0" err="1"/>
              <a:t>Vite.config.ts</a:t>
            </a:r>
            <a:r>
              <a:rPr lang="en-US" dirty="0"/>
              <a:t> – configuration for </a:t>
            </a:r>
            <a:r>
              <a:rPr lang="en-US" dirty="0" err="1"/>
              <a:t>vite’s</a:t>
            </a:r>
            <a:r>
              <a:rPr lang="en-US" dirty="0"/>
              <a:t> build tools; e.g. set the port </a:t>
            </a:r>
          </a:p>
          <a:p>
            <a:r>
              <a:rPr lang="en-US" dirty="0"/>
              <a:t>that our front-end will launch 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EEE25B-61D4-8BFA-DE73-2F530675E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46278"/>
            <a:ext cx="2981741" cy="1343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9B8EEE-43F0-D630-0F3F-83857C1B8626}"/>
              </a:ext>
            </a:extLst>
          </p:cNvPr>
          <p:cNvSpPr txBox="1"/>
          <p:nvPr/>
        </p:nvSpPr>
        <p:spPr>
          <a:xfrm>
            <a:off x="4779396" y="1968190"/>
            <a:ext cx="6552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TypeScript React projects use .</a:t>
            </a:r>
            <a:r>
              <a:rPr lang="en-US" dirty="0" err="1">
                <a:solidFill>
                  <a:srgbClr val="FF0000"/>
                </a:solidFill>
              </a:rPr>
              <a:t>tsx</a:t>
            </a:r>
            <a:r>
              <a:rPr lang="en-US" dirty="0">
                <a:solidFill>
                  <a:srgbClr val="FF0000"/>
                </a:solidFill>
              </a:rPr>
              <a:t>, normal React uses .</a:t>
            </a:r>
            <a:r>
              <a:rPr lang="en-US" dirty="0" err="1">
                <a:solidFill>
                  <a:srgbClr val="FF0000"/>
                </a:solidFill>
              </a:rPr>
              <a:t>jsx</a:t>
            </a:r>
            <a:r>
              <a:rPr lang="en-US" dirty="0">
                <a:solidFill>
                  <a:srgbClr val="FF0000"/>
                </a:solidFill>
              </a:rPr>
              <a:t> files!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833108-77C9-0A6D-BB69-EF2F7D1E5539}"/>
              </a:ext>
            </a:extLst>
          </p:cNvPr>
          <p:cNvSpPr txBox="1"/>
          <p:nvPr/>
        </p:nvSpPr>
        <p:spPr>
          <a:xfrm>
            <a:off x="88900" y="2997200"/>
            <a:ext cx="225292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Author’s opinion:</a:t>
            </a:r>
          </a:p>
          <a:p>
            <a:r>
              <a:rPr lang="en-US" sz="1600" dirty="0"/>
              <a:t>The Assets folder </a:t>
            </a:r>
            <a:br>
              <a:rPr lang="en-US" sz="1600" dirty="0"/>
            </a:br>
            <a:r>
              <a:rPr lang="en-US" sz="1600" dirty="0"/>
              <a:t>can be deleted…</a:t>
            </a:r>
          </a:p>
          <a:p>
            <a:endParaRPr lang="en-US" sz="1600" dirty="0"/>
          </a:p>
          <a:p>
            <a:r>
              <a:rPr lang="en-US" sz="1600" dirty="0"/>
              <a:t>The public folder</a:t>
            </a:r>
          </a:p>
          <a:p>
            <a:r>
              <a:rPr lang="en-US" sz="1600" dirty="0"/>
              <a:t>is already accessible</a:t>
            </a:r>
          </a:p>
          <a:p>
            <a:r>
              <a:rPr lang="en-US" sz="1600" dirty="0"/>
              <a:t>easily from components</a:t>
            </a:r>
          </a:p>
          <a:p>
            <a:endParaRPr lang="en-US" sz="1600" dirty="0"/>
          </a:p>
          <a:p>
            <a:r>
              <a:rPr lang="en-US" sz="1600" dirty="0"/>
              <a:t>We will just use that for </a:t>
            </a:r>
            <a:br>
              <a:rPr lang="en-US" sz="1600" dirty="0"/>
            </a:br>
            <a:r>
              <a:rPr lang="en-US" sz="1600" dirty="0"/>
              <a:t>any image resources</a:t>
            </a:r>
          </a:p>
        </p:txBody>
      </p:sp>
    </p:spTree>
    <p:extLst>
      <p:ext uri="{BB962C8B-B14F-4D97-AF65-F5344CB8AC3E}">
        <p14:creationId xmlns:p14="http://schemas.microsoft.com/office/powerpoint/2010/main" val="246207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9A83-43AA-1FCC-FFB9-5A62A7F3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React Component?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A6D25-759E-CB20-B233-0FCAE90BE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021749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component</a:t>
            </a:r>
            <a:r>
              <a:rPr lang="en-US" dirty="0"/>
              <a:t> is a piece of the UI that has its own logic and appearance</a:t>
            </a:r>
          </a:p>
          <a:p>
            <a:pPr lvl="1"/>
            <a:r>
              <a:rPr lang="en-US" dirty="0"/>
              <a:t>A component can be as small as a button, or as large as an entire page</a:t>
            </a:r>
          </a:p>
          <a:p>
            <a:pPr lvl="1"/>
            <a:r>
              <a:rPr lang="en-US" dirty="0"/>
              <a:t>React components are JavaScript functions that return markup</a:t>
            </a:r>
          </a:p>
          <a:p>
            <a:pPr lvl="1"/>
            <a:r>
              <a:rPr lang="en-US" dirty="0"/>
              <a:t>Pascal-case naming</a:t>
            </a:r>
          </a:p>
          <a:p>
            <a:pPr lvl="1"/>
            <a:r>
              <a:rPr lang="en-US" dirty="0"/>
              <a:t>Two types: class components and function components (default)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B6F3E-629A-7761-0BEB-CFEA202E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313" y="3004822"/>
            <a:ext cx="2152950" cy="188621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3A7B8-4162-5728-AEE2-B14B7D7FD2E2}"/>
              </a:ext>
            </a:extLst>
          </p:cNvPr>
          <p:cNvCxnSpPr>
            <a:cxnSpLocks/>
          </p:cNvCxnSpPr>
          <p:nvPr/>
        </p:nvCxnSpPr>
        <p:spPr>
          <a:xfrm flipH="1" flipV="1">
            <a:off x="7988263" y="3666565"/>
            <a:ext cx="662678" cy="7171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3D491D-8D60-402F-A8E0-9E454805E4A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7988263" y="3738282"/>
            <a:ext cx="662678" cy="20964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C10074-7071-23C0-1743-AA13685BFA63}"/>
              </a:ext>
            </a:extLst>
          </p:cNvPr>
          <p:cNvSpPr txBox="1"/>
          <p:nvPr/>
        </p:nvSpPr>
        <p:spPr>
          <a:xfrm>
            <a:off x="8650941" y="3517757"/>
            <a:ext cx="32990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These are called </a:t>
            </a:r>
            <a:r>
              <a:rPr lang="en-US" dirty="0">
                <a:solidFill>
                  <a:schemeClr val="accent2"/>
                </a:solidFill>
              </a:rPr>
              <a:t>Fragments</a:t>
            </a:r>
            <a:r>
              <a:rPr lang="en-US" dirty="0"/>
              <a:t> – special React components that groups a list of children without adding extra nodes to the DOM. </a:t>
            </a:r>
          </a:p>
        </p:txBody>
      </p:sp>
    </p:spTree>
    <p:extLst>
      <p:ext uri="{BB962C8B-B14F-4D97-AF65-F5344CB8AC3E}">
        <p14:creationId xmlns:p14="http://schemas.microsoft.com/office/powerpoint/2010/main" val="2553206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E3F6-7422-6C49-370F-45A7975A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Organization &amp; Component Nesting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7EB4153-5444-48A7-F8CF-1C12AA342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656090"/>
              </p:ext>
            </p:extLst>
          </p:nvPr>
        </p:nvGraphicFramePr>
        <p:xfrm>
          <a:off x="581193" y="2476343"/>
          <a:ext cx="2272500" cy="2050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D44DA09-EA8F-10BB-368A-F008DC6F7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5083" y="2476343"/>
            <a:ext cx="2482052" cy="3762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BDBD0A-912A-6AFA-EFDF-869BE6C14D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668" y="2476343"/>
            <a:ext cx="2969658" cy="2828805"/>
          </a:xfrm>
          <a:prstGeom prst="rect">
            <a:avLst/>
          </a:prstGeom>
        </p:spPr>
      </p:pic>
      <p:sp>
        <p:nvSpPr>
          <p:cNvPr id="8" name="Rectangle 7" descr="Truck">
            <a:extLst>
              <a:ext uri="{FF2B5EF4-FFF2-40B4-BE49-F238E27FC236}">
                <a16:creationId xmlns:a16="http://schemas.microsoft.com/office/drawing/2014/main" id="{23BDA2AE-6A82-6245-D081-EF8C5E0ECDAB}"/>
              </a:ext>
            </a:extLst>
          </p:cNvPr>
          <p:cNvSpPr/>
          <p:nvPr/>
        </p:nvSpPr>
        <p:spPr>
          <a:xfrm>
            <a:off x="6423463" y="2478808"/>
            <a:ext cx="1022625" cy="1022625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C95FB0-AF30-B71B-EF28-60B63B252120}"/>
              </a:ext>
            </a:extLst>
          </p:cNvPr>
          <p:cNvGrpSpPr/>
          <p:nvPr/>
        </p:nvGrpSpPr>
        <p:grpSpPr>
          <a:xfrm>
            <a:off x="5798525" y="3808988"/>
            <a:ext cx="2272500" cy="720000"/>
            <a:chOff x="2687306" y="2144241"/>
            <a:chExt cx="2272500" cy="72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B60582-7D58-F00C-40E4-D8F111CF0B7D}"/>
                </a:ext>
              </a:extLst>
            </p:cNvPr>
            <p:cNvSpPr/>
            <p:nvPr/>
          </p:nvSpPr>
          <p:spPr>
            <a:xfrm>
              <a:off x="2687306" y="2144241"/>
              <a:ext cx="227250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468019-89C9-5114-D652-E8916D53786D}"/>
                </a:ext>
              </a:extLst>
            </p:cNvPr>
            <p:cNvSpPr txBox="1"/>
            <p:nvPr/>
          </p:nvSpPr>
          <p:spPr>
            <a:xfrm>
              <a:off x="2687306" y="2144241"/>
              <a:ext cx="227250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We can import one component into another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225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4F32-7F95-FB7D-ED9E-91740341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9EA6-15F2-6932-645C-E9EB827B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Your First React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FDDDE-B349-9F99-D342-FCF3BE138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React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297B6-9C27-A1B0-4BF1-45861CAAD1A6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B7278-D163-43A7-5FA7-857EC953E88F}"/>
              </a:ext>
            </a:extLst>
          </p:cNvPr>
          <p:cNvSpPr txBox="1"/>
          <p:nvPr/>
        </p:nvSpPr>
        <p:spPr>
          <a:xfrm>
            <a:off x="6404149" y="2402747"/>
            <a:ext cx="520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5B70D7-2F17-B626-9DE8-478A677C4662}"/>
              </a:ext>
            </a:extLst>
          </p:cNvPr>
          <p:cNvSpPr txBox="1">
            <a:spLocks/>
          </p:cNvSpPr>
          <p:nvPr/>
        </p:nvSpPr>
        <p:spPr>
          <a:xfrm>
            <a:off x="6404149" y="3120275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endParaRPr lang="en-US" dirty="0"/>
          </a:p>
          <a:p>
            <a:r>
              <a:rPr lang="en-US" dirty="0"/>
              <a:t>Create a component called ‘Header’ and place it inside the default ‘App’ component. </a:t>
            </a:r>
          </a:p>
          <a:p>
            <a:pPr lvl="1"/>
            <a:r>
              <a:rPr lang="en-US" dirty="0"/>
              <a:t>Put in some dummy text so you know it works</a:t>
            </a:r>
          </a:p>
        </p:txBody>
      </p:sp>
    </p:spTree>
    <p:extLst>
      <p:ext uri="{BB962C8B-B14F-4D97-AF65-F5344CB8AC3E}">
        <p14:creationId xmlns:p14="http://schemas.microsoft.com/office/powerpoint/2010/main" val="456098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872D7-E5F0-B707-C6FB-D27F06250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is JSX?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143C1-B605-AFA6-5CFE-5AD75CC95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JSX  stands for JavaScript XML</a:t>
            </a:r>
          </a:p>
          <a:p>
            <a:r>
              <a:rPr lang="en-US" dirty="0">
                <a:solidFill>
                  <a:schemeClr val="bg1"/>
                </a:solidFill>
              </a:rPr>
              <a:t>Expressions are written in braces: {  }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Expressions can include React variables, properties, or any other valid JavaScript expression</a:t>
            </a:r>
          </a:p>
          <a:p>
            <a:r>
              <a:rPr lang="en-US" dirty="0">
                <a:solidFill>
                  <a:schemeClr val="bg1"/>
                </a:solidFill>
              </a:rPr>
              <a:t>There can only be one top-level element </a:t>
            </a:r>
          </a:p>
          <a:p>
            <a:r>
              <a:rPr lang="en-US" dirty="0">
                <a:solidFill>
                  <a:schemeClr val="bg1"/>
                </a:solidFill>
              </a:rPr>
              <a:t>Comments are written as: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{/* */}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880EB-8CCB-F680-05F1-F577F32E9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380" y="1796027"/>
            <a:ext cx="7207535" cy="2991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5C0768-6BDD-8BFC-D27E-6A4A407A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10" y="1715956"/>
            <a:ext cx="7207535" cy="29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09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D59A-DB5B-C24F-3C2D-5111984C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JSX?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6023-2A63-7AA8-F779-FC7BEE661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820" y="2201278"/>
            <a:ext cx="4707984" cy="1414759"/>
          </a:xfrm>
        </p:spPr>
        <p:txBody>
          <a:bodyPr/>
          <a:lstStyle/>
          <a:p>
            <a:r>
              <a:rPr lang="en-US" dirty="0"/>
              <a:t>Functions may be used in expressions</a:t>
            </a:r>
          </a:p>
          <a:p>
            <a:r>
              <a:rPr lang="en-US" dirty="0"/>
              <a:t>Object properties may be used in expressions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2535D-4D50-0161-B1D8-FD2035AFB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070" y="2201278"/>
            <a:ext cx="4128919" cy="3129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319BB5-8E50-F95F-A3FC-68A94505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97" y="3756133"/>
            <a:ext cx="5568393" cy="27718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010AB9-39DC-41AF-70C6-986685BA6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96" y="3766215"/>
            <a:ext cx="5568393" cy="277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98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3A13-461B-9683-D4FF-C069F2D4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The Default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FB5EE-E4F5-231B-5AEC-481F7122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27226" cy="3678303"/>
          </a:xfrm>
        </p:spPr>
        <p:txBody>
          <a:bodyPr/>
          <a:lstStyle/>
          <a:p>
            <a:r>
              <a:rPr lang="en-US" dirty="0"/>
              <a:t>Delete index.css &amp; remove its reference in </a:t>
            </a:r>
            <a:r>
              <a:rPr lang="en-US" dirty="0" err="1"/>
              <a:t>main.jsx</a:t>
            </a:r>
            <a:r>
              <a:rPr lang="en-US" dirty="0"/>
              <a:t> </a:t>
            </a:r>
          </a:p>
          <a:p>
            <a:r>
              <a:rPr lang="en-US" dirty="0"/>
              <a:t>Delete app.css &amp; remove its reference</a:t>
            </a:r>
          </a:p>
          <a:p>
            <a:r>
              <a:rPr lang="en-US" dirty="0"/>
              <a:t>Index.html:</a:t>
            </a:r>
          </a:p>
          <a:p>
            <a:pPr lvl="1"/>
            <a:r>
              <a:rPr lang="en-US" dirty="0"/>
              <a:t>Remove or swap out the browser icon</a:t>
            </a:r>
          </a:p>
          <a:p>
            <a:pPr lvl="1"/>
            <a:r>
              <a:rPr lang="en-US" dirty="0"/>
              <a:t>Change the title</a:t>
            </a:r>
          </a:p>
          <a:p>
            <a:r>
              <a:rPr lang="en-US" dirty="0"/>
              <a:t>With Material UI: &lt;</a:t>
            </a:r>
            <a:r>
              <a:rPr lang="en-US" dirty="0" err="1"/>
              <a:t>CssBaseline</a:t>
            </a:r>
            <a:r>
              <a:rPr lang="en-US" dirty="0"/>
              <a:t>/&gt;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966B1-0909-19F5-6CE0-132F2B82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46" y="2007255"/>
            <a:ext cx="4077269" cy="1895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9645E2-D576-80BF-F9F2-8330ED16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767" y="4194294"/>
            <a:ext cx="576342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63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AF19-F640-B996-228D-A11F3882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Our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9EF60-707F-328A-18A6-E2CD50FB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805" y="2284405"/>
            <a:ext cx="8126389" cy="3678303"/>
          </a:xfrm>
        </p:spPr>
        <p:txBody>
          <a:bodyPr/>
          <a:lstStyle/>
          <a:p>
            <a:r>
              <a:rPr lang="en-US" dirty="0"/>
              <a:t>There are many ways to style react components:</a:t>
            </a:r>
          </a:p>
          <a:p>
            <a:pPr lvl="1"/>
            <a:r>
              <a:rPr lang="en-US" dirty="0"/>
              <a:t>Inline – limited and unsightly </a:t>
            </a:r>
          </a:p>
          <a:p>
            <a:pPr lvl="1"/>
            <a:r>
              <a:rPr lang="en-US" dirty="0"/>
              <a:t>Global CSS - .</a:t>
            </a:r>
            <a:r>
              <a:rPr lang="en-US" dirty="0" err="1"/>
              <a:t>css</a:t>
            </a:r>
            <a:r>
              <a:rPr lang="en-US" dirty="0"/>
              <a:t> files (styles are global and can accidently override </a:t>
            </a:r>
            <a:r>
              <a:rPr lang="en-US" dirty="0" err="1"/>
              <a:t>eachother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CSS Modules – ComponentName.module.css file (styles are scoped per component)</a:t>
            </a:r>
          </a:p>
          <a:p>
            <a:pPr lvl="1"/>
            <a:r>
              <a:rPr lang="en-US" dirty="0"/>
              <a:t>CSS-in-JS – write CSS directly inside JS/TS</a:t>
            </a:r>
          </a:p>
          <a:p>
            <a:pPr lvl="1"/>
            <a:r>
              <a:rPr lang="en-US" dirty="0"/>
              <a:t>Utility-First Frameworks (Tailwind CSS) – predefined utility classes directly in JSX</a:t>
            </a:r>
          </a:p>
          <a:p>
            <a:pPr lvl="1"/>
            <a:r>
              <a:rPr lang="en-US" dirty="0"/>
              <a:t>Component Libraries – premade components with styles, e.g. </a:t>
            </a:r>
            <a:r>
              <a:rPr lang="en-US" dirty="0" err="1"/>
              <a:t>MaterialUI</a:t>
            </a:r>
            <a:r>
              <a:rPr lang="en-US" dirty="0"/>
              <a:t>, Chakra UI, Radix UI</a:t>
            </a:r>
          </a:p>
        </p:txBody>
      </p:sp>
    </p:spTree>
    <p:extLst>
      <p:ext uri="{BB962C8B-B14F-4D97-AF65-F5344CB8AC3E}">
        <p14:creationId xmlns:p14="http://schemas.microsoft.com/office/powerpoint/2010/main" val="1615397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AD71-59FA-E41F-E984-565FB3C9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Modules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3D49F-8F5D-73E6-DA2D-B809FD04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45" y="2949761"/>
            <a:ext cx="7144747" cy="3486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C5F4DB-4F54-DDF0-6B29-C472FDFF0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109" y="3131356"/>
            <a:ext cx="2657846" cy="2943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E83771-F115-9CEF-1E7E-3751DAFE27AD}"/>
              </a:ext>
            </a:extLst>
          </p:cNvPr>
          <p:cNvSpPr txBox="1"/>
          <p:nvPr/>
        </p:nvSpPr>
        <p:spPr>
          <a:xfrm>
            <a:off x="1527464" y="1961991"/>
            <a:ext cx="9757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Classes work differently in React, notice </a:t>
            </a:r>
            <a:r>
              <a:rPr lang="en-US" dirty="0" err="1"/>
              <a:t>className</a:t>
            </a:r>
            <a:endParaRPr lang="en-US" dirty="0"/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 the naming convention to enable modules: ComponentName.module.css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 the reset for the &lt;body&gt; &amp; &lt;p&gt; elements</a:t>
            </a:r>
          </a:p>
        </p:txBody>
      </p:sp>
    </p:spTree>
    <p:extLst>
      <p:ext uri="{BB962C8B-B14F-4D97-AF65-F5344CB8AC3E}">
        <p14:creationId xmlns:p14="http://schemas.microsoft.com/office/powerpoint/2010/main" val="751519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894B-BD93-E5BE-F520-2332B0A8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3321-E16A-46DF-711B-C86898C6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Modify the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96EA0-2B9D-E9AB-8699-C3AE47858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Modify header element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B3C47-3E87-33B8-B252-F8EA5D27207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D7AC5-D8A9-5DC2-E9C0-02183A1958EE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2B8D9A-38B4-10F6-7E3A-99DF95334B49}"/>
              </a:ext>
            </a:extLst>
          </p:cNvPr>
          <p:cNvSpPr txBox="1">
            <a:spLocks/>
          </p:cNvSpPr>
          <p:nvPr/>
        </p:nvSpPr>
        <p:spPr>
          <a:xfrm>
            <a:off x="5273080" y="3158496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In the ‘App’ component, create a header using semantic html.</a:t>
            </a:r>
          </a:p>
          <a:p>
            <a:r>
              <a:rPr lang="en-US" dirty="0"/>
              <a:t>Within the header element, include a welcome message that reads: “Welcome {</a:t>
            </a:r>
            <a:r>
              <a:rPr lang="en-US" dirty="0" err="1"/>
              <a:t>user.Prefix</a:t>
            </a:r>
            <a:r>
              <a:rPr lang="en-US" dirty="0"/>
              <a:t>} {</a:t>
            </a:r>
            <a:r>
              <a:rPr lang="en-US" dirty="0" err="1"/>
              <a:t>user.LastName</a:t>
            </a:r>
            <a:r>
              <a:rPr lang="en-US" dirty="0"/>
              <a:t>}! Time since last incident: {</a:t>
            </a:r>
            <a:r>
              <a:rPr lang="en-US" dirty="0" err="1"/>
              <a:t>dummyTimeValue</a:t>
            </a:r>
            <a:r>
              <a:rPr lang="en-US" dirty="0"/>
              <a:t>}” </a:t>
            </a:r>
          </a:p>
          <a:p>
            <a:r>
              <a:rPr lang="en-US" dirty="0"/>
              <a:t>The data should come from an object in your component that stores your own name, the time value may be faked or left empty for now</a:t>
            </a:r>
          </a:p>
          <a:p>
            <a:r>
              <a:rPr lang="en-US" dirty="0"/>
              <a:t>Also include two links for ‘Home’ and ‘Incidents’</a:t>
            </a:r>
          </a:p>
          <a:p>
            <a:r>
              <a:rPr lang="en-US" dirty="0"/>
              <a:t>Style your component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394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5EF81-D726-78E0-2499-8B2EA696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245C2-04AC-9F7C-291A-201BD6905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75372" cy="3678303"/>
          </a:xfrm>
        </p:spPr>
        <p:txBody>
          <a:bodyPr/>
          <a:lstStyle/>
          <a:p>
            <a:r>
              <a:rPr lang="en-US" dirty="0"/>
              <a:t>Short for properties</a:t>
            </a:r>
          </a:p>
          <a:p>
            <a:r>
              <a:rPr lang="en-US" dirty="0"/>
              <a:t>Child components can receive a ‘props’ object</a:t>
            </a:r>
          </a:p>
          <a:p>
            <a:pPr lvl="1"/>
            <a:r>
              <a:rPr lang="en-US" dirty="0"/>
              <a:t>This object contains items passed from the parent</a:t>
            </a:r>
          </a:p>
          <a:p>
            <a:pPr lvl="1"/>
            <a:r>
              <a:rPr lang="en-US" dirty="0"/>
              <a:t>These items can be objects, arrays, strings, numbers, and more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AA80E-0263-FAF5-FB2C-7818C2A2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810" y="2005677"/>
            <a:ext cx="3724795" cy="1810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7927B-9516-AD6C-2E60-F2E6508BF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522" y="4105401"/>
            <a:ext cx="339137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87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B054-6F18-D024-7E4F-50D0C21F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Destructuring</a:t>
            </a:r>
            <a:r>
              <a:rPr lang="en-US" dirty="0"/>
              <a:t>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A587-F0A9-437C-0429-53B780C4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913" y="2908255"/>
            <a:ext cx="4354490" cy="1130935"/>
          </a:xfrm>
        </p:spPr>
        <p:txBody>
          <a:bodyPr/>
          <a:lstStyle/>
          <a:p>
            <a:r>
              <a:rPr lang="en-US" dirty="0"/>
              <a:t>We can pull out from the props object only what we need with </a:t>
            </a:r>
            <a:r>
              <a:rPr lang="en-US" dirty="0" err="1"/>
              <a:t>destructuring</a:t>
            </a:r>
            <a:endParaRPr lang="en-US" dirty="0"/>
          </a:p>
          <a:p>
            <a:r>
              <a:rPr lang="en-US" dirty="0"/>
              <a:t>This is standard JavaScript (ES6 feature)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324A70-C563-3114-1238-7A1B0B87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257" y="3265904"/>
            <a:ext cx="4629796" cy="3124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2BD620-473D-69E5-74BA-9823D6B9C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749" y="2208436"/>
            <a:ext cx="3562847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00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95863-3E73-CE84-4375-6F61B3AB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Are Hooks?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593F9-D61B-5814-8009-51A7C925D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Definition: React </a:t>
            </a:r>
            <a:r>
              <a:rPr lang="en-US" dirty="0">
                <a:solidFill>
                  <a:schemeClr val="accent2"/>
                </a:solidFill>
              </a:rPr>
              <a:t>Hooks</a:t>
            </a:r>
            <a:r>
              <a:rPr lang="en-US" dirty="0">
                <a:solidFill>
                  <a:schemeClr val="bg1"/>
                </a:solidFill>
              </a:rPr>
              <a:t> are a special types of functions that let us ‘hook into’ React features like state, lifecycle, and context from functional components.</a:t>
            </a:r>
          </a:p>
          <a:p>
            <a:r>
              <a:rPr lang="en-US" dirty="0">
                <a:solidFill>
                  <a:schemeClr val="bg1"/>
                </a:solidFill>
              </a:rPr>
              <a:t>Before hooks, class components were the only way to alter state or hook into the lifecycle of a component. </a:t>
            </a:r>
          </a:p>
          <a:p>
            <a:r>
              <a:rPr lang="en-US" dirty="0">
                <a:solidFill>
                  <a:schemeClr val="bg1"/>
                </a:solidFill>
              </a:rPr>
              <a:t>Always called at the top level of a component.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F637A1-3C49-1993-E516-A3AD94BE2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80275"/>
              </p:ext>
            </p:extLst>
          </p:nvPr>
        </p:nvGraphicFramePr>
        <p:xfrm>
          <a:off x="4446758" y="853739"/>
          <a:ext cx="6998514" cy="513310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90321">
                  <a:extLst>
                    <a:ext uri="{9D8B030D-6E8A-4147-A177-3AD203B41FA5}">
                      <a16:colId xmlns:a16="http://schemas.microsoft.com/office/drawing/2014/main" val="1736950255"/>
                    </a:ext>
                  </a:extLst>
                </a:gridCol>
                <a:gridCol w="5108193">
                  <a:extLst>
                    <a:ext uri="{9D8B030D-6E8A-4147-A177-3AD203B41FA5}">
                      <a16:colId xmlns:a16="http://schemas.microsoft.com/office/drawing/2014/main" val="1154258762"/>
                    </a:ext>
                  </a:extLst>
                </a:gridCol>
              </a:tblGrid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Hook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44947544"/>
                  </a:ext>
                </a:extLst>
              </a:tr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useState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Adds state to a functional component.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975992652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useEffect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Handles side effects like data fetching or subscriptions (replaces lifecycle methods).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3290658792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useReducer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Manages complex state logic with a reducer function.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3887480763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useContext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Accesses context values without wrapping in a Consumer.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2665596874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useRef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Stores mutable values or references to DOM elements.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1358057560"/>
                  </a:ext>
                </a:extLst>
              </a:tr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useMemo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Memoizes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results of expensive calculations.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864241328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useCallback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Memoizes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functions to prevent unnecessary re-renders.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7206992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B7909A-3E8C-6E4E-D049-6E4FB7BEB83D}"/>
              </a:ext>
            </a:extLst>
          </p:cNvPr>
          <p:cNvSpPr txBox="1"/>
          <p:nvPr/>
        </p:nvSpPr>
        <p:spPr>
          <a:xfrm>
            <a:off x="5474822" y="6053091"/>
            <a:ext cx="4577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Memoize</a:t>
            </a:r>
            <a:r>
              <a:rPr lang="en-US" dirty="0"/>
              <a:t> – caching the result of a computation</a:t>
            </a:r>
          </a:p>
        </p:txBody>
      </p:sp>
    </p:spTree>
    <p:extLst>
      <p:ext uri="{BB962C8B-B14F-4D97-AF65-F5344CB8AC3E}">
        <p14:creationId xmlns:p14="http://schemas.microsoft.com/office/powerpoint/2010/main" val="1279509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30CA0-0E39-E6CD-D106-B6E26FF5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8026D-834F-4536-EFAC-FEDE7A88F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4220304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State</a:t>
            </a:r>
            <a:r>
              <a:rPr lang="en-US" dirty="0"/>
              <a:t> is an object that holds data or information about a component that may change over time.</a:t>
            </a:r>
          </a:p>
          <a:p>
            <a:pPr lvl="1"/>
            <a:r>
              <a:rPr lang="en-US" dirty="0"/>
              <a:t>The ‘memory’ of a component</a:t>
            </a:r>
          </a:p>
          <a:p>
            <a:pPr lvl="1"/>
            <a:r>
              <a:rPr lang="en-US" dirty="0"/>
              <a:t>It allows the component to keep track of values between renders</a:t>
            </a:r>
          </a:p>
          <a:p>
            <a:r>
              <a:rPr lang="en-US" dirty="0"/>
              <a:t>When state changes, React automatically re-renders the component (and any children that depend on the state) so the UI stays in sync with data</a:t>
            </a:r>
          </a:p>
          <a:p>
            <a:r>
              <a:rPr lang="en-US" dirty="0"/>
              <a:t>State should always be declared at the top of the component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D9F3C8-0DB5-1735-A0C6-EC72B1247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170" y="2534191"/>
            <a:ext cx="3894059" cy="325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EA66AB-35B6-3102-808F-73E54BDA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415" y="3121836"/>
            <a:ext cx="5576694" cy="25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49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004E-0643-3754-9DF2-B190310C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A913-4839-C8B4-CA21-8068CFB65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08778"/>
            <a:ext cx="5210007" cy="4265128"/>
          </a:xfrm>
        </p:spPr>
        <p:txBody>
          <a:bodyPr>
            <a:normAutofit/>
          </a:bodyPr>
          <a:lstStyle/>
          <a:p>
            <a:r>
              <a:rPr lang="en-US" dirty="0"/>
              <a:t>Definition: </a:t>
            </a:r>
            <a:r>
              <a:rPr lang="en-US" dirty="0" err="1">
                <a:solidFill>
                  <a:schemeClr val="accent2"/>
                </a:solidFill>
              </a:rPr>
              <a:t>useEffect</a:t>
            </a:r>
            <a:r>
              <a:rPr lang="en-US" dirty="0"/>
              <a:t> is a hook that lets us perform ‘side effects’ in functional components.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Side Effect </a:t>
            </a:r>
            <a:r>
              <a:rPr lang="en-US" dirty="0"/>
              <a:t>is any action that happens outside the normal flow of rendering:</a:t>
            </a:r>
          </a:p>
          <a:p>
            <a:pPr lvl="1"/>
            <a:r>
              <a:rPr lang="en-US" dirty="0"/>
              <a:t>Fetching data from an API</a:t>
            </a:r>
          </a:p>
          <a:p>
            <a:pPr lvl="1"/>
            <a:r>
              <a:rPr lang="en-US" dirty="0"/>
              <a:t>Setting up subscriptions or event listeners</a:t>
            </a:r>
          </a:p>
          <a:p>
            <a:pPr lvl="1"/>
            <a:r>
              <a:rPr lang="en-US" dirty="0"/>
              <a:t>Updating the DOM manually</a:t>
            </a:r>
          </a:p>
          <a:p>
            <a:pPr lvl="1"/>
            <a:r>
              <a:rPr lang="en-US" dirty="0"/>
              <a:t>Stating/stopping timers</a:t>
            </a:r>
          </a:p>
          <a:p>
            <a:r>
              <a:rPr lang="en-US" dirty="0" err="1"/>
              <a:t>useEffect</a:t>
            </a:r>
            <a:r>
              <a:rPr lang="en-US" dirty="0"/>
              <a:t> accepts two arguments: </a:t>
            </a:r>
          </a:p>
          <a:p>
            <a:pPr lvl="1"/>
            <a:r>
              <a:rPr lang="en-US" dirty="0"/>
              <a:t>1. A function to run when it is triggered</a:t>
            </a:r>
          </a:p>
          <a:p>
            <a:pPr lvl="1"/>
            <a:r>
              <a:rPr lang="en-US" dirty="0"/>
              <a:t>2. An array of dependencies that when changed, cause the </a:t>
            </a:r>
            <a:r>
              <a:rPr lang="en-US" dirty="0" err="1"/>
              <a:t>useEffect</a:t>
            </a:r>
            <a:r>
              <a:rPr lang="en-US" dirty="0"/>
              <a:t> to run again (props or states)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8C0BE-BA78-0B90-7970-877028044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652" y="2265703"/>
            <a:ext cx="3124636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01EDAC-53DA-DEB1-64D2-704643384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93937"/>
            <a:ext cx="4410691" cy="1105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3B5DD2-E3F2-10E8-AE9A-5DB198411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018" y="4791813"/>
            <a:ext cx="5782482" cy="1486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77517B-4485-896C-CA16-BCA0EFA86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41874"/>
            <a:ext cx="4410691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02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30F8-10E3-A01A-881C-13DFAE1F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Code with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D915-80FF-438F-E697-AAB538C9F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684" y="2159714"/>
            <a:ext cx="4528690" cy="3678303"/>
          </a:xfrm>
        </p:spPr>
        <p:txBody>
          <a:bodyPr/>
          <a:lstStyle/>
          <a:p>
            <a:r>
              <a:rPr lang="en-US" dirty="0"/>
              <a:t>The callback function provided to </a:t>
            </a:r>
            <a:r>
              <a:rPr lang="en-US" dirty="0" err="1"/>
              <a:t>useEffect</a:t>
            </a:r>
            <a:r>
              <a:rPr lang="en-US" dirty="0"/>
              <a:t> can NOT be asynchronous</a:t>
            </a:r>
          </a:p>
          <a:p>
            <a:r>
              <a:rPr lang="en-US" dirty="0"/>
              <a:t>Instead, we place an </a:t>
            </a:r>
            <a:r>
              <a:rPr lang="en-US" dirty="0" err="1"/>
              <a:t>asnyc</a:t>
            </a:r>
            <a:r>
              <a:rPr lang="en-US" dirty="0"/>
              <a:t> inner function inside of the callback, and then call that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F9C06-D984-9B77-C9D6-9A1130E7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190" y="1993496"/>
            <a:ext cx="371526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25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2F4B-D717-36D4-A066-CB87EC32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67DA9-FA34-EA4E-1623-6A8980E6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4379115" cy="3934374"/>
          </a:xfrm>
        </p:spPr>
        <p:txBody>
          <a:bodyPr/>
          <a:lstStyle/>
          <a:p>
            <a:r>
              <a:rPr lang="en-US" dirty="0"/>
              <a:t>Certain effects should be ‘cleaned up’ after they are no longer needed</a:t>
            </a:r>
          </a:p>
          <a:p>
            <a:r>
              <a:rPr lang="en-US" dirty="0"/>
              <a:t>This reduces the chance we will have a memory leak</a:t>
            </a:r>
          </a:p>
          <a:p>
            <a:r>
              <a:rPr lang="en-US" dirty="0"/>
              <a:t>Timeouts, subscriptions, event listeners, and any effect that doesn’t need to continuously be available to the application should be disposed </a:t>
            </a:r>
          </a:p>
          <a:p>
            <a:r>
              <a:rPr lang="en-US" dirty="0"/>
              <a:t>Use the </a:t>
            </a:r>
            <a:r>
              <a:rPr lang="en-US" dirty="0" err="1"/>
              <a:t>AbortContoller</a:t>
            </a:r>
            <a:r>
              <a:rPr lang="en-US" dirty="0"/>
              <a:t> browser API to cancel fetch requests no longer needed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EEFB4-1786-AD32-2F49-3806926D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55" y="2180496"/>
            <a:ext cx="6258798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4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70E6-9458-968A-8D5F-62CDA3BD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2D75-270C-A30F-89BD-131056F78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895115" cy="3678303"/>
          </a:xfrm>
        </p:spPr>
        <p:txBody>
          <a:bodyPr/>
          <a:lstStyle/>
          <a:p>
            <a:r>
              <a:rPr lang="en-US" dirty="0"/>
              <a:t>Create a file that is only the file extension ‘.env’</a:t>
            </a:r>
          </a:p>
          <a:p>
            <a:r>
              <a:rPr lang="en-US" dirty="0"/>
              <a:t>In the file define your data</a:t>
            </a:r>
          </a:p>
          <a:p>
            <a:r>
              <a:rPr lang="en-US" dirty="0"/>
              <a:t>Import it where you need it</a:t>
            </a:r>
          </a:p>
          <a:p>
            <a:r>
              <a:rPr lang="en-US" dirty="0"/>
              <a:t>Don’t forget to add environment variables to your </a:t>
            </a:r>
            <a:r>
              <a:rPr lang="en-US" dirty="0" err="1"/>
              <a:t>gitignore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75CF2-26C3-57F9-A8B1-477BFC527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693" y="2177381"/>
            <a:ext cx="2172003" cy="1076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DD13B4-5950-EB06-4483-78CD5A7A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414" y="3513263"/>
            <a:ext cx="3804560" cy="608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76590B-1872-FF39-0817-8A017CFD3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987" y="4608897"/>
            <a:ext cx="5733075" cy="442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F91883-3EAF-DA95-3DC6-AE2603D0E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324" y="5328735"/>
            <a:ext cx="4960740" cy="11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15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3970-B580-3A35-3A9D-4A5EE22E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B3CD-777A-23F4-8A44-017D8A5E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View an Incident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DCCD-078D-B123-DB79-BD4D98315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components to help manage incidents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E1F43-B795-CC7C-96F2-AD110F6D62D2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4F60E-0B3C-786C-4B70-9146F5D2F5F2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C29790-AE69-F5E8-B7DB-110ACFAB5F4C}"/>
              </a:ext>
            </a:extLst>
          </p:cNvPr>
          <p:cNvSpPr txBox="1">
            <a:spLocks/>
          </p:cNvSpPr>
          <p:nvPr/>
        </p:nvSpPr>
        <p:spPr>
          <a:xfrm>
            <a:off x="5368433" y="3072518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In the ‘App’ component, under the header, nest an ‘</a:t>
            </a:r>
            <a:r>
              <a:rPr lang="en-US" dirty="0" err="1"/>
              <a:t>IncidentList</a:t>
            </a:r>
            <a:r>
              <a:rPr lang="en-US" dirty="0"/>
              <a:t>’ component. Then, inside of ‘</a:t>
            </a:r>
            <a:r>
              <a:rPr lang="en-US" dirty="0" err="1"/>
              <a:t>IncidentList</a:t>
            </a:r>
            <a:r>
              <a:rPr lang="en-US" dirty="0"/>
              <a:t>’, nest an ‘Incident’ component.</a:t>
            </a:r>
          </a:p>
          <a:p>
            <a:r>
              <a:rPr lang="en-US" dirty="0"/>
              <a:t>Import the provided JSON dummy data into ‘</a:t>
            </a:r>
            <a:r>
              <a:rPr lang="en-US" dirty="0" err="1"/>
              <a:t>IncidentList</a:t>
            </a:r>
            <a:r>
              <a:rPr lang="en-US" dirty="0"/>
              <a:t>’</a:t>
            </a:r>
          </a:p>
          <a:p>
            <a:r>
              <a:rPr lang="en-US" dirty="0"/>
              <a:t>Render the first incident record by passing the record data down via props to the ‘Incident’ component</a:t>
            </a:r>
          </a:p>
          <a:p>
            <a:r>
              <a:rPr lang="en-US" dirty="0"/>
              <a:t>Style the Incident component into a card that displays the incident id, priority, severity, and status fields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165F0-AC1B-F1D0-07B9-660B830EB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20" y="4401670"/>
            <a:ext cx="2289077" cy="193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32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4031-2D95-205E-B81A-3800E5D2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0332D-03AE-5D81-20B0-21B34D33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The JavaScript map() array method is used for looping through a list and rendering content:</a:t>
            </a:r>
          </a:p>
          <a:p>
            <a:pPr lvl="1"/>
            <a:r>
              <a:rPr lang="en-US" dirty="0"/>
              <a:t>A key is HIGHLY encouraged (or else you will get a warning) – A key allows React to update an item and refresh the component properly if it is updated or removed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D1BD0-1119-8C20-CD4B-655713E1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27" y="3602597"/>
            <a:ext cx="8823543" cy="269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91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1431-1044-F8DC-F67B-8483993A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AE94-3F36-12C5-8548-C3DFAEE3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View All the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91159-254F-2A45-308C-9EFACD59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work so that all incidents display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37B85-329C-D7A2-FD80-98DDDAC248A8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1B69C-A152-D3A6-CD68-1DA17F801EE2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AEE151-BC9C-8BDA-FA0B-94944123D0CA}"/>
              </a:ext>
            </a:extLst>
          </p:cNvPr>
          <p:cNvSpPr txBox="1">
            <a:spLocks/>
          </p:cNvSpPr>
          <p:nvPr/>
        </p:nvSpPr>
        <p:spPr>
          <a:xfrm>
            <a:off x="5314644" y="3054587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Modify your ‘</a:t>
            </a:r>
            <a:r>
              <a:rPr lang="en-US" dirty="0" err="1"/>
              <a:t>IncidentList</a:t>
            </a:r>
            <a:r>
              <a:rPr lang="en-US" dirty="0"/>
              <a:t>’ component so that it loops through the dummy data and displays all the incident records. </a:t>
            </a:r>
          </a:p>
          <a:p>
            <a:r>
              <a:rPr lang="en-US" dirty="0"/>
              <a:t>Style your components so each record is displayed on a card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1F7FB4-FEC9-EBDC-B712-189139808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6" y="4301422"/>
            <a:ext cx="4474772" cy="168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25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73D2-F5DC-1CC3-B80C-6A80D44C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Material 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849AD-7B04-8FB1-5C5B-B2EA9F2CB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6" cy="1248504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Material UI </a:t>
            </a:r>
            <a:r>
              <a:rPr lang="en-US" dirty="0"/>
              <a:t>is a popular React component library</a:t>
            </a:r>
          </a:p>
          <a:p>
            <a:pPr lvl="1"/>
            <a:r>
              <a:rPr lang="en-US" dirty="0"/>
              <a:t>Provides pre-built, customizable UI components that help developers build consistent, modern, and responsive user interfaces quickly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1849D0-A3ED-184F-792D-5E78A5AFF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911" y="3759696"/>
            <a:ext cx="7888177" cy="298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81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56A9-CE51-4ECA-0D24-409D540C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Material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8BF47-E8D7-A3CE-FFDE-6AA570E55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621932"/>
            <a:ext cx="11029615" cy="1248504"/>
          </a:xfrm>
        </p:spPr>
        <p:txBody>
          <a:bodyPr/>
          <a:lstStyle/>
          <a:p>
            <a:r>
              <a:rPr lang="en-US" dirty="0"/>
              <a:t>@mui/material – core components</a:t>
            </a:r>
          </a:p>
          <a:p>
            <a:r>
              <a:rPr lang="en-US" dirty="0"/>
              <a:t>@emotion/react &amp; @emotion/styled – required for styling</a:t>
            </a:r>
          </a:p>
          <a:p>
            <a:r>
              <a:rPr lang="en-US" dirty="0"/>
              <a:t>@mui/icons-material – optional icons (but we may use them so install them anyway)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A699A-192E-97B1-D716-735DC919E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1" y="4453324"/>
            <a:ext cx="8602275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136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4431-F44A-8892-CF12-03F89CDD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Material UI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2B675-93A2-C52C-2307-A3D7C07E1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768574" cy="2370483"/>
          </a:xfrm>
        </p:spPr>
        <p:txBody>
          <a:bodyPr/>
          <a:lstStyle/>
          <a:p>
            <a:r>
              <a:rPr lang="en-US" dirty="0"/>
              <a:t>After installing with NPM:</a:t>
            </a:r>
          </a:p>
          <a:p>
            <a:r>
              <a:rPr lang="en-US" dirty="0"/>
              <a:t>Import the component you’d like to use</a:t>
            </a:r>
          </a:p>
          <a:p>
            <a:r>
              <a:rPr lang="en-US" dirty="0"/>
              <a:t>Customize it with props </a:t>
            </a:r>
          </a:p>
          <a:p>
            <a:r>
              <a:rPr lang="en-US" dirty="0"/>
              <a:t>The documentation is your best friend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15C3D-2C21-33E3-0681-5202ED757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151" y="2583723"/>
            <a:ext cx="5710449" cy="411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6ED2C-2993-4C25-6277-12904F12D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485" y="4695450"/>
            <a:ext cx="9350115" cy="3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442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5978-FE74-BE0A-2C56-D9A6FE6E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No, Seriously, Use the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0447-E5A7-C0F1-7B60-3DC39CEFB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22036" cy="3684275"/>
          </a:xfrm>
        </p:spPr>
        <p:txBody>
          <a:bodyPr/>
          <a:lstStyle/>
          <a:p>
            <a:r>
              <a:rPr lang="en-US" dirty="0"/>
              <a:t>This is why - look at that code, there is no way you will remember that unless you use it ever day</a:t>
            </a:r>
          </a:p>
          <a:p>
            <a:r>
              <a:rPr lang="en-US" dirty="0"/>
              <a:t>And that is just for a simple dropdown, it’s not even part of the rest of the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BC1A8-4E42-EA31-4114-FB18AC80A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798" y="3147288"/>
            <a:ext cx="6697010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83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AE6D-5760-8E33-4A2A-715560E4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Heavy Hitters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C37C1-152E-E9AB-5962-80010AE83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74791"/>
            <a:ext cx="11029615" cy="31121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Stack is great for quick flex containers in row/column layouts; you can make it responsive!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AC694-9928-E40C-2B93-052C3858C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61" y="2431972"/>
            <a:ext cx="1981477" cy="514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FE6EFF-58B5-D61D-57BB-DAFA7AE2A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796" y="2470077"/>
            <a:ext cx="5430008" cy="438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AB307D-C91E-C113-44CE-4BCFF9673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61" y="4117987"/>
            <a:ext cx="5144218" cy="40963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360423-3085-9ED6-FE72-26302B85F468}"/>
              </a:ext>
            </a:extLst>
          </p:cNvPr>
          <p:cNvSpPr txBox="1">
            <a:spLocks/>
          </p:cNvSpPr>
          <p:nvPr/>
        </p:nvSpPr>
        <p:spPr>
          <a:xfrm>
            <a:off x="581191" y="3317043"/>
            <a:ext cx="11029615" cy="311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Box is roughly equivalent to a div; you can make them responsive!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988418-94F7-F97B-ED98-B7DEA068F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974791"/>
            <a:ext cx="1401891" cy="13946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65C17F-5A73-B748-E725-83E18547E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142" y="3549546"/>
            <a:ext cx="1233606" cy="19985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393482-7D6A-C22D-7215-68F66F95E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3551" y="4924918"/>
            <a:ext cx="2137860" cy="1700839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C13448-CCDD-31E6-35FC-54F6C4CA300B}"/>
              </a:ext>
            </a:extLst>
          </p:cNvPr>
          <p:cNvSpPr txBox="1">
            <a:spLocks/>
          </p:cNvSpPr>
          <p:nvPr/>
        </p:nvSpPr>
        <p:spPr>
          <a:xfrm>
            <a:off x="581191" y="4970504"/>
            <a:ext cx="4841710" cy="100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Css</a:t>
            </a:r>
            <a:r>
              <a:rPr lang="en-US" dirty="0"/>
              <a:t> grids and responsive styling is easy with Grid components!</a:t>
            </a:r>
          </a:p>
        </p:txBody>
      </p:sp>
    </p:spTree>
    <p:extLst>
      <p:ext uri="{BB962C8B-B14F-4D97-AF65-F5344CB8AC3E}">
        <p14:creationId xmlns:p14="http://schemas.microsoft.com/office/powerpoint/2010/main" val="3597965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07B8-9D0F-A7FF-FE0E-3B0BAAFD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Heavy Hitters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F11A1-7BCA-BD8A-EAB7-A95455828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461104"/>
          </a:xfrm>
        </p:spPr>
        <p:txBody>
          <a:bodyPr/>
          <a:lstStyle/>
          <a:p>
            <a:r>
              <a:rPr lang="en-US" dirty="0"/>
              <a:t>Paper/Card is great for cards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7FE8E-2208-6545-99AA-7313B18E6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03" y="2838423"/>
            <a:ext cx="3362794" cy="381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9DCFA9-5A00-A3C7-D746-FE5054DE1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467" y="4216400"/>
            <a:ext cx="7983064" cy="98121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3C5486-534B-373A-E5CD-1BE852234E94}"/>
              </a:ext>
            </a:extLst>
          </p:cNvPr>
          <p:cNvSpPr txBox="1">
            <a:spLocks/>
          </p:cNvSpPr>
          <p:nvPr/>
        </p:nvSpPr>
        <p:spPr>
          <a:xfrm>
            <a:off x="581192" y="3663898"/>
            <a:ext cx="11029615" cy="461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 Bars are great for page headers and navigation</a:t>
            </a:r>
          </a:p>
        </p:txBody>
      </p:sp>
    </p:spTree>
    <p:extLst>
      <p:ext uri="{BB962C8B-B14F-4D97-AF65-F5344CB8AC3E}">
        <p14:creationId xmlns:p14="http://schemas.microsoft.com/office/powerpoint/2010/main" val="440584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00AB-77BF-D1E0-F821-730907DC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103C-8E20-803A-D7AB-EC42DF42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Material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87CED-5C84-66E0-8E74-4FD628065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84687"/>
            <a:ext cx="5317584" cy="1681246"/>
          </a:xfrm>
        </p:spPr>
        <p:txBody>
          <a:bodyPr/>
          <a:lstStyle/>
          <a:p>
            <a:r>
              <a:rPr lang="en-US" dirty="0"/>
              <a:t>Update the app to use Material 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7A688-135A-27FD-E1AF-360FF00CB04B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CD847-5D75-8BB0-D289-A4F7D8F03DE6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A81AF8-7843-0CBE-E014-7104243E26BF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685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Material UI</a:t>
            </a:r>
          </a:p>
        </p:txBody>
      </p:sp>
    </p:spTree>
    <p:extLst>
      <p:ext uri="{BB962C8B-B14F-4D97-AF65-F5344CB8AC3E}">
        <p14:creationId xmlns:p14="http://schemas.microsoft.com/office/powerpoint/2010/main" val="21679241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ED21-7B3E-FF6E-CFD7-D846A46C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HTTPS Support In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2B89C-00B4-1BFC-2052-DB5A23BE5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550"/>
            <a:ext cx="11029615" cy="1013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Install </a:t>
            </a:r>
            <a:r>
              <a:rPr lang="en-US" dirty="0" err="1"/>
              <a:t>mkcert</a:t>
            </a:r>
            <a:r>
              <a:rPr lang="en-US" dirty="0"/>
              <a:t> into client project</a:t>
            </a:r>
          </a:p>
          <a:p>
            <a:r>
              <a:rPr lang="en-US" dirty="0"/>
              <a:t>Update your </a:t>
            </a:r>
            <a:r>
              <a:rPr lang="en-US" dirty="0" err="1"/>
              <a:t>vite.config.ts</a:t>
            </a:r>
            <a:r>
              <a:rPr lang="en-US" dirty="0"/>
              <a:t> file</a:t>
            </a:r>
          </a:p>
          <a:p>
            <a:r>
              <a:rPr lang="en-US" dirty="0"/>
              <a:t>Rerun to the project to start using HTTPS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293E8-5D8D-0912-FF08-9789F278B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465" y="3068371"/>
            <a:ext cx="7744906" cy="657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A5BB3-772D-047D-5191-FF1ADDBC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076258"/>
            <a:ext cx="3935899" cy="2421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745DEB-8413-BB2B-717C-A75AFB89E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918" y="4234356"/>
            <a:ext cx="5564738" cy="19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239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4431-12AE-6693-E026-E847B55F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9632-C212-3BA7-DD8F-1AFC48FF1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90630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Axios</a:t>
            </a:r>
            <a:r>
              <a:rPr lang="en-US" dirty="0"/>
              <a:t> is a popular JavaScript library for making HTTP requests from the browser or Node.js</a:t>
            </a:r>
          </a:p>
          <a:p>
            <a:pPr lvl="1"/>
            <a:r>
              <a:rPr lang="en-US" dirty="0"/>
              <a:t>Promise based</a:t>
            </a:r>
          </a:p>
          <a:p>
            <a:pPr lvl="1"/>
            <a:r>
              <a:rPr lang="en-US" dirty="0"/>
              <a:t>Automatic JSON parsing (no need for .</a:t>
            </a:r>
            <a:r>
              <a:rPr lang="en-US" dirty="0" err="1"/>
              <a:t>json</a:t>
            </a:r>
            <a:r>
              <a:rPr lang="en-US" dirty="0"/>
              <a:t>() )</a:t>
            </a:r>
          </a:p>
          <a:p>
            <a:pPr lvl="1"/>
            <a:r>
              <a:rPr lang="en-US" dirty="0"/>
              <a:t>GET, POST, PUT, DELETE, PATCH, etc. </a:t>
            </a:r>
          </a:p>
          <a:p>
            <a:pPr lvl="1"/>
            <a:r>
              <a:rPr lang="en-US" dirty="0"/>
              <a:t>Works with </a:t>
            </a:r>
            <a:r>
              <a:rPr lang="en-US" dirty="0" err="1"/>
              <a:t>AbortController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D5492-7DC1-8FD0-B71E-5EEE8C50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08" y="2005987"/>
            <a:ext cx="4734586" cy="504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F35D2B-A894-CF82-6F54-F715D7E7C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753" y="2603500"/>
            <a:ext cx="440355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522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98D0-FE94-C673-31C6-100324A7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Requests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3AEC33-E2F6-D18F-7979-3271ABF15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32" y="2266402"/>
            <a:ext cx="6344535" cy="790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63A4F-B225-635A-20C6-58203251B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732" y="3424150"/>
            <a:ext cx="6439799" cy="771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DCDE3A-9858-357E-E153-42DCC1536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620" y="4562847"/>
            <a:ext cx="5552021" cy="6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75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622E-E18D-F1DA-7722-2F15C199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7610-8F33-DB21-9D87-DDD2C88F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Axios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AADE0-0C0B-08B0-2D58-37A829015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5595"/>
            <a:ext cx="5317584" cy="1681246"/>
          </a:xfrm>
        </p:spPr>
        <p:txBody>
          <a:bodyPr/>
          <a:lstStyle/>
          <a:p>
            <a:r>
              <a:rPr lang="en-US" dirty="0"/>
              <a:t>Update your fetch request to Axios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07600-6EE3-DDF2-E66B-1076710269DE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B7E63-9807-65A7-A84F-F45EC09C89A9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210A9D-14C1-F4AE-9673-AEC14615266C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Install the NPM package</a:t>
            </a:r>
          </a:p>
          <a:p>
            <a:r>
              <a:rPr lang="en-US" dirty="0"/>
              <a:t>Import it into your .</a:t>
            </a:r>
            <a:r>
              <a:rPr lang="en-US" dirty="0" err="1"/>
              <a:t>jsx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5777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E725-1CDE-DC05-9B0B-F6EF7E41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832B-2AB9-5271-6004-609F75E54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108581" cy="448404"/>
          </a:xfrm>
        </p:spPr>
        <p:txBody>
          <a:bodyPr/>
          <a:lstStyle/>
          <a:p>
            <a:r>
              <a:rPr lang="en-US" dirty="0"/>
              <a:t>Conditional rendering makes it easy to show or hide any elements/components as we wish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7494E-B764-C56A-B45C-780AD0528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46" y="2763983"/>
            <a:ext cx="3277057" cy="3915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EAD4A-B0C9-69B3-484D-D8BB8E43A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94" y="3300230"/>
            <a:ext cx="2286319" cy="2657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B0A2E2-2983-C975-AD39-5E8088C2F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485" y="4009941"/>
            <a:ext cx="3953427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67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7853-9938-39C7-9AB6-BE869162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EFA18-6278-EC01-BBBC-42D2EFE3F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11" y="2256136"/>
            <a:ext cx="4707780" cy="3678303"/>
          </a:xfrm>
        </p:spPr>
        <p:txBody>
          <a:bodyPr/>
          <a:lstStyle/>
          <a:p>
            <a:r>
              <a:rPr lang="en-US" dirty="0"/>
              <a:t>Define an event handler function inside the component</a:t>
            </a:r>
          </a:p>
          <a:p>
            <a:r>
              <a:rPr lang="en-US" dirty="0"/>
              <a:t>Notice ‘</a:t>
            </a:r>
            <a:r>
              <a:rPr lang="en-US" dirty="0" err="1"/>
              <a:t>onClick</a:t>
            </a:r>
            <a:r>
              <a:rPr lang="en-US" dirty="0"/>
              <a:t>’ vs ‘onclick’ in JavaScript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19D4A-2C9A-BA32-D701-058544F5B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518" y="2180496"/>
            <a:ext cx="4248743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617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38A92-7CA6-98CE-1F12-F07DFA28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46BB-545C-3087-6716-AA96A449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Basic App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266E-CDAD-72D0-3711-9B0D0655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work to conditionally render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A335E-334A-2B86-AA57-B869D6AB62E7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F6C0E-A730-E9D7-0FA0-3052BCB4A91B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E06756-F910-4AFC-390A-72B04540CFFD}"/>
              </a:ext>
            </a:extLst>
          </p:cNvPr>
          <p:cNvSpPr txBox="1">
            <a:spLocks/>
          </p:cNvSpPr>
          <p:nvPr/>
        </p:nvSpPr>
        <p:spPr>
          <a:xfrm>
            <a:off x="6031417" y="3099411"/>
            <a:ext cx="5740756" cy="2315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Modify your ‘App’ component so that under the header, it will conditionally render either your ‘</a:t>
            </a:r>
            <a:r>
              <a:rPr lang="en-US" dirty="0" err="1"/>
              <a:t>IncidentList</a:t>
            </a:r>
            <a:r>
              <a:rPr lang="en-US" dirty="0"/>
              <a:t>’ component or a ‘Welcome’ component. </a:t>
            </a:r>
          </a:p>
          <a:p>
            <a:pPr lvl="1"/>
            <a:r>
              <a:rPr lang="en-US" dirty="0"/>
              <a:t>It should conditionally render via navigation links in the header</a:t>
            </a:r>
          </a:p>
          <a:p>
            <a:pPr lvl="1"/>
            <a:r>
              <a:rPr lang="en-US" dirty="0"/>
              <a:t>The ‘Welcome’ component may be a very simple dummy component that simply returns text ‘Welcome’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0423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4C51-BF7C-0C7E-8B22-346123C1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Callback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DA8C7-B5EB-70ED-13C9-5641B989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322502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callback prop is when we use a prop to pass down a function to a child component</a:t>
            </a:r>
          </a:p>
          <a:p>
            <a:r>
              <a:rPr lang="en-US" dirty="0"/>
              <a:t>Notice how we pass in a callback function into the Incident component called ‘</a:t>
            </a:r>
            <a:r>
              <a:rPr lang="en-US" dirty="0" err="1"/>
              <a:t>handleClick</a:t>
            </a:r>
            <a:r>
              <a:rPr lang="en-US" dirty="0"/>
              <a:t>’</a:t>
            </a:r>
          </a:p>
          <a:p>
            <a:r>
              <a:rPr lang="en-US" dirty="0"/>
              <a:t>Then in our parent component, we can set the callback that will be performed for ‘</a:t>
            </a:r>
            <a:r>
              <a:rPr lang="en-US" dirty="0" err="1"/>
              <a:t>handleClick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In this case, ‘</a:t>
            </a:r>
            <a:r>
              <a:rPr lang="en-US" dirty="0" err="1"/>
              <a:t>handleClick</a:t>
            </a:r>
            <a:r>
              <a:rPr lang="en-US" dirty="0"/>
              <a:t>’ will fire off another function local to the parent component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FB8CD-A14C-08A4-55AF-08B5A5A3B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269" y="5142043"/>
            <a:ext cx="5172797" cy="1171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A5988-DF64-D8AE-8ECA-42BD8942A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74" y="2061971"/>
            <a:ext cx="6335009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757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B2FD-1002-AEF6-91B9-DAE5522A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Query / </a:t>
            </a:r>
            <a:r>
              <a:rPr lang="en-US" dirty="0" err="1"/>
              <a:t>Tanstack</a:t>
            </a:r>
            <a:r>
              <a:rPr lang="en-US" dirty="0"/>
              <a:t>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F67AC-B89C-692F-9791-BC017FF4D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Rebranded: </a:t>
            </a:r>
            <a:r>
              <a:rPr lang="en-US" dirty="0" err="1"/>
              <a:t>Tanstack</a:t>
            </a:r>
            <a:r>
              <a:rPr lang="en-US" dirty="0"/>
              <a:t> Query </a:t>
            </a:r>
          </a:p>
          <a:p>
            <a:r>
              <a:rPr lang="en-US" dirty="0"/>
              <a:t>Provides data fetching and state management features</a:t>
            </a:r>
          </a:p>
          <a:p>
            <a:r>
              <a:rPr lang="en-US" dirty="0"/>
              <a:t>Gives us a global cache that components can snatch data from </a:t>
            </a:r>
          </a:p>
          <a:p>
            <a:r>
              <a:rPr lang="en-US" dirty="0"/>
              <a:t>Aside from caching, it also has background fetching and synchronization features</a:t>
            </a:r>
          </a:p>
          <a:p>
            <a:r>
              <a:rPr lang="en-US" dirty="0"/>
              <a:t>Client-side state management: </a:t>
            </a:r>
            <a:r>
              <a:rPr lang="en-US" dirty="0" err="1"/>
              <a:t>useState</a:t>
            </a:r>
            <a:r>
              <a:rPr lang="en-US" dirty="0"/>
              <a:t>(), </a:t>
            </a:r>
            <a:r>
              <a:rPr lang="en-US" dirty="0" err="1"/>
              <a:t>useContext</a:t>
            </a:r>
            <a:r>
              <a:rPr lang="en-US" dirty="0"/>
              <a:t>(), </a:t>
            </a:r>
            <a:r>
              <a:rPr lang="en-US" dirty="0" err="1"/>
              <a:t>useReducer</a:t>
            </a:r>
            <a:r>
              <a:rPr lang="en-US" dirty="0"/>
              <a:t>()</a:t>
            </a:r>
          </a:p>
          <a:p>
            <a:r>
              <a:rPr lang="en-US" dirty="0"/>
              <a:t>Asynchronous State Management: synchronize client-side state with server-side state; This is what </a:t>
            </a:r>
            <a:r>
              <a:rPr lang="en-US" dirty="0" err="1"/>
              <a:t>Tanstack</a:t>
            </a:r>
            <a:r>
              <a:rPr lang="en-US" dirty="0"/>
              <a:t> Query provides</a:t>
            </a:r>
          </a:p>
        </p:txBody>
      </p:sp>
    </p:spTree>
    <p:extLst>
      <p:ext uri="{BB962C8B-B14F-4D97-AF65-F5344CB8AC3E}">
        <p14:creationId xmlns:p14="http://schemas.microsoft.com/office/powerpoint/2010/main" val="42865118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F179-13D3-CD18-FA0F-4B0D301A4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are doing 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DE196-8A7C-37D8-CAC9-C7C68D60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198" y="2339233"/>
            <a:ext cx="6559603" cy="308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01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B8A6-447B-4FEA-F8C0-60A0351B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Tanstack</a:t>
            </a:r>
            <a:r>
              <a:rPr lang="en-US" dirty="0"/>
              <a:t>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D863C-6070-44F8-E0E6-C62FCF2DB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91" y="1946659"/>
            <a:ext cx="9103018" cy="441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382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9DEA-8947-35FB-6A18-4318AE05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Tanstack</a:t>
            </a:r>
            <a:r>
              <a:rPr lang="en-US" dirty="0"/>
              <a:t>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43BE0-43DC-E33B-0798-1D0A83CD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187" y="1998558"/>
            <a:ext cx="4740351" cy="1662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72DC0F-D2DF-C49D-2FB1-7D98035C1AF6}"/>
              </a:ext>
            </a:extLst>
          </p:cNvPr>
          <p:cNvSpPr txBox="1"/>
          <p:nvPr/>
        </p:nvSpPr>
        <p:spPr>
          <a:xfrm>
            <a:off x="3596128" y="4280007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Main.tsx</a:t>
            </a:r>
            <a:r>
              <a:rPr lang="en-US" dirty="0"/>
              <a:t>/</a:t>
            </a:r>
            <a:r>
              <a:rPr lang="en-US" dirty="0" err="1"/>
              <a:t>jsx</a:t>
            </a:r>
            <a:r>
              <a:rPr lang="en-US" dirty="0"/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91F3A9-10BE-A562-D00C-960893A9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187" y="3748095"/>
            <a:ext cx="4740351" cy="3570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8ECA9C-AE3B-FF9C-BF78-9CC0FCAD3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638" y="4745779"/>
            <a:ext cx="4202724" cy="1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939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D8FF-DB0E-432E-574C-A3DBA5DDA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Tanstack</a:t>
            </a:r>
            <a:r>
              <a:rPr lang="en-US" dirty="0"/>
              <a:t> Query &amp; Custom Hook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B3C010-007A-EE18-F490-6C59CD966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31" y="2850777"/>
            <a:ext cx="5723979" cy="3071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231596-5CE4-DB8B-1F88-6216D5570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968" y="4081828"/>
            <a:ext cx="3715268" cy="3048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D2E0E8-0FFC-B523-1B83-ACA47515DDFC}"/>
              </a:ext>
            </a:extLst>
          </p:cNvPr>
          <p:cNvSpPr txBox="1"/>
          <p:nvPr/>
        </p:nvSpPr>
        <p:spPr>
          <a:xfrm>
            <a:off x="803981" y="2061246"/>
            <a:ext cx="5907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setup a file (our custom hook) to wire up queries and commands; the idea is to make files for common aggregates: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E6E19-829F-27CC-23B7-701090C20218}"/>
              </a:ext>
            </a:extLst>
          </p:cNvPr>
          <p:cNvSpPr txBox="1"/>
          <p:nvPr/>
        </p:nvSpPr>
        <p:spPr>
          <a:xfrm>
            <a:off x="7311979" y="3244334"/>
            <a:ext cx="3176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use the hook when needed: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6DE365-B859-717B-30D2-E5EFBEA41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179" y="3804879"/>
            <a:ext cx="3562847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252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64CD-5836-A8C8-09B7-036F4EEE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Axios Interceptor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96DF-CD29-900C-D29A-9F779CA26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51746"/>
            <a:ext cx="11029615" cy="9067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will setup an Axios interceptor to create a </a:t>
            </a:r>
            <a:r>
              <a:rPr lang="en-US" dirty="0" err="1"/>
              <a:t>baseURL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isn’t using the full benefit yet, later we will be able to auto-include auth tokens for subsequent requests, among other bonuses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AE19D-2834-A67C-8113-B90262A4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045" y="3190795"/>
            <a:ext cx="4134427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485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4C8E-9655-C086-28F7-548BCB72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hook using </a:t>
            </a:r>
            <a:r>
              <a:rPr lang="en-US" dirty="0" err="1"/>
              <a:t>tanstack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4BFCE-3EA5-ECD6-0C7F-35B6A8E04F43}"/>
              </a:ext>
            </a:extLst>
          </p:cNvPr>
          <p:cNvSpPr txBox="1"/>
          <p:nvPr/>
        </p:nvSpPr>
        <p:spPr>
          <a:xfrm>
            <a:off x="5109567" y="1746692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useActivities.ts</a:t>
            </a:r>
            <a:r>
              <a:rPr lang="en-US" dirty="0"/>
              <a:t>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BF2875-B6BC-9C42-EB6E-C02D9D175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313" y="2036269"/>
            <a:ext cx="3927416" cy="47471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44426E-3D99-477F-872A-5865F96FF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22" y="1840652"/>
            <a:ext cx="3927416" cy="494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310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6CF1C-89A6-9B26-7FEE-34677CCF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FormData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7FAE3-33B3-CD67-6520-E8B537F7D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 err="1"/>
              <a:t>FormData</a:t>
            </a:r>
            <a:r>
              <a:rPr lang="en-US" dirty="0"/>
              <a:t> can get all the values from a form, but won’t pickup checkboxes if they are unchecked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37AFB-E78F-E42C-CCA6-451BAD072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54" y="3429000"/>
            <a:ext cx="4229690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032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22E3-EF8B-9A6E-5E02-81FAA88D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our query and mutation functions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CBCC9-BC62-27C5-0F0B-FC8AEAD9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986" y="2387600"/>
            <a:ext cx="3410426" cy="685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C1D780-B8E3-C2A7-FFD7-555496157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664" y="3799002"/>
            <a:ext cx="6897063" cy="247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94353B-2036-C76C-B3D1-12771CB11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047" y="4297256"/>
            <a:ext cx="4667901" cy="276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D45CC9-D877-25BE-E97A-059F20323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1824" y="4893901"/>
            <a:ext cx="3886742" cy="9621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E8F1AA-4594-80AB-B978-D02CB704F6D7}"/>
              </a:ext>
            </a:extLst>
          </p:cNvPr>
          <p:cNvSpPr txBox="1"/>
          <p:nvPr/>
        </p:nvSpPr>
        <p:spPr>
          <a:xfrm>
            <a:off x="4605045" y="2018268"/>
            <a:ext cx="298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Deconstruct needed function: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3C02F-70A3-A686-6C22-6DEDC9146B67}"/>
              </a:ext>
            </a:extLst>
          </p:cNvPr>
          <p:cNvSpPr txBox="1"/>
          <p:nvPr/>
        </p:nvSpPr>
        <p:spPr>
          <a:xfrm>
            <a:off x="5649092" y="3269480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it: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90EBB8-8C7F-EEE8-E004-DD7519EA3CAD}"/>
              </a:ext>
            </a:extLst>
          </p:cNvPr>
          <p:cNvSpPr txBox="1"/>
          <p:nvPr/>
        </p:nvSpPr>
        <p:spPr>
          <a:xfrm>
            <a:off x="7988566" y="5190314"/>
            <a:ext cx="229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navigate() = routing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1061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34F4-0E19-AB75-C3CA-4701BC6C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5A6A-19FD-D4F3-3BEC-C4C41EEC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Add Incident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E0EF-1F62-CE90-C562-7FFC375E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form to add incidents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79173-8D1D-10D2-FED7-AA8C956FC95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39857-33C8-7325-8290-16B1EDBA5B5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FC556C-5069-1F07-0B7E-A81B7E8C31E7}"/>
              </a:ext>
            </a:extLst>
          </p:cNvPr>
          <p:cNvSpPr txBox="1">
            <a:spLocks/>
          </p:cNvSpPr>
          <p:nvPr/>
        </p:nvSpPr>
        <p:spPr>
          <a:xfrm>
            <a:off x="6096000" y="2858235"/>
            <a:ext cx="5740756" cy="220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App and Incident list components:</a:t>
            </a:r>
          </a:p>
          <a:p>
            <a:pPr lvl="1"/>
            <a:r>
              <a:rPr lang="en-US" dirty="0"/>
              <a:t>Create a form on the ‘</a:t>
            </a:r>
            <a:r>
              <a:rPr lang="en-US" dirty="0" err="1"/>
              <a:t>IncidentList</a:t>
            </a:r>
            <a:r>
              <a:rPr lang="en-US" dirty="0"/>
              <a:t>’ component.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A9C59-E6E2-547A-5BB1-5467DEED8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45" y="3896881"/>
            <a:ext cx="5330219" cy="204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796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E161-F4BA-66C1-5793-AA217ACA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353E-7723-F682-AD14-6250128A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Delete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1666D-E78D-4A35-BEB2-F43A5BD9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button on the incident component to delete the incident from the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A4F7A-2C15-E272-C77B-423CB2B7DD51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F47EC-97AB-22DC-3530-9B65E5C79CE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AE7A51-3F2A-03CF-A82D-343A11028C57}"/>
              </a:ext>
            </a:extLst>
          </p:cNvPr>
          <p:cNvSpPr txBox="1">
            <a:spLocks/>
          </p:cNvSpPr>
          <p:nvPr/>
        </p:nvSpPr>
        <p:spPr>
          <a:xfrm>
            <a:off x="6000244" y="2900119"/>
            <a:ext cx="5740756" cy="1536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Modify your ‘Incident’ component so that it has a delete button</a:t>
            </a:r>
          </a:p>
          <a:p>
            <a:r>
              <a:rPr lang="en-US" dirty="0"/>
              <a:t>The button should remove the Incident from the Incident list component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79B7EB-1D52-33DB-E2EA-E2B4F9345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85" y="4230349"/>
            <a:ext cx="185763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072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1766-6676-B1B0-2EE9-CA962A0C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Component Data / Lifting Up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C1379-3FD8-126B-7875-4935837AD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63644" cy="1809613"/>
          </a:xfrm>
        </p:spPr>
        <p:txBody>
          <a:bodyPr/>
          <a:lstStyle/>
          <a:p>
            <a:r>
              <a:rPr lang="en-US" dirty="0"/>
              <a:t>Where we use state matters</a:t>
            </a:r>
          </a:p>
          <a:p>
            <a:r>
              <a:rPr lang="en-US" dirty="0"/>
              <a:t>Lifting State – refers to moving state from one component to a common parent so that multiple child components can share and update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F90BB-931D-1296-F8BA-E8E8A54C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4895661"/>
            <a:ext cx="5801042" cy="351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FBC935-5316-94D2-DC66-956B102CE455}"/>
              </a:ext>
            </a:extLst>
          </p:cNvPr>
          <p:cNvSpPr/>
          <p:nvPr/>
        </p:nvSpPr>
        <p:spPr>
          <a:xfrm>
            <a:off x="8006355" y="2408412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774722-6334-B5C1-4D96-6D397FB410E8}"/>
              </a:ext>
            </a:extLst>
          </p:cNvPr>
          <p:cNvSpPr/>
          <p:nvPr/>
        </p:nvSpPr>
        <p:spPr>
          <a:xfrm>
            <a:off x="9117979" y="3592848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F27F19-0997-032F-707B-081DEACA4C01}"/>
              </a:ext>
            </a:extLst>
          </p:cNvPr>
          <p:cNvSpPr/>
          <p:nvPr/>
        </p:nvSpPr>
        <p:spPr>
          <a:xfrm>
            <a:off x="6975414" y="5071450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DA160-FB17-1B45-DBED-AFA672DFCC40}"/>
              </a:ext>
            </a:extLst>
          </p:cNvPr>
          <p:cNvSpPr/>
          <p:nvPr/>
        </p:nvSpPr>
        <p:spPr>
          <a:xfrm>
            <a:off x="6975414" y="3592849"/>
            <a:ext cx="1403122" cy="8832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IncidentList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F25FD60-3ADA-AD65-DAE5-9AB5E7B1D2A4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rot="10800000" flipV="1">
            <a:off x="7676975" y="2850025"/>
            <a:ext cx="329380" cy="742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5DA25C1-9805-F6D0-7AEA-377B7B840A1C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9409477" y="2850026"/>
            <a:ext cx="410063" cy="742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C96D39-AFA0-6B1E-D6E6-71982AE13C3B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7676975" y="4476076"/>
            <a:ext cx="0" cy="595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6D9D018-B6C6-3C0A-B86D-1E6E8236059B}"/>
              </a:ext>
            </a:extLst>
          </p:cNvPr>
          <p:cNvSpPr txBox="1"/>
          <p:nvPr/>
        </p:nvSpPr>
        <p:spPr>
          <a:xfrm>
            <a:off x="8639356" y="4816013"/>
            <a:ext cx="3185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state is at the </a:t>
            </a:r>
            <a:r>
              <a:rPr lang="en-US" dirty="0" err="1"/>
              <a:t>IncidentList</a:t>
            </a:r>
            <a:r>
              <a:rPr lang="en-US" dirty="0"/>
              <a:t> component, then it will be reset each time the component unloads from the virtual DOM; not accessible from Welcome</a:t>
            </a:r>
          </a:p>
        </p:txBody>
      </p:sp>
    </p:spTree>
    <p:extLst>
      <p:ext uri="{BB962C8B-B14F-4D97-AF65-F5344CB8AC3E}">
        <p14:creationId xmlns:p14="http://schemas.microsoft.com/office/powerpoint/2010/main" val="23423005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D9E68-1C6C-E13E-CE0E-8C509701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F9AE-1BC4-1DEB-1D5C-8E1A4180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Component Data / Lifting Up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1D1BE-9773-AE65-B2E8-7F34F986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120" y="2479007"/>
            <a:ext cx="4537291" cy="1815087"/>
          </a:xfrm>
        </p:spPr>
        <p:txBody>
          <a:bodyPr/>
          <a:lstStyle/>
          <a:p>
            <a:r>
              <a:rPr lang="en-US" dirty="0"/>
              <a:t>If state is instead placed at ‘App’, and we modify the incident list, the updated list is now accessible to both child components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99E5A-2595-F19C-2872-45CDD0BDC220}"/>
              </a:ext>
            </a:extLst>
          </p:cNvPr>
          <p:cNvSpPr/>
          <p:nvPr/>
        </p:nvSpPr>
        <p:spPr>
          <a:xfrm>
            <a:off x="3317814" y="2479007"/>
            <a:ext cx="1403122" cy="8832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56EBA-408B-F237-F878-49327D2A58A2}"/>
              </a:ext>
            </a:extLst>
          </p:cNvPr>
          <p:cNvSpPr/>
          <p:nvPr/>
        </p:nvSpPr>
        <p:spPr>
          <a:xfrm>
            <a:off x="4429438" y="3663443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C7DE7-825D-B9F3-F981-8F1EEE651804}"/>
              </a:ext>
            </a:extLst>
          </p:cNvPr>
          <p:cNvSpPr/>
          <p:nvPr/>
        </p:nvSpPr>
        <p:spPr>
          <a:xfrm>
            <a:off x="2286873" y="5142045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E0526C-5A7D-29F2-8759-C9030965C369}"/>
              </a:ext>
            </a:extLst>
          </p:cNvPr>
          <p:cNvSpPr/>
          <p:nvPr/>
        </p:nvSpPr>
        <p:spPr>
          <a:xfrm>
            <a:off x="2286873" y="3663444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IncidentList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7EAD238-9878-270B-E359-4CA536DE9AAE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rot="10800000" flipV="1">
            <a:off x="2988434" y="2920620"/>
            <a:ext cx="329380" cy="742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A5AB5CB-B895-4C4E-ABB1-32CC50521AC4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4720936" y="2920621"/>
            <a:ext cx="410063" cy="742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615FB2-2CF4-96E1-19CA-86D09CD447E1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2988434" y="4546671"/>
            <a:ext cx="0" cy="595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446EA24-23AA-97ED-2C8B-D9326CD5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49" y="4294094"/>
            <a:ext cx="4266232" cy="215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934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36A2-C4F9-4EEC-49BD-36E04271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3735C-5C68-57F9-A7BC-5F57B4040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68714" cy="3975348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Reducers</a:t>
            </a:r>
            <a:r>
              <a:rPr lang="en-US" dirty="0"/>
              <a:t> are a hook that allow us to centralize state management logic </a:t>
            </a:r>
          </a:p>
          <a:p>
            <a:pPr lvl="1"/>
            <a:r>
              <a:rPr lang="en-US" dirty="0"/>
              <a:t>In more complex applications, this helps avoid bugs and is easier to maintain</a:t>
            </a:r>
          </a:p>
          <a:p>
            <a:pPr lvl="1"/>
            <a:r>
              <a:rPr lang="en-US" dirty="0"/>
              <a:t>Scalable </a:t>
            </a:r>
          </a:p>
          <a:p>
            <a:pPr lvl="1"/>
            <a:r>
              <a:rPr lang="en-US" dirty="0"/>
              <a:t>Reducers should be placed under imports, but before the component function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79113-6C9B-EEE8-DE91-6006974C9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363" y="5553268"/>
            <a:ext cx="3341551" cy="1205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8D81F2-090B-5077-C12E-E517AA0E1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324" y="1984896"/>
            <a:ext cx="5983628" cy="34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859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3E94-7C05-46D5-B6AF-0F7A6228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AB53-8347-A7A3-3122-EA5786675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81654" cy="367830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useContext</a:t>
            </a:r>
            <a:r>
              <a:rPr lang="en-US" dirty="0"/>
              <a:t> hook allows a component to access the current value of a context without having to receive it through props</a:t>
            </a:r>
          </a:p>
          <a:p>
            <a:pPr lvl="1"/>
            <a:r>
              <a:rPr lang="en-US" dirty="0"/>
              <a:t>This avoids ‘prop-drilling’ </a:t>
            </a:r>
          </a:p>
          <a:p>
            <a:r>
              <a:rPr lang="en-US" dirty="0"/>
              <a:t>The value of a context may be any JavaScript datatype</a:t>
            </a:r>
          </a:p>
          <a:p>
            <a:r>
              <a:rPr lang="en-US" dirty="0"/>
              <a:t>This is a separate file from your components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396A3-C691-6CD3-3422-FBB4F567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615" y="3851639"/>
            <a:ext cx="3848637" cy="638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FBEFC0-A802-44AB-2F39-A71E0BE43A40}"/>
              </a:ext>
            </a:extLst>
          </p:cNvPr>
          <p:cNvSpPr txBox="1"/>
          <p:nvPr/>
        </p:nvSpPr>
        <p:spPr>
          <a:xfrm>
            <a:off x="6893615" y="3429000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ThemeContext.js</a:t>
            </a:r>
          </a:p>
        </p:txBody>
      </p:sp>
    </p:spTree>
    <p:extLst>
      <p:ext uri="{BB962C8B-B14F-4D97-AF65-F5344CB8AC3E}">
        <p14:creationId xmlns:p14="http://schemas.microsoft.com/office/powerpoint/2010/main" val="28581589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C3E1-1D5F-BDFB-779B-B37C9463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9BA8-A81B-1079-5762-1FE18F6B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Publishing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065F-C066-ACC8-1CEC-C083442A0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81654" cy="3678303"/>
          </a:xfrm>
        </p:spPr>
        <p:txBody>
          <a:bodyPr/>
          <a:lstStyle/>
          <a:p>
            <a:r>
              <a:rPr lang="en-US" dirty="0"/>
              <a:t>We apply our context as a provider</a:t>
            </a:r>
          </a:p>
          <a:p>
            <a:r>
              <a:rPr lang="en-US" dirty="0"/>
              <a:t>The mandatory ‘value’ attribute will pass our context data down to any subscribing components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BEBD2-9339-1981-DFCE-01DF51BD1049}"/>
              </a:ext>
            </a:extLst>
          </p:cNvPr>
          <p:cNvSpPr txBox="1"/>
          <p:nvPr/>
        </p:nvSpPr>
        <p:spPr>
          <a:xfrm>
            <a:off x="5560456" y="1995830"/>
            <a:ext cx="868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App.jsx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DB72C-2416-6F7C-3808-B33E0A73E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935" y="2017669"/>
            <a:ext cx="4167787" cy="459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393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7DBA-223E-2B1E-CA94-A65EFE0E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Subscribing To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841B8-6E52-11A3-844C-AD6814D71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90538" cy="3678303"/>
          </a:xfrm>
        </p:spPr>
        <p:txBody>
          <a:bodyPr/>
          <a:lstStyle/>
          <a:p>
            <a:r>
              <a:rPr lang="en-US" dirty="0"/>
              <a:t>We import </a:t>
            </a:r>
            <a:r>
              <a:rPr lang="en-US" dirty="0" err="1"/>
              <a:t>useContext</a:t>
            </a:r>
            <a:r>
              <a:rPr lang="en-US" dirty="0"/>
              <a:t> along with our context ‘.</a:t>
            </a:r>
            <a:r>
              <a:rPr lang="en-US" dirty="0" err="1"/>
              <a:t>js’</a:t>
            </a:r>
            <a:r>
              <a:rPr lang="en-US" dirty="0"/>
              <a:t> file</a:t>
            </a:r>
          </a:p>
          <a:p>
            <a:r>
              <a:rPr lang="en-US" dirty="0"/>
              <a:t>We call </a:t>
            </a:r>
            <a:r>
              <a:rPr lang="en-US" dirty="0" err="1"/>
              <a:t>useContext</a:t>
            </a:r>
            <a:r>
              <a:rPr lang="en-US" dirty="0"/>
              <a:t> using our imported </a:t>
            </a:r>
            <a:r>
              <a:rPr lang="en-US" dirty="0" err="1"/>
              <a:t>ThemeContext</a:t>
            </a:r>
            <a:r>
              <a:rPr lang="en-US" dirty="0"/>
              <a:t> reference to get our theme</a:t>
            </a:r>
          </a:p>
          <a:p>
            <a:r>
              <a:rPr lang="en-US" dirty="0"/>
              <a:t>We could use that data in many ways, such as dynamically building class lists on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9CB6B-4571-19DC-C0F2-B5E0B6CB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435" y="2180496"/>
            <a:ext cx="6233372" cy="645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C1E504-E9E2-2316-940D-E6FD87702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326" y="3195605"/>
            <a:ext cx="6725589" cy="466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EF1DA1-A8F4-3620-D427-02E29445D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814" y="4019647"/>
            <a:ext cx="4124901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550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3597-F820-CE15-CF46-E9C4E2C9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779465-8321-A3A5-379A-9BEA713DCBB4}"/>
              </a:ext>
            </a:extLst>
          </p:cNvPr>
          <p:cNvSpPr txBox="1">
            <a:spLocks/>
          </p:cNvSpPr>
          <p:nvPr/>
        </p:nvSpPr>
        <p:spPr>
          <a:xfrm>
            <a:off x="914400" y="2243248"/>
            <a:ext cx="10696408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Model View Controller (MVC) </a:t>
            </a:r>
            <a:r>
              <a:rPr lang="en-US" dirty="0">
                <a:solidFill>
                  <a:schemeClr val="tx1"/>
                </a:solidFill>
              </a:rPr>
              <a:t>is a classic architectural design pattern used to structure applications. 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Model</a:t>
            </a:r>
            <a:r>
              <a:rPr lang="en-US" dirty="0">
                <a:solidFill>
                  <a:schemeClr val="tx1"/>
                </a:solidFill>
              </a:rPr>
              <a:t> – The data and business logic of an application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View</a:t>
            </a:r>
            <a:r>
              <a:rPr lang="en-US" dirty="0">
                <a:solidFill>
                  <a:schemeClr val="tx1"/>
                </a:solidFill>
              </a:rPr>
              <a:t> – The UI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Controller</a:t>
            </a:r>
            <a:r>
              <a:rPr lang="en-US" dirty="0">
                <a:solidFill>
                  <a:schemeClr val="tx1"/>
                </a:solidFill>
              </a:rPr>
              <a:t> – The middleman between the model and view, often handling user input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1444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7E6B-545C-B91E-1784-1B8AE8B3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React Router? What is Deep linking?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7F7FAB-49DF-A039-C8FE-2835C650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4353"/>
            <a:ext cx="5389302" cy="3974619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React Router </a:t>
            </a:r>
            <a:r>
              <a:rPr lang="en-US" dirty="0"/>
              <a:t>is a library that provides easy navigation between different views.</a:t>
            </a:r>
          </a:p>
          <a:p>
            <a:pPr lvl="1"/>
            <a:r>
              <a:rPr lang="en-US" dirty="0"/>
              <a:t>This enabled deep linking</a:t>
            </a:r>
          </a:p>
          <a:p>
            <a:pPr lvl="1"/>
            <a:r>
              <a:rPr lang="en-US" dirty="0"/>
              <a:t>Handle URL parameters and query strings</a:t>
            </a:r>
          </a:p>
          <a:p>
            <a:pPr lvl="1"/>
            <a:r>
              <a:rPr lang="en-US" dirty="0"/>
              <a:t>Manage browser history &amp; navigation</a:t>
            </a:r>
          </a:p>
          <a:p>
            <a:pPr lvl="1"/>
            <a:r>
              <a:rPr lang="en-US" dirty="0"/>
              <a:t>Create nested routes and layouts</a:t>
            </a:r>
          </a:p>
          <a:p>
            <a:pPr lvl="1"/>
            <a:r>
              <a:rPr lang="en-US" dirty="0"/>
              <a:t>Implement protected routes for authentication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3D5F76-B2C3-5605-B374-F0F18426EE53}"/>
              </a:ext>
            </a:extLst>
          </p:cNvPr>
          <p:cNvSpPr txBox="1">
            <a:spLocks/>
          </p:cNvSpPr>
          <p:nvPr/>
        </p:nvSpPr>
        <p:spPr>
          <a:xfrm>
            <a:off x="6096000" y="2763866"/>
            <a:ext cx="5389300" cy="3391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Deep Linking </a:t>
            </a:r>
            <a:r>
              <a:rPr lang="en-US" dirty="0">
                <a:solidFill>
                  <a:schemeClr val="tx1"/>
                </a:solidFill>
              </a:rPr>
              <a:t>is the practice of using hyperlinks to send users directly to specific content within our applications </a:t>
            </a:r>
          </a:p>
          <a:p>
            <a:r>
              <a:rPr lang="en-US" dirty="0"/>
              <a:t>1-2 levels deep: most apps</a:t>
            </a:r>
          </a:p>
          <a:p>
            <a:pPr lvl="1"/>
            <a:r>
              <a:rPr lang="en-US" dirty="0"/>
              <a:t>/dashboard</a:t>
            </a:r>
          </a:p>
          <a:p>
            <a:pPr lvl="1"/>
            <a:r>
              <a:rPr lang="en-US" dirty="0"/>
              <a:t>/products/45</a:t>
            </a:r>
          </a:p>
          <a:p>
            <a:r>
              <a:rPr lang="en-US" dirty="0"/>
              <a:t>3-4 levels deeps: common for structured apps</a:t>
            </a:r>
          </a:p>
          <a:p>
            <a:pPr lvl="1"/>
            <a:r>
              <a:rPr lang="en-US" dirty="0"/>
              <a:t>/dashboard/reports/weekly</a:t>
            </a:r>
          </a:p>
          <a:p>
            <a:pPr lvl="1"/>
            <a:r>
              <a:rPr lang="en-US" dirty="0"/>
              <a:t>/shop/products/46/reviews</a:t>
            </a:r>
          </a:p>
          <a:p>
            <a:r>
              <a:rPr lang="en-US" dirty="0"/>
              <a:t>5+ levels deep: Rare but possible, usually in enterprise </a:t>
            </a:r>
          </a:p>
          <a:p>
            <a:pPr lvl="1"/>
            <a:r>
              <a:rPr lang="en-US" dirty="0"/>
              <a:t>/orgs/12/projects/55/tasks/34/comments/2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4552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E379F0E-7968-C10D-935A-C1A7A3DAC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774" y="2223176"/>
            <a:ext cx="4581374" cy="29748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A841C7-3DB6-ABB3-3C68-3EA22A56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BB9DD-5E7C-FD01-6506-3DCF566DC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47" y="2486087"/>
            <a:ext cx="5934903" cy="447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894E69-AF3C-794D-51C7-90C3E3EBA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99" y="3098259"/>
            <a:ext cx="5052203" cy="35575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1C6E8A-B6A8-23FD-A5DB-F454B04BC738}"/>
              </a:ext>
            </a:extLst>
          </p:cNvPr>
          <p:cNvSpPr txBox="1"/>
          <p:nvPr/>
        </p:nvSpPr>
        <p:spPr>
          <a:xfrm>
            <a:off x="800100" y="2070100"/>
            <a:ext cx="4351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Install package and setup the route provider: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51E3D0-7CF7-A197-7D01-E8A44065900A}"/>
              </a:ext>
            </a:extLst>
          </p:cNvPr>
          <p:cNvSpPr txBox="1"/>
          <p:nvPr/>
        </p:nvSpPr>
        <p:spPr>
          <a:xfrm>
            <a:off x="8047638" y="1885434"/>
            <a:ext cx="2184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Routes.tsx</a:t>
            </a:r>
            <a:r>
              <a:rPr lang="en-US" dirty="0"/>
              <a:t> &amp; </a:t>
            </a:r>
            <a:r>
              <a:rPr lang="en-US" dirty="0" err="1"/>
              <a:t>App.tsx</a:t>
            </a:r>
            <a:r>
              <a:rPr lang="en-US" dirty="0"/>
              <a:t>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73B194-7A89-5826-4ACC-4D889A4FC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783" y="4861405"/>
            <a:ext cx="2270413" cy="199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492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2C5C-3481-A1BE-B2AC-80BCFB06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FC960-A172-8911-4966-C03459F6C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915939"/>
          </a:xfrm>
        </p:spPr>
        <p:txBody>
          <a:bodyPr>
            <a:normAutofit/>
          </a:bodyPr>
          <a:lstStyle/>
          <a:p>
            <a:r>
              <a:rPr lang="en-US" dirty="0" err="1"/>
              <a:t>NavLink</a:t>
            </a:r>
            <a:r>
              <a:rPr lang="en-US" dirty="0"/>
              <a:t> components (or composed ones) will trigger routing to the &lt;Outlet/&gt;</a:t>
            </a:r>
          </a:p>
          <a:p>
            <a:r>
              <a:rPr lang="en-US" dirty="0"/>
              <a:t>Multiple ways: </a:t>
            </a:r>
            <a:r>
              <a:rPr lang="en-US" dirty="0" err="1"/>
              <a:t>NavLink</a:t>
            </a:r>
            <a:r>
              <a:rPr lang="en-US" dirty="0"/>
              <a:t> or </a:t>
            </a:r>
            <a:r>
              <a:rPr lang="en-US" dirty="0" err="1"/>
              <a:t>useNavigate</a:t>
            </a:r>
            <a:r>
              <a:rPr lang="en-US" dirty="0"/>
              <a:t>() 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AFCBD-B5F9-1813-5CE9-69934DBB1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202" y="3096435"/>
            <a:ext cx="8521593" cy="341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B7B0FA-2809-3B81-C90C-FA7FE3A3E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206" y="4917421"/>
            <a:ext cx="5639587" cy="1238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A547BA-B9CA-372C-0805-24F620AC9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128" y="3629764"/>
            <a:ext cx="6889743" cy="407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D9598F-4F4B-34E3-2738-29D3802CC574}"/>
              </a:ext>
            </a:extLst>
          </p:cNvPr>
          <p:cNvSpPr txBox="1"/>
          <p:nvPr/>
        </p:nvSpPr>
        <p:spPr>
          <a:xfrm>
            <a:off x="3961439" y="4483100"/>
            <a:ext cx="4269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useParams</a:t>
            </a:r>
            <a:r>
              <a:rPr lang="en-US" dirty="0"/>
              <a:t>() lets us deconstruct </a:t>
            </a:r>
            <a:r>
              <a:rPr lang="en-US" dirty="0" err="1"/>
              <a:t>url</a:t>
            </a:r>
            <a:r>
              <a:rPr lang="en-US" dirty="0"/>
              <a:t> params:</a:t>
            </a:r>
          </a:p>
        </p:txBody>
      </p:sp>
    </p:spTree>
    <p:extLst>
      <p:ext uri="{BB962C8B-B14F-4D97-AF65-F5344CB8AC3E}">
        <p14:creationId xmlns:p14="http://schemas.microsoft.com/office/powerpoint/2010/main" val="22120500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514E-274C-4586-22B9-C7F2011D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8E914-1C57-1F06-2392-590D1016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372204"/>
          </a:xfrm>
        </p:spPr>
        <p:txBody>
          <a:bodyPr/>
          <a:lstStyle/>
          <a:p>
            <a:r>
              <a:rPr lang="en-US" dirty="0"/>
              <a:t>Material UI calendars a pain to work with and style, so we can use this: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57690-97ED-B084-2E2C-340872D06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109" y="2882910"/>
            <a:ext cx="5925377" cy="438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90802-EF6C-B819-9A51-D8F46C2ED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80" y="3755984"/>
            <a:ext cx="3667637" cy="590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2D010-C401-6BA7-8561-339FCF826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418" y="4924407"/>
            <a:ext cx="2591162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118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483C-6911-4EDC-9E07-CEEF2E80B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Themes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7DA1B-3FCB-7059-8F0B-1F9E74A74D1A}"/>
              </a:ext>
            </a:extLst>
          </p:cNvPr>
          <p:cNvSpPr txBox="1"/>
          <p:nvPr/>
        </p:nvSpPr>
        <p:spPr>
          <a:xfrm>
            <a:off x="1720619" y="1859038"/>
            <a:ext cx="1503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lightTheme.ts</a:t>
            </a:r>
            <a:r>
              <a:rPr lang="en-US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DA0AEA-12F4-BEFE-48E5-2AB6BF730501}"/>
              </a:ext>
            </a:extLst>
          </p:cNvPr>
          <p:cNvSpPr txBox="1"/>
          <p:nvPr/>
        </p:nvSpPr>
        <p:spPr>
          <a:xfrm>
            <a:off x="6096000" y="1844878"/>
            <a:ext cx="355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Wrap app with theme provider: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948904-15F3-C0DB-B51C-F838C6007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689" y="2343132"/>
            <a:ext cx="2467202" cy="42838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3EA400-9FD2-BF9A-CCE7-146C57D1B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264194"/>
            <a:ext cx="4099128" cy="45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633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9945-C9A0-178F-FE2F-1E0E18B1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Identity endpoints with </a:t>
            </a:r>
            <a:r>
              <a:rPr lang="en-US" dirty="0" err="1"/>
              <a:t>tanstack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71A9B-EB38-E4D1-09C9-E8A347388B18}"/>
              </a:ext>
            </a:extLst>
          </p:cNvPr>
          <p:cNvSpPr txBox="1"/>
          <p:nvPr/>
        </p:nvSpPr>
        <p:spPr>
          <a:xfrm>
            <a:off x="1562100" y="1968500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useAccount.ts</a:t>
            </a:r>
            <a:r>
              <a:rPr lang="en-US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5D39CE-A2D5-BFD5-4C10-EC80916E5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366" y="3109825"/>
            <a:ext cx="3353268" cy="12479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4F04C1-5C0C-E299-0764-30453D3FED2C}"/>
              </a:ext>
            </a:extLst>
          </p:cNvPr>
          <p:cNvSpPr txBox="1"/>
          <p:nvPr/>
        </p:nvSpPr>
        <p:spPr>
          <a:xfrm>
            <a:off x="7277100" y="2740493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Agent.ts</a:t>
            </a:r>
            <a:r>
              <a:rPr lang="en-US" dirty="0"/>
              <a:t>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1F5B64-DA4E-5C88-D971-C7C748255159}"/>
              </a:ext>
            </a:extLst>
          </p:cNvPr>
          <p:cNvSpPr/>
          <p:nvPr/>
        </p:nvSpPr>
        <p:spPr>
          <a:xfrm>
            <a:off x="7670800" y="3868389"/>
            <a:ext cx="1638300" cy="195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7B530-644B-E7A0-2483-B0B6ECD45F6D}"/>
              </a:ext>
            </a:extLst>
          </p:cNvPr>
          <p:cNvSpPr txBox="1"/>
          <p:nvPr/>
        </p:nvSpPr>
        <p:spPr>
          <a:xfrm>
            <a:off x="6392110" y="4503694"/>
            <a:ext cx="4741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will ensure the http only cookie gets sent along with future requests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BD4BE1-EB7B-7D7E-6174-8C2C598C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77" y="2337832"/>
            <a:ext cx="3994316" cy="425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304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24ED2-51D3-EE70-D90B-029B6068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Conditionally Making queries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3C6C6-DC67-08CB-550C-0BC8D597E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005" y="5305897"/>
            <a:ext cx="4767990" cy="13820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DBAE0F-931D-C989-8148-B1BDA2456FFC}"/>
              </a:ext>
            </a:extLst>
          </p:cNvPr>
          <p:cNvSpPr txBox="1"/>
          <p:nvPr/>
        </p:nvSpPr>
        <p:spPr>
          <a:xfrm>
            <a:off x="1825625" y="1955966"/>
            <a:ext cx="8540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we’ve setup identity, we can bring in the </a:t>
            </a:r>
            <a:r>
              <a:rPr lang="en-US" dirty="0" err="1"/>
              <a:t>currentUser</a:t>
            </a:r>
            <a:r>
              <a:rPr lang="en-US" dirty="0"/>
              <a:t> from our custom hook into our </a:t>
            </a:r>
            <a:r>
              <a:rPr lang="en-US" dirty="0" err="1"/>
              <a:t>useActivities</a:t>
            </a:r>
            <a:r>
              <a:rPr lang="en-US" dirty="0"/>
              <a:t> custom hook, this lets us stop queries from executing from </a:t>
            </a:r>
            <a:r>
              <a:rPr lang="en-US" dirty="0" err="1"/>
              <a:t>Tanstack</a:t>
            </a:r>
            <a:r>
              <a:rPr lang="en-US" dirty="0"/>
              <a:t> unless we are authenticated: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CD9EA5-A9EB-3738-8CF5-CF9C1F972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974" y="3044227"/>
            <a:ext cx="4046052" cy="209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162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2877-DD01-1B4E-7F20-28E2498B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Routes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7C224-7617-26B2-2F5D-FA7B9099B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5" y="2381568"/>
            <a:ext cx="4603476" cy="3802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1C99A4-96AF-7CA2-5776-A8AA8EDE9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431" y="2381568"/>
            <a:ext cx="5744377" cy="3858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8782F6-B6E4-A692-57A0-8F635A5121AE}"/>
              </a:ext>
            </a:extLst>
          </p:cNvPr>
          <p:cNvSpPr txBox="1"/>
          <p:nvPr/>
        </p:nvSpPr>
        <p:spPr>
          <a:xfrm>
            <a:off x="676195" y="2012236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Routes.tsx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D0341-074D-7F70-2B4C-E1A6B49E6FEB}"/>
              </a:ext>
            </a:extLst>
          </p:cNvPr>
          <p:cNvSpPr txBox="1"/>
          <p:nvPr/>
        </p:nvSpPr>
        <p:spPr>
          <a:xfrm>
            <a:off x="5866431" y="2012236"/>
            <a:ext cx="1759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RequireAuth.tsx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905448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CB73-E857-3E38-579E-3EDC21B6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form redirect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5D3CC-3052-3621-CC18-40D408983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831645"/>
          </a:xfrm>
        </p:spPr>
        <p:txBody>
          <a:bodyPr/>
          <a:lstStyle/>
          <a:p>
            <a:r>
              <a:rPr lang="en-US" dirty="0"/>
              <a:t>After logging in we can send them back to their last location state if it exists</a:t>
            </a:r>
          </a:p>
          <a:p>
            <a:r>
              <a:rPr lang="en-US" dirty="0"/>
              <a:t>OR ‘/activities’ if there wasn’t a last location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C2927C-1E7B-F46F-6612-26CA812F6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013" y="3229494"/>
            <a:ext cx="4217974" cy="33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310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1F5E66-3851-CE53-0C47-FB2BC466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1005-ABA7-81DC-0B20-C5481BBE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Implement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8956-71EA-D81A-6FCA-5FA89737B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5595"/>
            <a:ext cx="5317584" cy="1681246"/>
          </a:xfrm>
        </p:spPr>
        <p:txBody>
          <a:bodyPr/>
          <a:lstStyle/>
          <a:p>
            <a:r>
              <a:rPr lang="en-US" dirty="0"/>
              <a:t>Implement Routing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1BBFB-9B25-A368-614A-E7A2B0F7D75F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88B4F-DFDE-1BDB-884B-B8788208264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300895-8C56-970D-ADCF-3B6D8F6E1DF3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Implement routing so that:</a:t>
            </a:r>
          </a:p>
          <a:p>
            <a:pPr lvl="1"/>
            <a:r>
              <a:rPr lang="en-US" dirty="0"/>
              <a:t>‘Welcome’ component is on this route: ‘/’</a:t>
            </a:r>
          </a:p>
          <a:p>
            <a:pPr lvl="1"/>
            <a:r>
              <a:rPr lang="en-US" dirty="0"/>
              <a:t>‘</a:t>
            </a:r>
            <a:r>
              <a:rPr lang="en-US" dirty="0" err="1"/>
              <a:t>IncidentList</a:t>
            </a:r>
            <a:r>
              <a:rPr lang="en-US" dirty="0"/>
              <a:t>’ component is on this route: ‘/incidents’</a:t>
            </a:r>
          </a:p>
        </p:txBody>
      </p:sp>
    </p:spTree>
    <p:extLst>
      <p:ext uri="{BB962C8B-B14F-4D97-AF65-F5344CB8AC3E}">
        <p14:creationId xmlns:p14="http://schemas.microsoft.com/office/powerpoint/2010/main" val="29562766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8627-39B0-81E8-E217-8D36A536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Items From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971B3-1B53-48ED-3CA2-468B766DC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22" y="2343081"/>
            <a:ext cx="10911153" cy="853649"/>
          </a:xfrm>
        </p:spPr>
        <p:txBody>
          <a:bodyPr>
            <a:normAutofit fontScale="92500"/>
          </a:bodyPr>
          <a:lstStyle/>
          <a:p>
            <a:r>
              <a:rPr lang="en-US" dirty="0"/>
              <a:t>The JavaScript filter() function will return a new array where all items meet the criteria </a:t>
            </a:r>
          </a:p>
          <a:p>
            <a:r>
              <a:rPr lang="en-US" dirty="0"/>
              <a:t>In this example, we are getting a copy of the array will all items except for the incident where its ID was provided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773C1-3F1D-6574-7846-6C0CAE4E7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59" y="4080578"/>
            <a:ext cx="9714477" cy="139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268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54EE-6EE6-8706-74C4-5E0D6F86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onCHange</a:t>
            </a:r>
            <a:r>
              <a:rPr lang="en-US" dirty="0"/>
              <a:t> &amp; Object State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C1A02-F6DB-AEC7-331A-10E6587F4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53" y="2477541"/>
            <a:ext cx="4483867" cy="367830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onChange</a:t>
            </a:r>
            <a:r>
              <a:rPr lang="en-US" dirty="0"/>
              <a:t> allows us to call a JavaScript function on each keystroke for text input elements, or on each selection for dropdowns</a:t>
            </a:r>
          </a:p>
          <a:p>
            <a:r>
              <a:rPr lang="en-US" dirty="0"/>
              <a:t>We can use the event object to help us update state</a:t>
            </a:r>
          </a:p>
          <a:p>
            <a:pPr lvl="1"/>
            <a:r>
              <a:rPr lang="en-US" dirty="0"/>
              <a:t>Notice that form is an object, so we use “{“ and “}” when updating the entry in the object:</a:t>
            </a:r>
          </a:p>
          <a:p>
            <a:pPr lvl="1"/>
            <a:r>
              <a:rPr lang="en-US" dirty="0"/>
              <a:t> {…</a:t>
            </a:r>
            <a:r>
              <a:rPr lang="en-US" dirty="0" err="1"/>
              <a:t>prev</a:t>
            </a:r>
            <a:r>
              <a:rPr lang="en-US" dirty="0"/>
              <a:t>, [name]:value}</a:t>
            </a:r>
          </a:p>
          <a:p>
            <a:pPr lvl="1"/>
            <a:r>
              <a:rPr lang="en-US" dirty="0"/>
              <a:t>If it was an array:</a:t>
            </a:r>
          </a:p>
          <a:p>
            <a:pPr lvl="2"/>
            <a:r>
              <a:rPr lang="en-US" dirty="0"/>
              <a:t>[…</a:t>
            </a:r>
            <a:r>
              <a:rPr lang="en-US" dirty="0" err="1"/>
              <a:t>stateOfArray</a:t>
            </a:r>
            <a:r>
              <a:rPr lang="en-US" dirty="0"/>
              <a:t>, incident]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767906-49CB-33E1-06FD-4BD255B1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01" y="2180496"/>
            <a:ext cx="8287907" cy="219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B96F5-007B-333A-40DA-59D0EC00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81" y="4369470"/>
            <a:ext cx="4496427" cy="95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1926F2-6F20-EC29-2FE0-1E2C7AA3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784" y="5412521"/>
            <a:ext cx="3105583" cy="1343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AC9B52-9A78-8440-C16C-8F96C61C4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028" y="2722456"/>
            <a:ext cx="623021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584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5F5A0B-0EEA-6B4B-06CB-49A8EB87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51E1-36AF-1C25-B81A-794FDF3B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Lift Up Incident List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0645-0665-83EF-BD6E-39F27F41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Lift the state of the Incident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649EF-E600-4EED-A8C1-7DDCA92B190F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A1F33-BE64-6ABA-C3BB-7D62A15D95EE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967E04-EE72-1F98-CF06-82015E95405E}"/>
              </a:ext>
            </a:extLst>
          </p:cNvPr>
          <p:cNvSpPr txBox="1">
            <a:spLocks/>
          </p:cNvSpPr>
          <p:nvPr/>
        </p:nvSpPr>
        <p:spPr>
          <a:xfrm>
            <a:off x="6096000" y="2858235"/>
            <a:ext cx="5740756" cy="1884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App and Incident list components:</a:t>
            </a:r>
          </a:p>
          <a:p>
            <a:pPr lvl="1"/>
            <a:r>
              <a:rPr lang="en-US" dirty="0"/>
              <a:t>Move state and ‘delete’ function to ‘App’ component</a:t>
            </a:r>
          </a:p>
          <a:p>
            <a:pPr lvl="1"/>
            <a:r>
              <a:rPr lang="en-US" dirty="0"/>
              <a:t>Chain a callback prop function from Incident list component to the App component – this wires up the delete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AB8FD-4C62-7E2A-9BAB-EADC46509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167" y="4044749"/>
            <a:ext cx="185763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2710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B77ADF-D27F-33BE-5743-EE5EF2C7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D9A9-30D5-B4F2-AACD-2B5D1B01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Refactor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EC6BF-02D0-0105-3E31-6F4CABDA4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Refactor your code to use a reducer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50ECD-28EE-4EFA-4A24-E44B28C3C6B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D0E0D-5434-0B36-82C9-5502986F3E34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03A15F-4170-F5BE-4CA7-AFA1DD7114EF}"/>
              </a:ext>
            </a:extLst>
          </p:cNvPr>
          <p:cNvSpPr txBox="1">
            <a:spLocks/>
          </p:cNvSpPr>
          <p:nvPr/>
        </p:nvSpPr>
        <p:spPr>
          <a:xfrm>
            <a:off x="6033247" y="2982510"/>
            <a:ext cx="5740756" cy="220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App component:</a:t>
            </a:r>
          </a:p>
          <a:p>
            <a:pPr lvl="1"/>
            <a:r>
              <a:rPr lang="en-US" dirty="0"/>
              <a:t>Make the reducer function</a:t>
            </a:r>
          </a:p>
          <a:p>
            <a:pPr lvl="1"/>
            <a:r>
              <a:rPr lang="en-US" dirty="0"/>
              <a:t>Swap out </a:t>
            </a:r>
            <a:r>
              <a:rPr lang="en-US" dirty="0" err="1"/>
              <a:t>useState</a:t>
            </a:r>
            <a:r>
              <a:rPr lang="en-US" dirty="0"/>
              <a:t> for </a:t>
            </a:r>
            <a:r>
              <a:rPr lang="en-US" dirty="0" err="1"/>
              <a:t>useReducer</a:t>
            </a:r>
            <a:r>
              <a:rPr lang="en-US" dirty="0"/>
              <a:t> when working with the incident list</a:t>
            </a:r>
          </a:p>
          <a:p>
            <a:pPr lvl="1"/>
            <a:r>
              <a:rPr lang="en-US" dirty="0"/>
              <a:t>Edit your functions to call the dispatch method rather than ‘</a:t>
            </a:r>
            <a:r>
              <a:rPr lang="en-US" dirty="0" err="1"/>
              <a:t>setIncidents</a:t>
            </a:r>
            <a:r>
              <a:rPr lang="en-US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9843845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8DD061-04CE-FD0C-CB7D-2D37A96D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A829-C52B-2FF5-C5F4-0397DD8F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3EC5-1348-83E0-5715-4FEDE5A62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an Effect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C923F-4A73-49B8-5C29-ACC71E401140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0D2F0-D27B-EA3E-4C97-BCF8A751AC28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013C81-6BB3-B8C1-76CF-AB318556C875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Welcome component:</a:t>
            </a:r>
          </a:p>
          <a:p>
            <a:pPr lvl="1"/>
            <a:r>
              <a:rPr lang="en-US" dirty="0"/>
              <a:t>Utilize </a:t>
            </a:r>
            <a:r>
              <a:rPr lang="en-US" dirty="0" err="1"/>
              <a:t>useEffect</a:t>
            </a:r>
            <a:r>
              <a:rPr lang="en-US" dirty="0"/>
              <a:t> to display a joke under the text ‘Welcome’ </a:t>
            </a:r>
          </a:p>
        </p:txBody>
      </p:sp>
    </p:spTree>
    <p:extLst>
      <p:ext uri="{BB962C8B-B14F-4D97-AF65-F5344CB8AC3E}">
        <p14:creationId xmlns:p14="http://schemas.microsoft.com/office/powerpoint/2010/main" val="26185460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FEB54B-0B04-6A31-FFEB-138BA02C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0B92-43A0-71C9-E4F1-F99B9CCF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Implement Dark Mode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0F05-7243-C409-3024-BECC96F12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3269"/>
            <a:ext cx="5317584" cy="1681246"/>
          </a:xfrm>
        </p:spPr>
        <p:txBody>
          <a:bodyPr/>
          <a:lstStyle/>
          <a:p>
            <a:r>
              <a:rPr lang="en-US" dirty="0"/>
              <a:t>Implement a </a:t>
            </a:r>
            <a:r>
              <a:rPr lang="en-US" dirty="0" err="1"/>
              <a:t>darkmode</a:t>
            </a:r>
            <a:r>
              <a:rPr lang="en-US" dirty="0"/>
              <a:t> feature using </a:t>
            </a:r>
            <a:r>
              <a:rPr lang="en-US" dirty="0" err="1"/>
              <a:t>useContext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4BDF25-4283-E54F-6FDA-60057A6BB539}"/>
              </a:ext>
            </a:extLst>
          </p:cNvPr>
          <p:cNvSpPr txBox="1"/>
          <p:nvPr/>
        </p:nvSpPr>
        <p:spPr>
          <a:xfrm>
            <a:off x="1228165" y="189009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95A56-F9AD-400C-9999-AE124E65AED3}"/>
              </a:ext>
            </a:extLst>
          </p:cNvPr>
          <p:cNvSpPr txBox="1"/>
          <p:nvPr/>
        </p:nvSpPr>
        <p:spPr>
          <a:xfrm>
            <a:off x="6676991" y="1890091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A1BDEE-BA0A-757B-724F-4ADED0862BFD}"/>
              </a:ext>
            </a:extLst>
          </p:cNvPr>
          <p:cNvSpPr txBox="1">
            <a:spLocks/>
          </p:cNvSpPr>
          <p:nvPr/>
        </p:nvSpPr>
        <p:spPr>
          <a:xfrm>
            <a:off x="5898776" y="1709549"/>
            <a:ext cx="5875227" cy="367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App, Welcome, and </a:t>
            </a:r>
            <a:r>
              <a:rPr lang="en-US" dirty="0" err="1"/>
              <a:t>IncidentList</a:t>
            </a:r>
            <a:r>
              <a:rPr lang="en-US" dirty="0"/>
              <a:t> </a:t>
            </a:r>
          </a:p>
          <a:p>
            <a:r>
              <a:rPr lang="en-US" dirty="0"/>
              <a:t>You should ‘publish’ your command to toggle dark mode from your ‘App’ component </a:t>
            </a:r>
          </a:p>
          <a:p>
            <a:r>
              <a:rPr lang="en-US" dirty="0"/>
              <a:t>Both the Welcome &amp; </a:t>
            </a:r>
            <a:r>
              <a:rPr lang="en-US" dirty="0" err="1"/>
              <a:t>IncidentList</a:t>
            </a:r>
            <a:r>
              <a:rPr lang="en-US" dirty="0"/>
              <a:t> components should change their style to reflect </a:t>
            </a:r>
            <a:r>
              <a:rPr lang="en-US" dirty="0" err="1"/>
              <a:t>darkmode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C6353-03FF-5595-6E37-4247F78C1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868" y="4598578"/>
            <a:ext cx="7286488" cy="10684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201E34-E2BA-5A40-378B-CEF890C456F1}"/>
              </a:ext>
            </a:extLst>
          </p:cNvPr>
          <p:cNvSpPr txBox="1"/>
          <p:nvPr/>
        </p:nvSpPr>
        <p:spPr>
          <a:xfrm rot="19946307">
            <a:off x="15408" y="4256629"/>
            <a:ext cx="3386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Don’t forget about callback props!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C57B57-F363-FCE8-64C0-6566BED2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634" y="5719840"/>
            <a:ext cx="7664957" cy="108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569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29711</TotalTime>
  <Words>3784</Words>
  <Application>Microsoft Office PowerPoint</Application>
  <PresentationFormat>Widescreen</PresentationFormat>
  <Paragraphs>428</Paragraphs>
  <Slides>84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8" baseType="lpstr">
      <vt:lpstr>Gill Sans MT</vt:lpstr>
      <vt:lpstr>Wingdings</vt:lpstr>
      <vt:lpstr>Wingdings 2</vt:lpstr>
      <vt:lpstr>Dividend</vt:lpstr>
      <vt:lpstr>TypeScript &amp; React</vt:lpstr>
      <vt:lpstr>TypeScript</vt:lpstr>
      <vt:lpstr>Typescript – Intro Commands</vt:lpstr>
      <vt:lpstr>TypeScript</vt:lpstr>
      <vt:lpstr>TypeScript – Objects &amp; Interfaces</vt:lpstr>
      <vt:lpstr>TypeScript – Definition Files</vt:lpstr>
      <vt:lpstr>Typescript – Type Aliases &amp; Type Unions</vt:lpstr>
      <vt:lpstr>Typescript Classes</vt:lpstr>
      <vt:lpstr>Typescript – Generic Types</vt:lpstr>
      <vt:lpstr>Typescript - Enum</vt:lpstr>
      <vt:lpstr>What is React?</vt:lpstr>
      <vt:lpstr>How Does React Work?</vt:lpstr>
      <vt:lpstr>What we Need</vt:lpstr>
      <vt:lpstr>Challenge – Create Your First App</vt:lpstr>
      <vt:lpstr>React Project Structure</vt:lpstr>
      <vt:lpstr>What is a React Component?</vt:lpstr>
      <vt:lpstr>Project Organization &amp; Component Nesting</vt:lpstr>
      <vt:lpstr>Challenge – Create Your First React component</vt:lpstr>
      <vt:lpstr>What is JSX?</vt:lpstr>
      <vt:lpstr>What Is JSX?</vt:lpstr>
      <vt:lpstr>Remove The Default Styling</vt:lpstr>
      <vt:lpstr>Styling Our Components</vt:lpstr>
      <vt:lpstr>CSS Modules</vt:lpstr>
      <vt:lpstr>Challenge – Modify the header</vt:lpstr>
      <vt:lpstr>Props</vt:lpstr>
      <vt:lpstr>Destructuring Props</vt:lpstr>
      <vt:lpstr>What Are Hooks?</vt:lpstr>
      <vt:lpstr>Keeping State</vt:lpstr>
      <vt:lpstr>Effect</vt:lpstr>
      <vt:lpstr>Async Code with Effects</vt:lpstr>
      <vt:lpstr>Effect Optimization</vt:lpstr>
      <vt:lpstr>Storing Api Keys</vt:lpstr>
      <vt:lpstr>Challenge – View an Incident</vt:lpstr>
      <vt:lpstr>Lists</vt:lpstr>
      <vt:lpstr>Challenge – View All the incidents</vt:lpstr>
      <vt:lpstr>What Is Material UI?</vt:lpstr>
      <vt:lpstr>Setup Material UI</vt:lpstr>
      <vt:lpstr>Using Material UI Components</vt:lpstr>
      <vt:lpstr>No, Seriously, Use the Documentation</vt:lpstr>
      <vt:lpstr>Material UI Heavy Hitters</vt:lpstr>
      <vt:lpstr>Material UI Heavy Hitters</vt:lpstr>
      <vt:lpstr>Challenge – Use Material UI</vt:lpstr>
      <vt:lpstr>Adding HTTPS Support In development</vt:lpstr>
      <vt:lpstr>Axios</vt:lpstr>
      <vt:lpstr>Other Types of Requests</vt:lpstr>
      <vt:lpstr>Challenge – Use Axios</vt:lpstr>
      <vt:lpstr>Conditional Rendering</vt:lpstr>
      <vt:lpstr>Firing Events</vt:lpstr>
      <vt:lpstr>Challenge – Create Basic App Navigation</vt:lpstr>
      <vt:lpstr>Callback Props</vt:lpstr>
      <vt:lpstr>React Query / Tanstack Query</vt:lpstr>
      <vt:lpstr>What we are doing now</vt:lpstr>
      <vt:lpstr>Tanstack Query</vt:lpstr>
      <vt:lpstr>Tanstack Setup</vt:lpstr>
      <vt:lpstr>Tanstack Query &amp; Custom Hook</vt:lpstr>
      <vt:lpstr>Axios Interceptor</vt:lpstr>
      <vt:lpstr>custom hook using tanstack</vt:lpstr>
      <vt:lpstr>FormData</vt:lpstr>
      <vt:lpstr>Calling our query and mutation functions </vt:lpstr>
      <vt:lpstr>Challenge – Add Incident Records</vt:lpstr>
      <vt:lpstr>Challenge – Delete Incidents</vt:lpstr>
      <vt:lpstr>Sharing Component Data / Lifting Up State</vt:lpstr>
      <vt:lpstr>Sharing Component Data / Lifting Up State</vt:lpstr>
      <vt:lpstr>Reducer</vt:lpstr>
      <vt:lpstr>Context</vt:lpstr>
      <vt:lpstr>Publishing Context</vt:lpstr>
      <vt:lpstr>Subscribing To Context</vt:lpstr>
      <vt:lpstr>MVC</vt:lpstr>
      <vt:lpstr>What is React Router? What is Deep linking?</vt:lpstr>
      <vt:lpstr>React Router Setup</vt:lpstr>
      <vt:lpstr>Routing</vt:lpstr>
      <vt:lpstr>Calendars</vt:lpstr>
      <vt:lpstr>Material UI Themes</vt:lpstr>
      <vt:lpstr>Calling Identity endpoints with tanstack</vt:lpstr>
      <vt:lpstr>Conditionally Making queries</vt:lpstr>
      <vt:lpstr>Private Routes</vt:lpstr>
      <vt:lpstr>Login form redirect</vt:lpstr>
      <vt:lpstr>Challenge – Implement Routing</vt:lpstr>
      <vt:lpstr>Deleting Items From Lists</vt:lpstr>
      <vt:lpstr>onCHange &amp; Object State Updates</vt:lpstr>
      <vt:lpstr>Challenge – Lift Up Incident List State</vt:lpstr>
      <vt:lpstr>Challenge – Refactor</vt:lpstr>
      <vt:lpstr>Challenge – Create an Effect</vt:lpstr>
      <vt:lpstr>Challenge – Implement Dark Mode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606</cp:revision>
  <dcterms:created xsi:type="dcterms:W3CDTF">2025-02-12T19:53:45Z</dcterms:created>
  <dcterms:modified xsi:type="dcterms:W3CDTF">2026-06-03T18:35:42Z</dcterms:modified>
</cp:coreProperties>
</file>