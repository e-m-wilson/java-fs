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46" r:id="rId3"/>
    <p:sldId id="263" r:id="rId4"/>
    <p:sldId id="264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767D-9794-541A-3195-1CF4492B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MPA vs SPA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3475F-E790-9AAC-4210-92A9275F3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 </a:t>
            </a:r>
            <a:r>
              <a:rPr lang="en-US" b="1" dirty="0"/>
              <a:t>Single-Page Application</a:t>
            </a:r>
            <a:r>
              <a:rPr lang="en-US" dirty="0"/>
              <a:t> is a web application that loads </a:t>
            </a:r>
            <a:r>
              <a:rPr lang="en-US" b="1" dirty="0"/>
              <a:t>one main HTML page</a:t>
            </a:r>
            <a:r>
              <a:rPr lang="en-US" dirty="0"/>
              <a:t> and dynamically updates its content as the user interacts with it, without fully reloading the page.</a:t>
            </a:r>
          </a:p>
          <a:p>
            <a:pPr lvl="1"/>
            <a:r>
              <a:rPr lang="en-US" b="1" dirty="0"/>
              <a:t>How it works:</a:t>
            </a:r>
            <a:endParaRPr lang="en-US" dirty="0"/>
          </a:p>
          <a:p>
            <a:pPr lvl="1"/>
            <a:r>
              <a:rPr lang="en-US" dirty="0"/>
              <a:t>The browser initially loads the application.</a:t>
            </a:r>
          </a:p>
          <a:p>
            <a:pPr lvl="1"/>
            <a:r>
              <a:rPr lang="en-US" dirty="0"/>
              <a:t>JavaScript retrieves and displays new data as needed.</a:t>
            </a:r>
          </a:p>
          <a:p>
            <a:pPr lvl="1"/>
            <a:r>
              <a:rPr lang="en-US" dirty="0"/>
              <a:t>Navigation usually happens without a complete page refresh.</a:t>
            </a:r>
          </a:p>
          <a:p>
            <a:pPr lvl="1"/>
            <a:r>
              <a:rPr lang="en-US" dirty="0"/>
              <a:t>Frameworks such as React, Angular, and Vue are commonly used.</a:t>
            </a:r>
          </a:p>
          <a:p>
            <a:r>
              <a:rPr lang="en-US" dirty="0"/>
              <a:t>A </a:t>
            </a:r>
            <a:r>
              <a:rPr lang="en-US" b="1" dirty="0"/>
              <a:t>Multi-Page Application</a:t>
            </a:r>
            <a:r>
              <a:rPr lang="en-US" dirty="0"/>
              <a:t> is a web application consisting of </a:t>
            </a:r>
            <a:r>
              <a:rPr lang="en-US" b="1" dirty="0"/>
              <a:t>multiple HTML pages</a:t>
            </a:r>
            <a:r>
              <a:rPr lang="en-US" dirty="0"/>
              <a:t>. When the user navigates to a different section, the browser generally requests a new page from the server and reloads the document.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627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A80A3-4D51-B75A-C30A-4DD6B5B6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7102-C53B-06A8-A207-E1506722E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NPM</a:t>
            </a:r>
          </a:p>
          <a:p>
            <a:r>
              <a:rPr lang="en-US" dirty="0" err="1"/>
              <a:t>npm</a:t>
            </a:r>
            <a:r>
              <a:rPr lang="en-US" dirty="0"/>
              <a:t> install -g </a:t>
            </a:r>
            <a:r>
              <a:rPr lang="en-US" dirty="0" err="1"/>
              <a:t>npm@latest</a:t>
            </a:r>
            <a:endParaRPr lang="en-US" dirty="0"/>
          </a:p>
          <a:p>
            <a:r>
              <a:rPr lang="en-US" dirty="0"/>
              <a:t>ng new my-angular-app</a:t>
            </a:r>
          </a:p>
          <a:p>
            <a:r>
              <a:rPr lang="en-US" dirty="0"/>
              <a:t>cd my-angular-app</a:t>
            </a:r>
          </a:p>
          <a:p>
            <a:r>
              <a:rPr lang="en-US" dirty="0" err="1"/>
              <a:t>npm</a:t>
            </a:r>
            <a:r>
              <a:rPr lang="en-US" dirty="0"/>
              <a:t> run start</a:t>
            </a:r>
          </a:p>
          <a:p>
            <a:r>
              <a:rPr lang="en-US" dirty="0"/>
              <a:t>Generating components (always us camelCase when generating components):</a:t>
            </a:r>
          </a:p>
          <a:p>
            <a:pPr lvl="1"/>
            <a:r>
              <a:rPr lang="en-US" dirty="0"/>
              <a:t>Within app folder: ng generate component </a:t>
            </a:r>
            <a:r>
              <a:rPr lang="en-US" dirty="0" err="1"/>
              <a:t>componentName</a:t>
            </a:r>
            <a:endParaRPr lang="en-US" dirty="0"/>
          </a:p>
          <a:p>
            <a:pPr lvl="1"/>
            <a:r>
              <a:rPr lang="en-US" dirty="0"/>
              <a:t>Nested within app folder: ng generate component nested/</a:t>
            </a:r>
            <a:r>
              <a:rPr lang="en-US" dirty="0" err="1"/>
              <a:t>componentName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42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9BE7C-EA47-D5AD-C0FD-D8DB5CC4B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E42B9-BACC-C8EC-4F59-D408A375B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10795644" cy="3678303"/>
          </a:xfrm>
        </p:spPr>
        <p:txBody>
          <a:bodyPr/>
          <a:lstStyle/>
          <a:p>
            <a:r>
              <a:rPr lang="en-US" dirty="0"/>
              <a:t>In </a:t>
            </a:r>
            <a:r>
              <a:rPr lang="en-US" b="1" dirty="0"/>
              <a:t>Angular</a:t>
            </a:r>
            <a:r>
              <a:rPr lang="en-US" dirty="0"/>
              <a:t>, a </a:t>
            </a:r>
            <a:r>
              <a:rPr lang="en-US" b="1" dirty="0"/>
              <a:t>component</a:t>
            </a:r>
            <a:r>
              <a:rPr lang="en-US" dirty="0"/>
              <a:t> is a building block of an application that controls a specific part of the </a:t>
            </a:r>
            <a:r>
              <a:rPr lang="en-US" b="1" dirty="0"/>
              <a:t>user interface (UI)</a:t>
            </a:r>
            <a:r>
              <a:rPr lang="en-US" dirty="0"/>
              <a:t>.</a:t>
            </a:r>
          </a:p>
          <a:p>
            <a:r>
              <a:rPr lang="en-US" dirty="0"/>
              <a:t>A component typically consists of three main things:</a:t>
            </a:r>
          </a:p>
          <a:p>
            <a:pPr lvl="1"/>
            <a:r>
              <a:rPr lang="en-US" b="1" dirty="0"/>
              <a:t>HTML template</a:t>
            </a:r>
            <a:r>
              <a:rPr lang="en-US" dirty="0"/>
              <a:t> — defines what appears on the screen.</a:t>
            </a:r>
          </a:p>
          <a:p>
            <a:pPr lvl="1"/>
            <a:r>
              <a:rPr lang="en-US" b="1" dirty="0"/>
              <a:t>TypeScript class</a:t>
            </a:r>
            <a:r>
              <a:rPr lang="en-US" dirty="0"/>
              <a:t> — contains the component's data and behavior.</a:t>
            </a:r>
          </a:p>
          <a:p>
            <a:pPr lvl="1"/>
            <a:r>
              <a:rPr lang="en-US" b="1" dirty="0"/>
              <a:t>CSS styles</a:t>
            </a:r>
            <a:r>
              <a:rPr lang="en-US" dirty="0"/>
              <a:t> — defines how the component looks.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167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5337-3DBD-A5F3-DCA6-40FDE9B7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3574E-3EA3-202D-C0E5-E13B8B847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128492" cy="4337262"/>
          </a:xfrm>
        </p:spPr>
        <p:txBody>
          <a:bodyPr/>
          <a:lstStyle/>
          <a:p>
            <a:r>
              <a:rPr lang="en-US" dirty="0"/>
              <a:t>Selector – determines how we can reference the component inside other components</a:t>
            </a:r>
          </a:p>
          <a:p>
            <a:pPr lvl="1"/>
            <a:r>
              <a:rPr lang="en-US" dirty="0"/>
              <a:t>E.g. &lt;app-user&gt;&lt;/app-user&gt;</a:t>
            </a:r>
          </a:p>
          <a:p>
            <a:r>
              <a:rPr lang="en-US" dirty="0"/>
              <a:t>Template – the markup for the component </a:t>
            </a:r>
          </a:p>
          <a:p>
            <a:pPr lvl="1"/>
            <a:r>
              <a:rPr lang="en-US" dirty="0"/>
              <a:t>More commonly, we may use </a:t>
            </a:r>
            <a:r>
              <a:rPr lang="en-US" dirty="0" err="1"/>
              <a:t>templateUrl</a:t>
            </a:r>
            <a:r>
              <a:rPr lang="en-US" dirty="0"/>
              <a:t> instead to point to a separate template file</a:t>
            </a:r>
          </a:p>
          <a:p>
            <a:r>
              <a:rPr lang="en-US" dirty="0"/>
              <a:t>Styles – </a:t>
            </a:r>
            <a:r>
              <a:rPr lang="en-US" dirty="0" err="1"/>
              <a:t>css</a:t>
            </a:r>
            <a:r>
              <a:rPr lang="en-US" dirty="0"/>
              <a:t> for the component </a:t>
            </a:r>
          </a:p>
          <a:p>
            <a:pPr lvl="1"/>
            <a:r>
              <a:rPr lang="en-US" dirty="0"/>
              <a:t>More commonly, we may use </a:t>
            </a:r>
            <a:r>
              <a:rPr lang="en-US" dirty="0" err="1"/>
              <a:t>styleUrl</a:t>
            </a:r>
            <a:r>
              <a:rPr lang="en-US" dirty="0"/>
              <a:t> instead to point to a separate CSS stylesheet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F63B3-4293-4BE3-6C9B-133B9EE1E0DA}"/>
              </a:ext>
            </a:extLst>
          </p:cNvPr>
          <p:cNvSpPr txBox="1"/>
          <p:nvPr/>
        </p:nvSpPr>
        <p:spPr>
          <a:xfrm>
            <a:off x="6206756" y="2180496"/>
            <a:ext cx="502122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import { Component } from '@angular/core';</a:t>
            </a:r>
          </a:p>
          <a:p>
            <a:pPr indent="0" algn="l">
              <a:buNone/>
            </a:pPr>
            <a:endParaRPr lang="en-US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@Component({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selector: 'app-user',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template: `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&lt;h1&gt;Hello, {{ name }}!&lt;/h1&gt;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&lt;button (click)="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changeName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()"&gt;Change Name&lt;/button&gt;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`,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styles: [`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h1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  color: blue;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}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`]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})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export class 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UserComponent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name = 'John';</a:t>
            </a:r>
          </a:p>
          <a:p>
            <a:pPr indent="0" algn="l">
              <a:buNone/>
            </a:pPr>
            <a:endParaRPr lang="en-US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changeName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()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this.name = 'Jane';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05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029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B6404-B61A-438C-DD48-BC4201AA0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look at angular components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49DF-370B-D363-14E1-78B3B39E7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96863" cy="40820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Here we are using separate files for the template and CSS </a:t>
            </a:r>
          </a:p>
          <a:p>
            <a:r>
              <a:rPr lang="en-US" dirty="0"/>
              <a:t>We are also including ‘</a:t>
            </a:r>
            <a:r>
              <a:rPr lang="en-US" dirty="0" err="1"/>
              <a:t>StudentCard</a:t>
            </a:r>
            <a:r>
              <a:rPr lang="en-US" dirty="0"/>
              <a:t>’ – another component</a:t>
            </a:r>
          </a:p>
          <a:p>
            <a:pPr lvl="1"/>
            <a:r>
              <a:rPr lang="en-US" dirty="0"/>
              <a:t>Note that if we want to use one component inside another, we must import a reference to it in the parent component </a:t>
            </a:r>
          </a:p>
          <a:p>
            <a:r>
              <a:rPr lang="en-US" dirty="0">
                <a:solidFill>
                  <a:schemeClr val="accent2"/>
                </a:solidFill>
              </a:rPr>
              <a:t>Component Composition </a:t>
            </a:r>
            <a:r>
              <a:rPr lang="en-US" dirty="0"/>
              <a:t>– the term we use to describe how components are nested and structured to compose our application</a:t>
            </a:r>
          </a:p>
          <a:p>
            <a:r>
              <a:rPr lang="en-US" dirty="0"/>
              <a:t>Inside the class, we will have functions and variables that may be referenced in the component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B1254F-0C70-81C1-C8F6-28C28886E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41885"/>
            <a:ext cx="4797223" cy="412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6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3E84A-5181-C0EA-E47E-CA174DCF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393A-121B-B157-BD42-D85FEC334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We use interfaces to define custom datatypes we’d like to use in our app</a:t>
            </a:r>
          </a:p>
          <a:p>
            <a:r>
              <a:rPr lang="en-US" dirty="0"/>
              <a:t>You may have noticed ‘Student’ in our last example – that is an interface</a:t>
            </a:r>
          </a:p>
          <a:p>
            <a:r>
              <a:rPr lang="en-US" dirty="0"/>
              <a:t>To generate: </a:t>
            </a:r>
            <a:r>
              <a:rPr lang="en-US" dirty="0" err="1"/>
              <a:t>npm</a:t>
            </a:r>
            <a:r>
              <a:rPr lang="en-US" dirty="0"/>
              <a:t> run ng generate interface Student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DA48A-BE56-3D39-5F0F-29D3C8AD3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646" y="2849005"/>
            <a:ext cx="3200847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74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472C9-61E4-C4E3-919F-F23D59237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Student card &amp; Component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1C8A6-8B5E-6588-70A1-CEFB5B906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50184" cy="408208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{{ student().name }} – this is </a:t>
            </a:r>
            <a:r>
              <a:rPr lang="en-US" dirty="0">
                <a:solidFill>
                  <a:schemeClr val="accent2"/>
                </a:solidFill>
              </a:rPr>
              <a:t>interpolation</a:t>
            </a:r>
          </a:p>
          <a:p>
            <a:r>
              <a:rPr lang="en-US" dirty="0">
                <a:solidFill>
                  <a:schemeClr val="accent2"/>
                </a:solidFill>
              </a:rPr>
              <a:t>Interpolation </a:t>
            </a:r>
            <a:r>
              <a:rPr lang="en-US" dirty="0">
                <a:solidFill>
                  <a:schemeClr val="tx1"/>
                </a:solidFill>
              </a:rPr>
              <a:t>– is the process of reading data from component logic, i.e. the </a:t>
            </a:r>
            <a:r>
              <a:rPr lang="en-US" dirty="0" err="1">
                <a:solidFill>
                  <a:schemeClr val="tx1"/>
                </a:solidFill>
              </a:rPr>
              <a:t>ts</a:t>
            </a:r>
            <a:r>
              <a:rPr lang="en-US" dirty="0">
                <a:solidFill>
                  <a:schemeClr val="tx1"/>
                </a:solidFill>
              </a:rPr>
              <a:t> file </a:t>
            </a:r>
          </a:p>
          <a:p>
            <a:r>
              <a:rPr lang="en-US" dirty="0">
                <a:solidFill>
                  <a:schemeClr val="tx1"/>
                </a:solidFill>
              </a:rPr>
              <a:t>Since the data is coming from an input, we use ‘signal’ syntax, i.e. ‘student()’ (more on signal later)</a:t>
            </a:r>
          </a:p>
          <a:p>
            <a:r>
              <a:rPr lang="en-US" dirty="0">
                <a:solidFill>
                  <a:schemeClr val="tx1"/>
                </a:solidFill>
              </a:rPr>
              <a:t>Regular properties may be called directly, i.e. ‘</a:t>
            </a:r>
            <a:r>
              <a:rPr lang="en-US" dirty="0" err="1">
                <a:solidFill>
                  <a:schemeClr val="tx1"/>
                </a:solidFill>
              </a:rPr>
              <a:t>regularProp</a:t>
            </a:r>
            <a:r>
              <a:rPr lang="en-US" dirty="0">
                <a:solidFill>
                  <a:schemeClr val="tx1"/>
                </a:solidFill>
              </a:rPr>
              <a:t>’</a:t>
            </a:r>
          </a:p>
          <a:p>
            <a:r>
              <a:rPr lang="en-US" dirty="0">
                <a:solidFill>
                  <a:schemeClr val="tx1"/>
                </a:solidFill>
              </a:rPr>
              <a:t>Input – allows us to take in data from a parent component</a:t>
            </a:r>
          </a:p>
          <a:p>
            <a:r>
              <a:rPr lang="en-US" dirty="0">
                <a:solidFill>
                  <a:schemeClr val="tx1"/>
                </a:solidFill>
              </a:rPr>
              <a:t>Output – allows us to emit data to a parent component 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AB20F-FD37-DB58-7AB4-C948FB4B89C3}"/>
              </a:ext>
            </a:extLst>
          </p:cNvPr>
          <p:cNvSpPr txBox="1"/>
          <p:nvPr/>
        </p:nvSpPr>
        <p:spPr>
          <a:xfrm>
            <a:off x="5231941" y="1796852"/>
            <a:ext cx="2565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Template (html file):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B7298-959A-37BE-64D7-2386C76050FC}"/>
              </a:ext>
            </a:extLst>
          </p:cNvPr>
          <p:cNvSpPr txBox="1"/>
          <p:nvPr/>
        </p:nvSpPr>
        <p:spPr>
          <a:xfrm flipH="1">
            <a:off x="5231941" y="3059668"/>
            <a:ext cx="2194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StudentCard</a:t>
            </a:r>
            <a:r>
              <a:rPr lang="en-US" dirty="0"/>
              <a:t> </a:t>
            </a:r>
            <a:r>
              <a:rPr lang="en-US" dirty="0" err="1"/>
              <a:t>ts</a:t>
            </a:r>
            <a:r>
              <a:rPr lang="en-US" dirty="0"/>
              <a:t> file: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B497D4-E6B0-78DB-F63A-3611159E9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941" y="2166184"/>
            <a:ext cx="5308096" cy="9289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0547ED-37BD-342A-2A7B-1ACAB99C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021" y="3429000"/>
            <a:ext cx="3969935" cy="342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57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D123-2065-07F5-E05C-458EABA44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component &amp; component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51B84-04D9-2F57-A75B-56F466FA2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202380" cy="18214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[student]=“student” – this is </a:t>
            </a:r>
            <a:r>
              <a:rPr lang="en-US" dirty="0">
                <a:solidFill>
                  <a:schemeClr val="accent2"/>
                </a:solidFill>
              </a:rPr>
              <a:t>property binding</a:t>
            </a:r>
            <a:r>
              <a:rPr lang="en-US" dirty="0"/>
              <a:t>, it is passing the value of student down to the input expected in the child component </a:t>
            </a:r>
          </a:p>
          <a:p>
            <a:r>
              <a:rPr lang="en-US" dirty="0"/>
              <a:t>(selected)=“</a:t>
            </a:r>
            <a:r>
              <a:rPr lang="en-US" dirty="0" err="1"/>
              <a:t>onStudentSelected</a:t>
            </a:r>
            <a:r>
              <a:rPr lang="en-US" dirty="0"/>
              <a:t>” – this is </a:t>
            </a:r>
            <a:r>
              <a:rPr lang="en-US" dirty="0">
                <a:solidFill>
                  <a:schemeClr val="accent2"/>
                </a:solidFill>
              </a:rPr>
              <a:t>event binding</a:t>
            </a:r>
            <a:r>
              <a:rPr lang="en-US" dirty="0"/>
              <a:t>, it is listening for the ‘selected’ even emitted in the child component</a:t>
            </a:r>
          </a:p>
          <a:p>
            <a:r>
              <a:rPr lang="en-US" dirty="0"/>
              <a:t>@if – control flow block for conditional rendering</a:t>
            </a:r>
          </a:p>
          <a:p>
            <a:r>
              <a:rPr lang="en-US" dirty="0"/>
              <a:t>@for – control flow block for iteration; important to use ‘track’ on unique elements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87A6A8-04F5-D0EE-6682-B7E181B0A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678" y="4353580"/>
            <a:ext cx="3949959" cy="2323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D60E2D-68E0-4BFF-44AF-7AB006145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550" y="2180497"/>
            <a:ext cx="3991772" cy="45028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A2AD0E-D72D-6352-EEF4-BB0F566647B7}"/>
              </a:ext>
            </a:extLst>
          </p:cNvPr>
          <p:cNvSpPr txBox="1"/>
          <p:nvPr/>
        </p:nvSpPr>
        <p:spPr>
          <a:xfrm>
            <a:off x="1710047" y="400198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Home.html: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8B7BBF-84FD-9B4E-BFAA-FB5B0E02C966}"/>
              </a:ext>
            </a:extLst>
          </p:cNvPr>
          <p:cNvSpPr txBox="1"/>
          <p:nvPr/>
        </p:nvSpPr>
        <p:spPr>
          <a:xfrm>
            <a:off x="6982550" y="1811165"/>
            <a:ext cx="1040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Home.ts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11382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4EE9-0B13-5029-2811-088A0D6F7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Control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967E8-7177-0710-E314-884EA6C833F4}"/>
              </a:ext>
            </a:extLst>
          </p:cNvPr>
          <p:cNvSpPr txBox="1"/>
          <p:nvPr/>
        </p:nvSpPr>
        <p:spPr>
          <a:xfrm>
            <a:off x="581192" y="2150332"/>
            <a:ext cx="609777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1. @if — conditional rendering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&lt;p&gt;Welcome!&lt;/p&gt;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&lt;p&gt;Please log in.&lt;/p&gt;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indent="0" algn="l">
              <a:buNone/>
            </a:pPr>
            <a:endParaRPr lang="en-US" dirty="0"/>
          </a:p>
          <a:p>
            <a:pPr indent="0" algn="l"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if / else if / else</a:t>
            </a: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@if (user)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&lt;p&gt;{{ user.name }}&lt;/p&gt;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if (loading)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&lt;p&gt;Loading...&lt;/p&gt;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&lt;p&gt;No user found.&lt;/p&gt;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61BC42-5112-8254-76C6-3ACFD62709E5}"/>
              </a:ext>
            </a:extLst>
          </p:cNvPr>
          <p:cNvSpPr txBox="1"/>
          <p:nvPr/>
        </p:nvSpPr>
        <p:spPr>
          <a:xfrm>
            <a:off x="6096000" y="2523023"/>
            <a:ext cx="60977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2. @for — looping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@for (user of users; track user.id)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&lt;p&gt;{{ user.name }}&lt;/p&gt;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indent="0" algn="l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for each item in a collection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You'll commonly see:</a:t>
            </a:r>
          </a:p>
          <a:p>
            <a:pPr indent="0" algn="l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@for (item of items; track item.id)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{{ item.name }}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@empty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&lt;p&gt;No items found.&lt;/p&gt;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936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F5527-7CFD-5F94-6B4E-238402F4D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control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DB9EDB-527F-8E6E-CACB-E7BB88818AAF}"/>
              </a:ext>
            </a:extLst>
          </p:cNvPr>
          <p:cNvSpPr txBox="1"/>
          <p:nvPr/>
        </p:nvSpPr>
        <p:spPr>
          <a:xfrm>
            <a:off x="4611872" y="2249660"/>
            <a:ext cx="60977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@switch (status)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('loading')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&lt;p&gt;Loading...&lt;/p&gt;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('success')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&lt;p&gt;Success!&lt;/p&gt;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('error')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&lt;p&gt;Error!&lt;/p&gt;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@default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&lt;p&gt;Unknown status&lt;/p&gt;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845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Challenge – components, control flow, &amp;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Delete students from the student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25334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use our previous examples to build off of</a:t>
            </a:r>
          </a:p>
          <a:p>
            <a:r>
              <a:rPr lang="en-US" dirty="0"/>
              <a:t>Instead of a ‘Select’ button, use a ‘Delete’ button instead on the student card</a:t>
            </a:r>
          </a:p>
          <a:p>
            <a:r>
              <a:rPr lang="en-US" dirty="0"/>
              <a:t>If no students are in the list, then print to the page: ‘No students found…’</a:t>
            </a:r>
          </a:p>
          <a:p>
            <a:r>
              <a:rPr lang="en-US" dirty="0"/>
              <a:t>Hint: use the standard JavaScript filter() method to help remove items from the list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27A20E-6D1E-E6A8-E8A0-859EC9537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31" y="3890007"/>
            <a:ext cx="1498453" cy="25708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0F8269-74F2-5714-0FD6-366D878FD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984" y="4914955"/>
            <a:ext cx="2162477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475</TotalTime>
  <Words>1040</Words>
  <Application>Microsoft Office PowerPoint</Application>
  <PresentationFormat>Widescreen</PresentationFormat>
  <Paragraphs>130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Courier New</vt:lpstr>
      <vt:lpstr>Gill Sans MT</vt:lpstr>
      <vt:lpstr>Wingdings 2</vt:lpstr>
      <vt:lpstr>Dividend</vt:lpstr>
      <vt:lpstr>Angular</vt:lpstr>
      <vt:lpstr>MPA vs SPA</vt:lpstr>
      <vt:lpstr>Getting started</vt:lpstr>
      <vt:lpstr>What is a component?</vt:lpstr>
      <vt:lpstr>Angular components</vt:lpstr>
      <vt:lpstr>Another look at angular components </vt:lpstr>
      <vt:lpstr>interfaces</vt:lpstr>
      <vt:lpstr>Student card &amp; Component communication</vt:lpstr>
      <vt:lpstr>Home component &amp; component communication</vt:lpstr>
      <vt:lpstr>Angular Control flow</vt:lpstr>
      <vt:lpstr>Angular control flow</vt:lpstr>
      <vt:lpstr>Challenge – components, control flow, &amp; communication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597</cp:revision>
  <dcterms:created xsi:type="dcterms:W3CDTF">2025-02-12T19:53:45Z</dcterms:created>
  <dcterms:modified xsi:type="dcterms:W3CDTF">2026-10-06T18:03:59Z</dcterms:modified>
</cp:coreProperties>
</file>