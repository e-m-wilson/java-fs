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97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62" r:id="rId38"/>
    <p:sldId id="298" r:id="rId39"/>
    <p:sldId id="299" r:id="rId40"/>
    <p:sldId id="300" r:id="rId41"/>
    <p:sldId id="301" r:id="rId42"/>
    <p:sldId id="302" r:id="rId43"/>
    <p:sldId id="303" r:id="rId44"/>
    <p:sldId id="311" r:id="rId45"/>
    <p:sldId id="312" r:id="rId46"/>
    <p:sldId id="313" r:id="rId47"/>
    <p:sldId id="314" r:id="rId48"/>
    <p:sldId id="315" r:id="rId49"/>
    <p:sldId id="316" r:id="rId50"/>
    <p:sldId id="317" r:id="rId51"/>
    <p:sldId id="318" r:id="rId52"/>
    <p:sldId id="304" r:id="rId53"/>
    <p:sldId id="305" r:id="rId54"/>
    <p:sldId id="306" r:id="rId55"/>
    <p:sldId id="307" r:id="rId56"/>
    <p:sldId id="308" r:id="rId57"/>
    <p:sldId id="310" r:id="rId58"/>
    <p:sldId id="309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erocha/chinook-database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Postgres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C72FB-4820-8DCE-13AA-AB3228BE8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A2131-4B0C-623B-D031-3F5006EB8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Relational Databases : Organized data in tables, with row and columns. Usually, some flavor of SQL may be used to query and manipulate the database (e.g. MySQL, PostgreSQL, Oracle)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NoSQL Databases : Designed for handling unstructured, semi-structured, or rapidly changing data. (e.g. MongoDB, Cassandra, Redis)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8121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67575-2CC1-F97D-7BE2-B62076BCB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94D08-379C-28B1-0381-2CF0C3FB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70468"/>
            <a:ext cx="11029615" cy="4887532"/>
          </a:xfrm>
        </p:spPr>
        <p:txBody>
          <a:bodyPr>
            <a:normAutofit fontScale="70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Before install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Check/Enable virtualization in BIOS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Install WSL2 (</a:t>
            </a:r>
            <a:r>
              <a:rPr lang="en-US" dirty="0" err="1">
                <a:solidFill>
                  <a:schemeClr val="tx1"/>
                </a:solidFill>
              </a:rPr>
              <a:t>wsl</a:t>
            </a:r>
            <a:r>
              <a:rPr lang="en-US" dirty="0">
                <a:solidFill>
                  <a:schemeClr val="tx1"/>
                </a:solidFill>
              </a:rPr>
              <a:t> --install)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Reboot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Install Docker Desktop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Run installer </a:t>
            </a:r>
            <a:r>
              <a:rPr lang="en-US" b="1" dirty="0">
                <a:solidFill>
                  <a:schemeClr val="tx1"/>
                </a:solidFill>
              </a:rPr>
              <a:t>as admin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 default settings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After install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Ensure: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Desktop starts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run hello-world works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chemeClr val="tx1"/>
                </a:solidFill>
              </a:rPr>
              <a:t>If it fails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Check: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tx1"/>
                </a:solidFill>
              </a:rPr>
              <a:t>wsl</a:t>
            </a:r>
            <a:r>
              <a:rPr lang="en-US" dirty="0">
                <a:solidFill>
                  <a:schemeClr val="tx1"/>
                </a:solidFill>
              </a:rPr>
              <a:t> -l -v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Docker Desktop running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user in docker-users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Try uninstalling docker desktop first via control panel and restarting if you still have issues. This is the nuclear option: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Remove-Item -Path "C:\ProgramData\DockerDesktop" -Recurse -Force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264AB-F7E6-0C2D-BDD7-D93354B50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9" y="4542484"/>
            <a:ext cx="4698173" cy="8904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48B3DE-AD2C-4334-E78F-418600304229}"/>
              </a:ext>
            </a:extLst>
          </p:cNvPr>
          <p:cNvSpPr txBox="1"/>
          <p:nvPr/>
        </p:nvSpPr>
        <p:spPr>
          <a:xfrm>
            <a:off x="5760660" y="2315516"/>
            <a:ext cx="50335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2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effectLst/>
                <a:latin typeface="Google Sans"/>
              </a:rPr>
              <a:t>is </a:t>
            </a:r>
            <a:r>
              <a:rPr lang="en-US" dirty="0"/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B7D17FE-7899-B791-1150-5C3738432B5D}"/>
              </a:ext>
            </a:extLst>
          </p:cNvPr>
          <p:cNvCxnSpPr>
            <a:cxnSpLocks/>
          </p:cNvCxnSpPr>
          <p:nvPr/>
        </p:nvCxnSpPr>
        <p:spPr>
          <a:xfrm flipV="1">
            <a:off x="2653048" y="5177307"/>
            <a:ext cx="3322749" cy="9401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993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1C0-36BB-6AF4-8765-7EA5849BE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F35D24-439E-1C13-D502-05F6E6D122F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81193" y="2026011"/>
            <a:ext cx="11029615" cy="2416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but for Docker Images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4F5179-704D-BB62-7D70-7780530F4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6" y="4555060"/>
            <a:ext cx="4213123" cy="20862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AA53A4-F586-3968-194E-DC491E9364E6}"/>
              </a:ext>
            </a:extLst>
          </p:cNvPr>
          <p:cNvSpPr txBox="1"/>
          <p:nvPr/>
        </p:nvSpPr>
        <p:spPr>
          <a:xfrm>
            <a:off x="5976627" y="5228842"/>
            <a:ext cx="392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3897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A47E-1D0A-E27B-D449-A03125460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Docker Desktop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8E01D-167C-852A-12E2-3FD1049E6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3170776"/>
            <a:ext cx="11029615" cy="1697438"/>
          </a:xfrm>
        </p:spPr>
        <p:txBody>
          <a:bodyPr/>
          <a:lstStyle/>
          <a:p>
            <a:r>
              <a:rPr lang="en-US" dirty="0"/>
              <a:t>PostgreSQL uses port 5432 by default, here we are just setting the Docker container port to match:</a:t>
            </a:r>
          </a:p>
          <a:p>
            <a:pPr lvl="1"/>
            <a:r>
              <a:rPr lang="en-US" dirty="0"/>
              <a:t>-p &lt;</a:t>
            </a:r>
            <a:r>
              <a:rPr lang="en-US" dirty="0" err="1"/>
              <a:t>host_port</a:t>
            </a:r>
            <a:r>
              <a:rPr lang="en-US" dirty="0"/>
              <a:t>&gt;:&lt;</a:t>
            </a:r>
            <a:r>
              <a:rPr lang="en-US" dirty="0" err="1"/>
              <a:t>container_port</a:t>
            </a:r>
            <a:r>
              <a:rPr lang="en-US" dirty="0"/>
              <a:t>&gt;</a:t>
            </a:r>
          </a:p>
          <a:p>
            <a:pPr lvl="1"/>
            <a:r>
              <a:rPr lang="en-US" dirty="0"/>
              <a:t>Traffic sent through port 5432 on host is forwarded to port 5432 inside the container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488572-934F-6BDB-D5DC-60672AC09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93" y="2252832"/>
            <a:ext cx="10659414" cy="80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6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F9966-8CF0-98E6-C464-74F7DC4AB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setup -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61CA3-1EB6-D809-8288-03287D7BB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83961"/>
          </a:xfrm>
        </p:spPr>
        <p:txBody>
          <a:bodyPr/>
          <a:lstStyle/>
          <a:p>
            <a:r>
              <a:rPr lang="en-US" dirty="0"/>
              <a:t>Tools like </a:t>
            </a:r>
            <a:r>
              <a:rPr lang="en-US" dirty="0" err="1"/>
              <a:t>pgAdmin</a:t>
            </a:r>
            <a:r>
              <a:rPr lang="en-US" dirty="0"/>
              <a:t> and the PostgreSQL VS Code extension, can be used to help manage our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FAD755-2BF6-A153-A37E-21D07D86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39" y="3851466"/>
            <a:ext cx="6025780" cy="16520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7B25FA-4415-7309-F87A-C8C12C6AC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406" y="3483756"/>
            <a:ext cx="5258481" cy="2387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39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7B17-C202-3AEC-1DFC-03D2D0C82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hierarchy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00BAC-36F4-2DAF-BE21-78555CB3E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57589"/>
            <a:ext cx="11029615" cy="4900411"/>
          </a:xfrm>
        </p:spPr>
        <p:txBody>
          <a:bodyPr>
            <a:normAutofit/>
          </a:bodyPr>
          <a:lstStyle/>
          <a:p>
            <a:r>
              <a:rPr lang="en-US" sz="2000" dirty="0"/>
              <a:t>Database – top level container for application’s data </a:t>
            </a:r>
          </a:p>
          <a:p>
            <a:pPr lvl="1"/>
            <a:r>
              <a:rPr lang="en-US" sz="2000" dirty="0"/>
              <a:t>Schema – namespace inside a database</a:t>
            </a:r>
          </a:p>
          <a:p>
            <a:pPr lvl="2"/>
            <a:r>
              <a:rPr lang="en-US" sz="2000" dirty="0"/>
              <a:t>Table – what stores the actual data</a:t>
            </a:r>
          </a:p>
          <a:p>
            <a:pPr lvl="3"/>
            <a:r>
              <a:rPr lang="en-US" sz="2000" dirty="0"/>
              <a:t>Columns – defines the data type</a:t>
            </a:r>
          </a:p>
          <a:p>
            <a:pPr lvl="3"/>
            <a:r>
              <a:rPr lang="en-US" sz="2000" dirty="0"/>
              <a:t>Constraints – puts limits on what data is allowed</a:t>
            </a:r>
          </a:p>
          <a:p>
            <a:pPr lvl="3"/>
            <a:r>
              <a:rPr lang="en-US" sz="2000" dirty="0"/>
              <a:t>Indexes – optimizations that make queries faster</a:t>
            </a:r>
          </a:p>
          <a:p>
            <a:pPr lvl="2"/>
            <a:r>
              <a:rPr lang="en-US" sz="2000" dirty="0"/>
              <a:t>Views – essentially a saved query </a:t>
            </a:r>
          </a:p>
          <a:p>
            <a:pPr lvl="2"/>
            <a:r>
              <a:rPr lang="en-US" sz="2000" dirty="0"/>
              <a:t>Functions – reusable operation that lives in the database</a:t>
            </a:r>
          </a:p>
        </p:txBody>
      </p:sp>
    </p:spTree>
    <p:extLst>
      <p:ext uri="{BB962C8B-B14F-4D97-AF65-F5344CB8AC3E}">
        <p14:creationId xmlns:p14="http://schemas.microsoft.com/office/powerpoint/2010/main" val="244219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EE791-1639-1E54-D4C9-32F398A73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Beginner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623D2-FFF0-A0EB-880C-DB3D090EC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CREATE DATABASE </a:t>
            </a:r>
            <a:r>
              <a:rPr lang="en-US" dirty="0" err="1">
                <a:solidFill>
                  <a:schemeClr val="tx1"/>
                </a:solidFill>
              </a:rPr>
              <a:t>my_app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DROP DATABASE </a:t>
            </a:r>
            <a:r>
              <a:rPr lang="en-US" dirty="0" err="1">
                <a:solidFill>
                  <a:schemeClr val="tx1"/>
                </a:solidFill>
              </a:rPr>
              <a:t>my_app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CREATE SCHEMA billing;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SET search path is the ordered list of schemas </a:t>
            </a:r>
            <a:r>
              <a:rPr lang="en-US" dirty="0" err="1">
                <a:solidFill>
                  <a:schemeClr val="tx1"/>
                </a:solidFill>
              </a:rPr>
              <a:t>psql</a:t>
            </a:r>
            <a:r>
              <a:rPr lang="en-US" dirty="0">
                <a:solidFill>
                  <a:schemeClr val="tx1"/>
                </a:solidFill>
              </a:rPr>
              <a:t> searches when you refer to an object without qualifying it.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I.e. SELECT * FROM Users; &lt;- which user? From what schema?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SELECT * FROM </a:t>
            </a:r>
            <a:r>
              <a:rPr lang="en-US" dirty="0" err="1">
                <a:solidFill>
                  <a:schemeClr val="tx1"/>
                </a:solidFill>
              </a:rPr>
              <a:t>my_schema.users</a:t>
            </a:r>
            <a:r>
              <a:rPr lang="en-US" dirty="0">
                <a:solidFill>
                  <a:schemeClr val="tx1"/>
                </a:solidFill>
              </a:rPr>
              <a:t>; &lt;- You can be explicit.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SET </a:t>
            </a:r>
            <a:r>
              <a:rPr lang="en-US" dirty="0" err="1">
                <a:solidFill>
                  <a:schemeClr val="tx1"/>
                </a:solidFill>
              </a:rPr>
              <a:t>search_path</a:t>
            </a:r>
            <a:r>
              <a:rPr lang="en-US" dirty="0">
                <a:solidFill>
                  <a:schemeClr val="tx1"/>
                </a:solidFill>
              </a:rPr>
              <a:t> TO billing, public;</a:t>
            </a:r>
          </a:p>
        </p:txBody>
      </p:sp>
    </p:spTree>
    <p:extLst>
      <p:ext uri="{BB962C8B-B14F-4D97-AF65-F5344CB8AC3E}">
        <p14:creationId xmlns:p14="http://schemas.microsoft.com/office/powerpoint/2010/main" val="1589906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8B1F0-0BFB-CD40-8EDA-30D2E9C8E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PostgreSQL UUID support &amp; Creating tables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59E943F5-FAF7-2AC7-1049-C394F8C2AE07}"/>
              </a:ext>
            </a:extLst>
          </p:cNvPr>
          <p:cNvSpPr/>
          <p:nvPr/>
        </p:nvSpPr>
        <p:spPr>
          <a:xfrm>
            <a:off x="359909" y="2780661"/>
            <a:ext cx="647604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Modern default:</a:t>
            </a: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EXTENSION IF NOT EXISTS "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pgcrypto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";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7CF87EE-88A1-D0A3-AB6D-C08F8C5DB30C}"/>
              </a:ext>
            </a:extLst>
          </p:cNvPr>
          <p:cNvSpPr/>
          <p:nvPr/>
        </p:nvSpPr>
        <p:spPr>
          <a:xfrm>
            <a:off x="359909" y="3429000"/>
            <a:ext cx="6364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TABLE customers (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UUID PRIMARY KEY DEFAULT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gen_random_uuid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(),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name TEXT NOT NULL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4CAB0836-1CA1-C803-3B1B-900CF6EAC2AF}"/>
              </a:ext>
            </a:extLst>
          </p:cNvPr>
          <p:cNvSpPr/>
          <p:nvPr/>
        </p:nvSpPr>
        <p:spPr>
          <a:xfrm>
            <a:off x="359909" y="4465273"/>
            <a:ext cx="6364800" cy="15989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chemeClr val="accent2"/>
                </a:solidFill>
                <a:latin typeface="Arial"/>
                <a:ea typeface="Arial"/>
              </a:rPr>
              <a:t>Only used if you want a specific UUID version spec:</a:t>
            </a:r>
            <a:endParaRPr lang="en-US" sz="1400" b="0" u="none" strike="noStrike" dirty="0">
              <a:solidFill>
                <a:schemeClr val="accent2"/>
              </a:solidFill>
              <a:effectLst/>
              <a:uFillTx/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EXTENSION IF NOT EXISTS "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uuid-ossp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";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TABLE customers (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 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UUID PRIMARY KEY DEFAULT uuid_generate_v4(),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  name TEXT NOT NULL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5C38E-16BE-E5CC-9C59-0B42480F8D06}"/>
              </a:ext>
            </a:extLst>
          </p:cNvPr>
          <p:cNvSpPr txBox="1"/>
          <p:nvPr/>
        </p:nvSpPr>
        <p:spPr>
          <a:xfrm>
            <a:off x="1553538" y="2023396"/>
            <a:ext cx="9084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You shouldn’t need to manually create/install extensions for modern versions of </a:t>
            </a:r>
            <a:r>
              <a:rPr lang="en-US" dirty="0" err="1"/>
              <a:t>postgres</a:t>
            </a:r>
            <a:r>
              <a:rPr lang="en-US" dirty="0"/>
              <a:t>.</a:t>
            </a: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45B3F040-B7C1-17BF-8BED-0BBB14CF1F06}"/>
              </a:ext>
            </a:extLst>
          </p:cNvPr>
          <p:cNvSpPr/>
          <p:nvPr/>
        </p:nvSpPr>
        <p:spPr>
          <a:xfrm>
            <a:off x="7283621" y="3515704"/>
            <a:ext cx="3354840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SQL Constraints </a:t>
            </a: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specify rules for data in a table. 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 dirty="0">
                <a:solidFill>
                  <a:schemeClr val="accent2"/>
                </a:solidFill>
                <a:effectLst/>
                <a:uFillTx/>
                <a:latin typeface="Arial"/>
                <a:ea typeface="Arial"/>
              </a:rPr>
              <a:t>PRIMARY KEY </a:t>
            </a:r>
            <a:r>
              <a:rPr lang="en-US" sz="1200" b="0" u="none" strike="noStrike" dirty="0">
                <a:effectLst/>
                <a:uFillTx/>
                <a:latin typeface="Arial"/>
                <a:ea typeface="Arial"/>
              </a:rPr>
              <a:t>= combo of ‘NOT NULL’ and ‘UNIQUE’. </a:t>
            </a:r>
            <a:endParaRPr lang="en-US" sz="12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59068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DDE49-C6BF-074F-1875-B80BC65C7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Constraints –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60138-999F-84CA-ED4E-5F853D20B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232842"/>
            <a:ext cx="11029615" cy="367830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NOT NULL – Ensures that a column cannot have a NULL value.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UNIQUE – Ensures that all values in a column are different.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PRIMARY KEY – A combination of a NOT NULL and UNIQUE. Uniquely identifies each row in a table.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FOREIGN KEY – Prevents actions that would destroy links between tables.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CHECK – Ensures that the values in a column satisfies a specific condition.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DEFAULT – Sets a default value for a column if no value is specified. </a:t>
            </a:r>
            <a:endParaRPr lang="en-US" dirty="0">
              <a:solidFill>
                <a:schemeClr val="tx1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CREATE INDEX – Used to create and retrieve data from the database very quickly. 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45603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6839-EDA9-BD47-E561-9F85B3E27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-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B3C84-A9F7-C8FC-13A2-8833EA4227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-- This is a single line comment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/*    This is a multiline comment. */</a:t>
            </a:r>
          </a:p>
        </p:txBody>
      </p:sp>
    </p:spTree>
    <p:extLst>
      <p:ext uri="{BB962C8B-B14F-4D97-AF65-F5344CB8AC3E}">
        <p14:creationId xmlns:p14="http://schemas.microsoft.com/office/powerpoint/2010/main" val="4144813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E1A1C-7B52-4809-8C65-ADFC00EC5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Sublanguages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14D5A12-8BCF-88B5-380E-30BF10F8728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954939" y="1893194"/>
            <a:ext cx="6282122" cy="4672162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2027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86667-B29C-D78B-C84C-C687B5B8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database schema?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17E7D-89F1-3B31-5589-F8BAFE410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78164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Arial"/>
                <a:ea typeface="Arial"/>
              </a:rPr>
              <a:t>According to Google AI Overview….</a:t>
            </a:r>
            <a:endParaRPr lang="en-US" dirty="0">
              <a:solidFill>
                <a:schemeClr val="tx1"/>
              </a:solidFill>
              <a:latin typeface="Arial"/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5395020E-82B4-841E-86E5-D3F8FC238DD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741699" y="3212868"/>
            <a:ext cx="6708600" cy="27288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153440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B5BF-51DA-F1E9-A342-002C8633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Three-schema Approach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2615285-2C54-9FDB-14D3-EE0DCEDFAE6E}"/>
              </a:ext>
            </a:extLst>
          </p:cNvPr>
          <p:cNvSpPr/>
          <p:nvPr/>
        </p:nvSpPr>
        <p:spPr>
          <a:xfrm>
            <a:off x="853239" y="2216304"/>
            <a:ext cx="3474061" cy="37841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External – each one describes part of the database that a particular user group is interested in</a:t>
            </a:r>
            <a:br>
              <a:rPr sz="1600" dirty="0"/>
            </a:br>
            <a:br>
              <a:rPr sz="1600" dirty="0"/>
            </a:b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Conceptual – describes the structure of the whole database including entities, relationships, data types, user operations, and constraints</a:t>
            </a:r>
            <a:br>
              <a:rPr sz="1600" dirty="0"/>
            </a:br>
            <a:br>
              <a:rPr sz="1600" dirty="0"/>
            </a:br>
            <a:r>
              <a:rPr lang="en-US" sz="1600" b="1" u="none" strike="noStrike" dirty="0">
                <a:effectLst/>
                <a:uFillTx/>
                <a:latin typeface="Arial"/>
                <a:ea typeface="Arial"/>
              </a:rPr>
              <a:t>Physical – describes the physical storage structure of the database, i.e. storage medium, exact implementation details</a:t>
            </a:r>
            <a:endParaRPr lang="en-US" sz="16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0E0E3-ED21-50B0-4038-39E6B3BFDEB5}"/>
              </a:ext>
            </a:extLst>
          </p:cNvPr>
          <p:cNvSpPr/>
          <p:nvPr/>
        </p:nvSpPr>
        <p:spPr>
          <a:xfrm>
            <a:off x="4226065" y="6155844"/>
            <a:ext cx="5018018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none" strike="noStrike">
                <a:effectLst/>
                <a:uFillTx/>
                <a:latin typeface="Arial"/>
                <a:ea typeface="Arial"/>
              </a:rPr>
              <a:t>Other specs may use: conceptual &gt; logical &gt; physical</a:t>
            </a:r>
            <a:endParaRPr lang="en-US" sz="1600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F1FCC59D-3E1F-CB5B-D3E8-AB46BA02C77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081091" y="2391680"/>
            <a:ext cx="4812840" cy="30884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27064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29C15-6121-3C82-AF2C-CCF7B6C9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vs UML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8FF35E7A-54CD-1CE4-08D2-ECA245B3A1C2}"/>
              </a:ext>
            </a:extLst>
          </p:cNvPr>
          <p:cNvSpPr/>
          <p:nvPr/>
        </p:nvSpPr>
        <p:spPr>
          <a:xfrm>
            <a:off x="1146220" y="2705698"/>
            <a:ext cx="486507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u="none" strike="noStrike">
                <a:effectLst/>
                <a:uFillTx/>
                <a:latin typeface="Arial"/>
                <a:ea typeface="Arial"/>
              </a:rPr>
              <a:t>UML = Unified Modeling Language</a:t>
            </a:r>
            <a:endParaRPr lang="en-US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Broad modeling language for software development </a:t>
            </a:r>
            <a:endParaRPr lang="en-US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Includes use case diagrams, class diagrams, deployment diagrams, ect. </a:t>
            </a:r>
            <a:endParaRPr lang="en-US" b="0" u="none" strike="noStrike">
              <a:effectLst/>
              <a:uFillTx/>
              <a:latin typeface="Arial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C98BF8FC-AD0C-516E-F169-FC2CEA0E781B}"/>
              </a:ext>
            </a:extLst>
          </p:cNvPr>
          <p:cNvSpPr/>
          <p:nvPr/>
        </p:nvSpPr>
        <p:spPr>
          <a:xfrm>
            <a:off x="6096000" y="2705698"/>
            <a:ext cx="4865070" cy="14758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1" u="none" strike="noStrike" dirty="0">
                <a:effectLst/>
                <a:uFillTx/>
                <a:latin typeface="Arial"/>
                <a:ea typeface="Arial"/>
              </a:rPr>
              <a:t>ERD = Entity Relationship Diagram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Focused on relational database design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Part of the conceptual/external stage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6625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B39B4-A21D-4376-C662-38F6F8DA0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to Conceptual Level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718A6E91-095A-719D-889A-4C7964B95AB1}"/>
              </a:ext>
            </a:extLst>
          </p:cNvPr>
          <p:cNvSpPr/>
          <p:nvPr/>
        </p:nvSpPr>
        <p:spPr>
          <a:xfrm>
            <a:off x="1024650" y="2438980"/>
            <a:ext cx="733191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ERD: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919F66B-AAEA-B9EA-74C2-0EEB7527876B}"/>
              </a:ext>
            </a:extLst>
          </p:cNvPr>
          <p:cNvSpPr/>
          <p:nvPr/>
        </p:nvSpPr>
        <p:spPr>
          <a:xfrm>
            <a:off x="6180114" y="2438980"/>
            <a:ext cx="2182305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>
                <a:effectLst/>
                <a:uFillTx/>
                <a:latin typeface="Arial"/>
                <a:ea typeface="Arial"/>
              </a:rPr>
              <a:t>Relational Schema:</a:t>
            </a:r>
            <a:endParaRPr lang="en-US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E0B3447F-8127-8B1B-3CA2-918AACD2457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62885" y="2987899"/>
            <a:ext cx="4323427" cy="3424421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7">
            <a:extLst>
              <a:ext uri="{FF2B5EF4-FFF2-40B4-BE49-F238E27FC236}">
                <a16:creationId xmlns:a16="http://schemas.microsoft.com/office/drawing/2014/main" id="{95C4D438-E5DF-CE6A-5041-A9198279C2A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096000" y="2892582"/>
            <a:ext cx="5071402" cy="3263262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818912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2221D-0603-8B0D-C3DA-6D4032367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Relationship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EFBB8-67D3-9610-B1DB-08F48F07E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48226"/>
            <a:ext cx="11029615" cy="562704"/>
          </a:xfrm>
        </p:spPr>
        <p:txBody>
          <a:bodyPr/>
          <a:lstStyle/>
          <a:p>
            <a:r>
              <a:rPr lang="en-US" dirty="0"/>
              <a:t>ERDs describe entities, relationships, and attributes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4CC8D380-3040-6040-AF3F-FF370406C81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505682" y="2613961"/>
            <a:ext cx="4392841" cy="390931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Arrow: Right 2">
            <a:extLst>
              <a:ext uri="{FF2B5EF4-FFF2-40B4-BE49-F238E27FC236}">
                <a16:creationId xmlns:a16="http://schemas.microsoft.com/office/drawing/2014/main" id="{03E8F92A-24BC-8DC7-6746-A51CBD0A5FE4}"/>
              </a:ext>
            </a:extLst>
          </p:cNvPr>
          <p:cNvSpPr/>
          <p:nvPr/>
        </p:nvSpPr>
        <p:spPr>
          <a:xfrm flipH="1">
            <a:off x="5910495" y="3342671"/>
            <a:ext cx="40284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Arrow: Right 6">
            <a:extLst>
              <a:ext uri="{FF2B5EF4-FFF2-40B4-BE49-F238E27FC236}">
                <a16:creationId xmlns:a16="http://schemas.microsoft.com/office/drawing/2014/main" id="{0B4FF3B2-E84D-E0A2-2A71-49EA2BC21E36}"/>
              </a:ext>
            </a:extLst>
          </p:cNvPr>
          <p:cNvSpPr/>
          <p:nvPr/>
        </p:nvSpPr>
        <p:spPr>
          <a:xfrm flipH="1">
            <a:off x="5841735" y="3642191"/>
            <a:ext cx="47232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1" name="Arrow: Right 7">
            <a:extLst>
              <a:ext uri="{FF2B5EF4-FFF2-40B4-BE49-F238E27FC236}">
                <a16:creationId xmlns:a16="http://schemas.microsoft.com/office/drawing/2014/main" id="{BC5675FB-D9E4-1505-080A-CE21173AA783}"/>
              </a:ext>
            </a:extLst>
          </p:cNvPr>
          <p:cNvSpPr/>
          <p:nvPr/>
        </p:nvSpPr>
        <p:spPr>
          <a:xfrm flipH="1">
            <a:off x="5841735" y="4077431"/>
            <a:ext cx="47232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5D4A5C6F-41A2-9771-4843-FDE4A4266AE7}"/>
              </a:ext>
            </a:extLst>
          </p:cNvPr>
          <p:cNvSpPr/>
          <p:nvPr/>
        </p:nvSpPr>
        <p:spPr>
          <a:xfrm>
            <a:off x="6314415" y="3291191"/>
            <a:ext cx="385344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Keys are represented as underlined attributes.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5933A10C-258A-F307-39D3-CD3E9B03A5AB}"/>
              </a:ext>
            </a:extLst>
          </p:cNvPr>
          <p:cNvSpPr/>
          <p:nvPr/>
        </p:nvSpPr>
        <p:spPr>
          <a:xfrm>
            <a:off x="6314415" y="3607271"/>
            <a:ext cx="32475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Entities are represented as rectangles.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9EE1DA01-E756-1E2F-4992-C5F5364804BB}"/>
              </a:ext>
            </a:extLst>
          </p:cNvPr>
          <p:cNvSpPr/>
          <p:nvPr/>
        </p:nvSpPr>
        <p:spPr>
          <a:xfrm>
            <a:off x="6309375" y="4029911"/>
            <a:ext cx="36853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Relationships are represented as diamonds.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26D059E3-A972-E730-AB8F-F3EB50BC5BAC}"/>
              </a:ext>
            </a:extLst>
          </p:cNvPr>
          <p:cNvSpPr/>
          <p:nvPr/>
        </p:nvSpPr>
        <p:spPr>
          <a:xfrm>
            <a:off x="6444735" y="4347071"/>
            <a:ext cx="3414960" cy="224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 Key must have unique values for each individual entity within the entity set. 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There can be more than one key at a time.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Composite attributes can make a key. i.e. a state + Drivers License #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-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An entity may have NO KEY, these are called weak entity types.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27B4546D-0DCE-C4AD-5090-FB2FF3015C48}"/>
              </a:ext>
            </a:extLst>
          </p:cNvPr>
          <p:cNvSpPr/>
          <p:nvPr/>
        </p:nvSpPr>
        <p:spPr>
          <a:xfrm>
            <a:off x="6309375" y="3017951"/>
            <a:ext cx="304488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Attributes are represented as ovals.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23" name="Arrow: Right 15">
            <a:extLst>
              <a:ext uri="{FF2B5EF4-FFF2-40B4-BE49-F238E27FC236}">
                <a16:creationId xmlns:a16="http://schemas.microsoft.com/office/drawing/2014/main" id="{2B69D7EA-59F1-F12D-1DB2-0461A7B8E802}"/>
              </a:ext>
            </a:extLst>
          </p:cNvPr>
          <p:cNvSpPr/>
          <p:nvPr/>
        </p:nvSpPr>
        <p:spPr>
          <a:xfrm flipH="1">
            <a:off x="5784495" y="3081311"/>
            <a:ext cx="523800" cy="237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  <a:round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9998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93FE-0843-8A27-3BAA-3B99EF719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EBD1241-3F35-AF82-74D4-00285FD158D7}"/>
              </a:ext>
            </a:extLst>
          </p:cNvPr>
          <p:cNvSpPr/>
          <p:nvPr/>
        </p:nvSpPr>
        <p:spPr>
          <a:xfrm>
            <a:off x="7257244" y="2072555"/>
            <a:ext cx="3480120" cy="45228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endParaRPr lang="en-US" sz="16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There are several attribute types: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Simple (atomic) attributes – data point that can’t be broken down further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Composite attributes – an address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Single-Valued – singular value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Multi-Valued – multiple values in field, e.g. 2-tone cars may have multiple entries in a COLOR field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Derived – Field that gets its value from other fields; e.g. AGE can be calculated from today’s date + BDAY field.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Stored – Data is stored in database. Contrast to Derived.</a:t>
            </a:r>
            <a:endParaRPr lang="en-US" sz="16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b="0" u="none" strike="noStrike" dirty="0">
                <a:effectLst/>
                <a:uFillTx/>
                <a:latin typeface="Arial"/>
                <a:ea typeface="Arial"/>
              </a:rPr>
              <a:t>NULL- </a:t>
            </a:r>
            <a:endParaRPr lang="en-US" sz="16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569B7AF0-B75A-8A6B-097F-2543A224110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326524" y="2278617"/>
            <a:ext cx="4911858" cy="4083289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907606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498C9-A937-398E-550B-DA3A422F0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Attributes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6F51A17-420A-5254-7979-D54276577522}"/>
              </a:ext>
            </a:extLst>
          </p:cNvPr>
          <p:cNvSpPr/>
          <p:nvPr/>
        </p:nvSpPr>
        <p:spPr>
          <a:xfrm>
            <a:off x="1975080" y="2201172"/>
            <a:ext cx="8241840" cy="31378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Complex attributes – muti-valued and composite attributes may be nested arbitrarily: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{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Address_phone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 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	{Phone(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Area_code,Phone_number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)},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	Address(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Street_address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Number,Street,Apartment_number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),</a:t>
            </a:r>
            <a:r>
              <a:rPr lang="en-US" b="0" u="none" strike="noStrike" dirty="0" err="1">
                <a:effectLst/>
                <a:uFillTx/>
                <a:latin typeface="Arial"/>
                <a:ea typeface="Arial"/>
              </a:rPr>
              <a:t>City,State,Zip</a:t>
            </a: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) 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	)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}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AEE5A816-30DE-5F47-EBCB-192205ED50AC}"/>
              </a:ext>
            </a:extLst>
          </p:cNvPr>
          <p:cNvSpPr/>
          <p:nvPr/>
        </p:nvSpPr>
        <p:spPr>
          <a:xfrm>
            <a:off x="4708804" y="5698532"/>
            <a:ext cx="2774391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{} = Multi-Valued Attribute</a:t>
            </a:r>
            <a:endParaRPr lang="en-US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b="0" u="none" strike="noStrike" dirty="0">
                <a:effectLst/>
                <a:uFillTx/>
                <a:latin typeface="Arial"/>
                <a:ea typeface="Arial"/>
              </a:rPr>
              <a:t>() = Composite Attribute</a:t>
            </a:r>
            <a:endParaRPr lang="en-US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13905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B039E-61C4-A6AD-B73C-BBE4B3F54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9840C0D9-01A5-200E-A18C-8B3C9FAE2CF2}"/>
              </a:ext>
            </a:extLst>
          </p:cNvPr>
          <p:cNvSpPr/>
          <p:nvPr/>
        </p:nvSpPr>
        <p:spPr>
          <a:xfrm>
            <a:off x="2411787" y="2280697"/>
            <a:ext cx="13287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Binary Degree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51399621-0A91-2AFF-910D-6A8A57230CA0}"/>
              </a:ext>
            </a:extLst>
          </p:cNvPr>
          <p:cNvSpPr/>
          <p:nvPr/>
        </p:nvSpPr>
        <p:spPr>
          <a:xfrm>
            <a:off x="6831507" y="2280697"/>
            <a:ext cx="143640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Ternary Degree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8784E65-07DC-9F3D-0847-791EC4A1008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652065" y="2691527"/>
            <a:ext cx="3542400" cy="2839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8">
            <a:extLst>
              <a:ext uri="{FF2B5EF4-FFF2-40B4-BE49-F238E27FC236}">
                <a16:creationId xmlns:a16="http://schemas.microsoft.com/office/drawing/2014/main" id="{C2C4D2FA-68CD-4821-9CAD-9094B84310C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988985" y="2691527"/>
            <a:ext cx="3542400" cy="29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6">
            <a:extLst>
              <a:ext uri="{FF2B5EF4-FFF2-40B4-BE49-F238E27FC236}">
                <a16:creationId xmlns:a16="http://schemas.microsoft.com/office/drawing/2014/main" id="{FC7F5BDA-9CB2-62B5-E826-D4A36CB6207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572505" y="5448767"/>
            <a:ext cx="3745800" cy="8056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0260880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30BDD-1CB3-79DA-467C-C3EFAADD2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– Recursive(self)</a:t>
            </a:r>
          </a:p>
        </p:txBody>
      </p:sp>
      <p:pic>
        <p:nvPicPr>
          <p:cNvPr id="5" name="Picture 14">
            <a:extLst>
              <a:ext uri="{FF2B5EF4-FFF2-40B4-BE49-F238E27FC236}">
                <a16:creationId xmlns:a16="http://schemas.microsoft.com/office/drawing/2014/main" id="{550EE189-056A-D019-2A5F-B397D68CD7E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046360" y="2646198"/>
            <a:ext cx="4049640" cy="307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E634639F-97A8-915D-C1ED-E6B0434EB5A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769200" y="2819358"/>
            <a:ext cx="2993040" cy="27532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255651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C322-C588-F0D5-9BE4-4612E4AA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Constraints on Binary Relationships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DE7B6427-19D0-7D6E-893B-2C53F6BAA5B1}"/>
              </a:ext>
            </a:extLst>
          </p:cNvPr>
          <p:cNvSpPr/>
          <p:nvPr/>
        </p:nvSpPr>
        <p:spPr>
          <a:xfrm>
            <a:off x="4923994" y="2079898"/>
            <a:ext cx="19555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Structural Constraints: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876B4B-F3BF-E1FB-1C39-1E8554BA4337}"/>
              </a:ext>
            </a:extLst>
          </p:cNvPr>
          <p:cNvSpPr/>
          <p:nvPr/>
        </p:nvSpPr>
        <p:spPr>
          <a:xfrm>
            <a:off x="2792434" y="2431978"/>
            <a:ext cx="236448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Cardinality Ratio Constraint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15BC7395-58A9-B682-85F2-0B1D2BBBE352}"/>
              </a:ext>
            </a:extLst>
          </p:cNvPr>
          <p:cNvSpPr/>
          <p:nvPr/>
        </p:nvSpPr>
        <p:spPr>
          <a:xfrm>
            <a:off x="6336634" y="2437378"/>
            <a:ext cx="203580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Participation Constraint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F39CA5D4-E353-9841-EB08-CA77AD9A97B4}"/>
              </a:ext>
            </a:extLst>
          </p:cNvPr>
          <p:cNvSpPr/>
          <p:nvPr/>
        </p:nvSpPr>
        <p:spPr>
          <a:xfrm>
            <a:off x="2648794" y="2739778"/>
            <a:ext cx="269676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Specifies the maximum number of relationship instances that an entity can participate in. Either: 1:N, N:1, 1:1, M:N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21D28568-ED1E-B55E-87E2-CF9EF38E3AF1}"/>
              </a:ext>
            </a:extLst>
          </p:cNvPr>
          <p:cNvSpPr/>
          <p:nvPr/>
        </p:nvSpPr>
        <p:spPr>
          <a:xfrm>
            <a:off x="6123154" y="2773978"/>
            <a:ext cx="269676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Specifies the minimum number of relationship instances that each entity can participate in.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0082BCB8-7605-4957-82A1-A13295013F45}"/>
              </a:ext>
            </a:extLst>
          </p:cNvPr>
          <p:cNvSpPr/>
          <p:nvPr/>
        </p:nvSpPr>
        <p:spPr>
          <a:xfrm>
            <a:off x="6798874" y="4337098"/>
            <a:ext cx="3331080" cy="160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Total Participation – Every dept needs 1 or more employees and every employee must have at least 1 dept. 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Partial Participation – 1 employee must manage each department. But every employee need not be a manager.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17" name="Picture 8">
            <a:extLst>
              <a:ext uri="{FF2B5EF4-FFF2-40B4-BE49-F238E27FC236}">
                <a16:creationId xmlns:a16="http://schemas.microsoft.com/office/drawing/2014/main" id="{8402F987-A315-4440-3885-189A28BE63D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941485" y="4124325"/>
            <a:ext cx="4728240" cy="101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11">
            <a:extLst>
              <a:ext uri="{FF2B5EF4-FFF2-40B4-BE49-F238E27FC236}">
                <a16:creationId xmlns:a16="http://schemas.microsoft.com/office/drawing/2014/main" id="{124E335D-6DD4-ED88-FEBE-5919C1C58B1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941485" y="5142045"/>
            <a:ext cx="4728240" cy="8766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777251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3C1C-3DFD-5979-5E7C-246A4D654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first normal form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892A83B-E461-5D66-CE5A-85010379E12F}"/>
              </a:ext>
            </a:extLst>
          </p:cNvPr>
          <p:cNvSpPr/>
          <p:nvPr/>
        </p:nvSpPr>
        <p:spPr>
          <a:xfrm>
            <a:off x="6967298" y="2576013"/>
            <a:ext cx="325332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The domain of an attribute must include only atomic (simple, indivisible) values and that the value of any attribute in a tuple must be a single value from the domain of that attribute.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9638168F-C058-2276-8C7A-131A19704DDC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264557" y="2576013"/>
            <a:ext cx="5541324" cy="1801807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5DBBA500-9573-42A1-45EA-290B374D06F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395470" y="4408014"/>
            <a:ext cx="7734651" cy="1906966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83978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23B34-2AE5-5812-263D-A90F3325F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second normal form</a:t>
            </a: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A5F2B0A6-AA8E-CFDA-A286-67FDA76747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489833"/>
              </p:ext>
            </p:extLst>
          </p:nvPr>
        </p:nvGraphicFramePr>
        <p:xfrm>
          <a:off x="957898" y="2241329"/>
          <a:ext cx="6095520" cy="1483200"/>
        </p:xfrm>
        <a:graphic>
          <a:graphicData uri="http://schemas.openxmlformats.org/drawingml/2006/table">
            <a:tbl>
              <a:tblPr>
                <a:tableStyleId>{125E5076-3810-47DD-B79F-674D7AD40C01}</a:tableStyleId>
              </a:tblPr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Employee_Id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uFillTx/>
                        </a:rPr>
                        <a:t>Name</a:t>
                      </a:r>
                      <a:endParaRPr lang="en-US" sz="1400" b="0" u="none" strike="noStrike" dirty="0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Phone_Number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Department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1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John Smith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555-555-5555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2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Jane Doe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555-555-5555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3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Hal Emmerich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bg1"/>
                          </a:solidFill>
                          <a:effectLst/>
                          <a:uFillTx/>
                        </a:rPr>
                        <a:t>777-777-7777</a:t>
                      </a:r>
                      <a:endParaRPr lang="en-US" sz="1400" b="0" u="none" strike="noStrike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uFillTx/>
                        </a:rPr>
                        <a:t>Tech</a:t>
                      </a:r>
                      <a:endParaRPr lang="en-US" sz="1400" b="0" u="none" strike="noStrike" dirty="0">
                        <a:solidFill>
                          <a:schemeClr val="bg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5">
            <a:extLst>
              <a:ext uri="{FF2B5EF4-FFF2-40B4-BE49-F238E27FC236}">
                <a16:creationId xmlns:a16="http://schemas.microsoft.com/office/drawing/2014/main" id="{D294C03D-A461-758D-9256-C1ABB36745B5}"/>
              </a:ext>
            </a:extLst>
          </p:cNvPr>
          <p:cNvSpPr/>
          <p:nvPr/>
        </p:nvSpPr>
        <p:spPr>
          <a:xfrm>
            <a:off x="7658142" y="2613749"/>
            <a:ext cx="216720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Each non-key column in a table is fully dependent on the primary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D7FFB74F-25F2-F376-7C65-6D897616143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041040" y="4249902"/>
            <a:ext cx="6109920" cy="20232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658329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4FD19-4906-A6AD-21FB-159FC573E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normalization – third normal form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D817646-2A9A-8CDE-6743-4FC76A034421}"/>
              </a:ext>
            </a:extLst>
          </p:cNvPr>
          <p:cNvSpPr/>
          <p:nvPr/>
        </p:nvSpPr>
        <p:spPr>
          <a:xfrm>
            <a:off x="7683900" y="2488939"/>
            <a:ext cx="21672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Each non-key column in a table is not transitively dependent on the primary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4903BB29-059D-31BE-506A-FB9A81EF3F6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846500" y="2373379"/>
            <a:ext cx="5331240" cy="162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10">
            <a:extLst>
              <a:ext uri="{FF2B5EF4-FFF2-40B4-BE49-F238E27FC236}">
                <a16:creationId xmlns:a16="http://schemas.microsoft.com/office/drawing/2014/main" id="{93D275E9-5318-D067-6C1F-DD45D34ECDD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359060" y="4350859"/>
            <a:ext cx="4345920" cy="142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60D29899-0D7A-99B1-5BF6-7A57DAFA02A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992980" y="4350859"/>
            <a:ext cx="4058280" cy="14360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176779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68C6-51F3-4AA3-53F5-FC4C36F29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B97838C-5DD5-C0FB-0725-FE4A29752387}"/>
              </a:ext>
            </a:extLst>
          </p:cNvPr>
          <p:cNvSpPr/>
          <p:nvPr/>
        </p:nvSpPr>
        <p:spPr>
          <a:xfrm>
            <a:off x="2359931" y="2318430"/>
            <a:ext cx="3457800" cy="224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1: Map Regular Entity Types – create a relation and include all simple attributes of the entity. Choose a Primary Key.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2: Map Weak Entity Types – create a relation and include all simple attributes, also include the foreign key that corresponds to the primary key of the owner entity type.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10">
            <a:extLst>
              <a:ext uri="{FF2B5EF4-FFF2-40B4-BE49-F238E27FC236}">
                <a16:creationId xmlns:a16="http://schemas.microsoft.com/office/drawing/2014/main" id="{F25AFB00-66CD-4830-3238-0699FFFE682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4079291" y="4875510"/>
            <a:ext cx="3192120" cy="160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12">
            <a:extLst>
              <a:ext uri="{FF2B5EF4-FFF2-40B4-BE49-F238E27FC236}">
                <a16:creationId xmlns:a16="http://schemas.microsoft.com/office/drawing/2014/main" id="{80CCBFA0-B507-F3DB-C057-5EFC015D1D9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67971" y="2252190"/>
            <a:ext cx="2946960" cy="25707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1091563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929C4-6359-F173-C9D2-E949E2493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45E9081-06FB-C6B7-681A-7DD3BDED1C17}"/>
              </a:ext>
            </a:extLst>
          </p:cNvPr>
          <p:cNvSpPr/>
          <p:nvPr/>
        </p:nvSpPr>
        <p:spPr>
          <a:xfrm>
            <a:off x="4042390" y="2148531"/>
            <a:ext cx="406584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Step 3: Map 1:1 Relationship Types – In general, use the Foreign key approach and use merged relation and cross-reference approaches as required.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E5B3CAFD-2A86-53EC-175B-5168EAF76765}"/>
              </a:ext>
            </a:extLst>
          </p:cNvPr>
          <p:cNvSpPr/>
          <p:nvPr/>
        </p:nvSpPr>
        <p:spPr>
          <a:xfrm>
            <a:off x="1698070" y="3277851"/>
            <a:ext cx="348156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Foreign Key Approach – For entities S and T, choose a primary key from S and include it as a foreign key in T. It is better to choose an entity type with total participation. Include all simple attributes of the relationship as attributes of S.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2830E29D-4103-227F-E50F-B43F16D7384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943950" y="4662771"/>
            <a:ext cx="2820240" cy="71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CFE09-4D15-C634-CD5F-EF823D344327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684030" y="5754651"/>
            <a:ext cx="4010400" cy="63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ACFB263-0120-F013-2AE7-32F176ECAD5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563070" y="5449371"/>
            <a:ext cx="4502520" cy="37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34F5295A-67B4-36A0-3DE4-2B0FCE5134FC}"/>
              </a:ext>
            </a:extLst>
          </p:cNvPr>
          <p:cNvSpPr/>
          <p:nvPr/>
        </p:nvSpPr>
        <p:spPr>
          <a:xfrm>
            <a:off x="6518830" y="3344091"/>
            <a:ext cx="3340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Merged Relation Approach – Merges the two entity types and the relation into a single relation. Possible when both participations are total.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7" name="TextBox 14">
            <a:extLst>
              <a:ext uri="{FF2B5EF4-FFF2-40B4-BE49-F238E27FC236}">
                <a16:creationId xmlns:a16="http://schemas.microsoft.com/office/drawing/2014/main" id="{FA6E1369-688F-DF64-87DB-B7D1A645E734}"/>
              </a:ext>
            </a:extLst>
          </p:cNvPr>
          <p:cNvSpPr/>
          <p:nvPr/>
        </p:nvSpPr>
        <p:spPr>
          <a:xfrm>
            <a:off x="6518830" y="4495371"/>
            <a:ext cx="334080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Cross-Reference Approach – Set up a third relation R for the purpose of cross-referencing the primary keys of two tables. Required for M:N relationships.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63741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E3412-5DAE-79F9-A480-7702E0BC5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E01F6E8-387B-2B8E-65DE-D35B4E04B073}"/>
              </a:ext>
            </a:extLst>
          </p:cNvPr>
          <p:cNvSpPr/>
          <p:nvPr/>
        </p:nvSpPr>
        <p:spPr>
          <a:xfrm>
            <a:off x="4055268" y="2084136"/>
            <a:ext cx="4065840" cy="73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4: Map 1:N Relationship Types – Use foreign key approach or relationship relation approach. 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583C750-C7FE-2C5B-0F05-5227DBF65FAC}"/>
              </a:ext>
            </a:extLst>
          </p:cNvPr>
          <p:cNvSpPr/>
          <p:nvPr/>
        </p:nvSpPr>
        <p:spPr>
          <a:xfrm>
            <a:off x="1745868" y="2822856"/>
            <a:ext cx="348156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Foreign Key Approach – For each regular binary 1:N relationship type R, identify the side S that represents the N-side of the relationship. Include a foreign key in S the primary key of T, that represents the other entity type.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931D8507-F01B-DBB3-75A8-DD1BB4171AFB}"/>
              </a:ext>
            </a:extLst>
          </p:cNvPr>
          <p:cNvSpPr/>
          <p:nvPr/>
        </p:nvSpPr>
        <p:spPr>
          <a:xfrm>
            <a:off x="1710948" y="4253496"/>
            <a:ext cx="3340800" cy="203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Cross-Reference Approach – Create a separate relation R whose attributes are the primary keys of entities T and S, which will also be foreign keys to S and T. The primary key of R is the same as the primary key of S. This options can be used if few tuples in S participate in the relationship to avoid excessive NULL values in the foreign key.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EC6BB456-D69D-DBB7-F0CF-1E3CCD50055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544228" y="3067656"/>
            <a:ext cx="3858480" cy="1032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17">
            <a:extLst>
              <a:ext uri="{FF2B5EF4-FFF2-40B4-BE49-F238E27FC236}">
                <a16:creationId xmlns:a16="http://schemas.microsoft.com/office/drawing/2014/main" id="{5E010836-CE59-6B3F-910D-97771E6F3A1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403468" y="4132176"/>
            <a:ext cx="4617000" cy="12070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14559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09B0-A7A5-8AC6-4B71-CD169F437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8C6DDD0-0773-BB82-D363-D419D7491B92}"/>
              </a:ext>
            </a:extLst>
          </p:cNvPr>
          <p:cNvSpPr/>
          <p:nvPr/>
        </p:nvSpPr>
        <p:spPr>
          <a:xfrm>
            <a:off x="3538643" y="2259720"/>
            <a:ext cx="474516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5: Map M:N Relationship Types – Traditional relational models don’t allow for multivalued attributes, the only option for M:N relationships is the cross-reference approach. Cascade delete should be enabled on the foreign keys.  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AFB8B4F-9A8D-F144-65BE-CC8F2529398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857083" y="3429360"/>
            <a:ext cx="3723120" cy="2388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C0268482-0C9A-F1CE-35B3-7F252B7FA39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145043" y="3429360"/>
            <a:ext cx="4064040" cy="238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3B56144-E0F0-CA18-8673-17DAB4E108C8}"/>
              </a:ext>
            </a:extLst>
          </p:cNvPr>
          <p:cNvSpPr/>
          <p:nvPr/>
        </p:nvSpPr>
        <p:spPr>
          <a:xfrm>
            <a:off x="6162683" y="5947200"/>
            <a:ext cx="35827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Essn + Pno = Primary Key of WORKS_ON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5416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8D0F1-599D-7E70-28C2-99A58CF0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Mapping algorithm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4D96BD3-33CB-B89D-272F-6F016FB4ED1B}"/>
              </a:ext>
            </a:extLst>
          </p:cNvPr>
          <p:cNvSpPr/>
          <p:nvPr/>
        </p:nvSpPr>
        <p:spPr>
          <a:xfrm>
            <a:off x="4611073" y="2097564"/>
            <a:ext cx="474516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Step 6: Map multivalued attributes.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12B1CF57-C8A6-BB62-90F6-7FDF94F690B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2245873" y="3909804"/>
            <a:ext cx="3048120" cy="1885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F0E9CF-226D-95F2-626E-F3A7BCC65A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571913" y="3945804"/>
            <a:ext cx="4581720" cy="181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Box 12">
            <a:extLst>
              <a:ext uri="{FF2B5EF4-FFF2-40B4-BE49-F238E27FC236}">
                <a16:creationId xmlns:a16="http://schemas.microsoft.com/office/drawing/2014/main" id="{65B9A708-0426-1816-218B-153880BE59EB}"/>
              </a:ext>
            </a:extLst>
          </p:cNvPr>
          <p:cNvSpPr/>
          <p:nvPr/>
        </p:nvSpPr>
        <p:spPr>
          <a:xfrm>
            <a:off x="2935273" y="2465124"/>
            <a:ext cx="630180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For each multivalued attribute A, create a new relation R. This relation R will include an attribute corresponding to A, plus the primary key attribute K—as a foreign key in R—of the relation that represents the entity type or relationship type that has A as a multivalued attribute. The primary key of R is the combination of A and K. If the multivalued attribute is composite, we include its simple components.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B7183A7-550D-8063-288B-C04E94CD8C58}"/>
              </a:ext>
            </a:extLst>
          </p:cNvPr>
          <p:cNvSpPr/>
          <p:nvPr/>
        </p:nvSpPr>
        <p:spPr>
          <a:xfrm>
            <a:off x="5405593" y="5848404"/>
            <a:ext cx="49147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Dnumber + Dlocation = Primary Key of DEPT_LOCATIONS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9665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20CA5-AE64-4051-8BA7-10B72EFB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ACID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CD1882-1061-EB68-E128-805BC59D57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81192" y="2052956"/>
            <a:ext cx="11029615" cy="393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Atomicity</a:t>
            </a:r>
            <a:r>
              <a:rPr lang="en-US" dirty="0"/>
              <a:t> – Treat a transaction as a single, indivisible unit. Either all operations within the transactions succeed, or none of them do. 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Consistency</a:t>
            </a:r>
            <a:r>
              <a:rPr lang="en-US" dirty="0"/>
              <a:t> – Ensure the database transitions from one valid state to another, adhering to all defined rules, constraints, and triggers.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Isolation</a:t>
            </a:r>
            <a:r>
              <a:rPr lang="en-US" dirty="0"/>
              <a:t> – Guarantees that concurrent transactions do not interfere with each other, appearing as if they are executed sequentially.</a:t>
            </a:r>
          </a:p>
          <a:p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Durability</a:t>
            </a:r>
            <a:r>
              <a:rPr lang="en-US" dirty="0"/>
              <a:t> – Guarantees that once a transaction is committed, its changes are permanent and service system failures, such as power outages or crashes.</a:t>
            </a:r>
          </a:p>
        </p:txBody>
      </p:sp>
    </p:spTree>
    <p:extLst>
      <p:ext uri="{BB962C8B-B14F-4D97-AF65-F5344CB8AC3E}">
        <p14:creationId xmlns:p14="http://schemas.microsoft.com/office/powerpoint/2010/main" val="1057868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30C1-6BBF-22D4-6DE0-FDF917F54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always want normalization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5B328290-5347-8B35-1230-C925CD93DA24}"/>
              </a:ext>
            </a:extLst>
          </p:cNvPr>
          <p:cNvSpPr/>
          <p:nvPr/>
        </p:nvSpPr>
        <p:spPr>
          <a:xfrm>
            <a:off x="4389814" y="2761915"/>
            <a:ext cx="3412372" cy="160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OLTP = Online Transaction Processing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APIs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Usually very normalized</a:t>
            </a:r>
            <a:br>
              <a:rPr sz="1400" dirty="0"/>
            </a:br>
            <a:r>
              <a:rPr lang="en-US" sz="1400" b="0" u="none" strike="noStrike" dirty="0">
                <a:effectLst/>
                <a:uFillTx/>
                <a:latin typeface="Arial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OLAP = Online Analytical Processing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fewer, wider tables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Wingdings" charset="2"/>
              <a:buChar char="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Usually denormalized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25A2D95E-B4FF-0C2E-0E51-C77C31B220F2}"/>
              </a:ext>
            </a:extLst>
          </p:cNvPr>
          <p:cNvSpPr/>
          <p:nvPr/>
        </p:nvSpPr>
        <p:spPr>
          <a:xfrm>
            <a:off x="3181440" y="4942024"/>
            <a:ext cx="582912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order_id | order_date | user_country | product_category | revenue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9753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2E9DA-EE82-A2A0-95D6-D4B38ECF8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EBF9B683-2820-BB0B-8BD0-66FBDCEEF850}"/>
              </a:ext>
            </a:extLst>
          </p:cNvPr>
          <p:cNvSpPr/>
          <p:nvPr/>
        </p:nvSpPr>
        <p:spPr>
          <a:xfrm>
            <a:off x="1782107" y="2297200"/>
            <a:ext cx="790776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Star Schema = one big fact table in the center, small dimension tables around it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7D7C03D5-5FEA-6307-9921-AF54384E4654}"/>
              </a:ext>
            </a:extLst>
          </p:cNvPr>
          <p:cNvSpPr/>
          <p:nvPr/>
        </p:nvSpPr>
        <p:spPr>
          <a:xfrm>
            <a:off x="1486907" y="2846200"/>
            <a:ext cx="2964960" cy="203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Fact Table = numbers you analyze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fact_orders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order_id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user_id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product_id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date_id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revenue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- quantity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1E96B940-1444-E805-9A92-7EA3677BA5DB}"/>
              </a:ext>
            </a:extLst>
          </p:cNvPr>
          <p:cNvSpPr/>
          <p:nvPr/>
        </p:nvSpPr>
        <p:spPr>
          <a:xfrm>
            <a:off x="1164347" y="5053360"/>
            <a:ext cx="457164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Dimension tables:</a:t>
            </a:r>
            <a:br>
              <a:rPr sz="1400"/>
            </a:b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dim_users(user_id, country, age)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dim_products(product_id, category, brand)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dim_time(date_id, day, month, year)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36904DD5-05A1-99AB-8D40-13EAF61AE51D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5735987" y="2871405"/>
            <a:ext cx="4453920" cy="327312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7396095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AB370-F591-0DBE-A5FD-89CA70DE1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FDA90005-2D65-8D62-B028-9FFFBBDED9A6}"/>
              </a:ext>
            </a:extLst>
          </p:cNvPr>
          <p:cNvSpPr/>
          <p:nvPr/>
        </p:nvSpPr>
        <p:spPr>
          <a:xfrm>
            <a:off x="2527320" y="3122605"/>
            <a:ext cx="7137360" cy="116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Wide Fact Tables – ‘flatten everything into one big table’ (takes more storage space)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order_id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order_date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user_id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user_country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product_id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product_category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| price | quantity | revenue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2598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8147E-462D-3C2D-2A7A-B4E76CB8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OLAP Schema Patterns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EB87AA4-E0A1-BD04-F159-9B217621B49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/>
        </p:blipFill>
        <p:spPr>
          <a:xfrm>
            <a:off x="2673928" y="1999292"/>
            <a:ext cx="6844144" cy="4439888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3500766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70560-0870-882B-8551-CCF8D666A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Chinook DB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11643FA6-D6F4-EEFC-4BFD-B97A6963DAF7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/>
        </p:blipFill>
        <p:spPr>
          <a:xfrm>
            <a:off x="811368" y="2025049"/>
            <a:ext cx="6697010" cy="4439888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9E037236-9382-0B69-1437-4C8A36305D22}"/>
              </a:ext>
            </a:extLst>
          </p:cNvPr>
          <p:cNvSpPr/>
          <p:nvPr/>
        </p:nvSpPr>
        <p:spPr>
          <a:xfrm>
            <a:off x="7782323" y="3940935"/>
            <a:ext cx="3828485" cy="13835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  <a:hlinkClick r:id="rId3"/>
              </a:rPr>
              <a:t>https://github.com/lerocha/chinook-database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  <a:p>
            <a:pPr>
              <a:lnSpc>
                <a:spcPct val="100000"/>
              </a:lnSpc>
            </a:pP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000000"/>
                </a:solidFill>
                <a:latin typeface="Arial"/>
              </a:rPr>
              <a:t>I’ve provided a modified version in your course materials. Ensure that the ‘chinook’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db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 is selected before executing the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sql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 file NOT the default ‘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postgres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’ </a:t>
            </a:r>
            <a:r>
              <a:rPr lang="en-US" sz="1400" dirty="0" err="1">
                <a:solidFill>
                  <a:srgbClr val="000000"/>
                </a:solidFill>
                <a:latin typeface="Arial"/>
              </a:rPr>
              <a:t>db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!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19991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Challenge – ERD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683283" y="2014799"/>
            <a:ext cx="2738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Business Requirements: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424617" y="2455742"/>
            <a:ext cx="4661642" cy="39247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bank has multiple </a:t>
            </a:r>
            <a:r>
              <a:rPr lang="en-US" sz="1200" b="1" dirty="0"/>
              <a:t>branches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branch has a unique branch ID, name, address, and phone number.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The bank has many </a:t>
            </a:r>
            <a:r>
              <a:rPr lang="en-US" sz="1200" b="1" dirty="0"/>
              <a:t>customers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customer has a customer ID, name, date of birth, email, phone number, and address.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 customer may have multiple </a:t>
            </a:r>
            <a:r>
              <a:rPr lang="en-US" sz="1200" b="1" dirty="0"/>
              <a:t>accounts</a:t>
            </a:r>
            <a:r>
              <a:rPr lang="en-US" sz="1200" dirty="0"/>
              <a:t>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An account belongs to one or more customers. For example, a checking account could be jointly owned by two people.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account has an account number, account type, date opened, balance, and status.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Accounts are associated with a specific branch.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The bank supports several account types, such as: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Checking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Savings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Money Market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Certificate of Deposit (CD)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Customers can make </a:t>
            </a:r>
            <a:r>
              <a:rPr lang="en-US" sz="1200" b="1" dirty="0"/>
              <a:t>transactions</a:t>
            </a:r>
            <a:r>
              <a:rPr lang="en-US" sz="1200" dirty="0"/>
              <a:t> against their accounts.</a:t>
            </a:r>
          </a:p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sz="1200" dirty="0"/>
              <a:t>Each transaction has a transaction ID, date/time, amount, transaction type, and description.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D83B7A-3D4D-3D65-0B91-D28AE964F364}"/>
              </a:ext>
            </a:extLst>
          </p:cNvPr>
          <p:cNvSpPr txBox="1"/>
          <p:nvPr/>
        </p:nvSpPr>
        <p:spPr>
          <a:xfrm>
            <a:off x="5202998" y="2455742"/>
            <a:ext cx="6097044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Transaction types include deposits, withdrawals, transfers, and fees.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transfer can involve both a </a:t>
            </a:r>
            <a:r>
              <a:rPr lang="en-US" sz="1200" b="1" dirty="0"/>
              <a:t>source account</a:t>
            </a:r>
            <a:r>
              <a:rPr lang="en-US" sz="1200" dirty="0"/>
              <a:t> and a </a:t>
            </a:r>
            <a:r>
              <a:rPr lang="en-US" sz="1200" b="1" dirty="0"/>
              <a:t>destination account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Customers can apply for </a:t>
            </a:r>
            <a:r>
              <a:rPr lang="en-US" sz="1200" b="1" dirty="0"/>
              <a:t>loans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loan has a loan ID, loan type, principal amount, interest rate, start date, end date, and status.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 customer may have multiple loans.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loan is associated with a branch.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Customers make </a:t>
            </a:r>
            <a:r>
              <a:rPr lang="en-US" sz="1200" b="1" dirty="0"/>
              <a:t>loan payments</a:t>
            </a:r>
            <a:r>
              <a:rPr lang="en-US" sz="1200" dirty="0"/>
              <a:t>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payment should record the payment ID, payment date, amount, and the portion applied to principal and interest.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Bank employees work at branches.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Each employee has an employee ID, name, job title, email, and hire date.</a:t>
            </a:r>
          </a:p>
          <a:p>
            <a:pPr marL="171450" lvl="0" indent="-171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An employee may assist customers with loans or accounts.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95BDC-1A9B-55DC-0739-BC2C72F4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88DF4A-346A-95AC-B737-84CA5F6B0473}"/>
              </a:ext>
            </a:extLst>
          </p:cNvPr>
          <p:cNvSpPr txBox="1"/>
          <p:nvPr/>
        </p:nvSpPr>
        <p:spPr>
          <a:xfrm>
            <a:off x="3098626" y="2091956"/>
            <a:ext cx="609704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CREATE TABLE customers (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UUID PRIMARY KEY DEFAULT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gen_random_uuid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(),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name TEXT NOT NULL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792E985-157A-C217-BB5B-3E4205B23D0E}"/>
              </a:ext>
            </a:extLst>
          </p:cNvPr>
          <p:cNvSpPr txBox="1">
            <a:spLocks/>
          </p:cNvSpPr>
          <p:nvPr/>
        </p:nvSpPr>
        <p:spPr>
          <a:xfrm>
            <a:off x="1546965" y="3422064"/>
            <a:ext cx="4769250" cy="29829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SMALLINT – 2 bytes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INTEGER / INT – 4 bytes; good for money (in cents), or IDs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BIGINT – 8 bytes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NUMERIC(p, s) / DECIMAL – good for money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REAL – 4 bytes; do NOT use for money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DOUBLE PRECISION – 8 bytes; do NOT use for money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TEXT – variable length strings; </a:t>
            </a:r>
            <a:r>
              <a:rPr lang="en-US" sz="1400" dirty="0" err="1">
                <a:solidFill>
                  <a:schemeClr val="tx1"/>
                </a:solidFill>
              </a:rPr>
              <a:t>postgres</a:t>
            </a:r>
            <a:r>
              <a:rPr lang="en-US" sz="1400" dirty="0">
                <a:solidFill>
                  <a:schemeClr val="tx1"/>
                </a:solidFill>
              </a:rPr>
              <a:t> secret sauce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VARCHAR(255) – fixed length strings</a:t>
            </a:r>
          </a:p>
          <a:p>
            <a:pPr>
              <a:lnSpc>
                <a:spcPct val="110000"/>
              </a:lnSpc>
            </a:pPr>
            <a:r>
              <a:rPr lang="en-US" sz="1400" dirty="0">
                <a:solidFill>
                  <a:schemeClr val="tx1"/>
                </a:solidFill>
              </a:rPr>
              <a:t>CHAR(n) – fixed-length, space-padded, legacy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FCD38-F855-0CFF-A159-BED18353B76D}"/>
              </a:ext>
            </a:extLst>
          </p:cNvPr>
          <p:cNvSpPr txBox="1"/>
          <p:nvPr/>
        </p:nvSpPr>
        <p:spPr>
          <a:xfrm>
            <a:off x="6470545" y="3366370"/>
            <a:ext cx="4673864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1400" dirty="0"/>
              <a:t>BOOLEAN – True, False, t/f, yes/no, 1/0</a:t>
            </a:r>
          </a:p>
          <a:p>
            <a:r>
              <a:rPr lang="en-US" sz="1400" dirty="0"/>
              <a:t>DATE – calendar date</a:t>
            </a:r>
          </a:p>
          <a:p>
            <a:r>
              <a:rPr lang="en-US" sz="1400" dirty="0"/>
              <a:t>TIME – time of day</a:t>
            </a:r>
          </a:p>
          <a:p>
            <a:r>
              <a:rPr lang="en-US" sz="1400" dirty="0"/>
              <a:t>TIMESTAMP – date + time</a:t>
            </a:r>
          </a:p>
          <a:p>
            <a:r>
              <a:rPr lang="en-US" sz="1400" dirty="0"/>
              <a:t>TIMESTAMPZ – date + time + </a:t>
            </a:r>
            <a:r>
              <a:rPr lang="en-US" sz="1400" dirty="0" err="1"/>
              <a:t>timezone</a:t>
            </a:r>
            <a:r>
              <a:rPr lang="en-US" sz="1400" dirty="0"/>
              <a:t> (UTC)</a:t>
            </a:r>
          </a:p>
          <a:p>
            <a:r>
              <a:rPr lang="en-US" sz="1400" dirty="0"/>
              <a:t>NULL – is NOT false; it’s unknown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WHERE col = NULL </a:t>
            </a:r>
            <a:r>
              <a:rPr lang="en-US" sz="1400" dirty="0">
                <a:sym typeface="Wingdings" panose="05000000000000000000" pitchFamily="2" charset="2"/>
              </a:rPr>
              <a:t> incorrect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ym typeface="Wingdings" panose="05000000000000000000" pitchFamily="2" charset="2"/>
              </a:rPr>
              <a:t>WHERE col IS NULL  correct</a:t>
            </a:r>
          </a:p>
          <a:p>
            <a:r>
              <a:rPr lang="en-US" sz="1400" dirty="0">
                <a:sym typeface="Wingdings" panose="05000000000000000000" pitchFamily="2" charset="2"/>
              </a:rPr>
              <a:t>UUID – universally unique IDs</a:t>
            </a:r>
          </a:p>
          <a:p>
            <a:r>
              <a:rPr lang="en-US" sz="1400" dirty="0">
                <a:sym typeface="Wingdings" panose="05000000000000000000" pitchFamily="2" charset="2"/>
              </a:rPr>
              <a:t>JSON – raw </a:t>
            </a:r>
            <a:r>
              <a:rPr lang="en-US" sz="1400" dirty="0" err="1">
                <a:sym typeface="Wingdings" panose="05000000000000000000" pitchFamily="2" charset="2"/>
              </a:rPr>
              <a:t>json</a:t>
            </a:r>
            <a:r>
              <a:rPr lang="en-US" sz="1400" dirty="0">
                <a:sym typeface="Wingdings" panose="05000000000000000000" pitchFamily="2" charset="2"/>
              </a:rPr>
              <a:t> text</a:t>
            </a:r>
          </a:p>
          <a:p>
            <a:r>
              <a:rPr lang="en-US" sz="1400" dirty="0">
                <a:sym typeface="Wingdings" panose="05000000000000000000" pitchFamily="2" charset="2"/>
              </a:rPr>
              <a:t>JSONB – binary </a:t>
            </a:r>
            <a:r>
              <a:rPr lang="en-US" sz="1400" dirty="0" err="1">
                <a:sym typeface="Wingdings" panose="05000000000000000000" pitchFamily="2" charset="2"/>
              </a:rPr>
              <a:t>json</a:t>
            </a:r>
            <a:r>
              <a:rPr lang="en-US" sz="1400" dirty="0">
                <a:sym typeface="Wingdings" panose="05000000000000000000" pitchFamily="2" charset="2"/>
              </a:rPr>
              <a:t>, very fast access speeds</a:t>
            </a:r>
          </a:p>
          <a:p>
            <a:r>
              <a:rPr lang="en-US" sz="1400" dirty="0">
                <a:sym typeface="Wingdings" panose="05000000000000000000" pitchFamily="2" charset="2"/>
              </a:rPr>
              <a:t>ARRAY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ym typeface="Wingdings" panose="05000000000000000000" pitchFamily="2" charset="2"/>
              </a:rPr>
              <a:t>TEXT[]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INT[]</a:t>
            </a:r>
          </a:p>
          <a:p>
            <a:r>
              <a:rPr lang="en-US" sz="1400" dirty="0"/>
              <a:t>ENUM</a:t>
            </a:r>
          </a:p>
        </p:txBody>
      </p:sp>
    </p:spTree>
    <p:extLst>
      <p:ext uri="{BB962C8B-B14F-4D97-AF65-F5344CB8AC3E}">
        <p14:creationId xmlns:p14="http://schemas.microsoft.com/office/powerpoint/2010/main" val="8512051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4DD5-2AC7-74ED-3037-3977BE27B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IDs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B7AB5B-295A-0921-BDB5-31349F2194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120533"/>
              </p:ext>
            </p:extLst>
          </p:nvPr>
        </p:nvGraphicFramePr>
        <p:xfrm>
          <a:off x="2122350" y="2321543"/>
          <a:ext cx="7886700" cy="2103120"/>
        </p:xfrm>
        <a:graphic>
          <a:graphicData uri="http://schemas.openxmlformats.org/drawingml/2006/table">
            <a:tbl>
              <a:tblPr/>
              <a:tblGrid>
                <a:gridCol w="1577340">
                  <a:extLst>
                    <a:ext uri="{9D8B030D-6E8A-4147-A177-3AD203B41FA5}">
                      <a16:colId xmlns:a16="http://schemas.microsoft.com/office/drawing/2014/main" val="241012489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431261947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1152470896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627880950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955432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Size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Auto-Increment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Index Speed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Good for Distributed?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08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SERIAL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Very 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1942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BIGSERIAL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8B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Very 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810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INTEGER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No**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Very 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UUID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16B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Optional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89936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0349F59-68DF-FD0E-C0CE-134D28C1DEA4}"/>
              </a:ext>
            </a:extLst>
          </p:cNvPr>
          <p:cNvSpPr txBox="1"/>
          <p:nvPr/>
        </p:nvSpPr>
        <p:spPr>
          <a:xfrm>
            <a:off x="2284830" y="4850023"/>
            <a:ext cx="79700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Since Postgres 10, we have SQL standard IDENTITY (replaces SERIAL)</a:t>
            </a:r>
          </a:p>
          <a:p>
            <a:br>
              <a:rPr lang="en-US" dirty="0"/>
            </a:br>
            <a:r>
              <a:rPr lang="en-US" dirty="0"/>
              <a:t>** = id INTEGER GENERATED ALWAYS AS IDENTITY PRIMARY KEY</a:t>
            </a:r>
          </a:p>
        </p:txBody>
      </p:sp>
    </p:spTree>
    <p:extLst>
      <p:ext uri="{BB962C8B-B14F-4D97-AF65-F5344CB8AC3E}">
        <p14:creationId xmlns:p14="http://schemas.microsoft.com/office/powerpoint/2010/main" val="12587408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AEC0C-5EBF-F7B1-7527-91DDC4FD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datatypes, ENUM, &amp; Regex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3E5FDE1-C9B7-1FA8-0FEB-08B31A47C4B2}"/>
              </a:ext>
            </a:extLst>
          </p:cNvPr>
          <p:cNvSpPr txBox="1">
            <a:spLocks/>
          </p:cNvSpPr>
          <p:nvPr/>
        </p:nvSpPr>
        <p:spPr>
          <a:xfrm>
            <a:off x="1387489" y="2706856"/>
            <a:ext cx="6072996" cy="32995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</a:rPr>
              <a:t>CREATE TYPE mood AS ENUM('sad', 'ok', 'happy’);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CREATE DOMAIN </a:t>
            </a:r>
            <a:r>
              <a:rPr lang="en-US" sz="1600" dirty="0" err="1">
                <a:solidFill>
                  <a:schemeClr val="tx1"/>
                </a:solidFill>
              </a:rPr>
              <a:t>email_address</a:t>
            </a:r>
            <a:r>
              <a:rPr lang="en-US" sz="1600" dirty="0">
                <a:solidFill>
                  <a:schemeClr val="tx1"/>
                </a:solidFill>
              </a:rPr>
              <a:t> AS TEXT</a:t>
            </a:r>
          </a:p>
          <a:p>
            <a:r>
              <a:rPr lang="en-US" sz="1600" dirty="0">
                <a:solidFill>
                  <a:schemeClr val="tx1"/>
                </a:solidFill>
              </a:rPr>
              <a:t>CHECK (</a:t>
            </a:r>
          </a:p>
          <a:p>
            <a:r>
              <a:rPr lang="en-US" sz="1600" dirty="0">
                <a:solidFill>
                  <a:schemeClr val="tx1"/>
                </a:solidFill>
              </a:rPr>
              <a:t>    VALUE ~* 'regex expression here to format email'</a:t>
            </a:r>
          </a:p>
          <a:p>
            <a:r>
              <a:rPr lang="en-US" sz="1600" dirty="0">
                <a:solidFill>
                  <a:schemeClr val="tx1"/>
                </a:solidFill>
              </a:rPr>
              <a:t>)</a:t>
            </a:r>
          </a:p>
          <a:p>
            <a:br>
              <a:rPr lang="en-US" sz="1600" dirty="0">
                <a:solidFill>
                  <a:schemeClr val="tx1"/>
                </a:solidFill>
              </a:rPr>
            </a:br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dirty="0">
                <a:solidFill>
                  <a:schemeClr val="tx1"/>
                </a:solidFill>
              </a:rPr>
              <a:t>~ -- regex case sensitive</a:t>
            </a:r>
          </a:p>
          <a:p>
            <a:r>
              <a:rPr lang="en-US" sz="1600" dirty="0">
                <a:solidFill>
                  <a:schemeClr val="tx1"/>
                </a:solidFill>
              </a:rPr>
              <a:t>~* -- regex case insensitive</a:t>
            </a:r>
          </a:p>
          <a:p>
            <a:r>
              <a:rPr lang="en-US" sz="1600" dirty="0">
                <a:solidFill>
                  <a:schemeClr val="tx1"/>
                </a:solidFill>
              </a:rPr>
              <a:t>!~ -- regex does not match case sensitive</a:t>
            </a:r>
          </a:p>
          <a:p>
            <a:r>
              <a:rPr lang="en-US" sz="1600" dirty="0">
                <a:solidFill>
                  <a:schemeClr val="tx1"/>
                </a:solidFill>
              </a:rPr>
              <a:t>!~* -- regex does not match case insensitive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A58DB-C72F-F344-D2A8-175A4FFE1FED}"/>
              </a:ext>
            </a:extLst>
          </p:cNvPr>
          <p:cNvSpPr txBox="1"/>
          <p:nvPr/>
        </p:nvSpPr>
        <p:spPr>
          <a:xfrm>
            <a:off x="7460485" y="3657932"/>
            <a:ext cx="347644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CREATE TYPE address AS (</a:t>
            </a:r>
          </a:p>
          <a:p>
            <a:r>
              <a:rPr lang="en-US" sz="1400" dirty="0"/>
              <a:t>    street TEXT,</a:t>
            </a:r>
          </a:p>
          <a:p>
            <a:r>
              <a:rPr lang="en-US" sz="1400" dirty="0"/>
              <a:t>    city TEXT,</a:t>
            </a:r>
          </a:p>
          <a:p>
            <a:r>
              <a:rPr lang="en-US" sz="1400" dirty="0"/>
              <a:t>    state char(2),</a:t>
            </a:r>
          </a:p>
          <a:p>
            <a:r>
              <a:rPr lang="en-US" sz="1400" dirty="0"/>
              <a:t>    zip TEXT</a:t>
            </a:r>
          </a:p>
          <a:p>
            <a:r>
              <a:rPr lang="en-US" sz="1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45792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95B8C-201E-C7AA-FEE1-1A1279C2E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&amp; Alter Tables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2262306-727B-2471-C937-6BB718D873B8}"/>
              </a:ext>
            </a:extLst>
          </p:cNvPr>
          <p:cNvSpPr txBox="1">
            <a:spLocks/>
          </p:cNvSpPr>
          <p:nvPr/>
        </p:nvSpPr>
        <p:spPr>
          <a:xfrm>
            <a:off x="1309235" y="2707695"/>
            <a:ext cx="5032032" cy="36297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CREATE TABLE IF NOT EXISTS users (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</a:t>
            </a:r>
            <a:r>
              <a:rPr lang="en-US" sz="1200" dirty="0" err="1">
                <a:solidFill>
                  <a:schemeClr val="tx1"/>
                </a:solidFill>
              </a:rPr>
              <a:t>user_id</a:t>
            </a:r>
            <a:r>
              <a:rPr lang="en-US" sz="1200" dirty="0">
                <a:solidFill>
                  <a:schemeClr val="tx1"/>
                </a:solidFill>
              </a:rPr>
              <a:t> UUID PRIMARY KEY,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email TEXT NOT NULL UNIQUE,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age INT CHECK (age &gt;= 18),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</a:t>
            </a:r>
            <a:r>
              <a:rPr lang="en-US" sz="1200" dirty="0" err="1">
                <a:solidFill>
                  <a:schemeClr val="tx1"/>
                </a:solidFill>
              </a:rPr>
              <a:t>created_at</a:t>
            </a:r>
            <a:r>
              <a:rPr lang="en-US" sz="1200" dirty="0">
                <a:solidFill>
                  <a:schemeClr val="tx1"/>
                </a:solidFill>
              </a:rPr>
              <a:t> TIMESTAMP DEFAULT NOW(),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banned BOOLEAN,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</a:t>
            </a:r>
            <a:r>
              <a:rPr lang="en-US" sz="1200" dirty="0" err="1">
                <a:solidFill>
                  <a:schemeClr val="tx1"/>
                </a:solidFill>
              </a:rPr>
              <a:t>last_login</a:t>
            </a:r>
            <a:r>
              <a:rPr lang="en-US" sz="1200" dirty="0">
                <a:solidFill>
                  <a:schemeClr val="tx1"/>
                </a:solidFill>
              </a:rPr>
              <a:t> TIMESTAMP,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    </a:t>
            </a:r>
            <a:r>
              <a:rPr lang="en-US" sz="1200" dirty="0" err="1">
                <a:solidFill>
                  <a:schemeClr val="tx1"/>
                </a:solidFill>
              </a:rPr>
              <a:t>is_active</a:t>
            </a:r>
            <a:r>
              <a:rPr lang="en-US" sz="1200" dirty="0">
                <a:solidFill>
                  <a:schemeClr val="tx1"/>
                </a:solidFill>
              </a:rPr>
              <a:t> BOOLEAN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);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ALTER TABLE users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ADD COLUMN </a:t>
            </a:r>
            <a:r>
              <a:rPr lang="en-US" sz="1200" dirty="0" err="1">
                <a:solidFill>
                  <a:schemeClr val="tx1"/>
                </a:solidFill>
              </a:rPr>
              <a:t>is_active</a:t>
            </a:r>
            <a:r>
              <a:rPr lang="en-US" sz="1200" dirty="0">
                <a:solidFill>
                  <a:schemeClr val="tx1"/>
                </a:solidFill>
              </a:rPr>
              <a:t> BOOLEAN DEFAULT true;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br>
              <a:rPr lang="en-US" sz="1200" dirty="0">
                <a:solidFill>
                  <a:schemeClr val="tx1"/>
                </a:solidFill>
              </a:rPr>
            </a:b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ALTER TABLE users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ALTER COLUMN email SET NOT NULL;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9F6F78-877F-390E-0802-B9A8C5E26EEB}"/>
              </a:ext>
            </a:extLst>
          </p:cNvPr>
          <p:cNvSpPr txBox="1"/>
          <p:nvPr/>
        </p:nvSpPr>
        <p:spPr>
          <a:xfrm>
            <a:off x="6341267" y="4650582"/>
            <a:ext cx="4572000" cy="82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ALTER TABLE users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DROP CONSTRAINT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users_age_check</a:t>
            </a:r>
            <a:r>
              <a:rPr lang="en-US" b="0" dirty="0"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ADD CONSTRAINT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users_age_check</a:t>
            </a:r>
            <a:r>
              <a:rPr lang="en-US" b="0" dirty="0">
                <a:effectLst/>
                <a:latin typeface="Consolas" panose="020B0609020204030204" pitchFamily="49" charset="0"/>
              </a:rPr>
              <a:t> CHECK (age &gt;= 21);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8BFA39-367B-66B6-3B4D-FBDCCF57EAB2}"/>
              </a:ext>
            </a:extLst>
          </p:cNvPr>
          <p:cNvSpPr txBox="1"/>
          <p:nvPr/>
        </p:nvSpPr>
        <p:spPr>
          <a:xfrm>
            <a:off x="6883998" y="3155378"/>
            <a:ext cx="3433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 that you need to drop and then create a new check constraint. You don’t technically ever edit one.</a:t>
            </a:r>
          </a:p>
        </p:txBody>
      </p:sp>
    </p:spTree>
    <p:extLst>
      <p:ext uri="{BB962C8B-B14F-4D97-AF65-F5344CB8AC3E}">
        <p14:creationId xmlns:p14="http://schemas.microsoft.com/office/powerpoint/2010/main" val="5685042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DB742-A017-212E-229F-A98C0C5FC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2A459C3-B45C-4ED9-C77D-27B036A45601}"/>
              </a:ext>
            </a:extLst>
          </p:cNvPr>
          <p:cNvSpPr txBox="1">
            <a:spLocks/>
          </p:cNvSpPr>
          <p:nvPr/>
        </p:nvSpPr>
        <p:spPr>
          <a:xfrm>
            <a:off x="1656713" y="3429000"/>
            <a:ext cx="8229240" cy="29829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Short form: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CREATE TABLE IF NOT EXISTS orders (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order_id UUID PRIMARY KEY,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user_id UUID NOT NULL REFERENCES users(user_id)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Full form: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CREATE TABLE orders (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order_id UUID PRIMARY KEY,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user_id UUID,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FOREIGN KEY (user_id)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    REFERENCES users(user_id)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        ON DELETE SET NULL</a:t>
            </a:r>
          </a:p>
          <a:p>
            <a:pPr>
              <a:spcBef>
                <a:spcPts val="0"/>
              </a:spcBef>
            </a:pPr>
            <a:r>
              <a:rPr lang="en-US" sz="20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0"/>
              </a:spcBef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08ECAC-F573-C59C-2028-5B13B996F20F}"/>
              </a:ext>
            </a:extLst>
          </p:cNvPr>
          <p:cNvSpPr txBox="1"/>
          <p:nvPr/>
        </p:nvSpPr>
        <p:spPr>
          <a:xfrm>
            <a:off x="6296811" y="5348283"/>
            <a:ext cx="34333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we can also set:</a:t>
            </a:r>
          </a:p>
          <a:p>
            <a:r>
              <a:rPr lang="en-US" dirty="0"/>
              <a:t>ON DELETE CASCADE</a:t>
            </a:r>
          </a:p>
          <a:p>
            <a:r>
              <a:rPr lang="en-US" dirty="0"/>
              <a:t>ON UPDATE CASCADE</a:t>
            </a:r>
          </a:p>
        </p:txBody>
      </p:sp>
    </p:spTree>
    <p:extLst>
      <p:ext uri="{BB962C8B-B14F-4D97-AF65-F5344CB8AC3E}">
        <p14:creationId xmlns:p14="http://schemas.microsoft.com/office/powerpoint/2010/main" val="17494092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89DD-1D36-4EF2-408C-45DDCAE38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&amp; update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BC771466-1E99-2F7C-5074-E54D7728E9CD}"/>
              </a:ext>
            </a:extLst>
          </p:cNvPr>
          <p:cNvSpPr txBox="1">
            <a:spLocks/>
          </p:cNvSpPr>
          <p:nvPr/>
        </p:nvSpPr>
        <p:spPr>
          <a:xfrm>
            <a:off x="1014608" y="2669026"/>
            <a:ext cx="4781330" cy="29829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400" dirty="0">
                <a:solidFill>
                  <a:schemeClr val="tx1"/>
                </a:solidFill>
              </a:rPr>
              <a:t>INSERT INTO users (</a:t>
            </a:r>
            <a:r>
              <a:rPr lang="en-US" sz="1400" dirty="0" err="1">
                <a:solidFill>
                  <a:schemeClr val="tx1"/>
                </a:solidFill>
              </a:rPr>
              <a:t>user_id</a:t>
            </a:r>
            <a:r>
              <a:rPr lang="en-US" sz="1400" dirty="0">
                <a:solidFill>
                  <a:schemeClr val="tx1"/>
                </a:solidFill>
              </a:rPr>
              <a:t>, email)</a:t>
            </a:r>
          </a:p>
          <a:p>
            <a:r>
              <a:rPr lang="en-US" sz="1400" dirty="0">
                <a:solidFill>
                  <a:schemeClr val="tx1"/>
                </a:solidFill>
              </a:rPr>
              <a:t>VALUES</a:t>
            </a:r>
          </a:p>
          <a:p>
            <a:r>
              <a:rPr lang="en-US" sz="1400" dirty="0">
                <a:solidFill>
                  <a:schemeClr val="tx1"/>
                </a:solidFill>
              </a:rPr>
              <a:t>    (</a:t>
            </a:r>
            <a:r>
              <a:rPr lang="en-US" sz="1400" dirty="0" err="1">
                <a:solidFill>
                  <a:schemeClr val="tx1"/>
                </a:solidFill>
              </a:rPr>
              <a:t>gen_random_uuid</a:t>
            </a:r>
            <a:r>
              <a:rPr lang="en-US" sz="1400" dirty="0">
                <a:solidFill>
                  <a:schemeClr val="tx1"/>
                </a:solidFill>
              </a:rPr>
              <a:t>(), 'a@example.com'),</a:t>
            </a:r>
          </a:p>
          <a:p>
            <a:r>
              <a:rPr lang="en-US" sz="1400" dirty="0">
                <a:solidFill>
                  <a:schemeClr val="tx1"/>
                </a:solidFill>
              </a:rPr>
              <a:t>    (</a:t>
            </a:r>
            <a:r>
              <a:rPr lang="en-US" sz="1400" dirty="0" err="1">
                <a:solidFill>
                  <a:schemeClr val="tx1"/>
                </a:solidFill>
              </a:rPr>
              <a:t>gen_random_uuid</a:t>
            </a:r>
            <a:r>
              <a:rPr lang="en-US" sz="1400" dirty="0">
                <a:solidFill>
                  <a:schemeClr val="tx1"/>
                </a:solidFill>
              </a:rPr>
              <a:t>(), 'b@example.com');</a:t>
            </a:r>
          </a:p>
          <a:p>
            <a:br>
              <a:rPr lang="en-US" sz="1400" dirty="0">
                <a:solidFill>
                  <a:schemeClr val="tx1"/>
                </a:solidFill>
              </a:rPr>
            </a:br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dirty="0">
                <a:solidFill>
                  <a:schemeClr val="tx1"/>
                </a:solidFill>
              </a:rPr>
              <a:t>UPDATE users </a:t>
            </a:r>
          </a:p>
          <a:p>
            <a:r>
              <a:rPr lang="en-US" sz="1400" dirty="0">
                <a:solidFill>
                  <a:schemeClr val="tx1"/>
                </a:solidFill>
              </a:rPr>
              <a:t>SET email = 'new@example.com'</a:t>
            </a:r>
          </a:p>
          <a:p>
            <a:r>
              <a:rPr lang="en-US" sz="1400" dirty="0">
                <a:solidFill>
                  <a:schemeClr val="tx1"/>
                </a:solidFill>
              </a:rPr>
              <a:t>WHERE </a:t>
            </a:r>
            <a:r>
              <a:rPr lang="en-US" sz="1400" dirty="0" err="1">
                <a:solidFill>
                  <a:schemeClr val="tx1"/>
                </a:solidFill>
              </a:rPr>
              <a:t>user_id</a:t>
            </a:r>
            <a:r>
              <a:rPr lang="en-US" sz="1400" dirty="0">
                <a:solidFill>
                  <a:schemeClr val="tx1"/>
                </a:solidFill>
              </a:rPr>
              <a:t> = 'something';</a:t>
            </a:r>
          </a:p>
          <a:p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966709-3E67-A6B8-158A-EF80F70FE430}"/>
              </a:ext>
            </a:extLst>
          </p:cNvPr>
          <p:cNvSpPr txBox="1"/>
          <p:nvPr/>
        </p:nvSpPr>
        <p:spPr>
          <a:xfrm>
            <a:off x="6096000" y="2924181"/>
            <a:ext cx="4965596" cy="2979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UPDATE users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SET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email = 'new@example.com',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age = 24,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last_login</a:t>
            </a:r>
            <a:r>
              <a:rPr lang="en-US" b="0" dirty="0">
                <a:effectLst/>
                <a:latin typeface="Consolas" panose="020B0609020204030204" pitchFamily="49" charset="0"/>
              </a:rPr>
              <a:t> = NOW()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WHERE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user_id</a:t>
            </a:r>
            <a:r>
              <a:rPr lang="en-US" b="0" dirty="0">
                <a:effectLst/>
                <a:latin typeface="Consolas" panose="020B0609020204030204" pitchFamily="49" charset="0"/>
              </a:rPr>
              <a:t> = 'something';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effectLst/>
                <a:latin typeface="Consolas" panose="020B0609020204030204" pitchFamily="49" charset="0"/>
              </a:rPr>
            </a:br>
            <a:endParaRPr lang="en-US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UPDATE users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SET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is_active</a:t>
            </a:r>
            <a:r>
              <a:rPr lang="en-US" b="0" dirty="0">
                <a:effectLst/>
                <a:latin typeface="Consolas" panose="020B0609020204030204" pitchFamily="49" charset="0"/>
              </a:rPr>
              <a:t> = CASE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     WHEN banned = false THEN true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    ELSE true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END,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 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last_login</a:t>
            </a:r>
            <a:r>
              <a:rPr lang="en-US" b="0" dirty="0">
                <a:effectLst/>
                <a:latin typeface="Consolas" panose="020B0609020204030204" pitchFamily="49" charset="0"/>
              </a:rPr>
              <a:t> = NOW()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WHERE </a:t>
            </a:r>
            <a:r>
              <a:rPr lang="en-US" b="0" dirty="0" err="1">
                <a:effectLst/>
                <a:latin typeface="Consolas" panose="020B0609020204030204" pitchFamily="49" charset="0"/>
              </a:rPr>
              <a:t>user_id</a:t>
            </a:r>
            <a:r>
              <a:rPr lang="en-US" b="0" dirty="0">
                <a:effectLst/>
                <a:latin typeface="Consolas" panose="020B0609020204030204" pitchFamily="49" charset="0"/>
              </a:rPr>
              <a:t> = 'something';</a:t>
            </a:r>
          </a:p>
        </p:txBody>
      </p:sp>
    </p:spTree>
    <p:extLst>
      <p:ext uri="{BB962C8B-B14F-4D97-AF65-F5344CB8AC3E}">
        <p14:creationId xmlns:p14="http://schemas.microsoft.com/office/powerpoint/2010/main" val="9907188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7675-34D3-1EDA-F338-CD1C0138C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4F01CF-6887-79A1-533D-C54305E47968}"/>
              </a:ext>
            </a:extLst>
          </p:cNvPr>
          <p:cNvSpPr txBox="1"/>
          <p:nvPr/>
        </p:nvSpPr>
        <p:spPr>
          <a:xfrm>
            <a:off x="3587141" y="2923898"/>
            <a:ext cx="6097044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DELETE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last_login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&lt; NOW() - INTERVAL '2 years';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F69ABD-7EA7-F4D3-A3FC-363B1B52FB64}"/>
              </a:ext>
            </a:extLst>
          </p:cNvPr>
          <p:cNvSpPr txBox="1"/>
          <p:nvPr/>
        </p:nvSpPr>
        <p:spPr>
          <a:xfrm>
            <a:off x="3092363" y="4035755"/>
            <a:ext cx="6097044" cy="1542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INTERVAL supports: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    year, month, day, hour, minute, second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    milliseconds, microseconds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    you can do arithmetic against it, or generate from functions: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    INTERVAL '1 hour 10 minutes' / 2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    INTERVAL '3 days 22 hours 1 minute' * 3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4981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D62BB-6022-A0A9-B087-1AF6AA2BD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 specific - returning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A6E76-B460-DA2A-10C2-D0CD0234E151}"/>
              </a:ext>
            </a:extLst>
          </p:cNvPr>
          <p:cNvSpPr txBox="1"/>
          <p:nvPr/>
        </p:nvSpPr>
        <p:spPr>
          <a:xfrm>
            <a:off x="3468144" y="2024018"/>
            <a:ext cx="60970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INSERT RETURNING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INSERT INTO users (email)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VALUES ('new@example.com')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RETURNING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user_id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UPDATE RETURNING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UPDATE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SET active = false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last_login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&lt; NOW() - INTERVAL '1 year'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RETURNING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user_id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, email;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DELETE RETURNING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DELETE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banned = true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RETURNING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user_id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9037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CBD27-D897-800C-C77C-EDEEF0995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Postgres specific - </a:t>
            </a:r>
            <a:r>
              <a:rPr lang="en-US" dirty="0" err="1"/>
              <a:t>upsert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775C14-3603-DC4F-DE4E-38D561539EEB}"/>
              </a:ext>
            </a:extLst>
          </p:cNvPr>
          <p:cNvSpPr txBox="1"/>
          <p:nvPr/>
        </p:nvSpPr>
        <p:spPr>
          <a:xfrm>
            <a:off x="743734" y="3023118"/>
            <a:ext cx="6097044" cy="81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INSERT INTO users (email, name)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VALUES ('c@example.com', 'Alice')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ON CONFLICT (email)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DO UPDATE SET name = EXCLUDED.name;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A66AA-A086-646D-8EF1-D43B89728918}"/>
              </a:ext>
            </a:extLst>
          </p:cNvPr>
          <p:cNvSpPr txBox="1"/>
          <p:nvPr/>
        </p:nvSpPr>
        <p:spPr>
          <a:xfrm>
            <a:off x="793838" y="2269907"/>
            <a:ext cx="4385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EXCLUDED = record that had the conflict 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B3C452-254F-8A01-478C-378C4CC2708E}"/>
              </a:ext>
            </a:extLst>
          </p:cNvPr>
          <p:cNvSpPr txBox="1"/>
          <p:nvPr/>
        </p:nvSpPr>
        <p:spPr>
          <a:xfrm>
            <a:off x="6292763" y="2931812"/>
            <a:ext cx="6097044" cy="994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INSERT INTO users (email, name)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VALUES ('d@example.com', 'Alice')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ON CONFLICT (email)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DO UPDATE SET name = EXCLUDED.name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RETURNING *;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B34399-387B-05D3-0438-8B73E7198101}"/>
              </a:ext>
            </a:extLst>
          </p:cNvPr>
          <p:cNvSpPr txBox="1"/>
          <p:nvPr/>
        </p:nvSpPr>
        <p:spPr>
          <a:xfrm>
            <a:off x="6096000" y="2277181"/>
            <a:ext cx="4385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You can even still use returning: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10241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AE768-0570-B3B4-9A97-D8AF9790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879A0-CA04-F303-1003-BA9C1B6818B7}"/>
              </a:ext>
            </a:extLst>
          </p:cNvPr>
          <p:cNvSpPr txBox="1"/>
          <p:nvPr/>
        </p:nvSpPr>
        <p:spPr>
          <a:xfrm>
            <a:off x="781310" y="2387596"/>
            <a:ext cx="63835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email = 'something@something.com';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BETWEEN '2024-01-01' AND '2024-12-31';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role IN ('admin', 'editor');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50044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970B-ACEC-4A44-5343-BD66A59C1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with wildcards – case sensitive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3DABB-34E1-3EE0-853F-37C22B9A4043}"/>
              </a:ext>
            </a:extLst>
          </p:cNvPr>
          <p:cNvSpPr txBox="1"/>
          <p:nvPr/>
        </p:nvSpPr>
        <p:spPr>
          <a:xfrm>
            <a:off x="3781295" y="3760940"/>
            <a:ext cx="6097044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email LIKE '%@gmail.com';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96005-6F11-A2FA-E52B-8DB76D50E356}"/>
              </a:ext>
            </a:extLst>
          </p:cNvPr>
          <p:cNvSpPr txBox="1"/>
          <p:nvPr/>
        </p:nvSpPr>
        <p:spPr>
          <a:xfrm>
            <a:off x="3856451" y="2610748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% = zero or more characters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_ = exactly one character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64318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FA340-38B7-F0FC-C1E5-46B151944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Select with wildcards – case insensitive (Postgres specific)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1C2EB-91A6-F186-370B-78364D7127CD}"/>
              </a:ext>
            </a:extLst>
          </p:cNvPr>
          <p:cNvSpPr txBox="1"/>
          <p:nvPr/>
        </p:nvSpPr>
        <p:spPr>
          <a:xfrm>
            <a:off x="4031814" y="2535592"/>
            <a:ext cx="6097044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email ILIKE '%gmail.com';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0D40DC-282B-AECF-C7CD-32391FACBA33}"/>
              </a:ext>
            </a:extLst>
          </p:cNvPr>
          <p:cNvSpPr txBox="1"/>
          <p:nvPr/>
        </p:nvSpPr>
        <p:spPr>
          <a:xfrm>
            <a:off x="4031814" y="3597345"/>
            <a:ext cx="60970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Regex matching case sensitive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email ~ 'regex expression here’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Regex matching case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insenstive</a:t>
            </a: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WHERE email ~* 'regex expression here'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3291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ADD9C-EFA8-2283-7767-4B8B44C33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by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B5CB06-3737-9670-B2A5-0995E8948CC4}"/>
              </a:ext>
            </a:extLst>
          </p:cNvPr>
          <p:cNvSpPr txBox="1"/>
          <p:nvPr/>
        </p:nvSpPr>
        <p:spPr>
          <a:xfrm>
            <a:off x="3048522" y="2475278"/>
            <a:ext cx="6097044" cy="1907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ORDER BY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ORDER BY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DESC;</a:t>
            </a:r>
          </a:p>
          <a:p>
            <a:pPr>
              <a:lnSpc>
                <a:spcPct val="100000"/>
              </a:lnSpc>
              <a:buNone/>
            </a:pPr>
            <a:br>
              <a:rPr lang="en-US" sz="1800" b="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b="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SELECT * FROM users 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ORDER BY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last_login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ASC, </a:t>
            </a:r>
            <a:r>
              <a:rPr lang="en-US" sz="1800" b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 DESC NULLS LAST;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89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9D9D-5756-279A-09BA-764A1529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DROP &amp; Truncate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B6435-F378-6E13-3112-64EBB2643B6F}"/>
              </a:ext>
            </a:extLst>
          </p:cNvPr>
          <p:cNvSpPr txBox="1"/>
          <p:nvPr/>
        </p:nvSpPr>
        <p:spPr>
          <a:xfrm>
            <a:off x="1361013" y="3186597"/>
            <a:ext cx="6097044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DROP TABLE IF EXISTS users;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DROP TABLE IF EXISTS orders;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F92B92-B2D0-15CA-7017-ABE378EF1C29}"/>
              </a:ext>
            </a:extLst>
          </p:cNvPr>
          <p:cNvSpPr txBox="1"/>
          <p:nvPr/>
        </p:nvSpPr>
        <p:spPr>
          <a:xfrm>
            <a:off x="1265689" y="4266385"/>
            <a:ext cx="60970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Drops tables and any dependent tables:</a:t>
            </a:r>
          </a:p>
          <a:p>
            <a:pPr>
              <a:lnSpc>
                <a:spcPct val="100000"/>
              </a:lnSpc>
              <a:buNone/>
            </a:pPr>
            <a:r>
              <a:rPr lang="en-US" sz="1800" b="0" dirty="0">
                <a:solidFill>
                  <a:schemeClr val="tx1"/>
                </a:solidFill>
                <a:effectLst/>
                <a:latin typeface="+mn-lt"/>
              </a:rPr>
              <a:t>DROP TABLE users CASCADE;</a:t>
            </a: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FC7E8F-FCFF-3DFD-3416-5C3467401EFF}"/>
              </a:ext>
            </a:extLst>
          </p:cNvPr>
          <p:cNvSpPr txBox="1"/>
          <p:nvPr/>
        </p:nvSpPr>
        <p:spPr>
          <a:xfrm>
            <a:off x="2291480" y="2214787"/>
            <a:ext cx="80871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US" sz="1600" b="1" i="0" dirty="0">
                <a:solidFill>
                  <a:schemeClr val="tx1"/>
                </a:solidFill>
                <a:effectLst/>
                <a:latin typeface="+mn-lt"/>
              </a:rPr>
              <a:t> removes </a:t>
            </a:r>
            <a:r>
              <a:rPr lang="en-US" sz="1600" b="1" dirty="0"/>
              <a:t>the table itself</a:t>
            </a:r>
            <a:r>
              <a:rPr lang="en-US" sz="1600" b="1" i="0" dirty="0">
                <a:solidFill>
                  <a:schemeClr val="tx1"/>
                </a:solidFill>
                <a:effectLst/>
                <a:latin typeface="+mn-lt"/>
              </a:rPr>
              <a:t>, while 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+mn-lt"/>
              </a:rPr>
              <a:t>TRUNCATE</a:t>
            </a:r>
            <a:r>
              <a:rPr lang="en-US" sz="1600" b="1" i="0" dirty="0">
                <a:solidFill>
                  <a:schemeClr val="tx1"/>
                </a:solidFill>
                <a:effectLst/>
                <a:latin typeface="+mn-lt"/>
              </a:rPr>
              <a:t> empties the whole table quickly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D3DFC9-5908-7377-DC6C-6B4428F5F19C}"/>
              </a:ext>
            </a:extLst>
          </p:cNvPr>
          <p:cNvSpPr txBox="1"/>
          <p:nvPr/>
        </p:nvSpPr>
        <p:spPr>
          <a:xfrm>
            <a:off x="7267408" y="3616175"/>
            <a:ext cx="39371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endParaRPr lang="en-US" dirty="0"/>
          </a:p>
          <a:p>
            <a:pPr marL="0" marR="0"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TRUNCATE TABLE users;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4B9088-E087-BB68-DFA6-59DDD1BB4B4C}"/>
              </a:ext>
            </a:extLst>
          </p:cNvPr>
          <p:cNvSpPr txBox="1"/>
          <p:nvPr/>
        </p:nvSpPr>
        <p:spPr>
          <a:xfrm>
            <a:off x="3574615" y="5793393"/>
            <a:ext cx="6097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Note: You can’t TRUNCATE or DROP tables based on conditions. I.e. the following is INCORRECT:</a:t>
            </a:r>
            <a:br>
              <a:rPr lang="en-US" sz="1800" dirty="0"/>
            </a:br>
            <a:r>
              <a:rPr lang="en-US" sz="1800" dirty="0">
                <a:solidFill>
                  <a:srgbClr val="FF0000"/>
                </a:solidFill>
              </a:rPr>
              <a:t>TRUNCATE TABLE users WHERE id = 10;</a:t>
            </a:r>
            <a:endParaRPr lang="en-US" sz="1800" b="0" i="0" dirty="0">
              <a:solidFill>
                <a:srgbClr val="FF0000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604680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9B26-935F-791D-3A95-68A53C485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Aggregate Functions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1C2E3AE7-EF50-0896-2D25-74CFC42C0E96}"/>
              </a:ext>
            </a:extLst>
          </p:cNvPr>
          <p:cNvSpPr/>
          <p:nvPr/>
        </p:nvSpPr>
        <p:spPr>
          <a:xfrm>
            <a:off x="4603530" y="2749719"/>
            <a:ext cx="2846160" cy="95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MIN, MAX, AVG, COUNT, SUM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Used in GROUP BY operations to return aggregate data.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EC8008-D0FE-984F-4072-2A085089B728}"/>
              </a:ext>
            </a:extLst>
          </p:cNvPr>
          <p:cNvSpPr txBox="1"/>
          <p:nvPr/>
        </p:nvSpPr>
        <p:spPr>
          <a:xfrm>
            <a:off x="3791791" y="4182346"/>
            <a:ext cx="5051584" cy="1709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SELECT 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billing_country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    COUNT(*) AS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customer_count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    AVG(total) AS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avg_total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    MIN(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invoice_date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) AS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first_order</a:t>
            </a:r>
            <a:endParaRPr lang="en-US" sz="1400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FROM invoice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WHERE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invoice_date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&gt;= NOW() -INTERVAL ‘</a:t>
            </a:r>
            <a:r>
              <a:rPr lang="en-US" sz="1400" dirty="0">
                <a:latin typeface="Consolas" panose="020B0609020204030204" pitchFamily="49" charset="0"/>
              </a:rPr>
              <a:t>1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year'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GROUP BY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billing_country</a:t>
            </a:r>
            <a:endParaRPr lang="en-US" sz="1400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effectLst/>
                <a:latin typeface="Consolas" panose="020B0609020204030204" pitchFamily="49" charset="0"/>
              </a:rPr>
              <a:t>HAVING COUNT(*) &gt; 10;</a:t>
            </a:r>
          </a:p>
        </p:txBody>
      </p:sp>
    </p:spTree>
    <p:extLst>
      <p:ext uri="{BB962C8B-B14F-4D97-AF65-F5344CB8AC3E}">
        <p14:creationId xmlns:p14="http://schemas.microsoft.com/office/powerpoint/2010/main" val="19168845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E335-3D1F-0811-74FC-4A025B3B1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Scalar Functions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74B887F-3189-CD19-9001-0804FB5C36C3}"/>
              </a:ext>
            </a:extLst>
          </p:cNvPr>
          <p:cNvSpPr/>
          <p:nvPr/>
        </p:nvSpPr>
        <p:spPr>
          <a:xfrm>
            <a:off x="1288563" y="2055231"/>
            <a:ext cx="4571640" cy="991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SELECT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customer_id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UPPER(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last_name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 AS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last_name_upper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LOWER(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first_name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 AS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first_name_lower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,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LENGTH(email) AS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email_length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FROM customer;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CD90578E-4B17-6D53-2B72-7EA7115D74D5}"/>
              </a:ext>
            </a:extLst>
          </p:cNvPr>
          <p:cNvSpPr/>
          <p:nvPr/>
        </p:nvSpPr>
        <p:spPr>
          <a:xfrm>
            <a:off x="1926730" y="4837779"/>
            <a:ext cx="457164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String/Text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UPPER, LOWER, LENGTH, TRIM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SUBSTRING(str,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start_index_int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, 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length_int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CONCAT(str1, str2)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REPLACE(str, from, to) 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lvl="2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  SELECT REPLACE (‘hello’ , ‘l’, ‘x’); -&gt; ‘</a:t>
            </a:r>
            <a:r>
              <a:rPr lang="en-US" sz="1400" b="0" u="none" strike="noStrike" dirty="0" err="1">
                <a:effectLst/>
                <a:uFillTx/>
                <a:latin typeface="Arial"/>
                <a:ea typeface="Arial"/>
              </a:rPr>
              <a:t>hexxo</a:t>
            </a: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’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0B5B811-9386-7B04-749E-9DFB0DD0B46C}"/>
              </a:ext>
            </a:extLst>
          </p:cNvPr>
          <p:cNvSpPr/>
          <p:nvPr/>
        </p:nvSpPr>
        <p:spPr>
          <a:xfrm>
            <a:off x="6282370" y="4799619"/>
            <a:ext cx="4269600" cy="138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Date/Time Functions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NOW(), CURRENT_DATE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AGE(timestamp1, timestamp2) – return the difference between to timestamps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EXTRACT(field FROM timestamp)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FFFFFF"/>
              </a:buClr>
              <a:buFont typeface="Arial"/>
              <a:buChar char="•"/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  SELECT EXTRACT(MONTH from NOW());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47ACB1AB-D274-C207-6A41-39744B705F4A}"/>
              </a:ext>
            </a:extLst>
          </p:cNvPr>
          <p:cNvSpPr/>
          <p:nvPr/>
        </p:nvSpPr>
        <p:spPr>
          <a:xfrm>
            <a:off x="6498369" y="2055231"/>
            <a:ext cx="4900315" cy="62968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SELECT *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FROM invoice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WHERE EXTRACT(YEAR FROM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invoice_date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 = 2025;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F43274E0-8F0B-713B-7CD2-D3696D29823E}"/>
              </a:ext>
            </a:extLst>
          </p:cNvPr>
          <p:cNvSpPr/>
          <p:nvPr/>
        </p:nvSpPr>
        <p:spPr>
          <a:xfrm>
            <a:off x="4117690" y="3258099"/>
            <a:ext cx="4575600" cy="63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SELECT CONCAT(UPPER(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first_name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), ' ', UPPER(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last_name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)) AS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full_name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FROM customer;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10184ECD-F513-BE37-4C2C-09BEDCCB7F22}"/>
              </a:ext>
            </a:extLst>
          </p:cNvPr>
          <p:cNvSpPr/>
          <p:nvPr/>
        </p:nvSpPr>
        <p:spPr>
          <a:xfrm>
            <a:off x="4079890" y="4140819"/>
            <a:ext cx="465120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Scalar Functions differ from aggregate functions because they operate on each individual row.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4374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43BAF-83D5-2DF1-0455-49902D079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- </a:t>
            </a:r>
            <a:r>
              <a:rPr lang="en-US" dirty="0" err="1"/>
              <a:t>udf</a:t>
            </a:r>
            <a:endParaRPr lang="en-US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EFB4234-262F-9776-CBDE-97145F2F5452}"/>
              </a:ext>
            </a:extLst>
          </p:cNvPr>
          <p:cNvSpPr/>
          <p:nvPr/>
        </p:nvSpPr>
        <p:spPr>
          <a:xfrm>
            <a:off x="950756" y="2172211"/>
            <a:ext cx="4992844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Functions are predefined operations we can call and reuse.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Functions can perform queries, do DML, perform arithmetic. 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Functions MUST return a value (even if its just void).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Functions CANNOT perform TCL.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1FB5835C-4C2A-BED5-E9A1-984C2C982C56}"/>
              </a:ext>
            </a:extLst>
          </p:cNvPr>
          <p:cNvSpPr/>
          <p:nvPr/>
        </p:nvSpPr>
        <p:spPr>
          <a:xfrm>
            <a:off x="6096000" y="2163344"/>
            <a:ext cx="4926904" cy="62968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PL/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pgsql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- (Procedural language/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postgresSQL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this is how we write logic inside of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postgres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control flow, variables, error handling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4C1A83C3-D8F6-EFA6-D8AD-7ADC77131D8E}"/>
              </a:ext>
            </a:extLst>
          </p:cNvPr>
          <p:cNvSpPr/>
          <p:nvPr/>
        </p:nvSpPr>
        <p:spPr>
          <a:xfrm>
            <a:off x="950756" y="4071236"/>
            <a:ext cx="4571640" cy="13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CREATE OR REPLACE FUNCTION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add_numbers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(a INT, b INT)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RETURNS INT AS $$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BEGIN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RETURN a + b;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END;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$$ LANGUAGE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plpgsql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BFC4FAE7-59B5-9CD6-1650-8750003CD97A}"/>
              </a:ext>
            </a:extLst>
          </p:cNvPr>
          <p:cNvSpPr/>
          <p:nvPr/>
        </p:nvSpPr>
        <p:spPr>
          <a:xfrm>
            <a:off x="998267" y="5783149"/>
            <a:ext cx="457164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SELECT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add_numbers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(5, 15);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46F0531E-00EB-893D-7DC8-0985E5E99157}"/>
              </a:ext>
            </a:extLst>
          </p:cNvPr>
          <p:cNvSpPr/>
          <p:nvPr/>
        </p:nvSpPr>
        <p:spPr>
          <a:xfrm>
            <a:off x="5751534" y="4159198"/>
            <a:ext cx="6223348" cy="13478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CREATE OR REPLACE FUNCTION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add_user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p_email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TEXT,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p_age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INT)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RETURNS VOID AS $$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BEGIN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INSERT INTO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my_schema.users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, email, age) VALUES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gen_random_uuid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(),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p_email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,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p_age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END;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$$ LANGUAGE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plpgsql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8019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E244-789D-2E06-0279-E16ED702A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9C39934F-B32F-76C1-3C29-331ABAF9EDFF}"/>
              </a:ext>
            </a:extLst>
          </p:cNvPr>
          <p:cNvSpPr/>
          <p:nvPr/>
        </p:nvSpPr>
        <p:spPr>
          <a:xfrm>
            <a:off x="1743829" y="2096962"/>
            <a:ext cx="8704341" cy="13835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Stored Procedures are another way to create predefined and reusable blocks of SQL commands and logic.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They differ from functions in that: returns are optional, they CAN use TCL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Functions &gt; one-time calculations, or one-off logic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Stored Procedures &gt; long running transactions, batch operations, etc. 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583DCA41-24BC-F4EF-F362-CC6C67CB7451}"/>
              </a:ext>
            </a:extLst>
          </p:cNvPr>
          <p:cNvSpPr/>
          <p:nvPr/>
        </p:nvSpPr>
        <p:spPr>
          <a:xfrm>
            <a:off x="2642123" y="3680044"/>
            <a:ext cx="7417739" cy="24250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CREATE PROCEDURE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deactivate_user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UUID)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LANGUAGE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plpgsql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AS $$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BEGIN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IF EXISTS (SELECT 1 FROM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my_schema.users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WHERE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=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THEN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    UPDATE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my_schema.users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SET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is_active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= False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    WHERE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=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ELSE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    RAISE NOTICE 'User % not found',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p_user_id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END IF;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END;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$$;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31606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FD2F7-7391-362C-CC5E-810E188A3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Stored Procedures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509D2A92-7C75-6447-DBC4-45C6C996152C}"/>
              </a:ext>
            </a:extLst>
          </p:cNvPr>
          <p:cNvSpPr/>
          <p:nvPr/>
        </p:nvSpPr>
        <p:spPr>
          <a:xfrm>
            <a:off x="294362" y="2574540"/>
            <a:ext cx="5330175" cy="134782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CREATE PROCEDURE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get_user_count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(OUT total INT)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LANGUAGE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plpgsql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AS $$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BEGIN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SELECT COUNT(*) INTO total FROM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my_schema.users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END;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$$;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7CD4C1A1-883D-0E47-570E-60A478ECD115}"/>
              </a:ext>
            </a:extLst>
          </p:cNvPr>
          <p:cNvSpPr/>
          <p:nvPr/>
        </p:nvSpPr>
        <p:spPr>
          <a:xfrm>
            <a:off x="981257" y="4425047"/>
            <a:ext cx="5151960" cy="27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>
                <a:effectLst/>
                <a:uFillTx/>
                <a:latin typeface="Consolas"/>
                <a:ea typeface="Arial"/>
              </a:rPr>
              <a:t>CALL get_user_count(NULL);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A709E5FE-4D59-123D-161F-E6063DAD2547}"/>
              </a:ext>
            </a:extLst>
          </p:cNvPr>
          <p:cNvSpPr/>
          <p:nvPr/>
        </p:nvSpPr>
        <p:spPr>
          <a:xfrm>
            <a:off x="5959582" y="4799393"/>
            <a:ext cx="4571640" cy="45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CALL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get_invoice_sum_by_country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('USA', NULL);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AEAE007D-124D-0F95-F9C4-B879B8ED6465}"/>
              </a:ext>
            </a:extLst>
          </p:cNvPr>
          <p:cNvSpPr/>
          <p:nvPr/>
        </p:nvSpPr>
        <p:spPr>
          <a:xfrm>
            <a:off x="5959582" y="2576631"/>
            <a:ext cx="5862899" cy="18864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CREATE PROCEDURE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get_invoice_sum_by_country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(country TEXT, OUT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total_sum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NUMERIC)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LANGUAGE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plpgsql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AS $$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BEGIN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SELECT SUM(total) INTO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total_sum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FROM invoice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WHERE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billing_country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 = country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    GROUP BY </a:t>
            </a:r>
            <a:r>
              <a:rPr lang="en-US" sz="1400" b="0" u="none" strike="noStrike" dirty="0" err="1">
                <a:effectLst/>
                <a:uFillTx/>
                <a:latin typeface="Consolas"/>
                <a:ea typeface="Arial"/>
              </a:rPr>
              <a:t>billing_country</a:t>
            </a: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END;</a:t>
            </a:r>
            <a:endParaRPr lang="en-US" sz="1400" b="0" u="none" strike="noStrike" dirty="0">
              <a:effectLst/>
              <a:uFillTx/>
              <a:latin typeface="Arial"/>
            </a:endParaRPr>
          </a:p>
          <a:p>
            <a:pPr>
              <a:lnSpc>
                <a:spcPts val="1426"/>
              </a:lnSpc>
            </a:pPr>
            <a:r>
              <a:rPr lang="en-US" sz="1400" b="0" u="none" strike="noStrike" dirty="0">
                <a:effectLst/>
                <a:uFillTx/>
                <a:latin typeface="Consolas"/>
                <a:ea typeface="Arial"/>
              </a:rPr>
              <a:t>$$;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208592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3524-6192-A570-E326-D6B37D0CA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-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1A5D0-9C82-D298-8183-CF9350B31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148" y="2180496"/>
            <a:ext cx="11178659" cy="413888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Get all fields and records from customer</a:t>
            </a:r>
          </a:p>
          <a:p>
            <a:r>
              <a:rPr lang="en-US" dirty="0"/>
              <a:t>Get all fields from customer, but only if they are from Arizona</a:t>
            </a:r>
          </a:p>
          <a:p>
            <a:r>
              <a:rPr lang="en-US" dirty="0"/>
              <a:t>Get all invoices older than 6 months </a:t>
            </a:r>
          </a:p>
          <a:p>
            <a:r>
              <a:rPr lang="en-US" dirty="0"/>
              <a:t>Update all customer phone numbers to NULL if they don’t follow this format: ‘+1 555 555-5555’</a:t>
            </a:r>
          </a:p>
          <a:p>
            <a:r>
              <a:rPr lang="en-US" dirty="0"/>
              <a:t>Get all tracks that are longer than 180000 milliseconds </a:t>
            </a:r>
          </a:p>
          <a:p>
            <a:r>
              <a:rPr lang="en-US" dirty="0"/>
              <a:t>Update all customers not in the USA so that their country=USA and address, city, &amp; state are NULL</a:t>
            </a:r>
          </a:p>
          <a:p>
            <a:r>
              <a:rPr lang="en-US" dirty="0"/>
              <a:t>Given a </a:t>
            </a:r>
            <a:r>
              <a:rPr lang="en-US" dirty="0" err="1"/>
              <a:t>customer_id</a:t>
            </a:r>
            <a:r>
              <a:rPr lang="en-US" dirty="0"/>
              <a:t>, return their total spending across all invoices using a function </a:t>
            </a:r>
          </a:p>
          <a:p>
            <a:r>
              <a:rPr lang="en-US" dirty="0"/>
              <a:t>Given an </a:t>
            </a:r>
            <a:r>
              <a:rPr lang="en-US" dirty="0" err="1"/>
              <a:t>employee_id</a:t>
            </a:r>
            <a:r>
              <a:rPr lang="en-US" dirty="0"/>
              <a:t> + </a:t>
            </a:r>
            <a:r>
              <a:rPr lang="en-US" dirty="0" err="1"/>
              <a:t>new_manager_id</a:t>
            </a:r>
            <a:r>
              <a:rPr lang="en-US" dirty="0"/>
              <a:t>, create a stored procedure to update an Employee’s </a:t>
            </a:r>
            <a:r>
              <a:rPr lang="en-US" dirty="0" err="1"/>
              <a:t>ReportsTo</a:t>
            </a:r>
            <a:r>
              <a:rPr lang="en-US" dirty="0"/>
              <a:t> field.</a:t>
            </a:r>
          </a:p>
          <a:p>
            <a:pPr lvl="1"/>
            <a:r>
              <a:rPr lang="en-US" dirty="0"/>
              <a:t>Prevent an employee reporting to themselves, reporting to a non-existence employee, or creating a circular management relationship</a:t>
            </a:r>
          </a:p>
          <a:p>
            <a:r>
              <a:rPr lang="en-US" dirty="0"/>
              <a:t>Create a new schema: pets</a:t>
            </a:r>
          </a:p>
          <a:p>
            <a:pPr lvl="1"/>
            <a:r>
              <a:rPr lang="en-US" dirty="0"/>
              <a:t>Create two related tables: Customer + Pets</a:t>
            </a:r>
          </a:p>
          <a:p>
            <a:pPr lvl="1"/>
            <a:r>
              <a:rPr lang="en-US" dirty="0"/>
              <a:t>Demonstrate populating records into these tables</a:t>
            </a:r>
          </a:p>
        </p:txBody>
      </p:sp>
    </p:spTree>
    <p:extLst>
      <p:ext uri="{BB962C8B-B14F-4D97-AF65-F5344CB8AC3E}">
        <p14:creationId xmlns:p14="http://schemas.microsoft.com/office/powerpoint/2010/main" val="27134232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6DBAE-B8A7-21C6-72AB-EA14CA0C6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9B55D9A8-B516-BCA7-E79C-331BDCF6663F}"/>
              </a:ext>
            </a:extLst>
          </p:cNvPr>
          <p:cNvSpPr/>
          <p:nvPr/>
        </p:nvSpPr>
        <p:spPr>
          <a:xfrm>
            <a:off x="2495722" y="2361843"/>
            <a:ext cx="7089840" cy="30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 dirty="0">
                <a:effectLst/>
                <a:uFillTx/>
                <a:latin typeface="Arial"/>
                <a:ea typeface="Arial"/>
              </a:rPr>
              <a:t>Joins are a way to combine two tables which may or may not include filtering of records.</a:t>
            </a:r>
            <a:endParaRPr lang="en-US" sz="14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96D94643-93C6-851A-AAF8-F2E04CC00A6E}"/>
              </a:ext>
            </a:extLst>
          </p:cNvPr>
          <p:cNvSpPr/>
          <p:nvPr/>
        </p:nvSpPr>
        <p:spPr>
          <a:xfrm>
            <a:off x="2283682" y="2797083"/>
            <a:ext cx="7494840" cy="310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INNER JOIN – for each row on the left, find a matching row on the right, return the combined result.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CROSS JOIN – every row from the left table is combined with every row from the second table; This differs from INNER JOIN because no filter is applied to match the records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LEFT JOIN – return all rows from the left table, and for each row, the matching rows on the right table; If no match is found, the columns from the right table will contain NULL values.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RIGHT JOIN – returns all values from the right table, and for each row, the matching rows for the left table; Rare to use as we can just use a LEFT JOIN and swap the table order. </a:t>
            </a: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effectLst/>
                <a:uFillTx/>
                <a:latin typeface="Arial"/>
                <a:ea typeface="Arial"/>
              </a:rPr>
              <a:t>FULL OUTER JOIN – returns all rows from both tables, with NULLs in columns where no match is found on either side. </a:t>
            </a:r>
            <a:endParaRPr lang="en-US" sz="1400" b="0" u="none" strike="noStrike"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150701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</TotalTime>
  <Words>4624</Words>
  <Application>Microsoft Office PowerPoint</Application>
  <PresentationFormat>Widescreen</PresentationFormat>
  <Paragraphs>596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5" baseType="lpstr">
      <vt:lpstr>Arial</vt:lpstr>
      <vt:lpstr>Consolas</vt:lpstr>
      <vt:lpstr>Gill Sans MT</vt:lpstr>
      <vt:lpstr>Google Sans</vt:lpstr>
      <vt:lpstr>Wingdings</vt:lpstr>
      <vt:lpstr>Wingdings 2</vt:lpstr>
      <vt:lpstr>Dividend</vt:lpstr>
      <vt:lpstr>SQL</vt:lpstr>
      <vt:lpstr>Types of Databases</vt:lpstr>
      <vt:lpstr>Docker Desktop Install</vt:lpstr>
      <vt:lpstr>Docker Key Terms</vt:lpstr>
      <vt:lpstr>PostgreSQL Docker Desktop setup</vt:lpstr>
      <vt:lpstr>Database setup - tools</vt:lpstr>
      <vt:lpstr>PostgreSQL hierarchy </vt:lpstr>
      <vt:lpstr>Beginner commands</vt:lpstr>
      <vt:lpstr>PostgreSQL UUID support &amp; Creating tables</vt:lpstr>
      <vt:lpstr>SQL Constraints – Examples</vt:lpstr>
      <vt:lpstr>SQL - Comments</vt:lpstr>
      <vt:lpstr>SQL Sublanguages</vt:lpstr>
      <vt:lpstr>What is a database schema?</vt:lpstr>
      <vt:lpstr>Three-schema Approach</vt:lpstr>
      <vt:lpstr>ERD vs UML</vt:lpstr>
      <vt:lpstr>External to Conceptual Level</vt:lpstr>
      <vt:lpstr>Entity Relationship Diagram</vt:lpstr>
      <vt:lpstr>ERDs</vt:lpstr>
      <vt:lpstr>Complex Attributes</vt:lpstr>
      <vt:lpstr>Relationships</vt:lpstr>
      <vt:lpstr>Relationships – Recursive(self)</vt:lpstr>
      <vt:lpstr>Constraints on Binary Relationships</vt:lpstr>
      <vt:lpstr>Database Normalization – first normal form</vt:lpstr>
      <vt:lpstr>Database normalization – second normal form</vt:lpstr>
      <vt:lpstr>Database normalization – third normal form</vt:lpstr>
      <vt:lpstr>Data Mapping Algorithm</vt:lpstr>
      <vt:lpstr>Data Mapping algorithm</vt:lpstr>
      <vt:lpstr>Data Mapping Algorithm</vt:lpstr>
      <vt:lpstr>Data Mapping Algorithm</vt:lpstr>
      <vt:lpstr>Data Mapping algorithm</vt:lpstr>
      <vt:lpstr>ACID</vt:lpstr>
      <vt:lpstr>We don’t always want normalization</vt:lpstr>
      <vt:lpstr>Common OLAP Schema Patterns</vt:lpstr>
      <vt:lpstr>Common OLAP Schema Patterns</vt:lpstr>
      <vt:lpstr>Common OLAP Schema Patterns</vt:lpstr>
      <vt:lpstr>Chinook DB</vt:lpstr>
      <vt:lpstr>Team Challenge – ERD</vt:lpstr>
      <vt:lpstr>Datatypes</vt:lpstr>
      <vt:lpstr>More on IDs</vt:lpstr>
      <vt:lpstr>Custom datatypes, ENUM, &amp; Regex</vt:lpstr>
      <vt:lpstr>Create &amp; Alter Tables</vt:lpstr>
      <vt:lpstr>Foreign Key</vt:lpstr>
      <vt:lpstr>Insert &amp; update</vt:lpstr>
      <vt:lpstr>Delete</vt:lpstr>
      <vt:lpstr>Postgres specific - returning</vt:lpstr>
      <vt:lpstr>Postgres specific - upsert</vt:lpstr>
      <vt:lpstr>SELECT</vt:lpstr>
      <vt:lpstr>Select with wildcards – case sensitive</vt:lpstr>
      <vt:lpstr>Select with wildcards – case insensitive (Postgres specific)</vt:lpstr>
      <vt:lpstr>Order by</vt:lpstr>
      <vt:lpstr>DROP &amp; Truncate</vt:lpstr>
      <vt:lpstr>Aggregate Functions</vt:lpstr>
      <vt:lpstr>Scalar Functions</vt:lpstr>
      <vt:lpstr>Functions - udf</vt:lpstr>
      <vt:lpstr>Stored Procedures</vt:lpstr>
      <vt:lpstr>Stored Procedures</vt:lpstr>
      <vt:lpstr>Challenges - SQL</vt:lpstr>
      <vt:lpstr>Joins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597</cp:revision>
  <dcterms:created xsi:type="dcterms:W3CDTF">2025-02-12T19:53:45Z</dcterms:created>
  <dcterms:modified xsi:type="dcterms:W3CDTF">2026-09-09T16:39:30Z</dcterms:modified>
</cp:coreProperties>
</file>