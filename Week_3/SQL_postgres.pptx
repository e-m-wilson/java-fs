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3" r:id="rId3"/>
    <p:sldId id="264" r:id="rId4"/>
    <p:sldId id="265" r:id="rId5"/>
    <p:sldId id="266" r:id="rId6"/>
    <p:sldId id="267" r:id="rId7"/>
    <p:sldId id="268" r:id="rId8"/>
    <p:sldId id="269" r:id="rId9"/>
    <p:sldId id="270" r:id="rId10"/>
    <p:sldId id="271" r:id="rId11"/>
    <p:sldId id="297" r:id="rId12"/>
    <p:sldId id="272" r:id="rId13"/>
    <p:sldId id="273" r:id="rId14"/>
    <p:sldId id="274" r:id="rId15"/>
    <p:sldId id="275" r:id="rId16"/>
    <p:sldId id="276" r:id="rId17"/>
    <p:sldId id="277" r:id="rId18"/>
    <p:sldId id="278" r:id="rId19"/>
    <p:sldId id="279" r:id="rId20"/>
    <p:sldId id="280" r:id="rId21"/>
    <p:sldId id="281" r:id="rId22"/>
    <p:sldId id="282" r:id="rId23"/>
    <p:sldId id="283" r:id="rId24"/>
    <p:sldId id="284" r:id="rId25"/>
    <p:sldId id="285" r:id="rId26"/>
    <p:sldId id="286" r:id="rId27"/>
    <p:sldId id="287" r:id="rId28"/>
    <p:sldId id="288" r:id="rId29"/>
    <p:sldId id="289" r:id="rId30"/>
    <p:sldId id="290" r:id="rId31"/>
    <p:sldId id="291" r:id="rId32"/>
    <p:sldId id="292" r:id="rId33"/>
    <p:sldId id="293" r:id="rId34"/>
    <p:sldId id="294" r:id="rId35"/>
    <p:sldId id="295" r:id="rId36"/>
    <p:sldId id="296" r:id="rId37"/>
    <p:sldId id="262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 varScale="1">
        <p:scale>
          <a:sx n="153" d="100"/>
          <a:sy n="153" d="100"/>
        </p:scale>
        <p:origin x="16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lerocha/chinook-database" TargetMode="External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SQL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Postgres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DC72FB-4820-8DCE-13AA-AB3228BE8B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Databases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7A2131-4B0C-623B-D031-3F5006EB80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dirty="0">
                <a:solidFill>
                  <a:schemeClr val="tx1"/>
                </a:solidFill>
                <a:latin typeface="Arial"/>
                <a:ea typeface="Arial"/>
              </a:rPr>
              <a:t>Relational Databases : Organized data in tables, with row and columns. Usually, some flavor of SQL may be used to query and manipulate the database (e.g. MySQL, PostgreSQL, Oracle)</a:t>
            </a:r>
            <a:endParaRPr lang="en-US" dirty="0">
              <a:solidFill>
                <a:schemeClr val="tx1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lang="en-US" dirty="0">
              <a:solidFill>
                <a:schemeClr val="tx1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chemeClr val="tx1"/>
                </a:solidFill>
                <a:latin typeface="Arial"/>
                <a:ea typeface="Arial"/>
              </a:rPr>
              <a:t>NoSQL Databases : Designed for handling unstructured, semi-structured, or rapidly changing data. (e.g. MongoDB, Cassandra, Redis)</a:t>
            </a:r>
            <a:endParaRPr lang="en-US" dirty="0">
              <a:solidFill>
                <a:schemeClr val="tx1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181216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67575-2CC1-F97D-7BE2-B62076BCB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 Desktop Install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94D08-379C-28B1-0381-2CF0C3FB4D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70468"/>
            <a:ext cx="11029615" cy="4887532"/>
          </a:xfrm>
        </p:spPr>
        <p:txBody>
          <a:bodyPr>
            <a:normAutofit fontScale="70000" lnSpcReduction="200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b="1" dirty="0">
                <a:solidFill>
                  <a:schemeClr val="tx1"/>
                </a:solidFill>
              </a:rPr>
              <a:t>Before install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Check/Enable virtualization in BIOS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Install WSL2 (</a:t>
            </a:r>
            <a:r>
              <a:rPr lang="en-US" dirty="0" err="1">
                <a:solidFill>
                  <a:schemeClr val="tx1"/>
                </a:solidFill>
              </a:rPr>
              <a:t>wsl</a:t>
            </a:r>
            <a:r>
              <a:rPr lang="en-US" dirty="0">
                <a:solidFill>
                  <a:schemeClr val="tx1"/>
                </a:solidFill>
              </a:rPr>
              <a:t> --install)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Reboot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b="1" dirty="0">
                <a:solidFill>
                  <a:schemeClr val="tx1"/>
                </a:solidFill>
              </a:rPr>
              <a:t>Install Docker Desktop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Run installer </a:t>
            </a:r>
            <a:r>
              <a:rPr lang="en-US" b="1" dirty="0">
                <a:solidFill>
                  <a:schemeClr val="tx1"/>
                </a:solidFill>
              </a:rPr>
              <a:t>as admin</a:t>
            </a:r>
            <a:r>
              <a:rPr lang="en-US" dirty="0">
                <a:solidFill>
                  <a:schemeClr val="tx1"/>
                </a:solidFill>
              </a:rPr>
              <a:t>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Use default settings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b="1" dirty="0">
                <a:solidFill>
                  <a:schemeClr val="tx1"/>
                </a:solidFill>
              </a:rPr>
              <a:t>After install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Ensure: 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Docker Desktop starts 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docker run hello-world works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b="1" dirty="0">
                <a:solidFill>
                  <a:schemeClr val="tx1"/>
                </a:solidFill>
              </a:rPr>
              <a:t>If it fails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Check: 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 err="1">
                <a:solidFill>
                  <a:schemeClr val="tx1"/>
                </a:solidFill>
              </a:rPr>
              <a:t>wsl</a:t>
            </a:r>
            <a:r>
              <a:rPr lang="en-US" dirty="0">
                <a:solidFill>
                  <a:schemeClr val="tx1"/>
                </a:solidFill>
              </a:rPr>
              <a:t> -l -v 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Docker Desktop running 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user in docker-users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Try uninstalling docker desktop first via control panel and restarting if you still have issues. This is the nuclear option: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Remove-Item -Path "C:\ProgramData\DockerDesktop" -Recurse -Force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2264AB-F7E6-0C2D-BDD7-D93354B501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9" y="4542484"/>
            <a:ext cx="4698173" cy="89043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348B3DE-AD2C-4334-E78F-418600304229}"/>
              </a:ext>
            </a:extLst>
          </p:cNvPr>
          <p:cNvSpPr txBox="1"/>
          <p:nvPr/>
        </p:nvSpPr>
        <p:spPr>
          <a:xfrm>
            <a:off x="5760660" y="2315516"/>
            <a:ext cx="503351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chemeClr val="accent2"/>
                </a:solidFill>
                <a:effectLst/>
                <a:latin typeface="Google Sans"/>
              </a:rPr>
              <a:t>Windows Subsystem for Linux (WSL) </a:t>
            </a:r>
            <a:r>
              <a:rPr lang="en-US" b="0" i="0" dirty="0">
                <a:effectLst/>
                <a:latin typeface="Google Sans"/>
              </a:rPr>
              <a:t>is </a:t>
            </a:r>
            <a:r>
              <a:rPr lang="en-US" dirty="0"/>
              <a:t>a Microsoft feature that allows users to run a native GNU/Linux environment—including command-line tools, utilities, and applications—directly on Windows 10/11 or Windows Server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B7D17FE-7899-B791-1150-5C3738432B5D}"/>
              </a:ext>
            </a:extLst>
          </p:cNvPr>
          <p:cNvCxnSpPr>
            <a:cxnSpLocks/>
          </p:cNvCxnSpPr>
          <p:nvPr/>
        </p:nvCxnSpPr>
        <p:spPr>
          <a:xfrm flipV="1">
            <a:off x="2653048" y="5177307"/>
            <a:ext cx="3322749" cy="94015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09931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151C0-36BB-6AF4-8765-7EA5849BE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 Key Terms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5F35D24-439E-1C13-D502-05F6E6D122F5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81193" y="2026011"/>
            <a:ext cx="11029615" cy="24160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Docker Hub = think of it as similar to </a:t>
            </a:r>
            <a:r>
              <a:rPr lang="en-US" dirty="0" err="1">
                <a:solidFill>
                  <a:schemeClr val="tx1"/>
                </a:solidFill>
              </a:rPr>
              <a:t>github</a:t>
            </a:r>
            <a:r>
              <a:rPr lang="en-US" dirty="0">
                <a:solidFill>
                  <a:schemeClr val="tx1"/>
                </a:solidFill>
              </a:rPr>
              <a:t> but for Docker Images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Docker Images = are snapshots and instructions bundled together; we use these to create a docker container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Docker container = is a running instance of a docker image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D4F5179-704D-BB62-7D70-7780530F4B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686" y="4555060"/>
            <a:ext cx="4213123" cy="208622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6AA53A4-F586-3968-194E-DC491E9364E6}"/>
              </a:ext>
            </a:extLst>
          </p:cNvPr>
          <p:cNvSpPr txBox="1"/>
          <p:nvPr/>
        </p:nvSpPr>
        <p:spPr>
          <a:xfrm>
            <a:off x="5976627" y="5228842"/>
            <a:ext cx="39292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Tags = are different versions (branches) </a:t>
            </a:r>
          </a:p>
        </p:txBody>
      </p:sp>
    </p:spTree>
    <p:extLst>
      <p:ext uri="{BB962C8B-B14F-4D97-AF65-F5344CB8AC3E}">
        <p14:creationId xmlns:p14="http://schemas.microsoft.com/office/powerpoint/2010/main" val="38972007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2A47E-1D0A-E27B-D449-A03125460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PostgreSQL Docker Desktop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48E01D-167C-852A-12E2-3FD1049E6D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3170776"/>
            <a:ext cx="11029615" cy="1697438"/>
          </a:xfrm>
        </p:spPr>
        <p:txBody>
          <a:bodyPr/>
          <a:lstStyle/>
          <a:p>
            <a:r>
              <a:rPr lang="en-US" dirty="0"/>
              <a:t>PostgreSQL uses port 5432 by default, here we are just setting the Docker container port to match:</a:t>
            </a:r>
          </a:p>
          <a:p>
            <a:pPr lvl="1"/>
            <a:r>
              <a:rPr lang="en-US" dirty="0"/>
              <a:t>-p &lt;</a:t>
            </a:r>
            <a:r>
              <a:rPr lang="en-US" dirty="0" err="1"/>
              <a:t>host_port</a:t>
            </a:r>
            <a:r>
              <a:rPr lang="en-US" dirty="0"/>
              <a:t>&gt;:&lt;</a:t>
            </a:r>
            <a:r>
              <a:rPr lang="en-US" dirty="0" err="1"/>
              <a:t>container_port</a:t>
            </a:r>
            <a:r>
              <a:rPr lang="en-US" dirty="0"/>
              <a:t>&gt;</a:t>
            </a:r>
          </a:p>
          <a:p>
            <a:pPr lvl="1"/>
            <a:r>
              <a:rPr lang="en-US" dirty="0"/>
              <a:t>Traffic sent through port 5432 on host is forwarded to port 5432 inside the container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488572-934F-6BDB-D5DC-60672AC09B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293" y="2252832"/>
            <a:ext cx="10659414" cy="802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76670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F9966-8CF0-98E6-C464-74F7DC4AB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setup -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261CA3-1EB6-D809-8288-03287D7BB1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783961"/>
          </a:xfrm>
        </p:spPr>
        <p:txBody>
          <a:bodyPr/>
          <a:lstStyle/>
          <a:p>
            <a:r>
              <a:rPr lang="en-US" dirty="0"/>
              <a:t>Tools like </a:t>
            </a:r>
            <a:r>
              <a:rPr lang="en-US" dirty="0" err="1"/>
              <a:t>pgAdmin</a:t>
            </a:r>
            <a:r>
              <a:rPr lang="en-US" dirty="0"/>
              <a:t> and the PostgreSQL VS Code extension, can be used to help manage our database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FAD755-2BF6-A153-A37E-21D07D867D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939" y="3851466"/>
            <a:ext cx="6025780" cy="16520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77B25FA-4415-7309-F87A-C8C12C6AC0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0406" y="3483756"/>
            <a:ext cx="5258481" cy="2387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54396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B7B17-C202-3AEC-1DFC-03D2D0C82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PostgreSQL hierarchy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600BAC-36F4-2DAF-BE21-78555CB3E8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57589"/>
            <a:ext cx="11029615" cy="4900411"/>
          </a:xfrm>
        </p:spPr>
        <p:txBody>
          <a:bodyPr>
            <a:normAutofit/>
          </a:bodyPr>
          <a:lstStyle/>
          <a:p>
            <a:r>
              <a:rPr lang="en-US" sz="2000" dirty="0"/>
              <a:t>Database – top level container for application’s data </a:t>
            </a:r>
          </a:p>
          <a:p>
            <a:pPr lvl="1"/>
            <a:r>
              <a:rPr lang="en-US" sz="2000" dirty="0"/>
              <a:t>Schema – namespace inside a database</a:t>
            </a:r>
          </a:p>
          <a:p>
            <a:pPr lvl="2"/>
            <a:r>
              <a:rPr lang="en-US" sz="2000" dirty="0"/>
              <a:t>Table – what stores the actual data</a:t>
            </a:r>
          </a:p>
          <a:p>
            <a:pPr lvl="3"/>
            <a:r>
              <a:rPr lang="en-US" sz="2000" dirty="0"/>
              <a:t>Columns – defines the data type</a:t>
            </a:r>
          </a:p>
          <a:p>
            <a:pPr lvl="3"/>
            <a:r>
              <a:rPr lang="en-US" sz="2000" dirty="0"/>
              <a:t>Constraints – puts limits on what data is allowed</a:t>
            </a:r>
          </a:p>
          <a:p>
            <a:pPr lvl="3"/>
            <a:r>
              <a:rPr lang="en-US" sz="2000" dirty="0"/>
              <a:t>Indexes – optimizations that make queries faster</a:t>
            </a:r>
          </a:p>
          <a:p>
            <a:pPr lvl="2"/>
            <a:r>
              <a:rPr lang="en-US" sz="2000" dirty="0"/>
              <a:t>Views – essentially a saved query </a:t>
            </a:r>
          </a:p>
          <a:p>
            <a:pPr lvl="2"/>
            <a:r>
              <a:rPr lang="en-US" sz="2000" dirty="0"/>
              <a:t>Functions – reusable operation that lives in the database</a:t>
            </a:r>
          </a:p>
        </p:txBody>
      </p:sp>
    </p:spTree>
    <p:extLst>
      <p:ext uri="{BB962C8B-B14F-4D97-AF65-F5344CB8AC3E}">
        <p14:creationId xmlns:p14="http://schemas.microsoft.com/office/powerpoint/2010/main" val="2442193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EE791-1639-1E54-D4C9-32F398A73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Beginner commands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1623D2-FFF0-A0EB-880C-DB3D090EC7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solidFill>
                  <a:schemeClr val="tx1"/>
                </a:solidFill>
              </a:rPr>
              <a:t>CREATE DATABASE </a:t>
            </a:r>
            <a:r>
              <a:rPr lang="en-US" dirty="0" err="1">
                <a:solidFill>
                  <a:schemeClr val="tx1"/>
                </a:solidFill>
              </a:rPr>
              <a:t>my_app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</a:rPr>
              <a:t>DROP DATABASE </a:t>
            </a:r>
            <a:r>
              <a:rPr lang="en-US" dirty="0" err="1">
                <a:solidFill>
                  <a:schemeClr val="tx1"/>
                </a:solidFill>
              </a:rPr>
              <a:t>my_app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</a:rPr>
              <a:t>CREATE SCHEMA billing;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SET search path is the ordered list of schemas </a:t>
            </a:r>
            <a:r>
              <a:rPr lang="en-US" dirty="0" err="1">
                <a:solidFill>
                  <a:schemeClr val="tx1"/>
                </a:solidFill>
              </a:rPr>
              <a:t>psql</a:t>
            </a:r>
            <a:r>
              <a:rPr lang="en-US" dirty="0">
                <a:solidFill>
                  <a:schemeClr val="tx1"/>
                </a:solidFill>
              </a:rPr>
              <a:t> searches when you refer to an object without qualifying it. 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I.e. SELECT * FROM Users; &lt;- which user? From what schema?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SELECT * FROM </a:t>
            </a:r>
            <a:r>
              <a:rPr lang="en-US" dirty="0" err="1">
                <a:solidFill>
                  <a:schemeClr val="tx1"/>
                </a:solidFill>
              </a:rPr>
              <a:t>my_schema.users</a:t>
            </a:r>
            <a:r>
              <a:rPr lang="en-US" dirty="0">
                <a:solidFill>
                  <a:schemeClr val="tx1"/>
                </a:solidFill>
              </a:rPr>
              <a:t>; &lt;- You can be explicit.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SET </a:t>
            </a:r>
            <a:r>
              <a:rPr lang="en-US" dirty="0" err="1">
                <a:solidFill>
                  <a:schemeClr val="tx1"/>
                </a:solidFill>
              </a:rPr>
              <a:t>search_path</a:t>
            </a:r>
            <a:r>
              <a:rPr lang="en-US" dirty="0">
                <a:solidFill>
                  <a:schemeClr val="tx1"/>
                </a:solidFill>
              </a:rPr>
              <a:t> TO billing, public;</a:t>
            </a:r>
          </a:p>
        </p:txBody>
      </p:sp>
    </p:spTree>
    <p:extLst>
      <p:ext uri="{BB962C8B-B14F-4D97-AF65-F5344CB8AC3E}">
        <p14:creationId xmlns:p14="http://schemas.microsoft.com/office/powerpoint/2010/main" val="15899062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8B1F0-0BFB-CD40-8EDA-30D2E9C8E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PostgreSQL UUID support &amp; Creating tables</a:t>
            </a:r>
          </a:p>
        </p:txBody>
      </p:sp>
      <p:sp>
        <p:nvSpPr>
          <p:cNvPr id="5" name="TextBox 3">
            <a:extLst>
              <a:ext uri="{FF2B5EF4-FFF2-40B4-BE49-F238E27FC236}">
                <a16:creationId xmlns:a16="http://schemas.microsoft.com/office/drawing/2014/main" id="{59E943F5-FAF7-2AC7-1049-C394F8C2AE07}"/>
              </a:ext>
            </a:extLst>
          </p:cNvPr>
          <p:cNvSpPr/>
          <p:nvPr/>
        </p:nvSpPr>
        <p:spPr>
          <a:xfrm>
            <a:off x="359909" y="2780661"/>
            <a:ext cx="6476040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 dirty="0">
                <a:solidFill>
                  <a:schemeClr val="accent2"/>
                </a:solidFill>
                <a:effectLst/>
                <a:uFillTx/>
                <a:latin typeface="Arial"/>
                <a:ea typeface="Arial"/>
              </a:rPr>
              <a:t>Modern default:</a:t>
            </a:r>
          </a:p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CREATE EXTENSION IF NOT EXISTS "</a:t>
            </a:r>
            <a:r>
              <a:rPr lang="en-US" sz="1400" b="0" u="none" strike="noStrike" dirty="0" err="1">
                <a:effectLst/>
                <a:uFillTx/>
                <a:latin typeface="Arial"/>
                <a:ea typeface="Arial"/>
              </a:rPr>
              <a:t>pgcrypto</a:t>
            </a: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"; </a:t>
            </a:r>
            <a:endParaRPr lang="en-US" sz="1400" b="0" u="none" strike="noStrike" dirty="0">
              <a:effectLst/>
              <a:uFillTx/>
              <a:latin typeface="Arial"/>
            </a:endParaRPr>
          </a:p>
        </p:txBody>
      </p:sp>
      <p:sp>
        <p:nvSpPr>
          <p:cNvPr id="7" name="TextBox 5">
            <a:extLst>
              <a:ext uri="{FF2B5EF4-FFF2-40B4-BE49-F238E27FC236}">
                <a16:creationId xmlns:a16="http://schemas.microsoft.com/office/drawing/2014/main" id="{57CF87EE-88A1-D0A3-AB6D-C08F8C5DB30C}"/>
              </a:ext>
            </a:extLst>
          </p:cNvPr>
          <p:cNvSpPr/>
          <p:nvPr/>
        </p:nvSpPr>
        <p:spPr>
          <a:xfrm>
            <a:off x="359909" y="3429000"/>
            <a:ext cx="6364800" cy="95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CREATE TABLE customers (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  </a:t>
            </a:r>
            <a:r>
              <a:rPr lang="en-US" sz="1400" b="0" u="none" strike="noStrike" dirty="0" err="1">
                <a:effectLst/>
                <a:uFillTx/>
                <a:latin typeface="Arial"/>
                <a:ea typeface="Arial"/>
              </a:rPr>
              <a:t>customer_id</a:t>
            </a: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 UUID PRIMARY KEY DEFAULT </a:t>
            </a:r>
            <a:r>
              <a:rPr lang="en-US" sz="1400" b="0" u="none" strike="noStrike" dirty="0" err="1">
                <a:effectLst/>
                <a:uFillTx/>
                <a:latin typeface="Arial"/>
                <a:ea typeface="Arial"/>
              </a:rPr>
              <a:t>gen_random_uuid</a:t>
            </a: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(),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  name TEXT NOT NULL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);</a:t>
            </a:r>
            <a:endParaRPr lang="en-US" sz="1400" b="0" u="none" strike="noStrike" dirty="0">
              <a:effectLst/>
              <a:uFillTx/>
              <a:latin typeface="Arial"/>
            </a:endParaRPr>
          </a:p>
        </p:txBody>
      </p:sp>
      <p:sp>
        <p:nvSpPr>
          <p:cNvPr id="9" name="TextBox 7">
            <a:extLst>
              <a:ext uri="{FF2B5EF4-FFF2-40B4-BE49-F238E27FC236}">
                <a16:creationId xmlns:a16="http://schemas.microsoft.com/office/drawing/2014/main" id="{4CAB0836-1CA1-C803-3B1B-900CF6EAC2AF}"/>
              </a:ext>
            </a:extLst>
          </p:cNvPr>
          <p:cNvSpPr/>
          <p:nvPr/>
        </p:nvSpPr>
        <p:spPr>
          <a:xfrm>
            <a:off x="359909" y="4465273"/>
            <a:ext cx="6364800" cy="159898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chemeClr val="accent2"/>
                </a:solidFill>
                <a:latin typeface="Arial"/>
                <a:ea typeface="Arial"/>
              </a:rPr>
              <a:t>Only used if you want a specific UUID version spec:</a:t>
            </a:r>
            <a:endParaRPr lang="en-US" sz="1400" b="0" u="none" strike="noStrike" dirty="0">
              <a:solidFill>
                <a:schemeClr val="accent2"/>
              </a:solidFill>
              <a:effectLst/>
              <a:uFillTx/>
              <a:latin typeface="Arial"/>
              <a:ea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CREATE EXTENSION IF NOT EXISTS "</a:t>
            </a:r>
            <a:r>
              <a:rPr lang="en-US" sz="1400" b="0" u="none" strike="noStrike" dirty="0" err="1">
                <a:effectLst/>
                <a:uFillTx/>
                <a:latin typeface="Arial"/>
                <a:ea typeface="Arial"/>
              </a:rPr>
              <a:t>uuid-ossp</a:t>
            </a: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";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CREATE TABLE customers (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    </a:t>
            </a:r>
            <a:r>
              <a:rPr lang="en-US" sz="1400" b="0" u="none" strike="noStrike" dirty="0" err="1">
                <a:effectLst/>
                <a:uFillTx/>
                <a:latin typeface="Arial"/>
                <a:ea typeface="Arial"/>
              </a:rPr>
              <a:t>customer_id</a:t>
            </a: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 UUID PRIMARY KEY DEFAULT uuid_generate_v4(),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    name TEXT NOT NULL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);</a:t>
            </a:r>
            <a:endParaRPr lang="en-US" sz="1400" b="0" u="none" strike="noStrike" dirty="0">
              <a:effectLst/>
              <a:uFillTx/>
              <a:latin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75C38E-16BE-E5CC-9C59-0B42480F8D06}"/>
              </a:ext>
            </a:extLst>
          </p:cNvPr>
          <p:cNvSpPr txBox="1"/>
          <p:nvPr/>
        </p:nvSpPr>
        <p:spPr>
          <a:xfrm>
            <a:off x="1553538" y="2023396"/>
            <a:ext cx="9084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You shouldn’t need to manually create/install extensions for modern versions of </a:t>
            </a:r>
            <a:r>
              <a:rPr lang="en-US" dirty="0" err="1"/>
              <a:t>postgres</a:t>
            </a:r>
            <a:r>
              <a:rPr lang="en-US" dirty="0"/>
              <a:t>.</a:t>
            </a:r>
          </a:p>
        </p:txBody>
      </p:sp>
      <p:sp>
        <p:nvSpPr>
          <p:cNvPr id="12" name="TextBox 5">
            <a:extLst>
              <a:ext uri="{FF2B5EF4-FFF2-40B4-BE49-F238E27FC236}">
                <a16:creationId xmlns:a16="http://schemas.microsoft.com/office/drawing/2014/main" id="{45B3F040-B7C1-17BF-8BED-0BBB14CF1F06}"/>
              </a:ext>
            </a:extLst>
          </p:cNvPr>
          <p:cNvSpPr/>
          <p:nvPr/>
        </p:nvSpPr>
        <p:spPr>
          <a:xfrm>
            <a:off x="7283621" y="3515704"/>
            <a:ext cx="3354840" cy="116809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600" b="0" u="none" strike="noStrike" dirty="0">
                <a:solidFill>
                  <a:schemeClr val="accent2"/>
                </a:solidFill>
                <a:effectLst/>
                <a:uFillTx/>
                <a:latin typeface="Arial"/>
                <a:ea typeface="Arial"/>
              </a:rPr>
              <a:t>SQL Constraints </a:t>
            </a:r>
            <a:r>
              <a:rPr lang="en-US" sz="1600" b="0" u="none" strike="noStrike" dirty="0">
                <a:effectLst/>
                <a:uFillTx/>
                <a:latin typeface="Arial"/>
                <a:ea typeface="Arial"/>
              </a:rPr>
              <a:t>specify rules for data in a table. </a:t>
            </a:r>
            <a:endParaRPr lang="en-US" sz="1600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accent2"/>
                </a:solidFill>
                <a:effectLst/>
                <a:uFillTx/>
                <a:latin typeface="Arial"/>
                <a:ea typeface="Arial"/>
              </a:rPr>
              <a:t>PRIMARY KEY </a:t>
            </a:r>
            <a:r>
              <a:rPr lang="en-US" sz="1200" b="0" u="none" strike="noStrike" dirty="0">
                <a:effectLst/>
                <a:uFillTx/>
                <a:latin typeface="Arial"/>
                <a:ea typeface="Arial"/>
              </a:rPr>
              <a:t>= combo of ‘NOT NULL’ and ‘UNIQUE’. </a:t>
            </a:r>
            <a:endParaRPr lang="en-US" sz="1200" b="0" u="none" strike="noStrike" dirty="0"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590687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DDE49-C6BF-074F-1875-B80BC65C7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Constraints –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660138-999F-84CA-ED4E-5F853D20BD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232842"/>
            <a:ext cx="11029615" cy="3678303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dirty="0">
                <a:solidFill>
                  <a:schemeClr val="tx1"/>
                </a:solidFill>
                <a:latin typeface="Arial"/>
                <a:ea typeface="Arial"/>
              </a:rPr>
              <a:t>NOT NULL – Ensures that a column cannot have a NULL value.</a:t>
            </a:r>
            <a:endParaRPr lang="en-US" dirty="0">
              <a:solidFill>
                <a:schemeClr val="tx1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chemeClr val="tx1"/>
                </a:solidFill>
                <a:latin typeface="Arial"/>
                <a:ea typeface="Arial"/>
              </a:rPr>
              <a:t>UNIQUE – Ensures that all values in a column are different.</a:t>
            </a:r>
            <a:endParaRPr lang="en-US" dirty="0">
              <a:solidFill>
                <a:schemeClr val="tx1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chemeClr val="tx1"/>
                </a:solidFill>
                <a:latin typeface="Arial"/>
                <a:ea typeface="Arial"/>
              </a:rPr>
              <a:t>PRIMARY KEY – A combination of a NOT NULL and UNIQUE. Uniquely identifies each row in a table.</a:t>
            </a:r>
            <a:endParaRPr lang="en-US" dirty="0">
              <a:solidFill>
                <a:schemeClr val="tx1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chemeClr val="tx1"/>
                </a:solidFill>
                <a:latin typeface="Arial"/>
                <a:ea typeface="Arial"/>
              </a:rPr>
              <a:t>FOREIGN KEY – Prevents actions that would destroy links between tables.</a:t>
            </a:r>
            <a:endParaRPr lang="en-US" dirty="0">
              <a:solidFill>
                <a:schemeClr val="tx1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chemeClr val="tx1"/>
                </a:solidFill>
                <a:latin typeface="Arial"/>
                <a:ea typeface="Arial"/>
              </a:rPr>
              <a:t>CHECK – Ensures that the values in a column satisfies a specific condition.</a:t>
            </a:r>
            <a:endParaRPr lang="en-US" dirty="0">
              <a:solidFill>
                <a:schemeClr val="tx1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chemeClr val="tx1"/>
                </a:solidFill>
                <a:latin typeface="Arial"/>
                <a:ea typeface="Arial"/>
              </a:rPr>
              <a:t>DEFAULT – Sets a default value for a column if no value is specified. </a:t>
            </a:r>
            <a:endParaRPr lang="en-US" dirty="0">
              <a:solidFill>
                <a:schemeClr val="tx1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chemeClr val="tx1"/>
                </a:solidFill>
                <a:latin typeface="Arial"/>
                <a:ea typeface="Arial"/>
              </a:rPr>
              <a:t>CREATE INDEX – Used to create and retrieve data from the database very quickly. </a:t>
            </a:r>
            <a:endParaRPr lang="en-US" dirty="0">
              <a:solidFill>
                <a:schemeClr val="tx1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456035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36839-EDA9-BD47-E561-9F85B3E271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- Comments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B3C84-A9F7-C8FC-13A2-8833EA4227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-- This is a single line comment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/*    This is a multiline comment. */</a:t>
            </a:r>
          </a:p>
        </p:txBody>
      </p:sp>
    </p:spTree>
    <p:extLst>
      <p:ext uri="{BB962C8B-B14F-4D97-AF65-F5344CB8AC3E}">
        <p14:creationId xmlns:p14="http://schemas.microsoft.com/office/powerpoint/2010/main" val="41448135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6E1A1C-7B52-4809-8C65-ADFC00EC5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Sublanguages</a:t>
            </a:r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A14D5A12-8BCF-88B5-380E-30BF10F87288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2954939" y="1893194"/>
            <a:ext cx="6282122" cy="4672162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6202783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486667-B29C-D78B-C84C-C687B5B8C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database schema?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17E7D-89F1-3B31-5589-F8BAFE410B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781645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Arial"/>
                <a:ea typeface="Arial"/>
              </a:rPr>
              <a:t>According to Google AI Overview….</a:t>
            </a:r>
            <a:endParaRPr lang="en-US" dirty="0">
              <a:solidFill>
                <a:schemeClr val="tx1"/>
              </a:solidFill>
              <a:latin typeface="Arial"/>
            </a:endParaRPr>
          </a:p>
        </p:txBody>
      </p:sp>
      <p:pic>
        <p:nvPicPr>
          <p:cNvPr id="7" name="Picture 7">
            <a:extLst>
              <a:ext uri="{FF2B5EF4-FFF2-40B4-BE49-F238E27FC236}">
                <a16:creationId xmlns:a16="http://schemas.microsoft.com/office/drawing/2014/main" id="{5395020E-82B4-841E-86E5-D3F8FC238DDA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2741699" y="3212868"/>
            <a:ext cx="6708600" cy="272880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21534403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7B5BF-51DA-F1E9-A342-002C86330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Three-schema Approach</a:t>
            </a:r>
          </a:p>
        </p:txBody>
      </p:sp>
      <p:sp>
        <p:nvSpPr>
          <p:cNvPr id="5" name="TextBox 2">
            <a:extLst>
              <a:ext uri="{FF2B5EF4-FFF2-40B4-BE49-F238E27FC236}">
                <a16:creationId xmlns:a16="http://schemas.microsoft.com/office/drawing/2014/main" id="{42615285-2C54-9FDB-14D3-EE0DCEDFAE6E}"/>
              </a:ext>
            </a:extLst>
          </p:cNvPr>
          <p:cNvSpPr/>
          <p:nvPr/>
        </p:nvSpPr>
        <p:spPr>
          <a:xfrm>
            <a:off x="853239" y="2216304"/>
            <a:ext cx="3474061" cy="378419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600" b="1" u="none" strike="noStrike" dirty="0">
                <a:effectLst/>
                <a:uFillTx/>
                <a:latin typeface="Arial"/>
                <a:ea typeface="Arial"/>
              </a:rPr>
              <a:t>External – each one describes part of the database that a particular user group is interested in</a:t>
            </a:r>
            <a:br>
              <a:rPr sz="1600" dirty="0"/>
            </a:br>
            <a:br>
              <a:rPr sz="1600" dirty="0"/>
            </a:br>
            <a:r>
              <a:rPr lang="en-US" sz="1600" b="1" u="none" strike="noStrike" dirty="0">
                <a:effectLst/>
                <a:uFillTx/>
                <a:latin typeface="Arial"/>
                <a:ea typeface="Arial"/>
              </a:rPr>
              <a:t>Conceptual – describes the structure of the whole database including entities, relationships, data types, user operations, and constraints</a:t>
            </a:r>
            <a:br>
              <a:rPr sz="1600" dirty="0"/>
            </a:br>
            <a:br>
              <a:rPr sz="1600" dirty="0"/>
            </a:br>
            <a:r>
              <a:rPr lang="en-US" sz="1600" b="1" u="none" strike="noStrike" dirty="0">
                <a:effectLst/>
                <a:uFillTx/>
                <a:latin typeface="Arial"/>
                <a:ea typeface="Arial"/>
              </a:rPr>
              <a:t>Physical – describes the physical storage structure of the database, i.e. storage medium, exact implementation details</a:t>
            </a:r>
            <a:endParaRPr lang="en-US" sz="1600" b="0" u="none" strike="noStrike" dirty="0">
              <a:effectLst/>
              <a:uFillTx/>
              <a:latin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60E0E3-ED21-50B0-4038-39E6B3BFDEB5}"/>
              </a:ext>
            </a:extLst>
          </p:cNvPr>
          <p:cNvSpPr/>
          <p:nvPr/>
        </p:nvSpPr>
        <p:spPr>
          <a:xfrm>
            <a:off x="4226065" y="6155844"/>
            <a:ext cx="5018018" cy="3371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600" b="0" u="none" strike="noStrike">
                <a:effectLst/>
                <a:uFillTx/>
                <a:latin typeface="Arial"/>
                <a:ea typeface="Arial"/>
              </a:rPr>
              <a:t>Other specs may use: conceptual &gt; logical &gt; physical</a:t>
            </a:r>
            <a:endParaRPr lang="en-US" sz="1600" b="0" u="none" strike="noStrike">
              <a:effectLst/>
              <a:uFillTx/>
              <a:latin typeface="Arial"/>
            </a:endParaRPr>
          </a:p>
        </p:txBody>
      </p:sp>
      <p:pic>
        <p:nvPicPr>
          <p:cNvPr id="9" name="Picture 5">
            <a:extLst>
              <a:ext uri="{FF2B5EF4-FFF2-40B4-BE49-F238E27FC236}">
                <a16:creationId xmlns:a16="http://schemas.microsoft.com/office/drawing/2014/main" id="{F1FCC59D-3E1F-CB5B-D3E8-AB46BA02C77A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5081091" y="2391680"/>
            <a:ext cx="4812840" cy="308844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27270643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129C15-6121-3C82-AF2C-CCF7B6C93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ERD vs UML</a:t>
            </a:r>
          </a:p>
        </p:txBody>
      </p:sp>
      <p:sp>
        <p:nvSpPr>
          <p:cNvPr id="5" name="TextBox 2">
            <a:extLst>
              <a:ext uri="{FF2B5EF4-FFF2-40B4-BE49-F238E27FC236}">
                <a16:creationId xmlns:a16="http://schemas.microsoft.com/office/drawing/2014/main" id="{8FF35E7A-54CD-1CE4-08D2-ECA245B3A1C2}"/>
              </a:ext>
            </a:extLst>
          </p:cNvPr>
          <p:cNvSpPr/>
          <p:nvPr/>
        </p:nvSpPr>
        <p:spPr>
          <a:xfrm>
            <a:off x="1146220" y="2705698"/>
            <a:ext cx="4865070" cy="17528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b="1" u="none" strike="noStrike">
                <a:effectLst/>
                <a:uFillTx/>
                <a:latin typeface="Arial"/>
                <a:ea typeface="Arial"/>
              </a:rPr>
              <a:t>UML = Unified Modeling Language</a:t>
            </a:r>
            <a:endParaRPr lang="en-US" b="0" u="none" strike="noStrike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b="0" u="none" strike="noStrike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Arial"/>
              <a:buChar char="-"/>
            </a:pPr>
            <a:r>
              <a:rPr lang="en-US" b="0" u="none" strike="noStrike">
                <a:effectLst/>
                <a:uFillTx/>
                <a:latin typeface="Arial"/>
                <a:ea typeface="Arial"/>
              </a:rPr>
              <a:t>Broad modeling language for software development </a:t>
            </a:r>
            <a:endParaRPr lang="en-US" b="0" u="none" strike="noStrike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Arial"/>
              <a:buChar char="-"/>
            </a:pPr>
            <a:r>
              <a:rPr lang="en-US" b="0" u="none" strike="noStrike">
                <a:effectLst/>
                <a:uFillTx/>
                <a:latin typeface="Arial"/>
                <a:ea typeface="Arial"/>
              </a:rPr>
              <a:t>Includes use case diagrams, class diagrams, deployment diagrams, ect. </a:t>
            </a:r>
            <a:endParaRPr lang="en-US" b="0" u="none" strike="noStrike">
              <a:effectLst/>
              <a:uFillTx/>
              <a:latin typeface="Arial"/>
            </a:endParaRPr>
          </a:p>
        </p:txBody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C98BF8FC-AD0C-516E-F169-FC2CEA0E781B}"/>
              </a:ext>
            </a:extLst>
          </p:cNvPr>
          <p:cNvSpPr/>
          <p:nvPr/>
        </p:nvSpPr>
        <p:spPr>
          <a:xfrm>
            <a:off x="6096000" y="2705698"/>
            <a:ext cx="4865070" cy="14758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b="1" u="none" strike="noStrike" dirty="0">
                <a:effectLst/>
                <a:uFillTx/>
                <a:latin typeface="Arial"/>
                <a:ea typeface="Arial"/>
              </a:rPr>
              <a:t>ERD = Entity Relationship Diagram</a:t>
            </a:r>
            <a:endParaRPr lang="en-US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b="0" u="none" strike="noStrike" dirty="0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Arial"/>
              <a:buChar char="-"/>
            </a:pPr>
            <a:r>
              <a:rPr lang="en-US" b="0" u="none" strike="noStrike" dirty="0">
                <a:effectLst/>
                <a:uFillTx/>
                <a:latin typeface="Arial"/>
                <a:ea typeface="Arial"/>
              </a:rPr>
              <a:t>Focused on relational database design</a:t>
            </a:r>
            <a:endParaRPr lang="en-US" b="0" u="none" strike="noStrike" dirty="0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Arial"/>
              <a:buChar char="-"/>
            </a:pPr>
            <a:r>
              <a:rPr lang="en-US" b="0" u="none" strike="noStrike" dirty="0">
                <a:effectLst/>
                <a:uFillTx/>
                <a:latin typeface="Arial"/>
                <a:ea typeface="Arial"/>
              </a:rPr>
              <a:t>Part of the conceptual/external stage</a:t>
            </a:r>
            <a:endParaRPr lang="en-US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b="0" u="none" strike="noStrike" dirty="0"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066255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FB39B4-A21D-4376-C662-38F6F8DA0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External to Conceptual Level</a:t>
            </a:r>
          </a:p>
        </p:txBody>
      </p:sp>
      <p:sp>
        <p:nvSpPr>
          <p:cNvPr id="5" name="TextBox 8">
            <a:extLst>
              <a:ext uri="{FF2B5EF4-FFF2-40B4-BE49-F238E27FC236}">
                <a16:creationId xmlns:a16="http://schemas.microsoft.com/office/drawing/2014/main" id="{718A6E91-095A-719D-889A-4C7964B95AB1}"/>
              </a:ext>
            </a:extLst>
          </p:cNvPr>
          <p:cNvSpPr/>
          <p:nvPr/>
        </p:nvSpPr>
        <p:spPr>
          <a:xfrm>
            <a:off x="1024650" y="2438980"/>
            <a:ext cx="733191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b="0" u="none" strike="noStrike" dirty="0">
                <a:effectLst/>
                <a:uFillTx/>
                <a:latin typeface="Arial"/>
                <a:ea typeface="Arial"/>
              </a:rPr>
              <a:t>ERD:</a:t>
            </a:r>
            <a:endParaRPr lang="en-US" b="0" u="none" strike="noStrike" dirty="0">
              <a:effectLst/>
              <a:uFillTx/>
              <a:latin typeface="Arial"/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D919F66B-AAEA-B9EA-74C2-0EEB7527876B}"/>
              </a:ext>
            </a:extLst>
          </p:cNvPr>
          <p:cNvSpPr/>
          <p:nvPr/>
        </p:nvSpPr>
        <p:spPr>
          <a:xfrm>
            <a:off x="6180114" y="2438980"/>
            <a:ext cx="2182305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b="0" u="none" strike="noStrike">
                <a:effectLst/>
                <a:uFillTx/>
                <a:latin typeface="Arial"/>
                <a:ea typeface="Arial"/>
              </a:rPr>
              <a:t>Relational Schema:</a:t>
            </a:r>
            <a:endParaRPr lang="en-US" b="0" u="none" strike="noStrike">
              <a:effectLst/>
              <a:uFillTx/>
              <a:latin typeface="Arial"/>
            </a:endParaRPr>
          </a:p>
        </p:txBody>
      </p:sp>
      <p:pic>
        <p:nvPicPr>
          <p:cNvPr id="9" name="Picture 5">
            <a:extLst>
              <a:ext uri="{FF2B5EF4-FFF2-40B4-BE49-F238E27FC236}">
                <a16:creationId xmlns:a16="http://schemas.microsoft.com/office/drawing/2014/main" id="{E0B3447F-8127-8B1B-3CA2-918AACD2457B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862885" y="2987899"/>
            <a:ext cx="4323427" cy="3424421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" name="Picture 7">
            <a:extLst>
              <a:ext uri="{FF2B5EF4-FFF2-40B4-BE49-F238E27FC236}">
                <a16:creationId xmlns:a16="http://schemas.microsoft.com/office/drawing/2014/main" id="{95C4D438-E5DF-CE6A-5041-A9198279C2A7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6096000" y="2892582"/>
            <a:ext cx="5071402" cy="3263262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28189126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2221D-0603-8B0D-C3DA-6D40323673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Entity Relationship Diagram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5EFBB8-67D3-9610-B1DB-08F48F07E6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48226"/>
            <a:ext cx="11029615" cy="562704"/>
          </a:xfrm>
        </p:spPr>
        <p:txBody>
          <a:bodyPr/>
          <a:lstStyle/>
          <a:p>
            <a:r>
              <a:rPr lang="en-US" dirty="0"/>
              <a:t>ERDs describe entities, relationships, and attributes</a:t>
            </a:r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4CC8D380-3040-6040-AF3F-FF370406C813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1505682" y="2613961"/>
            <a:ext cx="4392841" cy="3909311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" name="Arrow: Right 2">
            <a:extLst>
              <a:ext uri="{FF2B5EF4-FFF2-40B4-BE49-F238E27FC236}">
                <a16:creationId xmlns:a16="http://schemas.microsoft.com/office/drawing/2014/main" id="{03E8F92A-24BC-8DC7-6746-A51CBD0A5FE4}"/>
              </a:ext>
            </a:extLst>
          </p:cNvPr>
          <p:cNvSpPr/>
          <p:nvPr/>
        </p:nvSpPr>
        <p:spPr>
          <a:xfrm flipH="1">
            <a:off x="5910495" y="3342671"/>
            <a:ext cx="402840" cy="23724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  <a:round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effectLst/>
              <a:uFillTx/>
              <a:latin typeface="Arial"/>
            </a:endParaRPr>
          </a:p>
        </p:txBody>
      </p:sp>
      <p:sp>
        <p:nvSpPr>
          <p:cNvPr id="9" name="Arrow: Right 6">
            <a:extLst>
              <a:ext uri="{FF2B5EF4-FFF2-40B4-BE49-F238E27FC236}">
                <a16:creationId xmlns:a16="http://schemas.microsoft.com/office/drawing/2014/main" id="{0B4FF3B2-E84D-E0A2-2A71-49EA2BC21E36}"/>
              </a:ext>
            </a:extLst>
          </p:cNvPr>
          <p:cNvSpPr/>
          <p:nvPr/>
        </p:nvSpPr>
        <p:spPr>
          <a:xfrm flipH="1">
            <a:off x="5841735" y="3642191"/>
            <a:ext cx="472320" cy="23724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  <a:round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effectLst/>
              <a:uFillTx/>
              <a:latin typeface="Arial"/>
            </a:endParaRPr>
          </a:p>
        </p:txBody>
      </p:sp>
      <p:sp>
        <p:nvSpPr>
          <p:cNvPr id="11" name="Arrow: Right 7">
            <a:extLst>
              <a:ext uri="{FF2B5EF4-FFF2-40B4-BE49-F238E27FC236}">
                <a16:creationId xmlns:a16="http://schemas.microsoft.com/office/drawing/2014/main" id="{BC5675FB-D9E4-1505-080A-CE21173AA783}"/>
              </a:ext>
            </a:extLst>
          </p:cNvPr>
          <p:cNvSpPr/>
          <p:nvPr/>
        </p:nvSpPr>
        <p:spPr>
          <a:xfrm flipH="1">
            <a:off x="5841735" y="4077431"/>
            <a:ext cx="472320" cy="23724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  <a:round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effectLst/>
              <a:uFillTx/>
              <a:latin typeface="Arial"/>
            </a:endParaRPr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5D4A5C6F-41A2-9771-4843-FDE4A4266AE7}"/>
              </a:ext>
            </a:extLst>
          </p:cNvPr>
          <p:cNvSpPr/>
          <p:nvPr/>
        </p:nvSpPr>
        <p:spPr>
          <a:xfrm>
            <a:off x="6314415" y="3291191"/>
            <a:ext cx="3853440" cy="30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Keys are represented as underlined attributes.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  <p:sp>
        <p:nvSpPr>
          <p:cNvPr id="15" name="TextBox 9">
            <a:extLst>
              <a:ext uri="{FF2B5EF4-FFF2-40B4-BE49-F238E27FC236}">
                <a16:creationId xmlns:a16="http://schemas.microsoft.com/office/drawing/2014/main" id="{5933A10C-258A-F307-39D3-CD3E9B03A5AB}"/>
              </a:ext>
            </a:extLst>
          </p:cNvPr>
          <p:cNvSpPr/>
          <p:nvPr/>
        </p:nvSpPr>
        <p:spPr>
          <a:xfrm>
            <a:off x="6314415" y="3607271"/>
            <a:ext cx="3247560" cy="30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Entities are represented as rectangles.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  <p:sp>
        <p:nvSpPr>
          <p:cNvPr id="17" name="TextBox 10">
            <a:extLst>
              <a:ext uri="{FF2B5EF4-FFF2-40B4-BE49-F238E27FC236}">
                <a16:creationId xmlns:a16="http://schemas.microsoft.com/office/drawing/2014/main" id="{9EE1DA01-E756-1E2F-4992-C5F5364804BB}"/>
              </a:ext>
            </a:extLst>
          </p:cNvPr>
          <p:cNvSpPr/>
          <p:nvPr/>
        </p:nvSpPr>
        <p:spPr>
          <a:xfrm>
            <a:off x="6309375" y="4029911"/>
            <a:ext cx="3685320" cy="30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Relationships are represented as diamonds.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  <p:sp>
        <p:nvSpPr>
          <p:cNvPr id="19" name="TextBox 11">
            <a:extLst>
              <a:ext uri="{FF2B5EF4-FFF2-40B4-BE49-F238E27FC236}">
                <a16:creationId xmlns:a16="http://schemas.microsoft.com/office/drawing/2014/main" id="{26D059E3-A972-E730-AB8F-F3EB50BC5BAC}"/>
              </a:ext>
            </a:extLst>
          </p:cNvPr>
          <p:cNvSpPr/>
          <p:nvPr/>
        </p:nvSpPr>
        <p:spPr>
          <a:xfrm>
            <a:off x="6444735" y="4347071"/>
            <a:ext cx="3414960" cy="2246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A Key must have unique values for each individual entity within the entity set. </a:t>
            </a:r>
            <a:endParaRPr lang="en-US" sz="1400" b="0" u="none" strike="noStrike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Arial"/>
              <a:buChar char="-"/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There can be more than one key at a time.</a:t>
            </a:r>
            <a:endParaRPr lang="en-US" sz="1400" b="0" u="none" strike="noStrike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Arial"/>
              <a:buChar char="-"/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Composite attributes can make a key. i.e. a state + Drivers License #</a:t>
            </a:r>
            <a:endParaRPr lang="en-US" sz="1400" b="0" u="none" strike="noStrike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Arial"/>
              <a:buChar char="-"/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An entity may have NO KEY, these are called weak entity types.</a:t>
            </a:r>
            <a:endParaRPr lang="en-US" sz="1400" b="0" u="none" strike="noStrike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effectLst/>
              <a:uFillTx/>
              <a:latin typeface="Arial"/>
            </a:endParaRPr>
          </a:p>
        </p:txBody>
      </p:sp>
      <p:sp>
        <p:nvSpPr>
          <p:cNvPr id="21" name="TextBox 14">
            <a:extLst>
              <a:ext uri="{FF2B5EF4-FFF2-40B4-BE49-F238E27FC236}">
                <a16:creationId xmlns:a16="http://schemas.microsoft.com/office/drawing/2014/main" id="{27B4546D-0DCE-C4AD-5090-FB2FF3015C48}"/>
              </a:ext>
            </a:extLst>
          </p:cNvPr>
          <p:cNvSpPr/>
          <p:nvPr/>
        </p:nvSpPr>
        <p:spPr>
          <a:xfrm>
            <a:off x="6309375" y="3017951"/>
            <a:ext cx="3044880" cy="30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Attributes are represented as ovals.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  <p:sp>
        <p:nvSpPr>
          <p:cNvPr id="23" name="Arrow: Right 15">
            <a:extLst>
              <a:ext uri="{FF2B5EF4-FFF2-40B4-BE49-F238E27FC236}">
                <a16:creationId xmlns:a16="http://schemas.microsoft.com/office/drawing/2014/main" id="{2B69D7EA-59F1-F12D-1DB2-0461A7B8E802}"/>
              </a:ext>
            </a:extLst>
          </p:cNvPr>
          <p:cNvSpPr/>
          <p:nvPr/>
        </p:nvSpPr>
        <p:spPr>
          <a:xfrm flipH="1">
            <a:off x="5784495" y="3081311"/>
            <a:ext cx="523800" cy="23724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  <a:round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 dirty="0"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699986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293FE-0843-8A27-3BAA-3B99EF719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ERDs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0EBD1241-3F35-AF82-74D4-00285FD158D7}"/>
              </a:ext>
            </a:extLst>
          </p:cNvPr>
          <p:cNvSpPr/>
          <p:nvPr/>
        </p:nvSpPr>
        <p:spPr>
          <a:xfrm>
            <a:off x="7257244" y="2072555"/>
            <a:ext cx="3480120" cy="452286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endParaRPr lang="en-US" sz="1600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 dirty="0">
                <a:effectLst/>
                <a:uFillTx/>
                <a:latin typeface="Arial"/>
                <a:ea typeface="Arial"/>
              </a:rPr>
              <a:t>There are several attribute types:</a:t>
            </a:r>
            <a:endParaRPr lang="en-US" sz="1600" b="0" u="none" strike="noStrike" dirty="0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600" b="0" u="none" strike="noStrike" dirty="0">
                <a:effectLst/>
                <a:uFillTx/>
                <a:latin typeface="Arial"/>
                <a:ea typeface="Arial"/>
              </a:rPr>
              <a:t>Simple (atomic) attributes – data point that can’t be broken down further</a:t>
            </a:r>
            <a:endParaRPr lang="en-US" sz="1600" b="0" u="none" strike="noStrike" dirty="0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600" b="0" u="none" strike="noStrike" dirty="0">
                <a:effectLst/>
                <a:uFillTx/>
                <a:latin typeface="Arial"/>
                <a:ea typeface="Arial"/>
              </a:rPr>
              <a:t>Composite attributes – an address</a:t>
            </a:r>
            <a:endParaRPr lang="en-US" sz="1600" b="0" u="none" strike="noStrike" dirty="0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600" b="0" u="none" strike="noStrike" dirty="0">
                <a:effectLst/>
                <a:uFillTx/>
                <a:latin typeface="Arial"/>
                <a:ea typeface="Arial"/>
              </a:rPr>
              <a:t>Single-Valued – singular value</a:t>
            </a:r>
            <a:endParaRPr lang="en-US" sz="1600" b="0" u="none" strike="noStrike" dirty="0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600" b="0" u="none" strike="noStrike" dirty="0">
                <a:effectLst/>
                <a:uFillTx/>
                <a:latin typeface="Arial"/>
                <a:ea typeface="Arial"/>
              </a:rPr>
              <a:t>Multi-Valued – multiple values in field, e.g. 2-tone cars may have multiple entries in a COLOR field</a:t>
            </a:r>
            <a:endParaRPr lang="en-US" sz="1600" b="0" u="none" strike="noStrike" dirty="0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600" b="0" u="none" strike="noStrike" dirty="0">
                <a:effectLst/>
                <a:uFillTx/>
                <a:latin typeface="Arial"/>
                <a:ea typeface="Arial"/>
              </a:rPr>
              <a:t>Derived – Field that gets its value from other fields; e.g. AGE can be calculated from today’s date + BDAY field.</a:t>
            </a:r>
            <a:endParaRPr lang="en-US" sz="1600" b="0" u="none" strike="noStrike" dirty="0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600" b="0" u="none" strike="noStrike" dirty="0">
                <a:effectLst/>
                <a:uFillTx/>
                <a:latin typeface="Arial"/>
                <a:ea typeface="Arial"/>
              </a:rPr>
              <a:t>Stored – Data is stored in database. Contrast to Derived.</a:t>
            </a:r>
            <a:endParaRPr lang="en-US" sz="1600" b="0" u="none" strike="noStrike" dirty="0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600" b="0" u="none" strike="noStrike" dirty="0">
                <a:effectLst/>
                <a:uFillTx/>
                <a:latin typeface="Arial"/>
                <a:ea typeface="Arial"/>
              </a:rPr>
              <a:t>NULL- </a:t>
            </a:r>
            <a:endParaRPr lang="en-US" sz="1600" b="0" u="none" strike="noStrike" dirty="0">
              <a:effectLst/>
              <a:uFillTx/>
              <a:latin typeface="Arial"/>
            </a:endParaRPr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569B7AF0-B75A-8A6B-097F-2543A224110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1326524" y="2278617"/>
            <a:ext cx="4911858" cy="4083289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29076069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498C9-A937-398E-550B-DA3A422F0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Attributes</a:t>
            </a:r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86F51A17-420A-5254-7979-D54276577522}"/>
              </a:ext>
            </a:extLst>
          </p:cNvPr>
          <p:cNvSpPr/>
          <p:nvPr/>
        </p:nvSpPr>
        <p:spPr>
          <a:xfrm>
            <a:off x="1975080" y="2201172"/>
            <a:ext cx="8241840" cy="313786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b="0" u="none" strike="noStrike" dirty="0">
                <a:effectLst/>
                <a:uFillTx/>
                <a:latin typeface="Arial"/>
                <a:ea typeface="Arial"/>
              </a:rPr>
              <a:t>Complex attributes – muti-valued and composite attributes may be nested arbitrarily:</a:t>
            </a:r>
            <a:endParaRPr lang="en-US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b="0" u="none" strike="noStrike" dirty="0">
                <a:effectLst/>
                <a:uFillTx/>
                <a:latin typeface="Arial"/>
                <a:ea typeface="Arial"/>
              </a:rPr>
              <a:t>{</a:t>
            </a:r>
            <a:endParaRPr lang="en-US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b="0" u="none" strike="noStrike" dirty="0">
                <a:effectLst/>
                <a:uFillTx/>
                <a:latin typeface="Arial"/>
                <a:ea typeface="Arial"/>
              </a:rPr>
              <a:t>	</a:t>
            </a:r>
            <a:r>
              <a:rPr lang="en-US" b="0" u="none" strike="noStrike" dirty="0" err="1">
                <a:effectLst/>
                <a:uFillTx/>
                <a:latin typeface="Arial"/>
                <a:ea typeface="Arial"/>
              </a:rPr>
              <a:t>Address_phone</a:t>
            </a:r>
            <a:r>
              <a:rPr lang="en-US" b="0" u="none" strike="noStrike" dirty="0">
                <a:effectLst/>
                <a:uFillTx/>
                <a:latin typeface="Arial"/>
                <a:ea typeface="Arial"/>
              </a:rPr>
              <a:t>( </a:t>
            </a:r>
            <a:endParaRPr lang="en-US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b="0" u="none" strike="noStrike" dirty="0">
                <a:effectLst/>
                <a:uFillTx/>
                <a:latin typeface="Arial"/>
                <a:ea typeface="Arial"/>
              </a:rPr>
              <a:t>		{Phone(</a:t>
            </a:r>
            <a:r>
              <a:rPr lang="en-US" b="0" u="none" strike="noStrike" dirty="0" err="1">
                <a:effectLst/>
                <a:uFillTx/>
                <a:latin typeface="Arial"/>
                <a:ea typeface="Arial"/>
              </a:rPr>
              <a:t>Area_code,Phone_number</a:t>
            </a:r>
            <a:r>
              <a:rPr lang="en-US" b="0" u="none" strike="noStrike" dirty="0">
                <a:effectLst/>
                <a:uFillTx/>
                <a:latin typeface="Arial"/>
                <a:ea typeface="Arial"/>
              </a:rPr>
              <a:t>)},</a:t>
            </a:r>
            <a:endParaRPr lang="en-US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b="0" u="none" strike="noStrike" dirty="0">
                <a:effectLst/>
                <a:uFillTx/>
                <a:latin typeface="Arial"/>
                <a:ea typeface="Arial"/>
              </a:rPr>
              <a:t>		Address(</a:t>
            </a:r>
            <a:r>
              <a:rPr lang="en-US" b="0" u="none" strike="noStrike" dirty="0" err="1">
                <a:effectLst/>
                <a:uFillTx/>
                <a:latin typeface="Arial"/>
                <a:ea typeface="Arial"/>
              </a:rPr>
              <a:t>Street_address</a:t>
            </a:r>
            <a:r>
              <a:rPr lang="en-US" b="0" u="none" strike="noStrike" dirty="0">
                <a:effectLst/>
                <a:uFillTx/>
                <a:latin typeface="Arial"/>
                <a:ea typeface="Arial"/>
              </a:rPr>
              <a:t>(</a:t>
            </a:r>
            <a:r>
              <a:rPr lang="en-US" b="0" u="none" strike="noStrike" dirty="0" err="1">
                <a:effectLst/>
                <a:uFillTx/>
                <a:latin typeface="Arial"/>
                <a:ea typeface="Arial"/>
              </a:rPr>
              <a:t>Number,Street,Apartment_number</a:t>
            </a:r>
            <a:r>
              <a:rPr lang="en-US" b="0" u="none" strike="noStrike" dirty="0">
                <a:effectLst/>
                <a:uFillTx/>
                <a:latin typeface="Arial"/>
                <a:ea typeface="Arial"/>
              </a:rPr>
              <a:t>),</a:t>
            </a:r>
            <a:r>
              <a:rPr lang="en-US" b="0" u="none" strike="noStrike" dirty="0" err="1">
                <a:effectLst/>
                <a:uFillTx/>
                <a:latin typeface="Arial"/>
                <a:ea typeface="Arial"/>
              </a:rPr>
              <a:t>City,State,Zip</a:t>
            </a:r>
            <a:r>
              <a:rPr lang="en-US" b="0" u="none" strike="noStrike" dirty="0">
                <a:effectLst/>
                <a:uFillTx/>
                <a:latin typeface="Arial"/>
                <a:ea typeface="Arial"/>
              </a:rPr>
              <a:t>) </a:t>
            </a:r>
            <a:endParaRPr lang="en-US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b="0" u="none" strike="noStrike" dirty="0">
                <a:effectLst/>
                <a:uFillTx/>
                <a:latin typeface="Arial"/>
                <a:ea typeface="Arial"/>
              </a:rPr>
              <a:t>	)</a:t>
            </a:r>
            <a:endParaRPr lang="en-US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b="0" u="none" strike="noStrike" dirty="0">
                <a:effectLst/>
                <a:uFillTx/>
                <a:latin typeface="Arial"/>
                <a:ea typeface="Arial"/>
              </a:rPr>
              <a:t>}</a:t>
            </a:r>
            <a:endParaRPr lang="en-US" b="0" u="none" strike="noStrike" dirty="0">
              <a:effectLst/>
              <a:uFillTx/>
              <a:latin typeface="Arial"/>
            </a:endParaRPr>
          </a:p>
        </p:txBody>
      </p:sp>
      <p:sp>
        <p:nvSpPr>
          <p:cNvPr id="11" name="TextBox 7">
            <a:extLst>
              <a:ext uri="{FF2B5EF4-FFF2-40B4-BE49-F238E27FC236}">
                <a16:creationId xmlns:a16="http://schemas.microsoft.com/office/drawing/2014/main" id="{AEE5A816-30DE-5F47-EBCB-192205ED50AC}"/>
              </a:ext>
            </a:extLst>
          </p:cNvPr>
          <p:cNvSpPr/>
          <p:nvPr/>
        </p:nvSpPr>
        <p:spPr>
          <a:xfrm>
            <a:off x="4708804" y="5698532"/>
            <a:ext cx="2774391" cy="6448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b="0" u="none" strike="noStrike" dirty="0">
                <a:effectLst/>
                <a:uFillTx/>
                <a:latin typeface="Arial"/>
                <a:ea typeface="Arial"/>
              </a:rPr>
              <a:t>{} = Multi-Valued Attribute</a:t>
            </a:r>
            <a:endParaRPr lang="en-US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b="0" u="none" strike="noStrike" dirty="0">
                <a:effectLst/>
                <a:uFillTx/>
                <a:latin typeface="Arial"/>
                <a:ea typeface="Arial"/>
              </a:rPr>
              <a:t>() = Composite Attribute</a:t>
            </a:r>
            <a:endParaRPr lang="en-US" b="0" u="none" strike="noStrike" dirty="0"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139051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B039E-61C4-A6AD-B73C-BBE4B3F54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Relationships</a:t>
            </a:r>
          </a:p>
        </p:txBody>
      </p:sp>
      <p:sp>
        <p:nvSpPr>
          <p:cNvPr id="5" name="TextBox 10">
            <a:extLst>
              <a:ext uri="{FF2B5EF4-FFF2-40B4-BE49-F238E27FC236}">
                <a16:creationId xmlns:a16="http://schemas.microsoft.com/office/drawing/2014/main" id="{9840C0D9-01A5-200E-A18C-8B3C9FAE2CF2}"/>
              </a:ext>
            </a:extLst>
          </p:cNvPr>
          <p:cNvSpPr/>
          <p:nvPr/>
        </p:nvSpPr>
        <p:spPr>
          <a:xfrm>
            <a:off x="2411787" y="2280697"/>
            <a:ext cx="1328760" cy="30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Binary Degree</a:t>
            </a:r>
            <a:endParaRPr lang="en-US" sz="1400" b="0" u="none" strike="noStrike" dirty="0">
              <a:effectLst/>
              <a:uFillTx/>
              <a:latin typeface="Arial"/>
            </a:endParaRPr>
          </a:p>
        </p:txBody>
      </p:sp>
      <p:sp>
        <p:nvSpPr>
          <p:cNvPr id="7" name="TextBox 11">
            <a:extLst>
              <a:ext uri="{FF2B5EF4-FFF2-40B4-BE49-F238E27FC236}">
                <a16:creationId xmlns:a16="http://schemas.microsoft.com/office/drawing/2014/main" id="{51399621-0A91-2AFF-910D-6A8A57230CA0}"/>
              </a:ext>
            </a:extLst>
          </p:cNvPr>
          <p:cNvSpPr/>
          <p:nvPr/>
        </p:nvSpPr>
        <p:spPr>
          <a:xfrm>
            <a:off x="6831507" y="2280697"/>
            <a:ext cx="1436400" cy="30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Ternary Degree</a:t>
            </a:r>
            <a:endParaRPr lang="en-US" sz="1400" b="0" u="none" strike="noStrike" dirty="0">
              <a:effectLst/>
              <a:uFillTx/>
              <a:latin typeface="Arial"/>
            </a:endParaRPr>
          </a:p>
        </p:txBody>
      </p:sp>
      <p:pic>
        <p:nvPicPr>
          <p:cNvPr id="9" name="Picture 3">
            <a:extLst>
              <a:ext uri="{FF2B5EF4-FFF2-40B4-BE49-F238E27FC236}">
                <a16:creationId xmlns:a16="http://schemas.microsoft.com/office/drawing/2014/main" id="{98784E65-07DC-9F3D-0847-791EC4A1008B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1652065" y="2691527"/>
            <a:ext cx="3542400" cy="2839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" name="Picture 8">
            <a:extLst>
              <a:ext uri="{FF2B5EF4-FFF2-40B4-BE49-F238E27FC236}">
                <a16:creationId xmlns:a16="http://schemas.microsoft.com/office/drawing/2014/main" id="{C2C4D2FA-68CD-4821-9CAD-9094B84310CD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5988985" y="2691527"/>
            <a:ext cx="3542400" cy="290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" name="Picture 16">
            <a:extLst>
              <a:ext uri="{FF2B5EF4-FFF2-40B4-BE49-F238E27FC236}">
                <a16:creationId xmlns:a16="http://schemas.microsoft.com/office/drawing/2014/main" id="{FC7F5BDA-9CB2-62B5-E826-D4A36CB6207C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1572505" y="5448767"/>
            <a:ext cx="3745800" cy="80568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10260880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30BDD-1CB3-79DA-467C-C3EFAADD2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Relationships – Recursive(self)</a:t>
            </a:r>
          </a:p>
        </p:txBody>
      </p:sp>
      <p:pic>
        <p:nvPicPr>
          <p:cNvPr id="5" name="Picture 14">
            <a:extLst>
              <a:ext uri="{FF2B5EF4-FFF2-40B4-BE49-F238E27FC236}">
                <a16:creationId xmlns:a16="http://schemas.microsoft.com/office/drawing/2014/main" id="{550EE189-056A-D019-2A5F-B397D68CD7E5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2046360" y="2646198"/>
            <a:ext cx="4049640" cy="307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" name="Picture 5">
            <a:extLst>
              <a:ext uri="{FF2B5EF4-FFF2-40B4-BE49-F238E27FC236}">
                <a16:creationId xmlns:a16="http://schemas.microsoft.com/office/drawing/2014/main" id="{E634639F-97A8-915D-C1ED-E6B0434EB5AA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6769200" y="2819358"/>
            <a:ext cx="2993040" cy="275328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22556519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AC322-C588-F0D5-9BE4-4612E4AA6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Constraints on Binary Relationships</a:t>
            </a:r>
          </a:p>
        </p:txBody>
      </p:sp>
      <p:sp>
        <p:nvSpPr>
          <p:cNvPr id="5" name="TextBox 10">
            <a:extLst>
              <a:ext uri="{FF2B5EF4-FFF2-40B4-BE49-F238E27FC236}">
                <a16:creationId xmlns:a16="http://schemas.microsoft.com/office/drawing/2014/main" id="{DE7B6427-19D0-7D6E-893B-2C53F6BAA5B1}"/>
              </a:ext>
            </a:extLst>
          </p:cNvPr>
          <p:cNvSpPr/>
          <p:nvPr/>
        </p:nvSpPr>
        <p:spPr>
          <a:xfrm>
            <a:off x="4923994" y="2079898"/>
            <a:ext cx="1955520" cy="30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Structural Constraints:</a:t>
            </a:r>
            <a:endParaRPr lang="en-US" sz="1400" b="0" u="none" strike="noStrike" dirty="0">
              <a:effectLst/>
              <a:uFillTx/>
              <a:latin typeface="Arial"/>
            </a:endParaRP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2B876B4B-F3BF-E1FB-1C39-1E8554BA4337}"/>
              </a:ext>
            </a:extLst>
          </p:cNvPr>
          <p:cNvSpPr/>
          <p:nvPr/>
        </p:nvSpPr>
        <p:spPr>
          <a:xfrm>
            <a:off x="2792434" y="2431978"/>
            <a:ext cx="2364480" cy="30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Cardinality Ratio Constraint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  <p:sp>
        <p:nvSpPr>
          <p:cNvPr id="9" name="TextBox 3">
            <a:extLst>
              <a:ext uri="{FF2B5EF4-FFF2-40B4-BE49-F238E27FC236}">
                <a16:creationId xmlns:a16="http://schemas.microsoft.com/office/drawing/2014/main" id="{15BC7395-58A9-B682-85F2-0B1D2BBBE352}"/>
              </a:ext>
            </a:extLst>
          </p:cNvPr>
          <p:cNvSpPr/>
          <p:nvPr/>
        </p:nvSpPr>
        <p:spPr>
          <a:xfrm>
            <a:off x="6336634" y="2437378"/>
            <a:ext cx="2035800" cy="30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Participation Constraint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F39CA5D4-E353-9841-EB08-CA77AD9A97B4}"/>
              </a:ext>
            </a:extLst>
          </p:cNvPr>
          <p:cNvSpPr/>
          <p:nvPr/>
        </p:nvSpPr>
        <p:spPr>
          <a:xfrm>
            <a:off x="2648794" y="2739778"/>
            <a:ext cx="2696760" cy="95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Specifies the maximum number of relationship instances that an entity can participate in. Either: 1:N, N:1, 1:1, M:N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  <p:sp>
        <p:nvSpPr>
          <p:cNvPr id="13" name="TextBox 6">
            <a:extLst>
              <a:ext uri="{FF2B5EF4-FFF2-40B4-BE49-F238E27FC236}">
                <a16:creationId xmlns:a16="http://schemas.microsoft.com/office/drawing/2014/main" id="{21D28568-ED1E-B55E-87E2-CF9EF38E3AF1}"/>
              </a:ext>
            </a:extLst>
          </p:cNvPr>
          <p:cNvSpPr/>
          <p:nvPr/>
        </p:nvSpPr>
        <p:spPr>
          <a:xfrm>
            <a:off x="6123154" y="2773978"/>
            <a:ext cx="2696760" cy="738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Specifies the minimum number of relationship instances that each entity can participate in.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0082BCB8-7605-4957-82A1-A13295013F45}"/>
              </a:ext>
            </a:extLst>
          </p:cNvPr>
          <p:cNvSpPr/>
          <p:nvPr/>
        </p:nvSpPr>
        <p:spPr>
          <a:xfrm>
            <a:off x="6798874" y="4337098"/>
            <a:ext cx="3331080" cy="1600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Total Participation – Every dept needs 1 or more employees and every employee must have at least 1 dept. 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Partial Participation – 1 employee must manage each department. But every employee need not be a manager. </a:t>
            </a:r>
            <a:endParaRPr lang="en-US" sz="1400" b="0" u="none" strike="noStrike" dirty="0">
              <a:effectLst/>
              <a:uFillTx/>
              <a:latin typeface="Arial"/>
            </a:endParaRPr>
          </a:p>
        </p:txBody>
      </p:sp>
      <p:pic>
        <p:nvPicPr>
          <p:cNvPr id="17" name="Picture 8">
            <a:extLst>
              <a:ext uri="{FF2B5EF4-FFF2-40B4-BE49-F238E27FC236}">
                <a16:creationId xmlns:a16="http://schemas.microsoft.com/office/drawing/2014/main" id="{8402F987-A315-4440-3885-189A28BE63D9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1941485" y="4124325"/>
            <a:ext cx="4728240" cy="1017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" name="Picture 11">
            <a:extLst>
              <a:ext uri="{FF2B5EF4-FFF2-40B4-BE49-F238E27FC236}">
                <a16:creationId xmlns:a16="http://schemas.microsoft.com/office/drawing/2014/main" id="{124E335D-6DD4-ED88-FEBE-5919C1C58B1A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941485" y="5142045"/>
            <a:ext cx="4728240" cy="87660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7772510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AF3C1C-3DFD-5979-5E7C-246A4D654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Normalization – first normal form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9892A83B-E461-5D66-CE5A-85010379E12F}"/>
              </a:ext>
            </a:extLst>
          </p:cNvPr>
          <p:cNvSpPr/>
          <p:nvPr/>
        </p:nvSpPr>
        <p:spPr>
          <a:xfrm>
            <a:off x="6967298" y="2576013"/>
            <a:ext cx="3253320" cy="1169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The domain of an attribute must include only atomic (simple, indivisible) values and that the value of any attribute in a tuple must be a single value from the domain of that attribute.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9638168F-C058-2276-8C7A-131A19704DDC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1264557" y="2576013"/>
            <a:ext cx="5541324" cy="1801807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" name="Picture 7">
            <a:extLst>
              <a:ext uri="{FF2B5EF4-FFF2-40B4-BE49-F238E27FC236}">
                <a16:creationId xmlns:a16="http://schemas.microsoft.com/office/drawing/2014/main" id="{5DBBA500-9573-42A1-45EA-290B374D06F8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2395470" y="4408014"/>
            <a:ext cx="7734651" cy="1906966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4839787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23B34-2AE5-5812-263D-A90F3325F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normalization – second normal form</a:t>
            </a:r>
          </a:p>
        </p:txBody>
      </p:sp>
      <p:graphicFrame>
        <p:nvGraphicFramePr>
          <p:cNvPr id="5" name="Table 8">
            <a:extLst>
              <a:ext uri="{FF2B5EF4-FFF2-40B4-BE49-F238E27FC236}">
                <a16:creationId xmlns:a16="http://schemas.microsoft.com/office/drawing/2014/main" id="{A5F2B0A6-AA8E-CFDA-A286-67FDA767477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5489833"/>
              </p:ext>
            </p:extLst>
          </p:nvPr>
        </p:nvGraphicFramePr>
        <p:xfrm>
          <a:off x="957898" y="2241329"/>
          <a:ext cx="6095520" cy="1483200"/>
        </p:xfrm>
        <a:graphic>
          <a:graphicData uri="http://schemas.openxmlformats.org/drawingml/2006/table">
            <a:tbl>
              <a:tblPr>
                <a:tableStyleId>{125E5076-3810-47DD-B79F-674D7AD40C01}</a:tableStyleId>
              </a:tblPr>
              <a:tblGrid>
                <a:gridCol w="1523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3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3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3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bg1"/>
                          </a:solidFill>
                          <a:effectLst/>
                          <a:uFillTx/>
                        </a:rPr>
                        <a:t>Employee_Id</a:t>
                      </a:r>
                      <a:endParaRPr lang="en-US" sz="1400" b="0" u="none" strike="noStrike">
                        <a:solidFill>
                          <a:schemeClr val="bg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1" u="none" strike="noStrike" dirty="0">
                          <a:solidFill>
                            <a:schemeClr val="bg1"/>
                          </a:solidFill>
                          <a:effectLst/>
                          <a:uFillTx/>
                        </a:rPr>
                        <a:t>Name</a:t>
                      </a:r>
                      <a:endParaRPr lang="en-US" sz="1400" b="0" u="none" strike="noStrike" dirty="0">
                        <a:solidFill>
                          <a:schemeClr val="bg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bg1"/>
                          </a:solidFill>
                          <a:effectLst/>
                          <a:uFillTx/>
                        </a:rPr>
                        <a:t>Phone_Number</a:t>
                      </a:r>
                      <a:endParaRPr lang="en-US" sz="1400" b="0" u="none" strike="noStrike">
                        <a:solidFill>
                          <a:schemeClr val="bg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bg1"/>
                          </a:solidFill>
                          <a:effectLst/>
                          <a:uFillTx/>
                        </a:rPr>
                        <a:t>Department</a:t>
                      </a:r>
                      <a:endParaRPr lang="en-US" sz="1400" b="0" u="none" strike="noStrike">
                        <a:solidFill>
                          <a:schemeClr val="bg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bg1"/>
                          </a:solidFill>
                          <a:effectLst/>
                          <a:uFillTx/>
                        </a:rPr>
                        <a:t>1</a:t>
                      </a:r>
                      <a:endParaRPr lang="en-US" sz="1400" b="0" u="none" strike="noStrike">
                        <a:solidFill>
                          <a:schemeClr val="bg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bg1"/>
                          </a:solidFill>
                          <a:effectLst/>
                          <a:uFillTx/>
                        </a:rPr>
                        <a:t>John Smith</a:t>
                      </a:r>
                      <a:endParaRPr lang="en-US" sz="1400" b="0" u="none" strike="noStrike">
                        <a:solidFill>
                          <a:schemeClr val="bg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bg1"/>
                          </a:solidFill>
                          <a:effectLst/>
                          <a:uFillTx/>
                        </a:rPr>
                        <a:t>555-555-5555</a:t>
                      </a:r>
                      <a:endParaRPr lang="en-US" sz="1400" b="0" u="none" strike="noStrike">
                        <a:solidFill>
                          <a:schemeClr val="bg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bg1"/>
                          </a:solidFill>
                          <a:effectLst/>
                          <a:uFillTx/>
                        </a:rPr>
                        <a:t>Tech</a:t>
                      </a:r>
                      <a:endParaRPr lang="en-US" sz="1400" b="0" u="none" strike="noStrike">
                        <a:solidFill>
                          <a:schemeClr val="bg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bg1"/>
                          </a:solidFill>
                          <a:effectLst/>
                          <a:uFillTx/>
                        </a:rPr>
                        <a:t>2</a:t>
                      </a:r>
                      <a:endParaRPr lang="en-US" sz="1400" b="0" u="none" strike="noStrike">
                        <a:solidFill>
                          <a:schemeClr val="bg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bg1"/>
                          </a:solidFill>
                          <a:effectLst/>
                          <a:uFillTx/>
                        </a:rPr>
                        <a:t>Jane Doe</a:t>
                      </a:r>
                      <a:endParaRPr lang="en-US" sz="1400" b="0" u="none" strike="noStrike">
                        <a:solidFill>
                          <a:schemeClr val="bg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bg1"/>
                          </a:solidFill>
                          <a:effectLst/>
                          <a:uFillTx/>
                        </a:rPr>
                        <a:t>555-555-5555</a:t>
                      </a:r>
                      <a:endParaRPr lang="en-US" sz="1400" b="0" u="none" strike="noStrike">
                        <a:solidFill>
                          <a:schemeClr val="bg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bg1"/>
                          </a:solidFill>
                          <a:effectLst/>
                          <a:uFillTx/>
                        </a:rPr>
                        <a:t>Tech</a:t>
                      </a:r>
                      <a:endParaRPr lang="en-US" sz="1400" b="0" u="none" strike="noStrike">
                        <a:solidFill>
                          <a:schemeClr val="bg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bg1"/>
                          </a:solidFill>
                          <a:effectLst/>
                          <a:uFillTx/>
                        </a:rPr>
                        <a:t>3</a:t>
                      </a:r>
                      <a:endParaRPr lang="en-US" sz="1400" b="0" u="none" strike="noStrike">
                        <a:solidFill>
                          <a:schemeClr val="bg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bg1"/>
                          </a:solidFill>
                          <a:effectLst/>
                          <a:uFillTx/>
                        </a:rPr>
                        <a:t>Hal Emmerich</a:t>
                      </a:r>
                      <a:endParaRPr lang="en-US" sz="1400" b="0" u="none" strike="noStrike">
                        <a:solidFill>
                          <a:schemeClr val="bg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bg1"/>
                          </a:solidFill>
                          <a:effectLst/>
                          <a:uFillTx/>
                        </a:rPr>
                        <a:t>777-777-7777</a:t>
                      </a:r>
                      <a:endParaRPr lang="en-US" sz="1400" b="0" u="none" strike="noStrike">
                        <a:solidFill>
                          <a:schemeClr val="bg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 dirty="0">
                          <a:solidFill>
                            <a:schemeClr val="bg1"/>
                          </a:solidFill>
                          <a:effectLst/>
                          <a:uFillTx/>
                        </a:rPr>
                        <a:t>Tech</a:t>
                      </a:r>
                      <a:endParaRPr lang="en-US" sz="1400" b="0" u="none" strike="noStrike" dirty="0">
                        <a:solidFill>
                          <a:schemeClr val="bg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5">
            <a:extLst>
              <a:ext uri="{FF2B5EF4-FFF2-40B4-BE49-F238E27FC236}">
                <a16:creationId xmlns:a16="http://schemas.microsoft.com/office/drawing/2014/main" id="{D294C03D-A461-758D-9256-C1ABB36745B5}"/>
              </a:ext>
            </a:extLst>
          </p:cNvPr>
          <p:cNvSpPr/>
          <p:nvPr/>
        </p:nvSpPr>
        <p:spPr>
          <a:xfrm>
            <a:off x="7658142" y="2613749"/>
            <a:ext cx="2167200" cy="738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Each non-key column in a table is fully dependent on the primary key. 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  <p:pic>
        <p:nvPicPr>
          <p:cNvPr id="9" name="Picture 7">
            <a:extLst>
              <a:ext uri="{FF2B5EF4-FFF2-40B4-BE49-F238E27FC236}">
                <a16:creationId xmlns:a16="http://schemas.microsoft.com/office/drawing/2014/main" id="{D7FFB74F-25F2-F376-7C65-6D897616143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3041040" y="4249902"/>
            <a:ext cx="6109920" cy="202320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36583296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4FD19-4906-A6AD-21FB-159FC573E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normalization – third normal form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6D817646-2A9A-8CDE-6743-4FC76A034421}"/>
              </a:ext>
            </a:extLst>
          </p:cNvPr>
          <p:cNvSpPr/>
          <p:nvPr/>
        </p:nvSpPr>
        <p:spPr>
          <a:xfrm>
            <a:off x="7683900" y="2488939"/>
            <a:ext cx="2167200" cy="95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Each non-key column in a table is not transitively dependent on the primary key. 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4903BB29-059D-31BE-506A-FB9A81EF3F64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1846500" y="2373379"/>
            <a:ext cx="5331240" cy="1628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" name="Picture 10">
            <a:extLst>
              <a:ext uri="{FF2B5EF4-FFF2-40B4-BE49-F238E27FC236}">
                <a16:creationId xmlns:a16="http://schemas.microsoft.com/office/drawing/2014/main" id="{93D275E9-5318-D067-6C1F-DD45D34ECDDD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359060" y="4350859"/>
            <a:ext cx="4345920" cy="1429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" name="Picture 12">
            <a:extLst>
              <a:ext uri="{FF2B5EF4-FFF2-40B4-BE49-F238E27FC236}">
                <a16:creationId xmlns:a16="http://schemas.microsoft.com/office/drawing/2014/main" id="{60D29899-0D7A-99B1-5BF6-7A57DAFA02AA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5992980" y="4350859"/>
            <a:ext cx="4058280" cy="143604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41767798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C68C6-51F3-4AA3-53F5-FC4C36F29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Mapping Algorithm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AB97838C-5DD5-C0FB-0725-FE4A29752387}"/>
              </a:ext>
            </a:extLst>
          </p:cNvPr>
          <p:cNvSpPr/>
          <p:nvPr/>
        </p:nvSpPr>
        <p:spPr>
          <a:xfrm>
            <a:off x="2359931" y="2318430"/>
            <a:ext cx="3457800" cy="2246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Step 1: Map Regular Entity Types – create a relation and include all simple attributes of the entity. Choose a Primary Key.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Step 2: Map Weak Entity Types – create a relation and include all simple attributes, also include the foreign key that corresponds to the primary key of the owner entity type. </a:t>
            </a:r>
            <a:endParaRPr lang="en-US" sz="1400" b="0" u="none" strike="noStrike" dirty="0">
              <a:effectLst/>
              <a:uFillTx/>
              <a:latin typeface="Arial"/>
            </a:endParaRPr>
          </a:p>
        </p:txBody>
      </p:sp>
      <p:pic>
        <p:nvPicPr>
          <p:cNvPr id="7" name="Picture 10">
            <a:extLst>
              <a:ext uri="{FF2B5EF4-FFF2-40B4-BE49-F238E27FC236}">
                <a16:creationId xmlns:a16="http://schemas.microsoft.com/office/drawing/2014/main" id="{F25AFB00-66CD-4830-3238-0699FFFE6828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4079291" y="4875510"/>
            <a:ext cx="3192120" cy="1608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" name="Picture 12">
            <a:extLst>
              <a:ext uri="{FF2B5EF4-FFF2-40B4-BE49-F238E27FC236}">
                <a16:creationId xmlns:a16="http://schemas.microsoft.com/office/drawing/2014/main" id="{80CCBFA0-B507-F3DB-C057-5EFC015D1D95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6567971" y="2252190"/>
            <a:ext cx="2946960" cy="257076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41091563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929C4-6359-F173-C9D2-E949E2493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Mapping algorithm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445E9081-06FB-C6B7-681A-7DD3BDED1C17}"/>
              </a:ext>
            </a:extLst>
          </p:cNvPr>
          <p:cNvSpPr/>
          <p:nvPr/>
        </p:nvSpPr>
        <p:spPr>
          <a:xfrm>
            <a:off x="4042390" y="2148531"/>
            <a:ext cx="4065840" cy="95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Step 3: Map 1:1 Relationship Types – In general, use the Foreign key approach and use merged relation and cross-reference approaches as required.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E5B3CAFD-2A86-53EC-175B-5168EAF76765}"/>
              </a:ext>
            </a:extLst>
          </p:cNvPr>
          <p:cNvSpPr/>
          <p:nvPr/>
        </p:nvSpPr>
        <p:spPr>
          <a:xfrm>
            <a:off x="1698070" y="3277851"/>
            <a:ext cx="3481560" cy="13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Foreign Key Approach – For entities S and T, choose a primary key from S and include it as a foreign key in T. It is better to choose an entity type with total participation. Include all simple attributes of the relationship as attributes of S. </a:t>
            </a:r>
            <a:endParaRPr lang="en-US" sz="1400" b="0" u="none" strike="noStrike" dirty="0">
              <a:effectLst/>
              <a:uFillTx/>
              <a:latin typeface="Arial"/>
            </a:endParaRPr>
          </a:p>
        </p:txBody>
      </p:sp>
      <p:pic>
        <p:nvPicPr>
          <p:cNvPr id="9" name="Picture 7">
            <a:extLst>
              <a:ext uri="{FF2B5EF4-FFF2-40B4-BE49-F238E27FC236}">
                <a16:creationId xmlns:a16="http://schemas.microsoft.com/office/drawing/2014/main" id="{2830E29D-4103-227F-E50F-B43F16D7384E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1943950" y="4662771"/>
            <a:ext cx="2820240" cy="719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58CFE09-4D15-C634-CD5F-EF823D344327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684030" y="5754651"/>
            <a:ext cx="4010400" cy="637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ACFB263-0120-F013-2AE7-32F176ECAD5D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1563070" y="5449371"/>
            <a:ext cx="4502520" cy="37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" name="TextBox 13">
            <a:extLst>
              <a:ext uri="{FF2B5EF4-FFF2-40B4-BE49-F238E27FC236}">
                <a16:creationId xmlns:a16="http://schemas.microsoft.com/office/drawing/2014/main" id="{34F5295A-67B4-36A0-3DE4-2B0FCE5134FC}"/>
              </a:ext>
            </a:extLst>
          </p:cNvPr>
          <p:cNvSpPr/>
          <p:nvPr/>
        </p:nvSpPr>
        <p:spPr>
          <a:xfrm>
            <a:off x="6518830" y="3344091"/>
            <a:ext cx="3340800" cy="95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Merged Relation Approach – Merges the two entity types and the relation into a single relation. Possible when both participations are total. 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  <p:sp>
        <p:nvSpPr>
          <p:cNvPr id="17" name="TextBox 14">
            <a:extLst>
              <a:ext uri="{FF2B5EF4-FFF2-40B4-BE49-F238E27FC236}">
                <a16:creationId xmlns:a16="http://schemas.microsoft.com/office/drawing/2014/main" id="{FA6E1369-688F-DF64-87DB-B7D1A645E734}"/>
              </a:ext>
            </a:extLst>
          </p:cNvPr>
          <p:cNvSpPr/>
          <p:nvPr/>
        </p:nvSpPr>
        <p:spPr>
          <a:xfrm>
            <a:off x="6518830" y="4495371"/>
            <a:ext cx="3340800" cy="95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Cross-Reference Approach – Set up a third relation R for the purpose of cross-referencing the primary keys of two tables. Required for M:N relationships. 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363741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E3412-5DAE-79F9-A480-7702E0BC5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Mapping Algorithm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1E01F6E8-387B-2B8E-65DE-D35B4E04B073}"/>
              </a:ext>
            </a:extLst>
          </p:cNvPr>
          <p:cNvSpPr/>
          <p:nvPr/>
        </p:nvSpPr>
        <p:spPr>
          <a:xfrm>
            <a:off x="4055268" y="2084136"/>
            <a:ext cx="4065840" cy="738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Step 4: Map 1:N Relationship Types – Use foreign key approach or relationship relation approach.  </a:t>
            </a:r>
            <a:endParaRPr lang="en-US" sz="1400" b="0" u="none" strike="noStrike" dirty="0">
              <a:effectLst/>
              <a:uFillTx/>
              <a:latin typeface="Arial"/>
            </a:endParaRP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2583C750-C7FE-2C5B-0F05-5227DBF65FAC}"/>
              </a:ext>
            </a:extLst>
          </p:cNvPr>
          <p:cNvSpPr/>
          <p:nvPr/>
        </p:nvSpPr>
        <p:spPr>
          <a:xfrm>
            <a:off x="1745868" y="2822856"/>
            <a:ext cx="3481560" cy="13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Foreign Key Approach – For each regular binary 1:N relationship type R, identify the side S that represents the N-side of the relationship. Include a foreign key in S the primary key of T, that represents the other entity type. 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  <p:sp>
        <p:nvSpPr>
          <p:cNvPr id="9" name="TextBox 14">
            <a:extLst>
              <a:ext uri="{FF2B5EF4-FFF2-40B4-BE49-F238E27FC236}">
                <a16:creationId xmlns:a16="http://schemas.microsoft.com/office/drawing/2014/main" id="{931D8507-F01B-DBB3-75A8-DD1BB4171AFB}"/>
              </a:ext>
            </a:extLst>
          </p:cNvPr>
          <p:cNvSpPr/>
          <p:nvPr/>
        </p:nvSpPr>
        <p:spPr>
          <a:xfrm>
            <a:off x="1710948" y="4253496"/>
            <a:ext cx="3340800" cy="203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Cross-Reference Approach – Create a separate relation R whose attributes are the primary keys of entities T and S, which will also be foreign keys to S and T. The primary key of R is the same as the primary key of S. This options can be used if few tuples in S participate in the relationship to avoid excessive NULL values in the foreign key. 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  <p:pic>
        <p:nvPicPr>
          <p:cNvPr id="11" name="Picture 6">
            <a:extLst>
              <a:ext uri="{FF2B5EF4-FFF2-40B4-BE49-F238E27FC236}">
                <a16:creationId xmlns:a16="http://schemas.microsoft.com/office/drawing/2014/main" id="{EC6BB456-D69D-DBB7-F0CF-1E3CCD50055B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5544228" y="3067656"/>
            <a:ext cx="3858480" cy="1032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" name="Picture 17">
            <a:extLst>
              <a:ext uri="{FF2B5EF4-FFF2-40B4-BE49-F238E27FC236}">
                <a16:creationId xmlns:a16="http://schemas.microsoft.com/office/drawing/2014/main" id="{5E010836-CE59-6B3F-910D-97771E6F3A12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5403468" y="4132176"/>
            <a:ext cx="4617000" cy="120708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21455958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409B0-A7A5-8AC6-4B71-CD169F437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Mapping Algorithm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F8C6DDD0-0773-BB82-D363-D419D7491B92}"/>
              </a:ext>
            </a:extLst>
          </p:cNvPr>
          <p:cNvSpPr/>
          <p:nvPr/>
        </p:nvSpPr>
        <p:spPr>
          <a:xfrm>
            <a:off x="3538643" y="2259720"/>
            <a:ext cx="4745160" cy="1169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Step 5: Map M:N Relationship Types – Traditional relational models don’t allow for multivalued attributes, the only option for M:N relationships is the cross-reference approach. Cascade delete should be enabled on the foreign keys.  </a:t>
            </a:r>
            <a:endParaRPr lang="en-US" sz="1400" b="0" u="none" strike="noStrike" dirty="0">
              <a:effectLst/>
              <a:uFillTx/>
              <a:latin typeface="Arial"/>
            </a:endParaRPr>
          </a:p>
        </p:txBody>
      </p:sp>
      <p:pic>
        <p:nvPicPr>
          <p:cNvPr id="7" name="Picture 7">
            <a:extLst>
              <a:ext uri="{FF2B5EF4-FFF2-40B4-BE49-F238E27FC236}">
                <a16:creationId xmlns:a16="http://schemas.microsoft.com/office/drawing/2014/main" id="{1AFB8B4F-9A8D-F144-65BE-CC8F25293989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1857083" y="3429360"/>
            <a:ext cx="3723120" cy="2388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" name="Picture 9">
            <a:extLst>
              <a:ext uri="{FF2B5EF4-FFF2-40B4-BE49-F238E27FC236}">
                <a16:creationId xmlns:a16="http://schemas.microsoft.com/office/drawing/2014/main" id="{C0268482-0C9A-F1CE-35B3-7F252B7FA396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6145043" y="3429360"/>
            <a:ext cx="4064040" cy="238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3B56144-E0F0-CA18-8673-17DAB4E108C8}"/>
              </a:ext>
            </a:extLst>
          </p:cNvPr>
          <p:cNvSpPr/>
          <p:nvPr/>
        </p:nvSpPr>
        <p:spPr>
          <a:xfrm>
            <a:off x="6162683" y="5947200"/>
            <a:ext cx="3582720" cy="30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Essn + Pno = Primary Key of WORKS_ON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354168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C8D0F1-599D-7E70-28C2-99A58CF00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Mapping algorithm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54D96BD3-33CB-B89D-272F-6F016FB4ED1B}"/>
              </a:ext>
            </a:extLst>
          </p:cNvPr>
          <p:cNvSpPr/>
          <p:nvPr/>
        </p:nvSpPr>
        <p:spPr>
          <a:xfrm>
            <a:off x="4611073" y="2097564"/>
            <a:ext cx="4745160" cy="30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Step 6: Map multivalued attributes.</a:t>
            </a:r>
            <a:endParaRPr lang="en-US" sz="1400" b="0" u="none" strike="noStrike" dirty="0">
              <a:effectLst/>
              <a:uFillTx/>
              <a:latin typeface="Arial"/>
            </a:endParaRPr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12B1CF57-C8A6-BB62-90F6-7FDF94F690BA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2245873" y="3909804"/>
            <a:ext cx="3048120" cy="1885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CF0E9CF-226D-95F2-626E-F3A7BCC65A5A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5571913" y="3945804"/>
            <a:ext cx="4581720" cy="1819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TextBox 12">
            <a:extLst>
              <a:ext uri="{FF2B5EF4-FFF2-40B4-BE49-F238E27FC236}">
                <a16:creationId xmlns:a16="http://schemas.microsoft.com/office/drawing/2014/main" id="{65B9A708-0426-1816-218B-153880BE59EB}"/>
              </a:ext>
            </a:extLst>
          </p:cNvPr>
          <p:cNvSpPr/>
          <p:nvPr/>
        </p:nvSpPr>
        <p:spPr>
          <a:xfrm>
            <a:off x="2935273" y="2465124"/>
            <a:ext cx="6301800" cy="13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For each multivalued attribute A, create a new relation R. This relation R will include an attribute corresponding to A, plus the primary key attribute K—as a foreign key in R—of the relation that represents the entity type or relationship type that has A as a multivalued attribute. The primary key of R is the combination of A and K. If the multivalued attribute is composite, we include its simple components.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CB7183A7-550D-8063-288B-C04E94CD8C58}"/>
              </a:ext>
            </a:extLst>
          </p:cNvPr>
          <p:cNvSpPr/>
          <p:nvPr/>
        </p:nvSpPr>
        <p:spPr>
          <a:xfrm>
            <a:off x="5405593" y="5848404"/>
            <a:ext cx="4914720" cy="30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Dnumber + Dlocation = Primary Key of DEPT_LOCATIONS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296651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20CA5-AE64-4051-8BA7-10B72EFB9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ACID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8CD1882-1061-EB68-E128-805BC59D5719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81192" y="2052956"/>
            <a:ext cx="11029615" cy="39333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Atomicity</a:t>
            </a:r>
            <a:r>
              <a:rPr lang="en-US" dirty="0"/>
              <a:t> – Treat a transaction as a single, indivisible unit. Either all operations within the transactions succeed, or none of them do. </a:t>
            </a:r>
          </a:p>
          <a:p>
            <a:endParaRPr lang="en-US" dirty="0"/>
          </a:p>
          <a:p>
            <a:r>
              <a:rPr lang="en-US" dirty="0">
                <a:solidFill>
                  <a:schemeClr val="accent2"/>
                </a:solidFill>
              </a:rPr>
              <a:t>Consistency</a:t>
            </a:r>
            <a:r>
              <a:rPr lang="en-US" dirty="0"/>
              <a:t> – Ensure the database transitions from one valid state to another, adhering to all defined rules, constraints, and triggers.</a:t>
            </a:r>
          </a:p>
          <a:p>
            <a:endParaRPr lang="en-US" dirty="0"/>
          </a:p>
          <a:p>
            <a:r>
              <a:rPr lang="en-US" dirty="0">
                <a:solidFill>
                  <a:schemeClr val="accent2"/>
                </a:solidFill>
              </a:rPr>
              <a:t>Isolation</a:t>
            </a:r>
            <a:r>
              <a:rPr lang="en-US" dirty="0"/>
              <a:t> – Guarantees that concurrent transactions do not interfere with each other, appearing as if they are executed sequentially.</a:t>
            </a:r>
          </a:p>
          <a:p>
            <a:endParaRPr lang="en-US" dirty="0"/>
          </a:p>
          <a:p>
            <a:r>
              <a:rPr lang="en-US" dirty="0">
                <a:solidFill>
                  <a:schemeClr val="accent2"/>
                </a:solidFill>
              </a:rPr>
              <a:t>Durability</a:t>
            </a:r>
            <a:r>
              <a:rPr lang="en-US" dirty="0"/>
              <a:t> – Guarantees that once a transaction is committed, its changes are permanent and service system failures, such as power outages or crashes.</a:t>
            </a:r>
          </a:p>
        </p:txBody>
      </p:sp>
    </p:spTree>
    <p:extLst>
      <p:ext uri="{BB962C8B-B14F-4D97-AF65-F5344CB8AC3E}">
        <p14:creationId xmlns:p14="http://schemas.microsoft.com/office/powerpoint/2010/main" val="10578687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730C1-6BBF-22D4-6DE0-FDF917F54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don’t always want normalization</a:t>
            </a:r>
          </a:p>
        </p:txBody>
      </p:sp>
      <p:sp>
        <p:nvSpPr>
          <p:cNvPr id="5" name="TextBox 2">
            <a:extLst>
              <a:ext uri="{FF2B5EF4-FFF2-40B4-BE49-F238E27FC236}">
                <a16:creationId xmlns:a16="http://schemas.microsoft.com/office/drawing/2014/main" id="{5B328290-5347-8B35-1230-C925CD93DA24}"/>
              </a:ext>
            </a:extLst>
          </p:cNvPr>
          <p:cNvSpPr/>
          <p:nvPr/>
        </p:nvSpPr>
        <p:spPr>
          <a:xfrm>
            <a:off x="4389814" y="2761915"/>
            <a:ext cx="3412372" cy="1600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OLTP = Online Transaction Processing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Wingdings" charset="2"/>
              <a:buChar char=""/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APIs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Wingdings" charset="2"/>
              <a:buChar char=""/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Usually very normalized</a:t>
            </a:r>
            <a:br>
              <a:rPr sz="1400" dirty="0"/>
            </a:br>
            <a:r>
              <a:rPr lang="en-US" sz="1400" b="0" u="none" strike="noStrike" dirty="0">
                <a:effectLst/>
                <a:uFillTx/>
                <a:latin typeface="Arial"/>
              </a:rPr>
              <a:t> </a:t>
            </a:r>
          </a:p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OLAP = Online Analytical Processing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Wingdings" charset="2"/>
              <a:buChar char=""/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fewer, wider tables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Wingdings" charset="2"/>
              <a:buChar char=""/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Usually denormalized</a:t>
            </a:r>
            <a:endParaRPr lang="en-US" sz="1400" b="0" u="none" strike="noStrike" dirty="0">
              <a:effectLst/>
              <a:uFillTx/>
              <a:latin typeface="Arial"/>
            </a:endParaRPr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25A2D95E-B4FF-0C2E-0E51-C77C31B220F2}"/>
              </a:ext>
            </a:extLst>
          </p:cNvPr>
          <p:cNvSpPr/>
          <p:nvPr/>
        </p:nvSpPr>
        <p:spPr>
          <a:xfrm>
            <a:off x="3181440" y="4942024"/>
            <a:ext cx="5829120" cy="30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order_id | order_date | user_country | product_category | revenue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397535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2E9DA-EE82-A2A0-95D6-D4B38ECF8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OLAP Schema Patterns</a:t>
            </a:r>
          </a:p>
        </p:txBody>
      </p:sp>
      <p:sp>
        <p:nvSpPr>
          <p:cNvPr id="5" name="TextBox 2">
            <a:extLst>
              <a:ext uri="{FF2B5EF4-FFF2-40B4-BE49-F238E27FC236}">
                <a16:creationId xmlns:a16="http://schemas.microsoft.com/office/drawing/2014/main" id="{EBF9B683-2820-BB0B-8BD0-66FBDCEEF850}"/>
              </a:ext>
            </a:extLst>
          </p:cNvPr>
          <p:cNvSpPr/>
          <p:nvPr/>
        </p:nvSpPr>
        <p:spPr>
          <a:xfrm>
            <a:off x="1782107" y="2297200"/>
            <a:ext cx="7907760" cy="522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Star Schema = one big fact table in the center, small dimension tables around it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 dirty="0">
              <a:effectLst/>
              <a:uFillTx/>
              <a:latin typeface="Arial"/>
            </a:endParaRPr>
          </a:p>
        </p:txBody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7D7C03D5-5FEA-6307-9921-AF54384E4654}"/>
              </a:ext>
            </a:extLst>
          </p:cNvPr>
          <p:cNvSpPr/>
          <p:nvPr/>
        </p:nvSpPr>
        <p:spPr>
          <a:xfrm>
            <a:off x="1486907" y="2846200"/>
            <a:ext cx="2964960" cy="203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Fact Table = numbers you analyze</a:t>
            </a:r>
            <a:endParaRPr lang="en-US" sz="1400" b="0" u="none" strike="noStrike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fact_orders</a:t>
            </a:r>
            <a:endParaRPr lang="en-US" sz="1400" b="0" u="none" strike="noStrike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- order_id</a:t>
            </a:r>
            <a:endParaRPr lang="en-US" sz="1400" b="0" u="none" strike="noStrike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- user_id</a:t>
            </a:r>
            <a:endParaRPr lang="en-US" sz="1400" b="0" u="none" strike="noStrike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- product_id</a:t>
            </a:r>
            <a:endParaRPr lang="en-US" sz="1400" b="0" u="none" strike="noStrike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- date_id</a:t>
            </a:r>
            <a:endParaRPr lang="en-US" sz="1400" b="0" u="none" strike="noStrike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- revenue</a:t>
            </a:r>
            <a:endParaRPr lang="en-US" sz="1400" b="0" u="none" strike="noStrike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- quantity</a:t>
            </a:r>
            <a:endParaRPr lang="en-US" sz="1400" b="0" u="none" strike="noStrike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effectLst/>
              <a:uFillTx/>
              <a:latin typeface="Arial"/>
            </a:endParaRPr>
          </a:p>
        </p:txBody>
      </p:sp>
      <p:sp>
        <p:nvSpPr>
          <p:cNvPr id="9" name="TextBox 5">
            <a:extLst>
              <a:ext uri="{FF2B5EF4-FFF2-40B4-BE49-F238E27FC236}">
                <a16:creationId xmlns:a16="http://schemas.microsoft.com/office/drawing/2014/main" id="{1E96B940-1444-E805-9A92-7EA3677BA5DB}"/>
              </a:ext>
            </a:extLst>
          </p:cNvPr>
          <p:cNvSpPr/>
          <p:nvPr/>
        </p:nvSpPr>
        <p:spPr>
          <a:xfrm>
            <a:off x="1164347" y="5053360"/>
            <a:ext cx="4571640" cy="95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Dimension tables:</a:t>
            </a:r>
            <a:br>
              <a:rPr sz="1400"/>
            </a:b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dim_users(user_id, country, age)</a:t>
            </a:r>
            <a:endParaRPr lang="en-US" sz="1400" b="0" u="none" strike="noStrike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dim_products(product_id, category, brand)</a:t>
            </a:r>
            <a:endParaRPr lang="en-US" sz="1400" b="0" u="none" strike="noStrike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dim_time(date_id, day, month, year)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  <p:pic>
        <p:nvPicPr>
          <p:cNvPr id="11" name="Picture 7">
            <a:extLst>
              <a:ext uri="{FF2B5EF4-FFF2-40B4-BE49-F238E27FC236}">
                <a16:creationId xmlns:a16="http://schemas.microsoft.com/office/drawing/2014/main" id="{36904DD5-05A1-99AB-8D40-13EAF61AE51D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5735987" y="2871405"/>
            <a:ext cx="4453920" cy="327312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7396095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EAB370-F591-0DBE-A5FD-89CA70DE1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OLAP Schema Patterns</a:t>
            </a:r>
          </a:p>
        </p:txBody>
      </p:sp>
      <p:sp>
        <p:nvSpPr>
          <p:cNvPr id="5" name="TextBox 2">
            <a:extLst>
              <a:ext uri="{FF2B5EF4-FFF2-40B4-BE49-F238E27FC236}">
                <a16:creationId xmlns:a16="http://schemas.microsoft.com/office/drawing/2014/main" id="{FDA90005-2D65-8D62-B028-9FFFBBDED9A6}"/>
              </a:ext>
            </a:extLst>
          </p:cNvPr>
          <p:cNvSpPr/>
          <p:nvPr/>
        </p:nvSpPr>
        <p:spPr>
          <a:xfrm>
            <a:off x="2527320" y="3122605"/>
            <a:ext cx="7137360" cy="1169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Wide Fact Tables – ‘flatten everything into one big table’ (takes more storage space)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 dirty="0" err="1">
                <a:effectLst/>
                <a:uFillTx/>
                <a:latin typeface="Arial"/>
                <a:ea typeface="Arial"/>
              </a:rPr>
              <a:t>order_id</a:t>
            </a: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 | </a:t>
            </a:r>
            <a:r>
              <a:rPr lang="en-US" sz="1400" b="0" u="none" strike="noStrike" dirty="0" err="1">
                <a:effectLst/>
                <a:uFillTx/>
                <a:latin typeface="Arial"/>
                <a:ea typeface="Arial"/>
              </a:rPr>
              <a:t>order_date</a:t>
            </a: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 | </a:t>
            </a:r>
            <a:r>
              <a:rPr lang="en-US" sz="1400" b="0" u="none" strike="noStrike" dirty="0" err="1">
                <a:effectLst/>
                <a:uFillTx/>
                <a:latin typeface="Arial"/>
                <a:ea typeface="Arial"/>
              </a:rPr>
              <a:t>user_id</a:t>
            </a: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 | </a:t>
            </a:r>
            <a:r>
              <a:rPr lang="en-US" sz="1400" b="0" u="none" strike="noStrike" dirty="0" err="1">
                <a:effectLst/>
                <a:uFillTx/>
                <a:latin typeface="Arial"/>
                <a:ea typeface="Arial"/>
              </a:rPr>
              <a:t>user_country</a:t>
            </a: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 |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 dirty="0" err="1">
                <a:effectLst/>
                <a:uFillTx/>
                <a:latin typeface="Arial"/>
                <a:ea typeface="Arial"/>
              </a:rPr>
              <a:t>product_id</a:t>
            </a: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 | </a:t>
            </a:r>
            <a:r>
              <a:rPr lang="en-US" sz="1400" b="0" u="none" strike="noStrike" dirty="0" err="1">
                <a:effectLst/>
                <a:uFillTx/>
                <a:latin typeface="Arial"/>
                <a:ea typeface="Arial"/>
              </a:rPr>
              <a:t>product_category</a:t>
            </a: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 | price | quantity | revenue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 dirty="0"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625982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98147E-462D-3C2D-2A7A-B4E76CB8B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OLAP Schema Patterns</a:t>
            </a:r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7EB87AA4-E0A1-BD04-F159-9B217621B495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/>
          <a:stretch/>
        </p:blipFill>
        <p:spPr>
          <a:xfrm>
            <a:off x="2673928" y="1999292"/>
            <a:ext cx="6844144" cy="4439888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23500766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70560-0870-882B-8551-CCF8D666A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Chinook DB</a:t>
            </a:r>
          </a:p>
        </p:txBody>
      </p:sp>
      <p:pic>
        <p:nvPicPr>
          <p:cNvPr id="5" name="Picture 7">
            <a:extLst>
              <a:ext uri="{FF2B5EF4-FFF2-40B4-BE49-F238E27FC236}">
                <a16:creationId xmlns:a16="http://schemas.microsoft.com/office/drawing/2014/main" id="{11643FA6-D6F4-EEFC-4BFD-B97A6963DAF7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/>
          <a:stretch/>
        </p:blipFill>
        <p:spPr>
          <a:xfrm>
            <a:off x="811368" y="2025049"/>
            <a:ext cx="6697010" cy="4439888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" name="TextBox 5">
            <a:extLst>
              <a:ext uri="{FF2B5EF4-FFF2-40B4-BE49-F238E27FC236}">
                <a16:creationId xmlns:a16="http://schemas.microsoft.com/office/drawing/2014/main" id="{9E037236-9382-0B69-1437-4C8A36305D22}"/>
              </a:ext>
            </a:extLst>
          </p:cNvPr>
          <p:cNvSpPr/>
          <p:nvPr/>
        </p:nvSpPr>
        <p:spPr>
          <a:xfrm>
            <a:off x="7782323" y="3940935"/>
            <a:ext cx="3828485" cy="13835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  <a:hlinkClick r:id="rId3"/>
              </a:rPr>
              <a:t>https://github.com/lerocha/chinook-database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  <a:p>
            <a:pPr>
              <a:lnSpc>
                <a:spcPct val="100000"/>
              </a:lnSpc>
            </a:pPr>
            <a:endParaRPr lang="en-US" sz="1400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000000"/>
                </a:solidFill>
                <a:latin typeface="Arial"/>
              </a:rPr>
              <a:t>I’ve provided a modified version in your course materials. Ensure that the ‘chinook’ </a:t>
            </a:r>
            <a:r>
              <a:rPr lang="en-US" sz="1400" dirty="0" err="1">
                <a:solidFill>
                  <a:srgbClr val="000000"/>
                </a:solidFill>
                <a:latin typeface="Arial"/>
              </a:rPr>
              <a:t>db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 is selected before executing the </a:t>
            </a:r>
            <a:r>
              <a:rPr lang="en-US" sz="1400" dirty="0" err="1">
                <a:solidFill>
                  <a:srgbClr val="000000"/>
                </a:solidFill>
                <a:latin typeface="Arial"/>
              </a:rPr>
              <a:t>sql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 file NOT the default ‘</a:t>
            </a:r>
            <a:r>
              <a:rPr lang="en-US" sz="1400" dirty="0" err="1">
                <a:solidFill>
                  <a:srgbClr val="000000"/>
                </a:solidFill>
                <a:latin typeface="Arial"/>
              </a:rPr>
              <a:t>postgres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’ </a:t>
            </a:r>
            <a:r>
              <a:rPr lang="en-US" sz="1400" dirty="0" err="1">
                <a:solidFill>
                  <a:srgbClr val="000000"/>
                </a:solidFill>
                <a:latin typeface="Arial"/>
              </a:rPr>
              <a:t>db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!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319991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D92F2-BD3F-5502-960E-3CFF35778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234C-D59D-E997-1AA0-D508BFFD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Team Challenge – ERD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50FF0-C783-F3C0-044D-2F094F317804}"/>
              </a:ext>
            </a:extLst>
          </p:cNvPr>
          <p:cNvSpPr txBox="1"/>
          <p:nvPr/>
        </p:nvSpPr>
        <p:spPr>
          <a:xfrm>
            <a:off x="683283" y="2014799"/>
            <a:ext cx="273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Business Requirements: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1B443B1-E14C-64AB-9E9D-75FFCF923C2B}"/>
              </a:ext>
            </a:extLst>
          </p:cNvPr>
          <p:cNvSpPr txBox="1">
            <a:spLocks/>
          </p:cNvSpPr>
          <p:nvPr/>
        </p:nvSpPr>
        <p:spPr>
          <a:xfrm>
            <a:off x="424617" y="2455742"/>
            <a:ext cx="4661642" cy="392479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 sz="1200" dirty="0"/>
              <a:t>A bank has multiple </a:t>
            </a:r>
            <a:r>
              <a:rPr lang="en-US" sz="1200" b="1" dirty="0"/>
              <a:t>branches</a:t>
            </a:r>
            <a:r>
              <a:rPr lang="en-US" sz="1200" dirty="0"/>
              <a:t>.</a:t>
            </a: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 sz="1200" dirty="0"/>
              <a:t>Each branch has a unique branch ID, name, address, and phone number.</a:t>
            </a: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 sz="1200" dirty="0"/>
              <a:t>The bank has many </a:t>
            </a:r>
            <a:r>
              <a:rPr lang="en-US" sz="1200" b="1" dirty="0"/>
              <a:t>customers</a:t>
            </a:r>
            <a:r>
              <a:rPr lang="en-US" sz="1200" dirty="0"/>
              <a:t>.</a:t>
            </a: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 sz="1200" dirty="0"/>
              <a:t>A customer has a customer ID, name, date of birth, email, phone number, and address.</a:t>
            </a: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 sz="1200" dirty="0"/>
              <a:t>A customer may have multiple </a:t>
            </a:r>
            <a:r>
              <a:rPr lang="en-US" sz="1200" b="1" dirty="0"/>
              <a:t>accounts</a:t>
            </a:r>
            <a:r>
              <a:rPr lang="en-US" sz="1200" dirty="0"/>
              <a:t>.</a:t>
            </a: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 sz="1200" dirty="0"/>
              <a:t>An account belongs to one or more customers. For example, a checking account could be jointly owned by two people.</a:t>
            </a: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 sz="1200" dirty="0"/>
              <a:t>Each account has an account number, account type, date opened, balance, and status.</a:t>
            </a: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 sz="1200" dirty="0"/>
              <a:t>Accounts are associated with a specific branch.</a:t>
            </a: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 sz="1200" dirty="0"/>
              <a:t>The bank supports several account types, such as: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US" sz="1200" dirty="0"/>
              <a:t>Checking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US" sz="1200" dirty="0"/>
              <a:t>Savings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US" sz="1200" dirty="0"/>
              <a:t>Money Market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US" sz="1200" dirty="0"/>
              <a:t>Certificate of Deposit (CD)</a:t>
            </a: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 sz="1200" dirty="0"/>
              <a:t>Customers can make </a:t>
            </a:r>
            <a:r>
              <a:rPr lang="en-US" sz="1200" b="1" dirty="0"/>
              <a:t>transactions</a:t>
            </a:r>
            <a:r>
              <a:rPr lang="en-US" sz="1200" dirty="0"/>
              <a:t> against their accounts.</a:t>
            </a: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 sz="1200" dirty="0"/>
              <a:t>Each transaction has a transaction ID, date/time, amount, transaction type, and description.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D83B7A-3D4D-3D65-0B91-D28AE964F364}"/>
              </a:ext>
            </a:extLst>
          </p:cNvPr>
          <p:cNvSpPr txBox="1"/>
          <p:nvPr/>
        </p:nvSpPr>
        <p:spPr>
          <a:xfrm>
            <a:off x="5202998" y="2455742"/>
            <a:ext cx="6097044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lvl="0" indent="-171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200" dirty="0"/>
              <a:t>Transaction types include deposits, withdrawals, transfers, and fees.</a:t>
            </a:r>
          </a:p>
          <a:p>
            <a:pPr marL="171450" lvl="0" indent="-171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200" dirty="0"/>
              <a:t>A transfer can involve both a </a:t>
            </a:r>
            <a:r>
              <a:rPr lang="en-US" sz="1200" b="1" dirty="0"/>
              <a:t>source account</a:t>
            </a:r>
            <a:r>
              <a:rPr lang="en-US" sz="1200" dirty="0"/>
              <a:t> and a </a:t>
            </a:r>
            <a:r>
              <a:rPr lang="en-US" sz="1200" b="1" dirty="0"/>
              <a:t>destination account</a:t>
            </a:r>
            <a:r>
              <a:rPr lang="en-US" sz="1200" dirty="0"/>
              <a:t>.</a:t>
            </a:r>
          </a:p>
          <a:p>
            <a:pPr marL="171450" lvl="0" indent="-171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200" dirty="0"/>
              <a:t>Customers can apply for </a:t>
            </a:r>
            <a:r>
              <a:rPr lang="en-US" sz="1200" b="1" dirty="0"/>
              <a:t>loans</a:t>
            </a:r>
            <a:r>
              <a:rPr lang="en-US" sz="1200" dirty="0"/>
              <a:t>.</a:t>
            </a:r>
          </a:p>
          <a:p>
            <a:pPr marL="171450" lvl="0" indent="-171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200" dirty="0"/>
              <a:t>A loan has a loan ID, loan type, principal amount, interest rate, start date, end date, and status.</a:t>
            </a:r>
          </a:p>
          <a:p>
            <a:pPr marL="171450" lvl="0" indent="-171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200" dirty="0"/>
              <a:t>A customer may have multiple loans.</a:t>
            </a:r>
          </a:p>
          <a:p>
            <a:pPr marL="171450" lvl="0" indent="-171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200" dirty="0"/>
              <a:t>Each loan is associated with a branch.</a:t>
            </a:r>
          </a:p>
          <a:p>
            <a:pPr marL="171450" lvl="0" indent="-171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200" dirty="0"/>
              <a:t>Customers make </a:t>
            </a:r>
            <a:r>
              <a:rPr lang="en-US" sz="1200" b="1" dirty="0"/>
              <a:t>loan payments</a:t>
            </a:r>
            <a:r>
              <a:rPr lang="en-US" sz="1200" dirty="0"/>
              <a:t>.</a:t>
            </a:r>
          </a:p>
          <a:p>
            <a:pPr marL="171450" lvl="0" indent="-171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200" dirty="0"/>
              <a:t>Each payment should record the payment ID, payment date, amount, and the portion applied to principal and interest.</a:t>
            </a:r>
          </a:p>
          <a:p>
            <a:pPr marL="171450" lvl="0" indent="-171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200" dirty="0"/>
              <a:t>Bank employees work at branches.</a:t>
            </a:r>
          </a:p>
          <a:p>
            <a:pPr marL="171450" lvl="0" indent="-171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200" dirty="0"/>
              <a:t>Each employee has an employee ID, name, job title, email, and hire date.</a:t>
            </a:r>
          </a:p>
          <a:p>
            <a:pPr marL="171450" lvl="0" indent="-171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200" dirty="0"/>
              <a:t>An employee may assist customers with loans or accounts.</a:t>
            </a:r>
          </a:p>
        </p:txBody>
      </p:sp>
    </p:spTree>
    <p:extLst>
      <p:ext uri="{BB962C8B-B14F-4D97-AF65-F5344CB8AC3E}">
        <p14:creationId xmlns:p14="http://schemas.microsoft.com/office/powerpoint/2010/main" val="358787138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213</TotalTime>
  <Words>2427</Words>
  <Application>Microsoft Office PowerPoint</Application>
  <PresentationFormat>Widescreen</PresentationFormat>
  <Paragraphs>260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3" baseType="lpstr">
      <vt:lpstr>Arial</vt:lpstr>
      <vt:lpstr>Gill Sans MT</vt:lpstr>
      <vt:lpstr>Google Sans</vt:lpstr>
      <vt:lpstr>Wingdings</vt:lpstr>
      <vt:lpstr>Wingdings 2</vt:lpstr>
      <vt:lpstr>Dividend</vt:lpstr>
      <vt:lpstr>SQL</vt:lpstr>
      <vt:lpstr>Types of Databases</vt:lpstr>
      <vt:lpstr>Docker Desktop Install</vt:lpstr>
      <vt:lpstr>Docker Key Terms</vt:lpstr>
      <vt:lpstr>PostgreSQL Docker Desktop setup</vt:lpstr>
      <vt:lpstr>Database setup - tools</vt:lpstr>
      <vt:lpstr>PostgreSQL hierarchy </vt:lpstr>
      <vt:lpstr>Beginner commands</vt:lpstr>
      <vt:lpstr>PostgreSQL UUID support &amp; Creating tables</vt:lpstr>
      <vt:lpstr>SQL Constraints – Examples</vt:lpstr>
      <vt:lpstr>SQL - Comments</vt:lpstr>
      <vt:lpstr>SQL Sublanguages</vt:lpstr>
      <vt:lpstr>What is a database schema?</vt:lpstr>
      <vt:lpstr>Three-schema Approach</vt:lpstr>
      <vt:lpstr>ERD vs UML</vt:lpstr>
      <vt:lpstr>External to Conceptual Level</vt:lpstr>
      <vt:lpstr>Entity Relationship Diagram</vt:lpstr>
      <vt:lpstr>ERDs</vt:lpstr>
      <vt:lpstr>Complex Attributes</vt:lpstr>
      <vt:lpstr>Relationships</vt:lpstr>
      <vt:lpstr>Relationships – Recursive(self)</vt:lpstr>
      <vt:lpstr>Constraints on Binary Relationships</vt:lpstr>
      <vt:lpstr>Database Normalization – first normal form</vt:lpstr>
      <vt:lpstr>Database normalization – second normal form</vt:lpstr>
      <vt:lpstr>Database normalization – third normal form</vt:lpstr>
      <vt:lpstr>Data Mapping Algorithm</vt:lpstr>
      <vt:lpstr>Data Mapping algorithm</vt:lpstr>
      <vt:lpstr>Data Mapping Algorithm</vt:lpstr>
      <vt:lpstr>Data Mapping Algorithm</vt:lpstr>
      <vt:lpstr>Data Mapping algorithm</vt:lpstr>
      <vt:lpstr>ACID</vt:lpstr>
      <vt:lpstr>We don’t always want normalization</vt:lpstr>
      <vt:lpstr>Common OLAP Schema Patterns</vt:lpstr>
      <vt:lpstr>Common OLAP Schema Patterns</vt:lpstr>
      <vt:lpstr>Common OLAP Schema Patterns</vt:lpstr>
      <vt:lpstr>Chinook DB</vt:lpstr>
      <vt:lpstr>Team Challenge – ERD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595</cp:revision>
  <dcterms:created xsi:type="dcterms:W3CDTF">2025-02-12T19:53:45Z</dcterms:created>
  <dcterms:modified xsi:type="dcterms:W3CDTF">2026-09-08T16:53:37Z</dcterms:modified>
</cp:coreProperties>
</file>