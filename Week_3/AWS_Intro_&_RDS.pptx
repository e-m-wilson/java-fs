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56" r:id="rId2"/>
    <p:sldId id="261" r:id="rId3"/>
    <p:sldId id="264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305" r:id="rId34"/>
    <p:sldId id="306" r:id="rId35"/>
    <p:sldId id="307" r:id="rId36"/>
    <p:sldId id="308" r:id="rId37"/>
    <p:sldId id="309" r:id="rId38"/>
    <p:sldId id="310" r:id="rId39"/>
    <p:sldId id="263" r:id="rId40"/>
    <p:sldId id="311" r:id="rId41"/>
    <p:sldId id="312" r:id="rId42"/>
    <p:sldId id="313" r:id="rId43"/>
    <p:sldId id="262" r:id="rId4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D3D3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EF453-3095-AE8A-2F6D-B0378CA79EC1}" v="28" dt="2025-06-02T16:07:27.587"/>
    <p1510:client id="{DEF17522-F9FC-8578-697D-16CF15692E13}" v="5" dt="2025-06-03T14:51:56.4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972" autoAdjust="0"/>
    <p:restoredTop sz="94660"/>
  </p:normalViewPr>
  <p:slideViewPr>
    <p:cSldViewPr snapToGrid="0">
      <p:cViewPr varScale="1">
        <p:scale>
          <a:sx n="153" d="100"/>
          <a:sy n="153" d="100"/>
        </p:scale>
        <p:origin x="16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81139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587750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73755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265091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2248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9988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982994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37106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97160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90617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55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  <a:p>
            <a:pPr lvl="5"/>
            <a:r>
              <a:rPr lang="en-US" dirty="0"/>
              <a:t>Six</a:t>
            </a:r>
          </a:p>
          <a:p>
            <a:pPr lvl="6"/>
            <a:r>
              <a:rPr lang="en-US" dirty="0"/>
              <a:t>Seven</a:t>
            </a:r>
          </a:p>
          <a:p>
            <a:pPr lvl="7"/>
            <a:r>
              <a:rPr lang="en-US" dirty="0"/>
              <a:t>Eight</a:t>
            </a:r>
          </a:p>
          <a:p>
            <a:pPr lvl="8"/>
            <a:r>
              <a:rPr lang="en-US" dirty="0"/>
              <a:t>ni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66156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aws.amazon.com/aws-certification/latest/solutions-architect-associate-03/solutions-architect-associate-03.html" TargetMode="External"/><Relationship Id="rId7" Type="http://schemas.openxmlformats.org/officeDocument/2006/relationships/hyperlink" Target="https://docs.aws.amazon.com/aws-certification/latest/solutions-architect-associate-03/solutions-architect-associate-03-domain4.html" TargetMode="External"/><Relationship Id="rId2" Type="http://schemas.openxmlformats.org/officeDocument/2006/relationships/hyperlink" Target="https://d1.awsstatic.com/onedam/marketing-channels/website/aws/en_US/training/approved/pdfs/ramp-up-guides/Ramp-Up_Guide_Architect.pdf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docs.aws.amazon.com/aws-certification/latest/solutions-architect-associate-03/solutions-architect-associate-03-domain3.html" TargetMode="External"/><Relationship Id="rId5" Type="http://schemas.openxmlformats.org/officeDocument/2006/relationships/hyperlink" Target="https://docs.aws.amazon.com/aws-certification/latest/solutions-architect-associate-03/solutions-architect-associate-03-domain2.html" TargetMode="External"/><Relationship Id="rId4" Type="http://schemas.openxmlformats.org/officeDocument/2006/relationships/hyperlink" Target="https://docs.aws.amazon.com/aws-certification/latest/solutions-architect-associate-03/solutions-architect-associate-03-domain1.html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s://aws.amazon.com/about-aws/global-infrastructure/regional-product-services/?p=ngi&amp;loc=4&amp;refid=65b90da3-fee6-483c-97a7-4a920c6c64dd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hyperlink" Target="http://github.com/aws/aws-cli" TargetMode="Externa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8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AWS Intro &amp; RDS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992356-009E-B671-396C-A5A470486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Resources &amp; Exam Basics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9EFB58-5DAE-C3C2-2D49-7AE40E7591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375647"/>
            <a:ext cx="11029615" cy="4195482"/>
          </a:xfrm>
        </p:spPr>
        <p:txBody>
          <a:bodyPr>
            <a:normAutofit fontScale="85000" lnSpcReduction="20000"/>
          </a:bodyPr>
          <a:lstStyle/>
          <a:p>
            <a:r>
              <a:rPr lang="en-US" dirty="0">
                <a:hlinkClick r:id="rId2"/>
              </a:rPr>
              <a:t>Ramp-up guide</a:t>
            </a:r>
            <a:endParaRPr lang="en-US" dirty="0"/>
          </a:p>
          <a:p>
            <a:r>
              <a:rPr lang="en-US" dirty="0" err="1"/>
              <a:t>Skillbuilder.aws</a:t>
            </a:r>
            <a:endParaRPr lang="en-US" dirty="0"/>
          </a:p>
          <a:p>
            <a:r>
              <a:rPr lang="en-US" dirty="0">
                <a:hlinkClick r:id="rId3"/>
              </a:rPr>
              <a:t>SAA-CO3 docs</a:t>
            </a:r>
            <a:endParaRPr lang="en-US" dirty="0"/>
          </a:p>
          <a:p>
            <a:endParaRPr lang="en-US" dirty="0"/>
          </a:p>
          <a:p>
            <a:r>
              <a:rPr lang="en-US" dirty="0"/>
              <a:t>Mix of multiple choice + multiple response</a:t>
            </a:r>
          </a:p>
          <a:p>
            <a:r>
              <a:rPr lang="en-US" dirty="0"/>
              <a:t>65 questions (15 do not count towards score)</a:t>
            </a:r>
          </a:p>
          <a:p>
            <a:r>
              <a:rPr lang="en-US" dirty="0"/>
              <a:t>$150 (each attempt, unlimited retakes with 14-day waiting period)</a:t>
            </a:r>
          </a:p>
          <a:p>
            <a:r>
              <a:rPr lang="en-US" dirty="0"/>
              <a:t>720 out of 1000 is passing</a:t>
            </a:r>
          </a:p>
          <a:p>
            <a:r>
              <a:rPr lang="en-US" dirty="0"/>
              <a:t>The exam has the following content domains and weightings:</a:t>
            </a:r>
          </a:p>
          <a:p>
            <a:r>
              <a:rPr lang="en-US" dirty="0">
                <a:hlinkClick r:id="rId4"/>
              </a:rPr>
              <a:t>Content Domain 1: Design Secure Architectures (30% of scored content)</a:t>
            </a:r>
            <a:endParaRPr lang="en-US" dirty="0"/>
          </a:p>
          <a:p>
            <a:r>
              <a:rPr lang="en-US" dirty="0">
                <a:hlinkClick r:id="rId5"/>
              </a:rPr>
              <a:t>Content Domain 2: Design Resilient Architectures (26% of scored content)</a:t>
            </a:r>
            <a:endParaRPr lang="en-US" dirty="0"/>
          </a:p>
          <a:p>
            <a:r>
              <a:rPr lang="en-US" dirty="0">
                <a:hlinkClick r:id="rId6"/>
              </a:rPr>
              <a:t>Content Domain 3: Design High-Performing Architectures (24% of scored content)</a:t>
            </a:r>
            <a:endParaRPr lang="en-US" dirty="0"/>
          </a:p>
          <a:p>
            <a:r>
              <a:rPr lang="en-US" dirty="0">
                <a:hlinkClick r:id="rId7"/>
              </a:rPr>
              <a:t>Content Domain 4: Design Cost-Optimized Architectures (20% of scored content)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A9F8383-AEA0-88C6-750E-8DA59321075E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03704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F2C298-696A-AFC6-3B31-4AA0A9F95A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1 – Design Secure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2E145A-FA38-D3C2-017C-AF397CE07F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4118" y="1989782"/>
            <a:ext cx="11029615" cy="4814047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Design secure access to AWS resources:</a:t>
            </a:r>
          </a:p>
          <a:p>
            <a:pPr lvl="1"/>
            <a:r>
              <a:rPr lang="en-US" dirty="0"/>
              <a:t>Access Controls and management across multiple accounts</a:t>
            </a:r>
          </a:p>
          <a:p>
            <a:pPr lvl="1"/>
            <a:r>
              <a:rPr lang="en-US" dirty="0"/>
              <a:t>AWS federated access and identity services (IAM,  AWS IAM Identity Center)</a:t>
            </a:r>
          </a:p>
          <a:p>
            <a:pPr lvl="1"/>
            <a:r>
              <a:rPr lang="en-US" dirty="0"/>
              <a:t>AWS global infrastructure (availability zones, AWS regions)</a:t>
            </a:r>
          </a:p>
          <a:p>
            <a:pPr lvl="1"/>
            <a:r>
              <a:rPr lang="en-US" dirty="0"/>
              <a:t>AWS security best practices (ex least privilege)</a:t>
            </a:r>
          </a:p>
          <a:p>
            <a:pPr lvl="1"/>
            <a:r>
              <a:rPr lang="en-US" dirty="0"/>
              <a:t>AWS shared responsibility model</a:t>
            </a:r>
          </a:p>
          <a:p>
            <a:r>
              <a:rPr lang="en-US" dirty="0"/>
              <a:t>Design secure workloads and applications</a:t>
            </a:r>
          </a:p>
          <a:p>
            <a:pPr lvl="1"/>
            <a:r>
              <a:rPr lang="en-US" dirty="0"/>
              <a:t>Application configuration and credential security</a:t>
            </a:r>
          </a:p>
          <a:p>
            <a:pPr lvl="1"/>
            <a:r>
              <a:rPr lang="en-US" dirty="0"/>
              <a:t>AWS service endpoints</a:t>
            </a:r>
          </a:p>
          <a:p>
            <a:pPr lvl="1"/>
            <a:r>
              <a:rPr lang="en-US" dirty="0"/>
              <a:t>Control ports, protocols, and network traffic on AWS</a:t>
            </a:r>
          </a:p>
          <a:p>
            <a:pPr lvl="1"/>
            <a:r>
              <a:rPr lang="en-US" dirty="0"/>
              <a:t>Secure application access</a:t>
            </a:r>
          </a:p>
          <a:p>
            <a:pPr lvl="1"/>
            <a:r>
              <a:rPr lang="en-US" dirty="0"/>
              <a:t>Security services with appropriate use cases (AWS </a:t>
            </a:r>
            <a:r>
              <a:rPr lang="en-US" dirty="0" err="1"/>
              <a:t>cognito</a:t>
            </a:r>
            <a:r>
              <a:rPr lang="en-US" dirty="0"/>
              <a:t>, AWS </a:t>
            </a:r>
            <a:r>
              <a:rPr lang="en-US" dirty="0" err="1"/>
              <a:t>GuardDuty</a:t>
            </a:r>
            <a:r>
              <a:rPr lang="en-US" dirty="0"/>
              <a:t>, AWS Macie)</a:t>
            </a:r>
          </a:p>
          <a:p>
            <a:pPr lvl="1"/>
            <a:r>
              <a:rPr lang="en-US" dirty="0"/>
              <a:t>Threat vectors external to AWS (DDoS, SQL injection)</a:t>
            </a:r>
          </a:p>
          <a:p>
            <a:r>
              <a:rPr lang="en-US" dirty="0"/>
              <a:t>Determine appropriate security controls</a:t>
            </a:r>
          </a:p>
          <a:p>
            <a:pPr lvl="1"/>
            <a:r>
              <a:rPr lang="en-US" dirty="0"/>
              <a:t>Data access and governance</a:t>
            </a:r>
          </a:p>
          <a:p>
            <a:pPr lvl="1"/>
            <a:r>
              <a:rPr lang="en-US" dirty="0"/>
              <a:t>Data recovery</a:t>
            </a:r>
          </a:p>
          <a:p>
            <a:pPr lvl="1"/>
            <a:r>
              <a:rPr lang="en-US" dirty="0"/>
              <a:t>Data retention and classification</a:t>
            </a:r>
          </a:p>
          <a:p>
            <a:pPr lvl="1"/>
            <a:r>
              <a:rPr lang="en-US" dirty="0"/>
              <a:t>Encryption and appropriate key management </a:t>
            </a:r>
          </a:p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B321D30-852B-D4AE-1C98-611102407D56}"/>
              </a:ext>
            </a:extLst>
          </p:cNvPr>
          <p:cNvSpPr txBox="1"/>
          <p:nvPr/>
        </p:nvSpPr>
        <p:spPr>
          <a:xfrm>
            <a:off x="6194611" y="1882206"/>
            <a:ext cx="5773271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Applying AWS security best practices to IAM users and root users (for example, multi-factor authentication [MFA])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flexible authorization model that includes IAM users, groups, roles, and policies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role-based access control strategy (for example, AWS STS, role switching, cross-account access)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a security strategy for multiple AWS accounts (for example, AWS Control Tower, service control policies [SCPs])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the appropriate use of resource policies for AWS services</a:t>
            </a:r>
          </a:p>
          <a:p>
            <a:pPr marL="285750" indent="-2857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when to federate a directory service with IAM roles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963AF22-BCD4-708F-EE74-1E8E28CD4143}"/>
              </a:ext>
            </a:extLst>
          </p:cNvPr>
          <p:cNvSpPr txBox="1"/>
          <p:nvPr/>
        </p:nvSpPr>
        <p:spPr>
          <a:xfrm>
            <a:off x="6598023" y="3781556"/>
            <a:ext cx="5118847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Designing VPC architectures with security components (for example, security groups, route tables, network ACLs, NAT gateways)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Determining network segmentation strategies (for example, using public subnets and private subnets)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Integrating AWS services to secure applications (for example, AWS Shield, AWS WAF, IAM Identity Center, AWS Secrets Manager)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Securing external network connections to and from the AWS Cloud (for example, VPN, AWS Direct Connect)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98D65B4-7B20-6CF4-5DC1-116584150B4B}"/>
              </a:ext>
            </a:extLst>
          </p:cNvPr>
          <p:cNvSpPr txBox="1"/>
          <p:nvPr/>
        </p:nvSpPr>
        <p:spPr>
          <a:xfrm>
            <a:off x="6276807" y="5405004"/>
            <a:ext cx="6096000" cy="13849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Aligning AWS technologies to meet compliance requirements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Encrypting data at rest (for example, AWS KMS)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Encrypting data in transit (for example, AWS Certificate Manager [ACM] using TLS)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access policies for encryption keys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data backups and replications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Implementing policies for data access, lifecycle, and protection</a:t>
            </a:r>
          </a:p>
          <a:p>
            <a:pPr marL="171450" indent="-171450" algn="l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b="0" i="0" dirty="0">
                <a:effectLst/>
                <a:latin typeface="Amazon Ember"/>
              </a:rPr>
              <a:t>Rotating encryption keys and renewing certificates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AE8D1B-6F72-CA63-667D-FE228FB70F3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5976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8C5126-CB5F-744E-548C-92900DDB95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Domain 2 – Design Resilient Architectures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9DF6EB-48E6-E359-54BB-EF583D1066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3993" y="1864659"/>
            <a:ext cx="6395679" cy="4894729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Design scalable and loosely coupled architectures</a:t>
            </a:r>
          </a:p>
          <a:p>
            <a:pPr lvl="1"/>
            <a:r>
              <a:rPr lang="en-US" dirty="0"/>
              <a:t>API creation and management (for example, Amazon API Gateway, REST API)</a:t>
            </a:r>
          </a:p>
          <a:p>
            <a:pPr lvl="1"/>
            <a:r>
              <a:rPr lang="en-US" dirty="0"/>
              <a:t>AWS managed services with appropriate use cases (for example, AWS Transfer Family, Amazon SQS, AWS Secrets Manager)</a:t>
            </a:r>
          </a:p>
          <a:p>
            <a:pPr lvl="1"/>
            <a:r>
              <a:rPr lang="en-US" dirty="0"/>
              <a:t>Caching strategies</a:t>
            </a:r>
          </a:p>
          <a:p>
            <a:pPr lvl="1"/>
            <a:r>
              <a:rPr lang="en-US" dirty="0"/>
              <a:t>Design principles for microservices (for example, stateless workloads compared with stateful workloads)</a:t>
            </a:r>
          </a:p>
          <a:p>
            <a:pPr lvl="1"/>
            <a:r>
              <a:rPr lang="en-US" dirty="0"/>
              <a:t>Event-driven architectures</a:t>
            </a:r>
          </a:p>
          <a:p>
            <a:pPr lvl="1"/>
            <a:r>
              <a:rPr lang="en-US" dirty="0"/>
              <a:t>Horizontal scaling and vertical scaling</a:t>
            </a:r>
          </a:p>
          <a:p>
            <a:pPr lvl="1"/>
            <a:r>
              <a:rPr lang="en-US" dirty="0"/>
              <a:t>How to appropriately use edge accelerators (for example, content delivery network [CDN])</a:t>
            </a:r>
          </a:p>
          <a:p>
            <a:pPr lvl="1"/>
            <a:r>
              <a:rPr lang="en-US" dirty="0"/>
              <a:t>How to migrate applications into containers</a:t>
            </a:r>
          </a:p>
          <a:p>
            <a:pPr lvl="1"/>
            <a:r>
              <a:rPr lang="en-US" dirty="0"/>
              <a:t>Load balancing concepts (for example, Application Load Balancer [ALB])</a:t>
            </a:r>
          </a:p>
          <a:p>
            <a:pPr lvl="1"/>
            <a:r>
              <a:rPr lang="en-US" dirty="0"/>
              <a:t>Multi-tier architectures</a:t>
            </a:r>
          </a:p>
          <a:p>
            <a:pPr lvl="1"/>
            <a:r>
              <a:rPr lang="en-US" dirty="0"/>
              <a:t>Queuing and messaging concepts (for example, publish/subscribe)</a:t>
            </a:r>
          </a:p>
          <a:p>
            <a:pPr lvl="1"/>
            <a:r>
              <a:rPr lang="en-US" dirty="0"/>
              <a:t>Serverless technologies and patterns (for example, AWS Fargate, AWS Lambda)</a:t>
            </a:r>
          </a:p>
          <a:p>
            <a:pPr lvl="1"/>
            <a:r>
              <a:rPr lang="en-US" dirty="0"/>
              <a:t>Storage types with associated characteristics (for example, object, file, block)</a:t>
            </a:r>
          </a:p>
          <a:p>
            <a:pPr lvl="1"/>
            <a:r>
              <a:rPr lang="en-US" dirty="0"/>
              <a:t>The orchestration of containers (for example, Amazon ECS, Amazon EKS)</a:t>
            </a:r>
          </a:p>
          <a:p>
            <a:pPr lvl="1"/>
            <a:r>
              <a:rPr lang="en-US" dirty="0"/>
              <a:t>When to use read replicas</a:t>
            </a:r>
          </a:p>
          <a:p>
            <a:pPr lvl="1"/>
            <a:r>
              <a:rPr lang="en-US" dirty="0"/>
              <a:t>Workflow orchestration (for example, AWS Step Functions)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A44B1E5-006A-FD3D-A216-4A8BD9B2E37D}"/>
              </a:ext>
            </a:extLst>
          </p:cNvPr>
          <p:cNvSpPr txBox="1"/>
          <p:nvPr/>
        </p:nvSpPr>
        <p:spPr>
          <a:xfrm>
            <a:off x="6096000" y="1864659"/>
            <a:ext cx="5972007" cy="34470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400" dirty="0"/>
              <a:t>Design highly available and/or fault-tolerant architectures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AWS global infrastructure (for example, Availability Zones, AWS Regions, Amazon Route 53)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AWS Managed Services (AMS) with appropriate use cases (for example, Amazon Comprehend, Amazon Polly)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Basic networking concepts (for example, route tables)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Disaster recovery (DR) strategies (for example, backup and restore, pilot light, warm standby, active-active failover, recovery point objective [RPO], recovery time objective [RTO])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Distributed design patterns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Failover strategies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Immutable infrastructure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Load balancing concepts (for example, ALB)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Proxy concepts (for example, Amazon RDS Proxy)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Service quotas and throttling (for example, how to configure the service quotas for a workload in a standby environment)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Storage options and characteristics (for example, durability, replication)</a:t>
            </a:r>
          </a:p>
          <a:p>
            <a:pPr marL="742950" lvl="1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1200" dirty="0"/>
              <a:t>Workload visibility (for example, AWS X-Ray)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DCD76C9-0C62-1DD0-7AB7-6F04A7A1013C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69707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EE2CC-4731-F9B6-35CF-8AAAFD1DBA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Cloud Use Cases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E77231-FBF0-4756-30C1-56D5BFCC3E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AWS enables you to build sophisticated, scalable applications</a:t>
            </a:r>
          </a:p>
          <a:p>
            <a:r>
              <a:rPr lang="en-US" dirty="0"/>
              <a:t>Applicable to a diverse set of industries</a:t>
            </a:r>
          </a:p>
          <a:p>
            <a:r>
              <a:rPr lang="en-US" dirty="0"/>
              <a:t>Use cases include:</a:t>
            </a:r>
          </a:p>
          <a:p>
            <a:pPr lvl="1"/>
            <a:r>
              <a:rPr lang="en-US" dirty="0"/>
              <a:t>Enterprise IT, Backup &amp; Storage, Big Data Analytics</a:t>
            </a:r>
          </a:p>
          <a:p>
            <a:pPr lvl="1"/>
            <a:r>
              <a:rPr lang="en-US" dirty="0"/>
              <a:t>Website Hosting, Mobile &amp; Social Apps</a:t>
            </a:r>
          </a:p>
          <a:p>
            <a:pPr lvl="1"/>
            <a:r>
              <a:rPr lang="en-US" dirty="0"/>
              <a:t>Gaming/Game servers</a:t>
            </a:r>
          </a:p>
        </p:txBody>
      </p:sp>
    </p:spTree>
    <p:extLst>
      <p:ext uri="{BB962C8B-B14F-4D97-AF65-F5344CB8AC3E}">
        <p14:creationId xmlns:p14="http://schemas.microsoft.com/office/powerpoint/2010/main" val="17513221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C8317B-A2C3-F90E-55F9-E134012591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AWS Global Infrastructure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E1D1DF-4055-FFB5-4D9F-EC8CFE6861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218" y="1918447"/>
            <a:ext cx="4881063" cy="4805081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AWS Regions</a:t>
            </a:r>
          </a:p>
          <a:p>
            <a:pPr lvl="1"/>
            <a:r>
              <a:rPr lang="en-US" dirty="0"/>
              <a:t>us-east-1, eu-west-2, </a:t>
            </a:r>
            <a:r>
              <a:rPr lang="en-US" dirty="0" err="1"/>
              <a:t>etc</a:t>
            </a:r>
            <a:endParaRPr lang="en-US" dirty="0"/>
          </a:p>
          <a:p>
            <a:pPr lvl="1"/>
            <a:r>
              <a:rPr lang="en-US" dirty="0"/>
              <a:t>A region is a cluster of data centers</a:t>
            </a:r>
          </a:p>
          <a:p>
            <a:pPr lvl="1"/>
            <a:r>
              <a:rPr lang="en-US" dirty="0"/>
              <a:t>Most services are region scoped</a:t>
            </a:r>
          </a:p>
          <a:p>
            <a:pPr lvl="1"/>
            <a:r>
              <a:rPr lang="en-US" dirty="0"/>
              <a:t>Choose based on compliance, latency, and available services</a:t>
            </a:r>
          </a:p>
          <a:p>
            <a:pPr lvl="1"/>
            <a:r>
              <a:rPr lang="en-US" dirty="0"/>
              <a:t>Pricing varies region to region</a:t>
            </a:r>
          </a:p>
          <a:p>
            <a:r>
              <a:rPr lang="en-US" dirty="0"/>
              <a:t>AWS Availability Zones</a:t>
            </a:r>
          </a:p>
          <a:p>
            <a:pPr lvl="1"/>
            <a:r>
              <a:rPr lang="en-US" dirty="0"/>
              <a:t>One or more discrete data centers with redundant power, networking, and connectivity </a:t>
            </a:r>
          </a:p>
          <a:p>
            <a:pPr lvl="1"/>
            <a:r>
              <a:rPr lang="en-US" dirty="0"/>
              <a:t>Each region has 3 or more zones. E.g. us-east-2a, us-east-2b, etc. </a:t>
            </a:r>
          </a:p>
          <a:p>
            <a:r>
              <a:rPr lang="en-US" dirty="0"/>
              <a:t>AWS Data Centers</a:t>
            </a:r>
          </a:p>
          <a:p>
            <a:r>
              <a:rPr lang="en-US" dirty="0"/>
              <a:t>AWS Edge Locations / Points of Presence</a:t>
            </a:r>
          </a:p>
          <a:p>
            <a:pPr lvl="1"/>
            <a:r>
              <a:rPr lang="en-US" dirty="0"/>
              <a:t>Edge location: AWS managed </a:t>
            </a:r>
            <a:r>
              <a:rPr lang="en-US" dirty="0" err="1"/>
              <a:t>PoP</a:t>
            </a:r>
            <a:r>
              <a:rPr lang="en-US" dirty="0"/>
              <a:t> used for content delivery</a:t>
            </a:r>
          </a:p>
          <a:p>
            <a:pPr lvl="1"/>
            <a:r>
              <a:rPr lang="en-US" dirty="0" err="1"/>
              <a:t>PoP</a:t>
            </a:r>
            <a:r>
              <a:rPr lang="en-US" dirty="0"/>
              <a:t>: A physical networking site where providers connect its network to users</a:t>
            </a:r>
          </a:p>
          <a:p>
            <a:pPr lvl="1"/>
            <a:r>
              <a:rPr lang="en-US" dirty="0"/>
              <a:t>User &gt; ISP &gt; </a:t>
            </a:r>
            <a:r>
              <a:rPr lang="en-US" dirty="0" err="1"/>
              <a:t>PoP</a:t>
            </a:r>
            <a:r>
              <a:rPr lang="en-US" dirty="0"/>
              <a:t> &gt; AWS backbone (global network layer) &gt; AWS Region</a:t>
            </a:r>
          </a:p>
          <a:p>
            <a:endParaRPr lang="en-US" dirty="0"/>
          </a:p>
          <a:p>
            <a:r>
              <a:rPr lang="en-US" dirty="0"/>
              <a:t>https://infrastructure.aws/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F11B1F-3A1F-0B74-3220-8A8960C841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2281" y="2386875"/>
            <a:ext cx="6548501" cy="340311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D43F50A-940A-DD25-8AFD-D514ED422109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4030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65E10F-BFE7-0A1A-D0B3-E2AC56841D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Global vs Region Scoped services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E6005F-1342-CAD1-83E7-B1CA5E3B1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811690" cy="4344995"/>
          </a:xfrm>
        </p:spPr>
        <p:txBody>
          <a:bodyPr>
            <a:normAutofit/>
          </a:bodyPr>
          <a:lstStyle/>
          <a:p>
            <a:r>
              <a:rPr lang="en-US" dirty="0"/>
              <a:t>Global Services:</a:t>
            </a:r>
          </a:p>
          <a:p>
            <a:pPr lvl="1"/>
            <a:r>
              <a:rPr lang="en-US" dirty="0"/>
              <a:t>Identity and Access Management (IAM)</a:t>
            </a:r>
          </a:p>
          <a:p>
            <a:pPr lvl="1"/>
            <a:r>
              <a:rPr lang="en-US" dirty="0"/>
              <a:t>Route 53 (DNS Service)</a:t>
            </a:r>
          </a:p>
          <a:p>
            <a:pPr lvl="1"/>
            <a:r>
              <a:rPr lang="en-US" dirty="0"/>
              <a:t>CloudFront (Content Delivery Network - CDN)</a:t>
            </a:r>
          </a:p>
          <a:p>
            <a:pPr lvl="1"/>
            <a:r>
              <a:rPr lang="en-US" dirty="0"/>
              <a:t>WAF (Web Application Firewall)</a:t>
            </a:r>
          </a:p>
          <a:p>
            <a:r>
              <a:rPr lang="en-US" dirty="0"/>
              <a:t>Most AWS services are region-scoped:</a:t>
            </a:r>
          </a:p>
          <a:p>
            <a:pPr lvl="1"/>
            <a:r>
              <a:rPr lang="en-US" dirty="0"/>
              <a:t>Amazon EC2 (Infrastructure as a service)</a:t>
            </a:r>
          </a:p>
          <a:p>
            <a:pPr lvl="1"/>
            <a:r>
              <a:rPr lang="en-US" dirty="0"/>
              <a:t>Elastic Beanstalk (Platform as a service)</a:t>
            </a:r>
          </a:p>
          <a:p>
            <a:pPr lvl="1"/>
            <a:r>
              <a:rPr lang="en-US" dirty="0"/>
              <a:t>Lambda (Function as a service)</a:t>
            </a:r>
          </a:p>
          <a:p>
            <a:pPr lvl="1"/>
            <a:r>
              <a:rPr lang="en-US" dirty="0" err="1"/>
              <a:t>Rekognition</a:t>
            </a:r>
            <a:r>
              <a:rPr lang="en-US" dirty="0"/>
              <a:t> (Software as a service)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893CCA-8F41-09E6-262F-86EAEA16239C}"/>
              </a:ext>
            </a:extLst>
          </p:cNvPr>
          <p:cNvSpPr txBox="1"/>
          <p:nvPr/>
        </p:nvSpPr>
        <p:spPr>
          <a:xfrm>
            <a:off x="4855628" y="6446251"/>
            <a:ext cx="248074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hlinkClick r:id="rId2"/>
              </a:rPr>
              <a:t>AWS Services by Region</a:t>
            </a:r>
            <a:endParaRPr lang="en-US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7BB2E0F-C6A3-9804-F0D5-FB750E5AD8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1116" y="2841812"/>
            <a:ext cx="6561637" cy="2300233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ADD59700-2E2F-B511-6BE4-A422F22F7675}"/>
              </a:ext>
            </a:extLst>
          </p:cNvPr>
          <p:cNvSpPr txBox="1"/>
          <p:nvPr/>
        </p:nvSpPr>
        <p:spPr>
          <a:xfrm>
            <a:off x="10103223" y="2059620"/>
            <a:ext cx="16642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Region Selector</a:t>
            </a:r>
          </a:p>
        </p:txBody>
      </p: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291113B-8D14-09C7-E114-76CB9324E89F}"/>
              </a:ext>
            </a:extLst>
          </p:cNvPr>
          <p:cNvCxnSpPr>
            <a:cxnSpLocks/>
          </p:cNvCxnSpPr>
          <p:nvPr/>
        </p:nvCxnSpPr>
        <p:spPr>
          <a:xfrm>
            <a:off x="11098306" y="2385424"/>
            <a:ext cx="0" cy="456388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5" name="Rectangle 4">
            <a:extLst>
              <a:ext uri="{FF2B5EF4-FFF2-40B4-BE49-F238E27FC236}">
                <a16:creationId xmlns:a16="http://schemas.microsoft.com/office/drawing/2014/main" id="{8292D830-554E-9282-8926-0B3F09D9B4E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4492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043119-B363-E8D7-AE0D-89DA6E59F4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Users &amp;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04DA05-7355-596A-C789-F4EE2357B6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2131528"/>
          </a:xfrm>
        </p:spPr>
        <p:txBody>
          <a:bodyPr/>
          <a:lstStyle/>
          <a:p>
            <a:r>
              <a:rPr lang="en-US" dirty="0"/>
              <a:t>IAM: Identity and access management (Global Service)</a:t>
            </a:r>
          </a:p>
          <a:p>
            <a:r>
              <a:rPr lang="en-US" dirty="0"/>
              <a:t>Root account created by default, shouldn’t be used or shared</a:t>
            </a:r>
          </a:p>
          <a:p>
            <a:r>
              <a:rPr lang="en-US" dirty="0"/>
              <a:t>Users are people within your organization, and can be grouped</a:t>
            </a:r>
          </a:p>
          <a:p>
            <a:r>
              <a:rPr lang="en-US" dirty="0"/>
              <a:t>Group only contain users, not other groups</a:t>
            </a:r>
          </a:p>
          <a:p>
            <a:r>
              <a:rPr lang="en-US" dirty="0"/>
              <a:t>Users don’t have to belong to a group, and users can belong to multiple groups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6747792-190F-6BEE-C101-E2D4D6EC94F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98" y="4312025"/>
            <a:ext cx="8430802" cy="19910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75810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E71CED-B38A-DB0A-D482-3A53C8F5C1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Permissions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C436A5-90A0-CA33-CC81-12B6E701455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819608" cy="3678303"/>
          </a:xfrm>
        </p:spPr>
        <p:txBody>
          <a:bodyPr/>
          <a:lstStyle/>
          <a:p>
            <a:r>
              <a:rPr lang="en-US" dirty="0"/>
              <a:t>Users or groups can be assigned JSON documents called policies</a:t>
            </a:r>
          </a:p>
          <a:p>
            <a:r>
              <a:rPr lang="en-US" dirty="0"/>
              <a:t>These policies define the permissions of the users</a:t>
            </a:r>
          </a:p>
          <a:p>
            <a:r>
              <a:rPr lang="en-US" dirty="0"/>
              <a:t>In AWS we should apply the least privilege principle: don’t give more permissions than a user needs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57BB6C3-917C-A557-D717-D2A7E3B0A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04748" y="1946679"/>
            <a:ext cx="4906060" cy="45440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92336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76F43B-301C-63FD-0214-00C8E07038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16B97-74AC-3BF5-1107-90C40293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6" cy="614659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Navigate to the IAM global service to create users and groups</a:t>
            </a:r>
          </a:p>
          <a:p>
            <a:r>
              <a:rPr lang="en-US" dirty="0"/>
              <a:t>We can also assign permissions to users and groups from here (best practice is to assign permissions to groups instead of users)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94A8E-28F8-8A28-0A54-B2B47965140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9779" y="3050116"/>
            <a:ext cx="7549241" cy="342832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A2081B4-9A8B-FEC3-123D-4EB8C73E64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77930" y="4471910"/>
            <a:ext cx="3277057" cy="41915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BD488FD-E1C2-406A-206E-9E82CF8EFE91}"/>
              </a:ext>
            </a:extLst>
          </p:cNvPr>
          <p:cNvSpPr txBox="1"/>
          <p:nvPr/>
        </p:nvSpPr>
        <p:spPr>
          <a:xfrm>
            <a:off x="8677930" y="3657600"/>
            <a:ext cx="327705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Scope auto-set to global since IAM is a global service:</a:t>
            </a:r>
          </a:p>
        </p:txBody>
      </p:sp>
    </p:spTree>
    <p:extLst>
      <p:ext uri="{BB962C8B-B14F-4D97-AF65-F5344CB8AC3E}">
        <p14:creationId xmlns:p14="http://schemas.microsoft.com/office/powerpoint/2010/main" val="249442580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012FE8-9DAE-D60A-E198-6D5907905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9F1FF-CE7A-5334-2D34-931971AB18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Users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DBC313-A1DC-5C8B-C89A-3B674458A6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75805" y="1863554"/>
            <a:ext cx="5840390" cy="864041"/>
          </a:xfrm>
        </p:spPr>
        <p:txBody>
          <a:bodyPr>
            <a:normAutofit lnSpcReduction="10000"/>
          </a:bodyPr>
          <a:lstStyle/>
          <a:p>
            <a:r>
              <a:rPr lang="en-US" sz="1200" dirty="0"/>
              <a:t>Check the box so the user can get access to the console via GUI</a:t>
            </a:r>
          </a:p>
          <a:p>
            <a:r>
              <a:rPr lang="en-US" sz="1200" dirty="0"/>
              <a:t>We can create a new group and assign, or attach an already existing group to a user</a:t>
            </a:r>
          </a:p>
          <a:p>
            <a:r>
              <a:rPr lang="en-US" sz="1200" dirty="0"/>
              <a:t>We use the ‘</a:t>
            </a:r>
            <a:r>
              <a:rPr lang="en-US" sz="1200" dirty="0" err="1"/>
              <a:t>AdministratorAccess</a:t>
            </a:r>
            <a:r>
              <a:rPr lang="en-US" sz="1200" dirty="0"/>
              <a:t>’ permission to give users admin access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4D27D74-25CD-3A1C-6E7E-50781811BC3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6618" y="2727595"/>
            <a:ext cx="8118764" cy="190825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B8CA37C2-566E-AC92-179B-979B1113D6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36618" y="4369456"/>
            <a:ext cx="8118764" cy="2240859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8E0E4D44-C173-FB21-4183-D2438CE2D3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71496" y="6610315"/>
            <a:ext cx="5249008" cy="247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26830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2B433-128F-EC85-5DFC-61178FF2F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Account Alias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77E295-686D-BA76-C02F-471F01065B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7388635" cy="3975348"/>
          </a:xfrm>
        </p:spPr>
        <p:txBody>
          <a:bodyPr/>
          <a:lstStyle/>
          <a:p>
            <a:r>
              <a:rPr lang="en-US" dirty="0"/>
              <a:t>On the IAM Dashboard we can create an account alias</a:t>
            </a:r>
          </a:p>
          <a:p>
            <a:r>
              <a:rPr lang="en-US" dirty="0"/>
              <a:t>This changes the sign in URL for users, making it more human-friendly and easier to remember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AF184EC-5BD4-EA43-A23E-A956CADE37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803" y="3100889"/>
            <a:ext cx="3439005" cy="194337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78D985B-7C5E-B2FE-E86A-39158E213BC0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17020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956A5F-FB1E-A5A4-8F0C-8AC9A99F84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Multi-Session Support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8E21EA-D17C-972D-E297-8335C141A6C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362804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Click the user dropdown in the top-right and select ‘Turn on </a:t>
            </a:r>
            <a:r>
              <a:rPr lang="en-US" dirty="0" err="1"/>
              <a:t>mutli</a:t>
            </a:r>
            <a:r>
              <a:rPr lang="en-US" dirty="0"/>
              <a:t>-session support’</a:t>
            </a:r>
          </a:p>
          <a:p>
            <a:r>
              <a:rPr lang="en-US" dirty="0"/>
              <a:t>Click ‘Add session’ to login to another user account</a:t>
            </a:r>
          </a:p>
          <a:p>
            <a:r>
              <a:rPr lang="en-US" dirty="0"/>
              <a:t>You can now be signed in to multiple accounts within the same browser (without having to use incognito windows)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6B5E38-CEB4-A71E-8CC8-677EF59167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9105" y="4354592"/>
            <a:ext cx="2676899" cy="9335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6095BB-64D1-8C5F-399B-97227D1CCD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8152" y="4354592"/>
            <a:ext cx="3248478" cy="876422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29FA47B-1118-8496-0DCA-5D40D7EEC5D1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36810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9A84A9-8BC8-9129-CA2E-EBAD0C60C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Policies Inheritance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D1700B-A645-DACC-FE6B-A9EE0F813DB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248504"/>
          </a:xfrm>
        </p:spPr>
        <p:txBody>
          <a:bodyPr/>
          <a:lstStyle/>
          <a:p>
            <a:r>
              <a:rPr lang="en-US" dirty="0"/>
              <a:t>Policies may be intended for multiple users within groups</a:t>
            </a:r>
          </a:p>
          <a:p>
            <a:r>
              <a:rPr lang="en-US" dirty="0"/>
              <a:t>Policies may be inline for individual users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CFB6C1-4A1C-9FBB-A4F9-880A06D872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2687" y="3584452"/>
            <a:ext cx="6606625" cy="29620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006653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9E9DF2-11AC-22E1-35F5-59DD707FC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Policies Structure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D37B80-B88C-5353-B02D-4FA7FE9B6B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514808" cy="3975348"/>
          </a:xfrm>
        </p:spPr>
        <p:txBody>
          <a:bodyPr>
            <a:normAutofit fontScale="92500" lnSpcReduction="20000"/>
          </a:bodyPr>
          <a:lstStyle/>
          <a:p>
            <a:r>
              <a:rPr lang="en-US" dirty="0"/>
              <a:t>Consists of:</a:t>
            </a:r>
          </a:p>
          <a:p>
            <a:pPr lvl="1"/>
            <a:r>
              <a:rPr lang="en-US" dirty="0"/>
              <a:t>Version: policy language version, usually ‘2012-10-17’</a:t>
            </a:r>
          </a:p>
          <a:p>
            <a:pPr lvl="1"/>
            <a:r>
              <a:rPr lang="en-US" dirty="0"/>
              <a:t>Id: an optional identifier for the policy</a:t>
            </a:r>
          </a:p>
          <a:p>
            <a:pPr lvl="1"/>
            <a:r>
              <a:rPr lang="en-US" dirty="0"/>
              <a:t>Statement: one or more individual statements</a:t>
            </a:r>
          </a:p>
          <a:p>
            <a:r>
              <a:rPr lang="en-US" dirty="0"/>
              <a:t>Statements consist of:</a:t>
            </a:r>
          </a:p>
          <a:p>
            <a:pPr lvl="1"/>
            <a:r>
              <a:rPr lang="en-US" dirty="0"/>
              <a:t>Sid: an optional identifier for the statement</a:t>
            </a:r>
          </a:p>
          <a:p>
            <a:pPr lvl="1"/>
            <a:r>
              <a:rPr lang="en-US" dirty="0"/>
              <a:t>Effect: whether the statement allows or denies access (Allow/Deny)</a:t>
            </a:r>
          </a:p>
          <a:p>
            <a:pPr lvl="1"/>
            <a:r>
              <a:rPr lang="en-US" dirty="0"/>
              <a:t>Principle: account/user/role to which the policy is applied to</a:t>
            </a:r>
          </a:p>
          <a:p>
            <a:pPr lvl="1"/>
            <a:r>
              <a:rPr lang="en-US" dirty="0"/>
              <a:t>Action: list of actions this policy allows or denies</a:t>
            </a:r>
          </a:p>
          <a:p>
            <a:pPr lvl="1"/>
            <a:r>
              <a:rPr lang="en-US" dirty="0"/>
              <a:t>Resource: list of resources to which the actions applied to</a:t>
            </a:r>
          </a:p>
          <a:p>
            <a:pPr lvl="1"/>
            <a:r>
              <a:rPr lang="en-US" dirty="0"/>
              <a:t>Condition: optional conditions for which the policy is in effect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9DBFC97-0E39-7385-002F-1907826314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91452" y="2147723"/>
            <a:ext cx="4191585" cy="374384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8E3FDCD-8F8C-27E8-41F8-63FB3B877D7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3628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3313C4-6345-CCDF-CCA4-CC80274D55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Permission Policy Examples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5F51CB2-D9EE-BF26-8C3A-5D59F4369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4660"/>
            <a:ext cx="11029615" cy="1429258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Found at IAM &gt; Policies &gt; Click on a policy</a:t>
            </a:r>
          </a:p>
          <a:p>
            <a:r>
              <a:rPr lang="en-US" dirty="0"/>
              <a:t>View the summary or in JSON format</a:t>
            </a:r>
          </a:p>
          <a:p>
            <a:r>
              <a:rPr lang="en-US" dirty="0"/>
              <a:t>* = wildcard</a:t>
            </a:r>
          </a:p>
          <a:p>
            <a:pPr lvl="1"/>
            <a:r>
              <a:rPr lang="en-US" dirty="0" err="1"/>
              <a:t>Iam:Get</a:t>
            </a:r>
            <a:r>
              <a:rPr lang="en-US" dirty="0"/>
              <a:t>* = is equivalent to </a:t>
            </a:r>
            <a:r>
              <a:rPr lang="en-US" dirty="0" err="1"/>
              <a:t>GetUser</a:t>
            </a:r>
            <a:r>
              <a:rPr lang="en-US" dirty="0"/>
              <a:t>, </a:t>
            </a:r>
            <a:r>
              <a:rPr lang="en-US" dirty="0" err="1"/>
              <a:t>GetGroup</a:t>
            </a:r>
            <a:r>
              <a:rPr lang="en-US" dirty="0"/>
              <a:t>, </a:t>
            </a:r>
            <a:r>
              <a:rPr lang="en-US" dirty="0" err="1"/>
              <a:t>etc</a:t>
            </a:r>
            <a:r>
              <a:rPr lang="en-US" dirty="0"/>
              <a:t>; in this case, it will allow all ‘Get’ permissions</a:t>
            </a:r>
          </a:p>
          <a:p>
            <a:r>
              <a:rPr lang="en-US" dirty="0"/>
              <a:t>List = view a collection; Get = view a single item; this pattern is common among many policies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215A69-F020-86A6-C7E9-DAAA9A6F85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0962" y="3730335"/>
            <a:ext cx="3598921" cy="249824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A7E6AC9-7BC1-A8B6-B7C4-395A933EEFF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299" y="3657599"/>
            <a:ext cx="8004464" cy="266477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2F98BAA8-3617-FF0E-463E-A50DB2063A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0962" y="3345415"/>
            <a:ext cx="1571844" cy="33342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2737E31-7472-31D8-5CA1-8D6B543D257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299" y="3395844"/>
            <a:ext cx="1590897" cy="3143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7D80BEA2-DE75-F386-26ED-2756DBD1EB2E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81771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F33433-4453-3796-5A30-C01EFB26C3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Create Policies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616C85-E446-E3E5-D666-C886495D02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2031254"/>
            <a:ext cx="11029615" cy="1013801"/>
          </a:xfrm>
        </p:spPr>
        <p:txBody>
          <a:bodyPr/>
          <a:lstStyle/>
          <a:p>
            <a:r>
              <a:rPr lang="en-US" dirty="0"/>
              <a:t>Navigate to ‘IAM &gt; Policies &gt; Create Policy’</a:t>
            </a:r>
          </a:p>
          <a:p>
            <a:r>
              <a:rPr lang="en-US" dirty="0"/>
              <a:t>Both visual and JSON editor available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67C4DB0-BD90-3522-B6FA-059BDB87D6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7426" y="3045055"/>
            <a:ext cx="11797145" cy="294462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B72DCCBA-FF5A-E2A0-96B2-EF776CBFBAF0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34764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10826-FDAF-7602-49CA-682D832B51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Password Policy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02E54D7-B823-606A-6C15-16CE6783AD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80755"/>
            <a:ext cx="11029615" cy="675409"/>
          </a:xfrm>
        </p:spPr>
        <p:txBody>
          <a:bodyPr/>
          <a:lstStyle/>
          <a:p>
            <a:r>
              <a:rPr lang="en-US" dirty="0"/>
              <a:t>IAM &gt; Account Settings &gt; Click ‘Edit’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3C97D68-EAF6-F5A3-07C4-E53DB99E0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00665" y="2629285"/>
            <a:ext cx="8790668" cy="390696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ECCE45DE-DD51-E1E2-1C7C-FB88C8D7DCD6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4196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7A1912-FA8F-6638-73CD-3A6347A10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IAM: MFA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8F9D2D-8BFE-D967-5CB7-01A9D117A5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5133808" cy="3678303"/>
          </a:xfrm>
        </p:spPr>
        <p:txBody>
          <a:bodyPr/>
          <a:lstStyle/>
          <a:p>
            <a:r>
              <a:rPr lang="en-US" dirty="0"/>
              <a:t>Click account name in top-right</a:t>
            </a:r>
          </a:p>
          <a:p>
            <a:r>
              <a:rPr lang="en-US" dirty="0"/>
              <a:t>Click ‘Security credentials’</a:t>
            </a:r>
          </a:p>
          <a:p>
            <a:r>
              <a:rPr lang="en-US" dirty="0"/>
              <a:t>Click ‘Assign MFA’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AF3845-1653-FAF2-9CD4-103035A6EB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3710" y="2467426"/>
            <a:ext cx="2048161" cy="339137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96209F1C-5B39-6C50-9FDB-5792CE67F0D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70422" y="2057400"/>
            <a:ext cx="4291446" cy="419316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D03F63DF-A14C-D7B2-3AFC-2070D958A247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316687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29ABDD-7F9E-468A-E587-60676DE4E7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Various ways to access AWS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E17AD6-0AB8-A5CE-2AA7-6D34A44A0B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8456" y="1972678"/>
            <a:ext cx="11029615" cy="3678303"/>
          </a:xfrm>
        </p:spPr>
        <p:txBody>
          <a:bodyPr/>
          <a:lstStyle/>
          <a:p>
            <a:r>
              <a:rPr lang="en-US" dirty="0"/>
              <a:t>AWS Management Console – protected by MFA + Password</a:t>
            </a:r>
          </a:p>
          <a:p>
            <a:r>
              <a:rPr lang="en-US" dirty="0"/>
              <a:t>AWS Command Line Interface (CLI) – protected by access keys</a:t>
            </a:r>
          </a:p>
          <a:p>
            <a:r>
              <a:rPr lang="en-US" dirty="0"/>
              <a:t>AWS Software Development Kit (SDK) – for code; protected by access keys</a:t>
            </a:r>
          </a:p>
          <a:p>
            <a:r>
              <a:rPr lang="en-US" dirty="0"/>
              <a:t>Access Keys are generated through the AWS Console</a:t>
            </a:r>
          </a:p>
          <a:p>
            <a:r>
              <a:rPr lang="en-US" dirty="0"/>
              <a:t>Users manage their own access keys</a:t>
            </a:r>
          </a:p>
          <a:p>
            <a:r>
              <a:rPr lang="en-US" dirty="0"/>
              <a:t>Access keys are secret, don’t share them!</a:t>
            </a:r>
          </a:p>
          <a:p>
            <a:pPr lvl="1"/>
            <a:r>
              <a:rPr lang="en-US" dirty="0"/>
              <a:t>Access Key ID ~= username</a:t>
            </a:r>
          </a:p>
          <a:p>
            <a:pPr lvl="1"/>
            <a:r>
              <a:rPr lang="en-US" dirty="0"/>
              <a:t>Secret Access Key ~= password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7E3040D-B103-2692-8611-F433308ECA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61245" y="3894356"/>
            <a:ext cx="6349563" cy="24953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35355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64B08A-7071-7D63-B6A0-A8A814294F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AWS CLI?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D1BC44-0FE6-CE1A-3DC3-1896568ACF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727965"/>
            <a:ext cx="11029615" cy="3678303"/>
          </a:xfrm>
        </p:spPr>
        <p:txBody>
          <a:bodyPr/>
          <a:lstStyle/>
          <a:p>
            <a:r>
              <a:rPr lang="en-US" dirty="0"/>
              <a:t>A tool that enables you to interact with AWS services using commands in your command-line shell</a:t>
            </a:r>
          </a:p>
          <a:p>
            <a:r>
              <a:rPr lang="en-US" dirty="0"/>
              <a:t>Direct access to public APIs of AWS services</a:t>
            </a:r>
          </a:p>
          <a:p>
            <a:r>
              <a:rPr lang="en-US" dirty="0"/>
              <a:t>You can develop scripts to manage resources</a:t>
            </a:r>
          </a:p>
          <a:p>
            <a:r>
              <a:rPr lang="en-US" dirty="0"/>
              <a:t>It’s open source: </a:t>
            </a:r>
            <a:r>
              <a:rPr lang="en-US" dirty="0">
                <a:hlinkClick r:id="rId2"/>
              </a:rPr>
              <a:t>http://github.com/aws/aws-cli</a:t>
            </a:r>
            <a:endParaRPr lang="en-US" dirty="0"/>
          </a:p>
          <a:p>
            <a:r>
              <a:rPr lang="en-US" dirty="0"/>
              <a:t>Alternative to using AWS Management Console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E904C7D-B5CA-BF63-70FC-1AD83CAE7B8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61837" y="4738206"/>
            <a:ext cx="6268325" cy="14575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8612088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BB786-C658-5C95-4380-6094AC23E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the AWS SDK?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F8AF8D-B0C2-1AAE-FC11-F1B1DE64F22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Software Development Kit</a:t>
            </a:r>
          </a:p>
          <a:p>
            <a:r>
              <a:rPr lang="en-US" dirty="0"/>
              <a:t>Language-specific APIs (set of libraries)</a:t>
            </a:r>
          </a:p>
          <a:p>
            <a:r>
              <a:rPr lang="en-US" dirty="0"/>
              <a:t>Enables you to access and manage AWS services programmatically</a:t>
            </a:r>
          </a:p>
          <a:p>
            <a:r>
              <a:rPr lang="en-US" dirty="0"/>
              <a:t>Embedded within your application</a:t>
            </a:r>
          </a:p>
          <a:p>
            <a:r>
              <a:rPr lang="en-US" dirty="0"/>
              <a:t>Supports:</a:t>
            </a:r>
          </a:p>
          <a:p>
            <a:pPr lvl="1"/>
            <a:r>
              <a:rPr lang="en-US" dirty="0"/>
              <a:t>SKDs (JavaScript, Python, PHP, .NET, Ruby, Java, Go, Node.js, C++)</a:t>
            </a:r>
          </a:p>
          <a:p>
            <a:pPr lvl="1"/>
            <a:r>
              <a:rPr lang="en-US" dirty="0"/>
              <a:t>Mobile SDKs (Android, iOS)</a:t>
            </a:r>
          </a:p>
          <a:p>
            <a:pPr lvl="1"/>
            <a:r>
              <a:rPr lang="en-US" dirty="0"/>
              <a:t>IoT Device SDKs (Embedded C, Arduino, etc.)</a:t>
            </a:r>
          </a:p>
        </p:txBody>
      </p:sp>
    </p:spTree>
    <p:extLst>
      <p:ext uri="{BB962C8B-B14F-4D97-AF65-F5344CB8AC3E}">
        <p14:creationId xmlns:p14="http://schemas.microsoft.com/office/powerpoint/2010/main" val="223234509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1744B-46E1-CC87-0C84-4729B0CCB8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Create Access Keys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870E89-59DC-A646-EF5A-6E6BFE9511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4344099" cy="4209913"/>
          </a:xfrm>
        </p:spPr>
        <p:txBody>
          <a:bodyPr/>
          <a:lstStyle/>
          <a:p>
            <a:r>
              <a:rPr lang="en-US" dirty="0"/>
              <a:t>Navigate to IAM &gt; Users &gt; (user) &gt; Create Access Key</a:t>
            </a:r>
          </a:p>
          <a:p>
            <a:r>
              <a:rPr lang="en-US" dirty="0"/>
              <a:t>Choose CLI</a:t>
            </a:r>
          </a:p>
          <a:p>
            <a:r>
              <a:rPr lang="en-US" dirty="0"/>
              <a:t>Copy details/download csv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0E8C5ED-5BA3-1E73-AA91-01A77BED20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3111" y="2060231"/>
            <a:ext cx="6649211" cy="37558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6F5CB2A2-BD33-2354-0A48-F4B302923A08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18970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E541C-46BC-190F-C55C-9667AE7A89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Setup AWS CLI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9093096-6A8A-3CF4-773A-30DF8785FAF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8727" y="3139701"/>
            <a:ext cx="5353267" cy="171304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637AC5B6-A3DF-23E5-2EFB-1664AC22CDA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14770" y="2755254"/>
            <a:ext cx="4759309" cy="226316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923A185C-5057-4E7F-0054-BC10C1172D10}"/>
              </a:ext>
            </a:extLst>
          </p:cNvPr>
          <p:cNvSpPr txBox="1"/>
          <p:nvPr/>
        </p:nvSpPr>
        <p:spPr>
          <a:xfrm>
            <a:off x="598727" y="1846284"/>
            <a:ext cx="106714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Download and run the installer (google it)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Run </a:t>
            </a:r>
            <a:r>
              <a:rPr lang="en-US" dirty="0" err="1"/>
              <a:t>aws</a:t>
            </a:r>
            <a:r>
              <a:rPr lang="en-US" dirty="0"/>
              <a:t> configure (output format may be left blank)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/>
              <a:t>Now we can run commands, such as getting a list of our users</a:t>
            </a:r>
          </a:p>
          <a:p>
            <a:pPr marL="285750" indent="-285750"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 err="1"/>
              <a:t>CloudShell</a:t>
            </a:r>
            <a:r>
              <a:rPr lang="en-US" dirty="0"/>
              <a:t> available for browser-based CLI access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0F424C-5638-E8D2-ABB4-39763A0570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47098" y="5111510"/>
            <a:ext cx="9697803" cy="1695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16618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33DCCB-C4F1-752C-4DCF-826C6376E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E3063-D4DD-856E-EAC4-2AEBE19B3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Some AWS services will need to perform actions on our behalf</a:t>
            </a:r>
          </a:p>
          <a:p>
            <a:r>
              <a:rPr lang="en-US" dirty="0"/>
              <a:t>We assign permissions to AWS services with IAM Roles</a:t>
            </a:r>
          </a:p>
          <a:p>
            <a:r>
              <a:rPr lang="en-US" dirty="0"/>
              <a:t>Common roles:</a:t>
            </a:r>
          </a:p>
          <a:p>
            <a:pPr lvl="1"/>
            <a:r>
              <a:rPr lang="en-US" dirty="0"/>
              <a:t>EC2 instance roles</a:t>
            </a:r>
          </a:p>
          <a:p>
            <a:pPr lvl="1"/>
            <a:r>
              <a:rPr lang="en-US" dirty="0"/>
              <a:t>Lambda function roles</a:t>
            </a:r>
          </a:p>
          <a:p>
            <a:pPr lvl="1"/>
            <a:r>
              <a:rPr lang="en-US" dirty="0"/>
              <a:t>Roles for CloudFormation</a:t>
            </a:r>
          </a:p>
          <a:p>
            <a:pPr lvl="1"/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4D24B8D-6267-2007-693D-ED311F745E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445" y="1952433"/>
            <a:ext cx="3915321" cy="41344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156698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CB29-D332-B7FE-B99B-9D350E1DFB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Creating Roles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8D4C2F-0171-65F5-3202-0567E4FA3A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868769"/>
            <a:ext cx="11029615" cy="803425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IAM &gt; Roles &gt; Create Role</a:t>
            </a:r>
          </a:p>
          <a:p>
            <a:r>
              <a:rPr lang="en-US" dirty="0"/>
              <a:t>Add permissions, click next</a:t>
            </a:r>
          </a:p>
          <a:p>
            <a:r>
              <a:rPr lang="en-US" dirty="0"/>
              <a:t>Provide a name, verify details, click ‘create role’ (we will use this role later)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A7CC5E-39DF-ED06-8783-B050E7E58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246" y="2672195"/>
            <a:ext cx="7066517" cy="383687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54F0620-BF9E-059B-5FCB-4D67A05C0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08913" y="1868768"/>
            <a:ext cx="3008797" cy="217302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A0C4C72-E6A7-BCB6-671C-2E9CFEE2B6D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510" y="4041788"/>
            <a:ext cx="2555601" cy="2513979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5616EB5B-7BA1-7C2D-9AD3-4334513094BC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542299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1FE6F5-EC4F-21BB-4B33-51F4699AED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Security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646324-23B9-926D-09DF-A90318ADB13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39935"/>
            <a:ext cx="11029615" cy="1179643"/>
          </a:xfrm>
        </p:spPr>
        <p:txBody>
          <a:bodyPr>
            <a:normAutofit/>
          </a:bodyPr>
          <a:lstStyle/>
          <a:p>
            <a:r>
              <a:rPr lang="en-US" dirty="0"/>
              <a:t>IAM Credential Report (account-level)</a:t>
            </a:r>
          </a:p>
          <a:p>
            <a:pPr lvl="1"/>
            <a:r>
              <a:rPr lang="en-US" dirty="0"/>
              <a:t>A report that lists all your account’s users and the status of their various credentials</a:t>
            </a:r>
          </a:p>
          <a:p>
            <a:pPr lvl="1"/>
            <a:r>
              <a:rPr lang="en-US" dirty="0"/>
              <a:t>IAM &gt; Credential Reports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D353E01-D2D8-522A-6757-11B05B5E61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8512" y="3743557"/>
            <a:ext cx="8254976" cy="1335248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AED7798-F9E7-38C6-0ED9-BF0100B207F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0718" y="5352291"/>
            <a:ext cx="10870564" cy="54621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57BC52D-F393-3F33-30B0-37A7A2B6640C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309814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C25501-DB44-2E28-FC4E-A398008624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Security Tools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00F6C4-1FC6-8C44-618F-2AE2C47891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0862" y="1888263"/>
            <a:ext cx="4842455" cy="4363738"/>
          </a:xfrm>
        </p:spPr>
        <p:txBody>
          <a:bodyPr/>
          <a:lstStyle/>
          <a:p>
            <a:r>
              <a:rPr lang="en-US" dirty="0"/>
              <a:t>IAM Last Accessed (user-level)</a:t>
            </a:r>
          </a:p>
          <a:p>
            <a:pPr lvl="1"/>
            <a:r>
              <a:rPr lang="en-US" dirty="0"/>
              <a:t>Last Accessed shows the service permissions granted to a user and when those services were last accessed</a:t>
            </a:r>
          </a:p>
          <a:p>
            <a:pPr lvl="1"/>
            <a:r>
              <a:rPr lang="en-US" dirty="0"/>
              <a:t>You can use this information to revise your policies</a:t>
            </a:r>
          </a:p>
          <a:p>
            <a:pPr lvl="1"/>
            <a:r>
              <a:rPr lang="en-US" dirty="0"/>
              <a:t>(Formerly called Access Advisor)</a:t>
            </a:r>
          </a:p>
          <a:p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FFF2DA-81B8-038B-529E-DC7FD4D6C4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4000" y="2071160"/>
            <a:ext cx="6173451" cy="399794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4B137EE5-6729-A60C-020B-896E32F0551E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2351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F9B910-06FF-1A00-E824-FB521EBC9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Guidelines &amp; Best Practices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CB858F-EF11-2FE3-DC50-A7A04E241D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Don’t use the root account except for AWS account setup</a:t>
            </a:r>
          </a:p>
          <a:p>
            <a:r>
              <a:rPr lang="en-US" dirty="0"/>
              <a:t>One physical user = One AWS user</a:t>
            </a:r>
          </a:p>
          <a:p>
            <a:r>
              <a:rPr lang="en-US" dirty="0"/>
              <a:t>Assign users to groups and assign permissions to groups</a:t>
            </a:r>
          </a:p>
          <a:p>
            <a:r>
              <a:rPr lang="en-US" dirty="0"/>
              <a:t>Create a strong password policy</a:t>
            </a:r>
          </a:p>
          <a:p>
            <a:r>
              <a:rPr lang="en-US" dirty="0"/>
              <a:t>Use and enforce the use of MFA</a:t>
            </a:r>
          </a:p>
          <a:p>
            <a:r>
              <a:rPr lang="en-US" dirty="0"/>
              <a:t>Create and use roles for giving permissions to AWS services</a:t>
            </a:r>
          </a:p>
          <a:p>
            <a:r>
              <a:rPr lang="en-US" dirty="0"/>
              <a:t>Use access keys for programmatic access (CLI/SDK)</a:t>
            </a:r>
          </a:p>
          <a:p>
            <a:r>
              <a:rPr lang="en-US" dirty="0"/>
              <a:t>Audit permissions of your account using IAM Credentials Report &amp; IAM Last Accessed</a:t>
            </a:r>
          </a:p>
          <a:p>
            <a:r>
              <a:rPr lang="en-US" dirty="0"/>
              <a:t>Never share IAM users &amp; access keys</a:t>
            </a:r>
          </a:p>
        </p:txBody>
      </p:sp>
    </p:spTree>
    <p:extLst>
      <p:ext uri="{BB962C8B-B14F-4D97-AF65-F5344CB8AC3E}">
        <p14:creationId xmlns:p14="http://schemas.microsoft.com/office/powerpoint/2010/main" val="411211568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FD6CC6-0E99-4379-AC74-9CBDCB08EB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Summary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695715-63A5-2C21-4CC2-2D6EB1DC46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Users: mapped to a physical user, has a password for AWS console</a:t>
            </a:r>
          </a:p>
          <a:p>
            <a:r>
              <a:rPr lang="en-US" dirty="0"/>
              <a:t>Groups: contains users only</a:t>
            </a:r>
          </a:p>
          <a:p>
            <a:r>
              <a:rPr lang="en-US" dirty="0"/>
              <a:t>Policies: JSON document that outlines permissions for users, groups, and roles</a:t>
            </a:r>
          </a:p>
          <a:p>
            <a:r>
              <a:rPr lang="en-US" dirty="0"/>
              <a:t>Roles: permissions for EC2 instances or other AWS services</a:t>
            </a:r>
          </a:p>
          <a:p>
            <a:r>
              <a:rPr lang="en-US" dirty="0"/>
              <a:t>Security: MFA, Password policies</a:t>
            </a:r>
          </a:p>
          <a:p>
            <a:r>
              <a:rPr lang="en-US" dirty="0"/>
              <a:t>AWS CLI: manage your AWS services via command line</a:t>
            </a:r>
          </a:p>
          <a:p>
            <a:r>
              <a:rPr lang="en-US" dirty="0"/>
              <a:t>AWS SDK: manage your AWS services via a programming language</a:t>
            </a:r>
          </a:p>
          <a:p>
            <a:r>
              <a:rPr lang="en-US" dirty="0"/>
              <a:t>Access Keys: access AWS using the CLI or SDK</a:t>
            </a:r>
          </a:p>
          <a:p>
            <a:r>
              <a:rPr lang="en-US" dirty="0"/>
              <a:t>Audit: IAM Credential Reports &amp; IAM Last Accessed (formerly Access Advisor)</a:t>
            </a:r>
          </a:p>
        </p:txBody>
      </p:sp>
    </p:spTree>
    <p:extLst>
      <p:ext uri="{BB962C8B-B14F-4D97-AF65-F5344CB8AC3E}">
        <p14:creationId xmlns:p14="http://schemas.microsoft.com/office/powerpoint/2010/main" val="67067183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AFC7F-8DDE-962B-BBB1-5DA733BA4C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IAM Billing Access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A63A0F-AA33-AB7B-A4C0-0EEAA8F6F1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1495033"/>
          </a:xfrm>
        </p:spPr>
        <p:txBody>
          <a:bodyPr/>
          <a:lstStyle/>
          <a:p>
            <a:r>
              <a:rPr lang="en-US" dirty="0"/>
              <a:t>Click top-right account dropdown while logged in as root user</a:t>
            </a:r>
          </a:p>
          <a:p>
            <a:r>
              <a:rPr lang="en-US" dirty="0"/>
              <a:t>Scroll down to find the following option</a:t>
            </a:r>
          </a:p>
          <a:p>
            <a:r>
              <a:rPr lang="en-US" dirty="0"/>
              <a:t>Click edit to make the change: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79CF38C-C737-E262-885D-F047BC8FDB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2168" y="3675529"/>
            <a:ext cx="4534533" cy="100979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CBDA0A3-1737-47E1-9A24-6A4B818D5727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255808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B3D8E9-166C-8E08-92AB-762DC426A8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Budgets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BB15B-7325-0EDA-4FA9-ACA359FBA6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6892" y="1880755"/>
            <a:ext cx="11029615" cy="1280024"/>
          </a:xfrm>
        </p:spPr>
        <p:txBody>
          <a:bodyPr>
            <a:normAutofit fontScale="85000" lnSpcReduction="20000"/>
          </a:bodyPr>
          <a:lstStyle/>
          <a:p>
            <a:r>
              <a:rPr lang="en-US" dirty="0"/>
              <a:t>Click top-right account dropdown</a:t>
            </a:r>
          </a:p>
          <a:p>
            <a:r>
              <a:rPr lang="en-US" dirty="0"/>
              <a:t>Select Billing &amp; Cost Management</a:t>
            </a:r>
          </a:p>
          <a:p>
            <a:r>
              <a:rPr lang="en-US" dirty="0"/>
              <a:t>Select Budgets from left-hand pane</a:t>
            </a:r>
          </a:p>
          <a:p>
            <a:r>
              <a:rPr lang="en-US" dirty="0"/>
              <a:t>Click ‘Create Budget’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B8CAC12-65FE-69CF-495E-D4FC497A30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04259" y="3160779"/>
            <a:ext cx="6383482" cy="3196211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08D20159-6189-93D5-8B66-E886BACFB042}"/>
              </a:ext>
            </a:extLst>
          </p:cNvPr>
          <p:cNvSpPr/>
          <p:nvPr/>
        </p:nvSpPr>
        <p:spPr>
          <a:xfrm>
            <a:off x="10637403" y="883530"/>
            <a:ext cx="709575" cy="651052"/>
          </a:xfrm>
          <a:prstGeom prst="rect">
            <a:avLst/>
          </a:prstGeom>
        </p:spPr>
        <p:style>
          <a:lnRef idx="1">
            <a:schemeClr val="accent5"/>
          </a:lnRef>
          <a:fillRef idx="3">
            <a:schemeClr val="accent5"/>
          </a:fillRef>
          <a:effectRef idx="2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52143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F7DA4-046E-5033-8D81-AB47DCF813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034AEB1-E61C-1E4B-176D-8BFFD360855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1013800"/>
          </a:xfrm>
        </p:spPr>
        <p:txBody>
          <a:bodyPr/>
          <a:lstStyle/>
          <a:p>
            <a:r>
              <a:rPr lang="en-US" dirty="0"/>
              <a:t>Security Groups are a fundamental of network security in AWS</a:t>
            </a:r>
          </a:p>
          <a:p>
            <a:r>
              <a:rPr lang="en-US" dirty="0"/>
              <a:t>They control how traffic is allowed into or out of our EC2 instances / RDS databases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D8E24E41-63BC-3026-1F89-05FB7EBD8034}"/>
              </a:ext>
            </a:extLst>
          </p:cNvPr>
          <p:cNvSpPr txBox="1">
            <a:spLocks/>
          </p:cNvSpPr>
          <p:nvPr/>
        </p:nvSpPr>
        <p:spPr>
          <a:xfrm>
            <a:off x="581191" y="4991036"/>
            <a:ext cx="11029615" cy="1013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Security groups only contain ‘allow’ rules</a:t>
            </a:r>
          </a:p>
          <a:p>
            <a:r>
              <a:rPr lang="en-US" dirty="0"/>
              <a:t>Security groups rules can reference by IP or by security group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BF654C8-28FE-AC22-7217-9F42A85344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88466" y="3406218"/>
            <a:ext cx="6125430" cy="1362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89597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E4A66D-95DB-A632-6B93-2D0DD5953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 to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D9488F-3FF2-1EAC-CACA-CD35193350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1935948"/>
            <a:ext cx="11029615" cy="2465932"/>
          </a:xfrm>
        </p:spPr>
        <p:txBody>
          <a:bodyPr/>
          <a:lstStyle/>
          <a:p>
            <a:r>
              <a:rPr lang="en-US" dirty="0"/>
              <a:t>Security groups act as a firewall on EC2 instances</a:t>
            </a:r>
          </a:p>
          <a:p>
            <a:r>
              <a:rPr lang="en-US" dirty="0"/>
              <a:t>The regulate:</a:t>
            </a:r>
          </a:p>
          <a:p>
            <a:pPr lvl="1"/>
            <a:r>
              <a:rPr lang="en-US" dirty="0"/>
              <a:t>Access to ports</a:t>
            </a:r>
          </a:p>
          <a:p>
            <a:pPr lvl="1"/>
            <a:r>
              <a:rPr lang="en-US" dirty="0"/>
              <a:t>Authorized IP ranges – IPv4 and IPv6</a:t>
            </a:r>
          </a:p>
          <a:p>
            <a:pPr lvl="1"/>
            <a:r>
              <a:rPr lang="en-US" dirty="0"/>
              <a:t>Control of inbound traffic (from external into the instance)</a:t>
            </a:r>
          </a:p>
          <a:p>
            <a:pPr lvl="1"/>
            <a:r>
              <a:rPr lang="en-US" dirty="0"/>
              <a:t>Control of outbound traffic (from instance to external)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C870D2B-4125-43CB-E760-B17B0210D4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8440" y="4803105"/>
            <a:ext cx="10355120" cy="1352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598528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44A755-C3C4-ED22-F96E-D58F485B8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Diagram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7CE0A1-85D3-E959-FC43-9B535F2326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1414" y="2497733"/>
            <a:ext cx="9469171" cy="36581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261522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5DEE9C-92A4-B6B6-C388-83BFE8C03F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Security Groups – Things to keep in mind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2D26B-073D-8AC2-3D4D-DCA04A2599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Can be attached to multiple instances (and instances can have multiple groups)</a:t>
            </a:r>
          </a:p>
          <a:p>
            <a:r>
              <a:rPr lang="en-US" dirty="0"/>
              <a:t>Locked down to a specific region / VPC combination (more on VPC later)</a:t>
            </a:r>
          </a:p>
          <a:p>
            <a:r>
              <a:rPr lang="en-US" dirty="0"/>
              <a:t>Security groups live outside the EC2 – if traffic is blocked the EC2 will never even see it</a:t>
            </a:r>
          </a:p>
          <a:p>
            <a:r>
              <a:rPr lang="en-US" dirty="0"/>
              <a:t>Tip: it’s good to maintain one separate security group for SSH access</a:t>
            </a:r>
          </a:p>
          <a:p>
            <a:r>
              <a:rPr lang="en-US" dirty="0"/>
              <a:t>If your application is not accessible (time out), then it’s likely a security group issue</a:t>
            </a:r>
          </a:p>
          <a:p>
            <a:r>
              <a:rPr lang="en-US" dirty="0"/>
              <a:t>If your application gives a ‘connection refused’ error, then it’s likely an application error or it’s not launched</a:t>
            </a:r>
          </a:p>
          <a:p>
            <a:r>
              <a:rPr lang="en-US" dirty="0"/>
              <a:t>All inbound traffic is blocked by default</a:t>
            </a:r>
          </a:p>
          <a:p>
            <a:r>
              <a:rPr lang="en-US" dirty="0"/>
              <a:t>All outbound traffic is authorized by default</a:t>
            </a:r>
          </a:p>
        </p:txBody>
      </p:sp>
    </p:spTree>
    <p:extLst>
      <p:ext uri="{BB962C8B-B14F-4D97-AF65-F5344CB8AC3E}">
        <p14:creationId xmlns:p14="http://schemas.microsoft.com/office/powerpoint/2010/main" val="395732777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8A7E8-840E-D0E0-ED8A-AB5F3DAC4A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Referencing other security groups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38BBF1D-467E-E488-580F-FEF57B5BB43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0" y="1948226"/>
            <a:ext cx="11029615" cy="626499"/>
          </a:xfrm>
        </p:spPr>
        <p:txBody>
          <a:bodyPr/>
          <a:lstStyle/>
          <a:p>
            <a:r>
              <a:rPr lang="en-US" dirty="0"/>
              <a:t>Security groups 1 and 2 are authorized for inbound, group 3 is not!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9F31E2B-0587-EBC9-03F2-E5569D0751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9990" y="2664491"/>
            <a:ext cx="9412013" cy="37724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210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1F8AF6-2D21-06D7-AE00-E22CABEF6B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Standard ports to know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750A7AC-5D7C-62D8-5447-8C2DC2D285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22 = SSH (secure shell) – log into a </a:t>
            </a:r>
            <a:r>
              <a:rPr lang="en-US" dirty="0" err="1"/>
              <a:t>linux</a:t>
            </a:r>
            <a:r>
              <a:rPr lang="en-US" dirty="0"/>
              <a:t> instance</a:t>
            </a:r>
          </a:p>
          <a:p>
            <a:r>
              <a:rPr lang="en-US" dirty="0"/>
              <a:t>21 = FTP (file transfer protocol) – upload files into a file share</a:t>
            </a:r>
          </a:p>
          <a:p>
            <a:r>
              <a:rPr lang="en-US" dirty="0"/>
              <a:t>22 = SFTP (secure shell transfer protocol) – upload files using SSH</a:t>
            </a:r>
          </a:p>
          <a:p>
            <a:r>
              <a:rPr lang="en-US" dirty="0"/>
              <a:t>80 = HTTP – access unsecured websites</a:t>
            </a:r>
          </a:p>
          <a:p>
            <a:r>
              <a:rPr lang="en-US" dirty="0"/>
              <a:t>443 = HTTPS – access secured websites</a:t>
            </a:r>
          </a:p>
          <a:p>
            <a:r>
              <a:rPr lang="en-US" dirty="0"/>
              <a:t>3389 = RDP (remote desktop protocol) – log into a windows instance</a:t>
            </a:r>
          </a:p>
        </p:txBody>
      </p:sp>
    </p:spTree>
    <p:extLst>
      <p:ext uri="{BB962C8B-B14F-4D97-AF65-F5344CB8AC3E}">
        <p14:creationId xmlns:p14="http://schemas.microsoft.com/office/powerpoint/2010/main" val="62694795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7E5D25-9B9F-22E5-106C-474EC7B25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00D0AC-2575-C7FA-8EA4-77B2E35D8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19395"/>
            <a:ext cx="11029615" cy="681701"/>
          </a:xfrm>
        </p:spPr>
        <p:txBody>
          <a:bodyPr/>
          <a:lstStyle/>
          <a:p>
            <a:r>
              <a:rPr lang="en-US" dirty="0"/>
              <a:t>RDS is a collection of services for operating a relational database server in the cloud.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C5692E-4DF9-3B7E-9A90-75B90D93CBE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1533" y="2601096"/>
            <a:ext cx="8308932" cy="389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225705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CA96D-5A81-89A5-4FC8-9FA06A0ADF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 setup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2FC9E6-7B59-F482-91F3-47DED12FE4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1948226"/>
            <a:ext cx="11029615" cy="919332"/>
          </a:xfrm>
        </p:spPr>
        <p:txBody>
          <a:bodyPr>
            <a:normAutofit fontScale="55000" lnSpcReduction="20000"/>
          </a:bodyPr>
          <a:lstStyle/>
          <a:p>
            <a:r>
              <a:rPr lang="en-US" dirty="0"/>
              <a:t>Aurora and RDS &gt; Databases &gt; Create database</a:t>
            </a:r>
          </a:p>
          <a:p>
            <a:r>
              <a:rPr lang="en-US" dirty="0"/>
              <a:t>Configure settings: it’s recommended to use ‘Sandbox’ for now</a:t>
            </a:r>
          </a:p>
          <a:p>
            <a:r>
              <a:rPr lang="en-US" dirty="0"/>
              <a:t>Set master username/password</a:t>
            </a:r>
          </a:p>
          <a:p>
            <a:r>
              <a:rPr lang="en-US" dirty="0"/>
              <a:t>Turn on public access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67224815-890C-5C9F-137A-F193FB6F300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517" y="3028493"/>
            <a:ext cx="9382963" cy="36005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532230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B70325-0BBD-B089-C259-1CE8CB021D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RDS Setup – security group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FD49F7-1446-3A91-56FB-3B044494E9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180497"/>
            <a:ext cx="11029615" cy="891888"/>
          </a:xfrm>
        </p:spPr>
        <p:txBody>
          <a:bodyPr/>
          <a:lstStyle/>
          <a:p>
            <a:r>
              <a:rPr lang="en-US" dirty="0"/>
              <a:t>Configure the RDS security group to allow inbound TCP traffic at port 5432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8796292-14E5-4BEF-6230-D5056DF5EB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2182" y="3429000"/>
            <a:ext cx="10187635" cy="2762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83424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538E42-17C7-D242-2544-CD51DFE8C5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Connecting to RDS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C6F433-84E9-0FBD-F3A8-50A2DAB21A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3" y="2180496"/>
            <a:ext cx="4206820" cy="3678303"/>
          </a:xfrm>
        </p:spPr>
        <p:txBody>
          <a:bodyPr/>
          <a:lstStyle/>
          <a:p>
            <a:r>
              <a:rPr lang="en-US" dirty="0"/>
              <a:t>You can use the server endpoint, master username, master password, and port number to connect</a:t>
            </a:r>
          </a:p>
          <a:p>
            <a:r>
              <a:rPr lang="en-US" dirty="0"/>
              <a:t>This example shows the Postgres VS Code extension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90789D-4475-B826-F913-79023BC34F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00579" y="2085399"/>
            <a:ext cx="4206820" cy="382950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48D1B8C6-FC37-EFF0-D266-49E1C84D6E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46720" y="4543349"/>
            <a:ext cx="3711494" cy="21487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586190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>
          <a:extLst>
            <a:ext uri="{FF2B5EF4-FFF2-40B4-BE49-F238E27FC236}">
              <a16:creationId xmlns:a16="http://schemas.microsoft.com/office/drawing/2014/main" id="{E83D92F2-BD3F-5502-960E-3CFF357784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5D234C-D59D-E997-1AA0-D508BFFD3C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Challenge Demo – How to Excel in this course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F8E57B-9E41-4816-C2F2-1105A90F87A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1192" y="2475925"/>
            <a:ext cx="5317584" cy="1681246"/>
          </a:xfrm>
        </p:spPr>
        <p:txBody>
          <a:bodyPr/>
          <a:lstStyle/>
          <a:p>
            <a:r>
              <a:rPr lang="en-US" dirty="0"/>
              <a:t>Complete a hands-on challenge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E50FF0-C783-F3C0-044D-2F094F317804}"/>
              </a:ext>
            </a:extLst>
          </p:cNvPr>
          <p:cNvSpPr txBox="1"/>
          <p:nvPr/>
        </p:nvSpPr>
        <p:spPr>
          <a:xfrm>
            <a:off x="1228165" y="2402747"/>
            <a:ext cx="7569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Goal: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05306AE-2095-D0AE-E069-321DBC55370F}"/>
              </a:ext>
            </a:extLst>
          </p:cNvPr>
          <p:cNvSpPr txBox="1"/>
          <p:nvPr/>
        </p:nvSpPr>
        <p:spPr>
          <a:xfrm>
            <a:off x="6949165" y="2402747"/>
            <a:ext cx="466164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Scenario:  			   5 min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61B443B1-E14C-64AB-9E9D-75FFCF923C2B}"/>
              </a:ext>
            </a:extLst>
          </p:cNvPr>
          <p:cNvSpPr txBox="1">
            <a:spLocks/>
          </p:cNvSpPr>
          <p:nvPr/>
        </p:nvSpPr>
        <p:spPr>
          <a:xfrm>
            <a:off x="6545749" y="2772079"/>
            <a:ext cx="4661642" cy="168124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300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90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000" indent="-234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9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5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800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Your organization needs to relay technical concepts to you. Clients often need to do the same. Take a few moments to get some pen and paper ready to take notes. </a:t>
            </a:r>
          </a:p>
        </p:txBody>
      </p:sp>
    </p:spTree>
    <p:extLst>
      <p:ext uri="{BB962C8B-B14F-4D97-AF65-F5344CB8AC3E}">
        <p14:creationId xmlns:p14="http://schemas.microsoft.com/office/powerpoint/2010/main" val="3587871389"/>
      </p:ext>
    </p:extLst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366658"/>
      </a:accent1>
      <a:accent2>
        <a:srgbClr val="8CB64A"/>
      </a:accent2>
      <a:accent3>
        <a:srgbClr val="88D5A9"/>
      </a:accent3>
      <a:accent4>
        <a:srgbClr val="969FA7"/>
      </a:accent4>
      <a:accent5>
        <a:srgbClr val="E8A844"/>
      </a:accent5>
      <a:accent6>
        <a:srgbClr val="A1561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4BEC0EAF-CF86-4D49-B83B-56CC62D3CFF1}"/>
    </a:ext>
  </a:extLst>
</a:theme>
</file>

<file path=docMetadata/LabelInfo.xml><?xml version="1.0" encoding="utf-8"?>
<clbl:labelList xmlns:clbl="http://schemas.microsoft.com/office/2020/mipLabelMetadata">
  <clbl:label id="{6b63e28a-a8f9-47b5-aa40-97e231215164}" enabled="0" method="" siteId="{6b63e28a-a8f9-47b5-aa40-97e231215164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194</TotalTime>
  <Words>2691</Words>
  <Application>Microsoft Office PowerPoint</Application>
  <PresentationFormat>Widescreen</PresentationFormat>
  <Paragraphs>304</Paragraphs>
  <Slides>43</Slides>
  <Notes>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8" baseType="lpstr">
      <vt:lpstr>Amazon Ember</vt:lpstr>
      <vt:lpstr>Gill Sans MT</vt:lpstr>
      <vt:lpstr>Wingdings</vt:lpstr>
      <vt:lpstr>Wingdings 2</vt:lpstr>
      <vt:lpstr>Dividend</vt:lpstr>
      <vt:lpstr>AWS Intro &amp; RDS</vt:lpstr>
      <vt:lpstr>Resources &amp; Exam Basics</vt:lpstr>
      <vt:lpstr>Domain 1 – Design Secure Architectures</vt:lpstr>
      <vt:lpstr>Domain 2 – Design Resilient Architectures</vt:lpstr>
      <vt:lpstr>AWS Cloud Use Cases</vt:lpstr>
      <vt:lpstr>AWS Global Infrastructure</vt:lpstr>
      <vt:lpstr>Global vs Region Scoped services</vt:lpstr>
      <vt:lpstr>IAM: Users &amp; Groups</vt:lpstr>
      <vt:lpstr>IAM: Permissions</vt:lpstr>
      <vt:lpstr>IAM: Create Users</vt:lpstr>
      <vt:lpstr>IAM: Create Users</vt:lpstr>
      <vt:lpstr>IAM: Account Alias</vt:lpstr>
      <vt:lpstr>Multi-Session Support</vt:lpstr>
      <vt:lpstr>IAM Policies Inheritance</vt:lpstr>
      <vt:lpstr>IAM Policies Structure</vt:lpstr>
      <vt:lpstr>IAM: Permission Policy Examples</vt:lpstr>
      <vt:lpstr>IAM: Create Policies</vt:lpstr>
      <vt:lpstr>IAM: Password Policy</vt:lpstr>
      <vt:lpstr>IAM: MFA</vt:lpstr>
      <vt:lpstr>Various ways to access AWS</vt:lpstr>
      <vt:lpstr>What is the AWS CLI?</vt:lpstr>
      <vt:lpstr>What is the AWS SDK?</vt:lpstr>
      <vt:lpstr>Create Access Keys</vt:lpstr>
      <vt:lpstr>Setup AWS CLI</vt:lpstr>
      <vt:lpstr>IAM Roles</vt:lpstr>
      <vt:lpstr>Creating Roles</vt:lpstr>
      <vt:lpstr>IAM Security Tools</vt:lpstr>
      <vt:lpstr>IAM Security Tools</vt:lpstr>
      <vt:lpstr>IAM Guidelines &amp; Best Practices</vt:lpstr>
      <vt:lpstr>IAM Summary</vt:lpstr>
      <vt:lpstr>IAM Billing Access</vt:lpstr>
      <vt:lpstr>Budgets</vt:lpstr>
      <vt:lpstr>Intro To security Groups</vt:lpstr>
      <vt:lpstr>Intro to Security Groups</vt:lpstr>
      <vt:lpstr>Security Groups Diagram</vt:lpstr>
      <vt:lpstr>Security Groups – Things to keep in mind</vt:lpstr>
      <vt:lpstr>Referencing other security groups</vt:lpstr>
      <vt:lpstr>Standard ports to know</vt:lpstr>
      <vt:lpstr>RDS</vt:lpstr>
      <vt:lpstr>RDS setup</vt:lpstr>
      <vt:lpstr>RDS Setup – security group</vt:lpstr>
      <vt:lpstr>Connecting to RDS</vt:lpstr>
      <vt:lpstr>Challenge Demo – How to Excel in this course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Wilson</dc:creator>
  <cp:lastModifiedBy>Ethan Wilson</cp:lastModifiedBy>
  <cp:revision>592</cp:revision>
  <dcterms:created xsi:type="dcterms:W3CDTF">2025-02-12T19:53:45Z</dcterms:created>
  <dcterms:modified xsi:type="dcterms:W3CDTF">2026-09-11T16:05:25Z</dcterms:modified>
</cp:coreProperties>
</file>