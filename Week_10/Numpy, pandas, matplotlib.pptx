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oboto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-italic.fntdata"/><Relationship Id="rId12" Type="http://schemas.openxmlformats.org/officeDocument/2006/relationships/slide" Target="slides/slide6.xml"/><Relationship Id="rId56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31e2b648b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31e2b648b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31e2b648b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31e2b648b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31e2b648b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31e2b648b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31e2b648b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31e2b648b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31e2b648b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31e2b648b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31e2b648b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31e2b648b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31e2b648b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31e2b648b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31e2b648b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31e2b648b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31e2b648b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31e2b648b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31e2b648b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31e2b648b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31e2b648b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31e2b648b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31e2b648b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31e2b648b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31e2b648b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31e2b648b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31e2b648b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31e2b648b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31e2b648b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31e2b648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31e2b648b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31e2b648b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31e2b648b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31e2b648b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31e2b648b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31e2b648b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31e2b648b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c31e2b648b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31e2b648b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31e2b648b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31e2b648b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31e2b648b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31e2b648b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31e2b648b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31e2b648b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31e2b648b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31e2b648b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31e2b648b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31e2b648b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31e2b648b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31e2b648b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31e2b648b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31e2b648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31e2b648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31e2b648b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c31e2b648b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31e2b648b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31e2b648b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31e2b648b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c31e2b648b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31e2b648b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31e2b648b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31e2b648b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c31e2b648b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31e2b648b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31e2b648b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31e2b648b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c31e2b648b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31e2b648b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c31e2b648b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31e2b648b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31e2b648b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31e2b648b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c31e2b648b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31e2b648b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31e2b648b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31e2b648b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31e2b648b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31e2b648b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c31e2b648b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31e2b648b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c31e2b648b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31e2b648b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31e2b648b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c31e2b648b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c31e2b648b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31e2b648b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31e2b648b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31e2b648b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c31e2b648b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31e2b648b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c31e2b648b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31e2b648b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31e2b648b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31e2b648b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31e2b648b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Relationship Id="rId4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Relationship Id="rId4" Type="http://schemas.openxmlformats.org/officeDocument/2006/relationships/image" Target="../media/image51.png"/><Relationship Id="rId5" Type="http://schemas.openxmlformats.org/officeDocument/2006/relationships/image" Target="../media/image5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Relationship Id="rId5" Type="http://schemas.openxmlformats.org/officeDocument/2006/relationships/image" Target="../media/image59.png"/><Relationship Id="rId6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png"/><Relationship Id="rId4" Type="http://schemas.openxmlformats.org/officeDocument/2006/relationships/image" Target="../media/image73.png"/><Relationship Id="rId5" Type="http://schemas.openxmlformats.org/officeDocument/2006/relationships/image" Target="../media/image6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5" Type="http://schemas.openxmlformats.org/officeDocument/2006/relationships/image" Target="../media/image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2.png"/><Relationship Id="rId4" Type="http://schemas.openxmlformats.org/officeDocument/2006/relationships/image" Target="../media/image77.png"/><Relationship Id="rId5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1.png"/><Relationship Id="rId4" Type="http://schemas.openxmlformats.org/officeDocument/2006/relationships/image" Target="../media/image7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5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79.png"/><Relationship Id="rId7" Type="http://schemas.openxmlformats.org/officeDocument/2006/relationships/hyperlink" Target="https://www.w3schools.com/python/matplotlib_markers.asp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4.png"/><Relationship Id="rId4" Type="http://schemas.openxmlformats.org/officeDocument/2006/relationships/image" Target="../media/image90.png"/><Relationship Id="rId5" Type="http://schemas.openxmlformats.org/officeDocument/2006/relationships/image" Target="../media/image9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3.png"/><Relationship Id="rId4" Type="http://schemas.openxmlformats.org/officeDocument/2006/relationships/image" Target="../media/image88.png"/><Relationship Id="rId5" Type="http://schemas.openxmlformats.org/officeDocument/2006/relationships/hyperlink" Target="https://www.w3schools.com/python/matplotlib_markers.asp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9.png"/><Relationship Id="rId4" Type="http://schemas.openxmlformats.org/officeDocument/2006/relationships/image" Target="../media/image87.png"/><Relationship Id="rId5" Type="http://schemas.openxmlformats.org/officeDocument/2006/relationships/image" Target="../media/image9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7.png"/><Relationship Id="rId4" Type="http://schemas.openxmlformats.org/officeDocument/2006/relationships/image" Target="../media/image99.png"/><Relationship Id="rId5" Type="http://schemas.openxmlformats.org/officeDocument/2006/relationships/image" Target="../media/image9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1.png"/><Relationship Id="rId4" Type="http://schemas.openxmlformats.org/officeDocument/2006/relationships/image" Target="../media/image10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5.png"/><Relationship Id="rId4" Type="http://schemas.openxmlformats.org/officeDocument/2006/relationships/image" Target="../media/image10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7.png"/><Relationship Id="rId4" Type="http://schemas.openxmlformats.org/officeDocument/2006/relationships/image" Target="../media/image104.png"/><Relationship Id="rId5" Type="http://schemas.openxmlformats.org/officeDocument/2006/relationships/hyperlink" Target="https://www.w3schools.com/python/matplotlib_scatter.asp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8.png"/><Relationship Id="rId4" Type="http://schemas.openxmlformats.org/officeDocument/2006/relationships/image" Target="../media/image105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6.png"/><Relationship Id="rId4" Type="http://schemas.openxmlformats.org/officeDocument/2006/relationships/image" Target="../media/image1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Numpy, pandas, matplotlib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runs C/C++ under the hood and provides an array object that is up to 50 times faster than Python lists.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These are called ndarrays (n-dimension arrays).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Fixed datatype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Arbitrary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vectorized</a:t>
            </a:r>
            <a:endParaRPr/>
          </a:p>
        </p:txBody>
      </p:sp>
      <p:sp>
        <p:nvSpPr>
          <p:cNvPr id="119" name="Google Shape;119;p26"/>
          <p:cNvSpPr txBox="1"/>
          <p:nvPr/>
        </p:nvSpPr>
        <p:spPr>
          <a:xfrm>
            <a:off x="5467025" y="3052175"/>
            <a:ext cx="35124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For comparison, Lists: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Can hold mixed types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Don’t scale to multiple dimensions naturally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Aren’t vectorized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of multiple dimensions</a:t>
            </a:r>
            <a:endParaRPr/>
          </a:p>
        </p:txBody>
      </p:sp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38" y="1844975"/>
            <a:ext cx="25431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3788" y="1859263"/>
            <a:ext cx="30289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625" y="3111675"/>
            <a:ext cx="4506223" cy="919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8175" y="4681525"/>
            <a:ext cx="23526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/>
        </p:nvSpPr>
        <p:spPr>
          <a:xfrm>
            <a:off x="5430850" y="4037200"/>
            <a:ext cx="340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&lt;- check the shape ex:(2, 4)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&lt;- check number of dimensions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81707" y="3126525"/>
            <a:ext cx="2735493" cy="6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5525" y="4178825"/>
            <a:ext cx="2297969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Access</a:t>
            </a:r>
            <a:endParaRPr/>
          </a:p>
        </p:txBody>
      </p:sp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471900" y="1919075"/>
            <a:ext cx="28401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Get an item just like lists:</a:t>
            </a:r>
            <a:endParaRPr/>
          </a:p>
        </p:txBody>
      </p:sp>
      <p:pic>
        <p:nvPicPr>
          <p:cNvPr id="138" name="Google Shape;1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88" y="2382950"/>
            <a:ext cx="229552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9225" y="2402000"/>
            <a:ext cx="35814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/>
          <p:nvPr/>
        </p:nvSpPr>
        <p:spPr>
          <a:xfrm>
            <a:off x="3869225" y="1891625"/>
            <a:ext cx="526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Just kidding, here’s a 2-d array: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4525" y="3883150"/>
            <a:ext cx="531495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 txBox="1"/>
          <p:nvPr/>
        </p:nvSpPr>
        <p:spPr>
          <a:xfrm>
            <a:off x="2216600" y="3421450"/>
            <a:ext cx="595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3-d array access: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&amp; Steps</a:t>
            </a:r>
            <a:endParaRPr/>
          </a:p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471900" y="1919075"/>
            <a:ext cx="2962200" cy="4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Slice an array:</a:t>
            </a:r>
            <a:endParaRPr/>
          </a:p>
        </p:txBody>
      </p:sp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2395025"/>
            <a:ext cx="29622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400" y="2361675"/>
            <a:ext cx="29813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/>
        </p:nvSpPr>
        <p:spPr>
          <a:xfrm>
            <a:off x="4572000" y="1876175"/>
            <a:ext cx="45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Return every other element from index 1-5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7525" y="4369450"/>
            <a:ext cx="30289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/>
        </p:nvSpPr>
        <p:spPr>
          <a:xfrm>
            <a:off x="2121375" y="3907750"/>
            <a:ext cx="60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Return every other element in entire array: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4869450" y="3538000"/>
            <a:ext cx="44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Note: [inclusive start, exclusive end)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data types</a:t>
            </a:r>
            <a:endParaRPr/>
          </a:p>
        </p:txBody>
      </p:sp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0" y="1908875"/>
            <a:ext cx="374332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7175" y="1956475"/>
            <a:ext cx="23241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4913" y="3625725"/>
            <a:ext cx="3152775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5575" y="1811225"/>
            <a:ext cx="2398418" cy="16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vs VIEW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1199400" y="1847625"/>
            <a:ext cx="6745200" cy="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COPY receives a 1 for 1 copy. VIEW creates a pointer to same data buffer (not the same as memory address).</a:t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50" y="2762525"/>
            <a:ext cx="25050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4950" y="2801550"/>
            <a:ext cx="2562225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1888650" y="4497000"/>
            <a:ext cx="538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Note: arrays can be expensive in ML/Data Science. It’s often times easier and more performant to create different!</a:t>
            </a:r>
            <a:endParaRPr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Reshape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892100"/>
            <a:ext cx="441960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2"/>
          <p:cNvSpPr txBox="1"/>
          <p:nvPr/>
        </p:nvSpPr>
        <p:spPr>
          <a:xfrm>
            <a:off x="785875" y="3862250"/>
            <a:ext cx="33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[ 0  1  2  3  4  5  6  7  8  9 10 11]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400075" y="34931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[[ 0  1  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[ 3  4  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[ 6  7  8]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[ 9 10 11]]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2"/>
          <p:cNvSpPr txBox="1"/>
          <p:nvPr/>
        </p:nvSpPr>
        <p:spPr>
          <a:xfrm>
            <a:off x="4471475" y="3862250"/>
            <a:ext cx="33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—&gt;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575" y="1890713"/>
            <a:ext cx="20955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5400" y="1837388"/>
            <a:ext cx="30480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0788" y="3418538"/>
            <a:ext cx="4162425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</a:t>
            </a:r>
            <a:endParaRPr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225" y="1875225"/>
            <a:ext cx="2266625" cy="12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175" y="1768350"/>
            <a:ext cx="2493725" cy="14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300" y="3516522"/>
            <a:ext cx="2149525" cy="1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5225" y="3300125"/>
            <a:ext cx="1999903" cy="16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6063" y="3019413"/>
            <a:ext cx="23336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</a:t>
            </a:r>
            <a:endParaRPr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500" y="2385088"/>
            <a:ext cx="27146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325" y="2180313"/>
            <a:ext cx="27908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50" y="2321725"/>
            <a:ext cx="29622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3" y="3956725"/>
            <a:ext cx="42291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5038" y="1726425"/>
            <a:ext cx="23622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7375" y="3508513"/>
            <a:ext cx="32575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6"/>
          <p:cNvSpPr txBox="1"/>
          <p:nvPr/>
        </p:nvSpPr>
        <p:spPr>
          <a:xfrm>
            <a:off x="3847775" y="1860975"/>
            <a:ext cx="182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Binary searches on sorted arrays -&gt;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</a:t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888" y="2012150"/>
            <a:ext cx="2660075" cy="130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611450"/>
            <a:ext cx="36385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 txBox="1"/>
          <p:nvPr/>
        </p:nvSpPr>
        <p:spPr>
          <a:xfrm>
            <a:off x="471900" y="2852425"/>
            <a:ext cx="37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Sort will return a copy of the array!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Filters/Boolean Masks</a:t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025" y="2170800"/>
            <a:ext cx="264795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&amp; ufuncs</a:t>
            </a:r>
            <a:endParaRPr/>
          </a:p>
        </p:txBody>
      </p:sp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50" y="2605425"/>
            <a:ext cx="2439675" cy="12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503150"/>
            <a:ext cx="18383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6052" y="2419900"/>
            <a:ext cx="1665550" cy="164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/>
        </p:nvSpPr>
        <p:spPr>
          <a:xfrm>
            <a:off x="4776450" y="1956800"/>
            <a:ext cx="43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Without &amp; with universal functions: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376650" y="2041450"/>
            <a:ext cx="36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There are many random methods: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 Numeric Output</a:t>
            </a:r>
            <a:endParaRPr/>
          </a:p>
        </p:txBody>
      </p:sp>
      <p:pic>
        <p:nvPicPr>
          <p:cNvPr id="246" name="Google Shape;2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88" y="2571750"/>
            <a:ext cx="74390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numpy!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963150" y="1931825"/>
            <a:ext cx="72177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Pandas can replace the functionality of these (but tradeoffs exist):</a:t>
            </a:r>
            <a:endParaRPr/>
          </a:p>
        </p:txBody>
      </p:sp>
      <p:pic>
        <p:nvPicPr>
          <p:cNvPr id="253" name="Google Shape;25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700" y="2621225"/>
            <a:ext cx="48006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950" y="3640425"/>
            <a:ext cx="5224100" cy="13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</a:t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471900" y="1954800"/>
            <a:ext cx="82221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is a Python library used for working with data sets.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Pandas = “Panel Data” + “Python Data Analysis”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correlations between two or more columns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average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Min/Max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Delete rows of bad or empty data. I.e. ‘data cleaning’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</a:t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500" y="2571738"/>
            <a:ext cx="513397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3"/>
          <p:cNvSpPr txBox="1"/>
          <p:nvPr/>
        </p:nvSpPr>
        <p:spPr>
          <a:xfrm>
            <a:off x="819413" y="2830950"/>
            <a:ext cx="239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Each series is like a column in a table -&gt;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Labels</a:t>
            </a:r>
            <a:endParaRPr/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37" y="1807050"/>
            <a:ext cx="4146774" cy="30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2037" y="2240725"/>
            <a:ext cx="4267189" cy="219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DataFrames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1473138" y="1918950"/>
            <a:ext cx="61977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If a series is a column, then a DataFrame is the whole table:</a:t>
            </a:r>
            <a:endParaRPr/>
          </a:p>
        </p:txBody>
      </p:sp>
      <p:pic>
        <p:nvPicPr>
          <p:cNvPr id="281" name="Google Shape;2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225" y="2767050"/>
            <a:ext cx="61055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Rows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5024425" y="1879438"/>
            <a:ext cx="3347700" cy="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Note that a Pandas series or a DataFrame may be returned:</a:t>
            </a:r>
            <a:endParaRPr/>
          </a:p>
        </p:txBody>
      </p:sp>
      <p:pic>
        <p:nvPicPr>
          <p:cNvPr id="288" name="Google Shape;2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300" y="1992200"/>
            <a:ext cx="32194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013" y="2635550"/>
            <a:ext cx="1894075" cy="22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Naming Indexes</a:t>
            </a:r>
            <a:endParaRPr/>
          </a:p>
        </p:txBody>
      </p:sp>
      <p:pic>
        <p:nvPicPr>
          <p:cNvPr id="295" name="Google Shape;2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00" y="2194600"/>
            <a:ext cx="5243150" cy="2506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575" y="2533625"/>
            <a:ext cx="263842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Data from Files (CSV)</a:t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25" y="2119300"/>
            <a:ext cx="2916425" cy="13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8"/>
          <p:cNvSpPr txBox="1"/>
          <p:nvPr/>
        </p:nvSpPr>
        <p:spPr>
          <a:xfrm>
            <a:off x="4098300" y="2304050"/>
            <a:ext cx="459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If we have a large dataset, Pandas will only return the first 5 and last 5 records. Use to_string() to print the entire DataFrame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" name="Google Shape;30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425" y="4061825"/>
            <a:ext cx="279082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8"/>
          <p:cNvSpPr txBox="1"/>
          <p:nvPr/>
        </p:nvSpPr>
        <p:spPr>
          <a:xfrm>
            <a:off x="3704875" y="3849900"/>
            <a:ext cx="561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&lt;- Pandas has built-in settings that alter its behavior. This will set the max rows a DataFrame must have, before it will cut off records in print statements.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Data from JSON</a:t>
            </a:r>
            <a:endParaRPr/>
          </a:p>
        </p:txBody>
      </p:sp>
      <p:pic>
        <p:nvPicPr>
          <p:cNvPr id="311" name="Google Shape;3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475" y="2571750"/>
            <a:ext cx="2860550" cy="129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9"/>
          <p:cNvSpPr txBox="1"/>
          <p:nvPr/>
        </p:nvSpPr>
        <p:spPr>
          <a:xfrm>
            <a:off x="4572000" y="2456875"/>
            <a:ext cx="33456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JSON works similarly to CSV files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Sidenote: dictionaries can be loaded into Pandas directly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Heads or Tails?</a:t>
            </a:r>
            <a:endParaRPr/>
          </a:p>
        </p:txBody>
      </p:sp>
      <p:pic>
        <p:nvPicPr>
          <p:cNvPr id="318" name="Google Shape;31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025" y="2409063"/>
            <a:ext cx="3337650" cy="16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425" y="2990938"/>
            <a:ext cx="3096225" cy="5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&amp; Describe</a:t>
            </a:r>
            <a:endParaRPr/>
          </a:p>
        </p:txBody>
      </p:sp>
      <p:pic>
        <p:nvPicPr>
          <p:cNvPr id="325" name="Google Shape;32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625" y="1746300"/>
            <a:ext cx="1333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5263" y="2074025"/>
            <a:ext cx="3006217" cy="24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1"/>
          <p:cNvSpPr txBox="1"/>
          <p:nvPr/>
        </p:nvSpPr>
        <p:spPr>
          <a:xfrm>
            <a:off x="982050" y="4517450"/>
            <a:ext cx="379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 calories column has null rows!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974" y="2013000"/>
            <a:ext cx="3175675" cy="277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Empty Cells</a:t>
            </a:r>
            <a:endParaRPr/>
          </a:p>
        </p:txBody>
      </p:sp>
      <p:pic>
        <p:nvPicPr>
          <p:cNvPr id="334" name="Google Shape;33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75" y="2504150"/>
            <a:ext cx="22479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988" y="3730500"/>
            <a:ext cx="227647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2"/>
          <p:cNvSpPr txBox="1"/>
          <p:nvPr/>
        </p:nvSpPr>
        <p:spPr>
          <a:xfrm>
            <a:off x="549725" y="1968725"/>
            <a:ext cx="29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Get a copy with no nulls: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52"/>
          <p:cNvSpPr txBox="1"/>
          <p:nvPr/>
        </p:nvSpPr>
        <p:spPr>
          <a:xfrm>
            <a:off x="676275" y="3219850"/>
            <a:ext cx="344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Alter original: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8" name="Google Shape;33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050" y="2475575"/>
            <a:ext cx="24574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2"/>
          <p:cNvSpPr txBox="1"/>
          <p:nvPr/>
        </p:nvSpPr>
        <p:spPr>
          <a:xfrm>
            <a:off x="4764550" y="2016350"/>
            <a:ext cx="440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Replace nulls with a value: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52"/>
          <p:cNvSpPr txBox="1"/>
          <p:nvPr/>
        </p:nvSpPr>
        <p:spPr>
          <a:xfrm>
            <a:off x="4764550" y="3324625"/>
            <a:ext cx="440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Replace only for a certain column: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4538" y="3786325"/>
            <a:ext cx="3110560" cy="10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2"/>
          <p:cNvSpPr txBox="1"/>
          <p:nvPr/>
        </p:nvSpPr>
        <p:spPr>
          <a:xfrm>
            <a:off x="4702975" y="4838700"/>
            <a:ext cx="344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Note: mean() or median() would also work here.</a:t>
            </a:r>
            <a:endParaRPr sz="1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52"/>
          <p:cNvSpPr txBox="1"/>
          <p:nvPr/>
        </p:nvSpPr>
        <p:spPr>
          <a:xfrm>
            <a:off x="1241250" y="1744025"/>
            <a:ext cx="666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These methods only work if the field is NaN, None, or pd.na! I.e. empty strings skipped</a:t>
            </a:r>
            <a:endParaRPr b="1"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Wrong Format</a:t>
            </a:r>
            <a:endParaRPr/>
          </a:p>
        </p:txBody>
      </p:sp>
      <p:pic>
        <p:nvPicPr>
          <p:cNvPr id="349" name="Google Shape;34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50" y="2131225"/>
            <a:ext cx="43815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6450" y="2383650"/>
            <a:ext cx="31623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8675" y="3952900"/>
            <a:ext cx="40957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3"/>
          <p:cNvSpPr txBox="1"/>
          <p:nvPr/>
        </p:nvSpPr>
        <p:spPr>
          <a:xfrm>
            <a:off x="431050" y="3863825"/>
            <a:ext cx="40329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01282026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01/28/2026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01-28-26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Wrong Data</a:t>
            </a:r>
            <a:endParaRPr/>
          </a:p>
        </p:txBody>
      </p:sp>
      <p:pic>
        <p:nvPicPr>
          <p:cNvPr id="358" name="Google Shape;35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2719675"/>
            <a:ext cx="21336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0125" y="2793250"/>
            <a:ext cx="26765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4"/>
          <p:cNvSpPr txBox="1"/>
          <p:nvPr/>
        </p:nvSpPr>
        <p:spPr>
          <a:xfrm>
            <a:off x="819150" y="2147588"/>
            <a:ext cx="24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Set a specific item: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4"/>
          <p:cNvSpPr txBox="1"/>
          <p:nvPr/>
        </p:nvSpPr>
        <p:spPr>
          <a:xfrm>
            <a:off x="4572000" y="2054350"/>
            <a:ext cx="371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Loop through the DataFrame and conditionally change value: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2" name="Google Shape;36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3200" y="4283925"/>
            <a:ext cx="269557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4"/>
          <p:cNvSpPr txBox="1"/>
          <p:nvPr/>
        </p:nvSpPr>
        <p:spPr>
          <a:xfrm>
            <a:off x="2168975" y="3659425"/>
            <a:ext cx="433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Loop through and drop rows that don’t meet the conditions: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Duplicates</a:t>
            </a:r>
            <a:endParaRPr/>
          </a:p>
        </p:txBody>
      </p:sp>
      <p:pic>
        <p:nvPicPr>
          <p:cNvPr id="369" name="Google Shape;36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050" y="2397000"/>
            <a:ext cx="22955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5900" y="3516200"/>
            <a:ext cx="10477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6325" y="3063775"/>
            <a:ext cx="2781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5"/>
          <p:cNvSpPr txBox="1"/>
          <p:nvPr/>
        </p:nvSpPr>
        <p:spPr>
          <a:xfrm>
            <a:off x="144925" y="1837750"/>
            <a:ext cx="68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Get booleans for any item that is a duplicate: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4895525" y="2718800"/>
            <a:ext cx="42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Drop any duplicates: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Correlations</a:t>
            </a:r>
            <a:endParaRPr/>
          </a:p>
        </p:txBody>
      </p:sp>
      <p:pic>
        <p:nvPicPr>
          <p:cNvPr id="379" name="Google Shape;37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375" y="2825975"/>
            <a:ext cx="4208650" cy="20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25" y="1834500"/>
            <a:ext cx="4416874" cy="14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6"/>
          <p:cNvSpPr txBox="1"/>
          <p:nvPr/>
        </p:nvSpPr>
        <p:spPr>
          <a:xfrm>
            <a:off x="4800275" y="1754400"/>
            <a:ext cx="41439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 = perfect correlation (1-1 movement)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-1 = perfect negative correlation (inverse movement)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0 = No correlation at all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6"/>
          <p:cNvSpPr txBox="1"/>
          <p:nvPr/>
        </p:nvSpPr>
        <p:spPr>
          <a:xfrm>
            <a:off x="168725" y="3433175"/>
            <a:ext cx="44169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corr() can only work with numeric types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Can also do this: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3" name="Google Shape;38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225" y="4558950"/>
            <a:ext cx="2768142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Filter/Sort Records</a:t>
            </a:r>
            <a:endParaRPr/>
          </a:p>
        </p:txBody>
      </p:sp>
      <p:pic>
        <p:nvPicPr>
          <p:cNvPr id="389" name="Google Shape;38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437" y="1981975"/>
            <a:ext cx="8467024" cy="69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250" y="2882025"/>
            <a:ext cx="7695500" cy="16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Clean data with Pandas</a:t>
            </a:r>
            <a:endParaRPr sz="1400"/>
          </a:p>
        </p:txBody>
      </p:sp>
      <p:sp>
        <p:nvSpPr>
          <p:cNvPr id="397" name="Google Shape;397;p58"/>
          <p:cNvSpPr txBox="1"/>
          <p:nvPr>
            <p:ph idx="1" type="body"/>
          </p:nvPr>
        </p:nvSpPr>
        <p:spPr>
          <a:xfrm>
            <a:off x="3681075" y="1919075"/>
            <a:ext cx="5322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Details:				              ? min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Use the provided JSON dataset and complete the following: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Some string values may be, “” instead of null. Set these fields to NaN with numpy before you continue cleaning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Clamp publication year to the years of 1800-2026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Ensure average_rating, page_count, etc can’t have impossible values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Normalize dates in ‘last_checkout’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Ensure genres, languages, formats, and publishers have proper capitalization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Find and remove duplicate books with the same title/author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/>
              <a:t>Drop rows with empty fields</a:t>
            </a:r>
            <a:endParaRPr sz="1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pic>
        <p:nvPicPr>
          <p:cNvPr id="403" name="Google Shape;40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226" y="1905775"/>
            <a:ext cx="3439101" cy="276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6400" y="2000138"/>
            <a:ext cx="4209700" cy="25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agg()</a:t>
            </a:r>
            <a:endParaRPr/>
          </a:p>
        </p:txBody>
      </p:sp>
      <p:pic>
        <p:nvPicPr>
          <p:cNvPr id="410" name="Google Shape;41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413" y="1769900"/>
            <a:ext cx="4467968" cy="333227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0"/>
          <p:cNvSpPr txBox="1"/>
          <p:nvPr/>
        </p:nvSpPr>
        <p:spPr>
          <a:xfrm>
            <a:off x="5790825" y="2373400"/>
            <a:ext cx="336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Remember: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groupby() -&gt; labels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agg()      -&gt; series/columns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Matplotlib</a:t>
            </a:r>
            <a:endParaRPr/>
          </a:p>
        </p:txBody>
      </p:sp>
      <p:sp>
        <p:nvSpPr>
          <p:cNvPr id="417" name="Google Shape;417;p61"/>
          <p:cNvSpPr txBox="1"/>
          <p:nvPr>
            <p:ph idx="1" type="body"/>
          </p:nvPr>
        </p:nvSpPr>
        <p:spPr>
          <a:xfrm>
            <a:off x="805075" y="2456800"/>
            <a:ext cx="4243500" cy="17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Matplotlib is a low level graph plotting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Visualization utility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Open source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Written in python, c, Objective-C, and JavaScript</a:t>
            </a:r>
            <a:endParaRPr/>
          </a:p>
        </p:txBody>
      </p:sp>
      <p:pic>
        <p:nvPicPr>
          <p:cNvPr id="418" name="Google Shape;41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925" y="1737475"/>
            <a:ext cx="2086100" cy="14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4525" y="3262475"/>
            <a:ext cx="2244799" cy="16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vs marker=’o’</a:t>
            </a:r>
            <a:endParaRPr/>
          </a:p>
        </p:txBody>
      </p:sp>
      <p:pic>
        <p:nvPicPr>
          <p:cNvPr id="425" name="Google Shape;42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75" y="2439038"/>
            <a:ext cx="2152125" cy="14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4473" y="1838310"/>
            <a:ext cx="1946940" cy="14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1871" y="3407095"/>
            <a:ext cx="2152125" cy="1620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4109" y="2439059"/>
            <a:ext cx="2947175" cy="15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2"/>
          <p:cNvSpPr txBox="1"/>
          <p:nvPr/>
        </p:nvSpPr>
        <p:spPr>
          <a:xfrm>
            <a:off x="3514088" y="4607350"/>
            <a:ext cx="1987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Marker Reference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Multiple Points</a:t>
            </a:r>
            <a:endParaRPr/>
          </a:p>
        </p:txBody>
      </p:sp>
      <p:pic>
        <p:nvPicPr>
          <p:cNvPr id="435" name="Google Shape;43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25" y="2056875"/>
            <a:ext cx="3902500" cy="261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750" y="1755226"/>
            <a:ext cx="2161824" cy="16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1245" y="3376575"/>
            <a:ext cx="2132843" cy="160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3"/>
          <p:cNvSpPr txBox="1"/>
          <p:nvPr/>
        </p:nvSpPr>
        <p:spPr>
          <a:xfrm>
            <a:off x="4442900" y="2145450"/>
            <a:ext cx="1961400" cy="25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Both x, y: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Only y: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(x will increment automatically to meet y)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fmt, colors, lines</a:t>
            </a:r>
            <a:endParaRPr/>
          </a:p>
        </p:txBody>
      </p:sp>
      <p:sp>
        <p:nvSpPr>
          <p:cNvPr id="444" name="Google Shape;444;p64"/>
          <p:cNvSpPr txBox="1"/>
          <p:nvPr/>
        </p:nvSpPr>
        <p:spPr>
          <a:xfrm>
            <a:off x="1056450" y="1835650"/>
            <a:ext cx="33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fmt = marker | line | color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5" name="Google Shape;44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75" y="2350375"/>
            <a:ext cx="48006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3250" y="2027576"/>
            <a:ext cx="3439975" cy="2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4"/>
          <p:cNvSpPr txBox="1"/>
          <p:nvPr/>
        </p:nvSpPr>
        <p:spPr>
          <a:xfrm>
            <a:off x="752525" y="3858000"/>
            <a:ext cx="41790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ms = marker size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mec = marker edge color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mgc = marker face color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Line &amp; Color Reference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</a:t>
            </a:r>
            <a:endParaRPr/>
          </a:p>
        </p:txBody>
      </p:sp>
      <p:sp>
        <p:nvSpPr>
          <p:cNvPr id="453" name="Google Shape;453;p65"/>
          <p:cNvSpPr txBox="1"/>
          <p:nvPr>
            <p:ph idx="1" type="body"/>
          </p:nvPr>
        </p:nvSpPr>
        <p:spPr>
          <a:xfrm>
            <a:off x="4572000" y="2098925"/>
            <a:ext cx="3955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We’ve seen the shorthand, but many of the options have explicit arguments, such as linestyle/ls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color/c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linewidth/lw</a:t>
            </a:r>
            <a:endParaRPr/>
          </a:p>
        </p:txBody>
      </p:sp>
      <p:pic>
        <p:nvPicPr>
          <p:cNvPr id="454" name="Google Shape;45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150" y="2098921"/>
            <a:ext cx="3037450" cy="150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738" y="3688575"/>
            <a:ext cx="32480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750" y="4060500"/>
            <a:ext cx="3288850" cy="2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Lines</a:t>
            </a:r>
            <a:endParaRPr/>
          </a:p>
        </p:txBody>
      </p:sp>
      <p:pic>
        <p:nvPicPr>
          <p:cNvPr id="462" name="Google Shape;4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500" y="1970100"/>
            <a:ext cx="1771600" cy="15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500" y="1855576"/>
            <a:ext cx="3633299" cy="26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0599" y="3715349"/>
            <a:ext cx="1438750" cy="12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Styling your Plot</a:t>
            </a:r>
            <a:endParaRPr/>
          </a:p>
        </p:txBody>
      </p:sp>
      <p:pic>
        <p:nvPicPr>
          <p:cNvPr id="470" name="Google Shape;4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00" y="2025713"/>
            <a:ext cx="4632675" cy="2708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525" y="1930812"/>
            <a:ext cx="3580700" cy="289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Subplots</a:t>
            </a:r>
            <a:endParaRPr/>
          </a:p>
        </p:txBody>
      </p:sp>
      <p:sp>
        <p:nvSpPr>
          <p:cNvPr id="477" name="Google Shape;477;p68"/>
          <p:cNvSpPr txBox="1"/>
          <p:nvPr>
            <p:ph idx="1" type="body"/>
          </p:nvPr>
        </p:nvSpPr>
        <p:spPr>
          <a:xfrm>
            <a:off x="2497900" y="2514225"/>
            <a:ext cx="3201900" cy="17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subplot(rows, columns, plot #)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can add as many as we wish, just specify those three things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Aside from hspace, there is also, left, right, top, bottom, and wspace</a:t>
            </a:r>
            <a:endParaRPr sz="1400"/>
          </a:p>
        </p:txBody>
      </p:sp>
      <p:pic>
        <p:nvPicPr>
          <p:cNvPr id="478" name="Google Shape;4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25" y="1769875"/>
            <a:ext cx="2038113" cy="33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150" y="1913138"/>
            <a:ext cx="2990275" cy="252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Plots</a:t>
            </a:r>
            <a:endParaRPr/>
          </a:p>
        </p:txBody>
      </p:sp>
      <p:pic>
        <p:nvPicPr>
          <p:cNvPr id="485" name="Google Shape;48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75" y="2188250"/>
            <a:ext cx="4611651" cy="23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151" y="1866000"/>
            <a:ext cx="3790675" cy="2985623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9"/>
          <p:cNvSpPr txBox="1"/>
          <p:nvPr/>
        </p:nvSpPr>
        <p:spPr>
          <a:xfrm>
            <a:off x="635625" y="4594450"/>
            <a:ext cx="35361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Colormap Reference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Graphs</a:t>
            </a:r>
            <a:endParaRPr/>
          </a:p>
        </p:txBody>
      </p:sp>
      <p:pic>
        <p:nvPicPr>
          <p:cNvPr id="493" name="Google Shape;49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588" y="1949800"/>
            <a:ext cx="2815350" cy="145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600" y="1804575"/>
            <a:ext cx="2324724" cy="174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7775" y="4276376"/>
            <a:ext cx="30956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3725" y="3846300"/>
            <a:ext cx="1410300" cy="10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Histograms</a:t>
            </a:r>
            <a:endParaRPr/>
          </a:p>
        </p:txBody>
      </p:sp>
      <p:pic>
        <p:nvPicPr>
          <p:cNvPr id="502" name="Google Shape;50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25" y="2313450"/>
            <a:ext cx="37052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025" y="1793275"/>
            <a:ext cx="4098999" cy="307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 Charts</a:t>
            </a:r>
            <a:endParaRPr/>
          </a:p>
        </p:txBody>
      </p:sp>
      <p:pic>
        <p:nvPicPr>
          <p:cNvPr id="509" name="Google Shape;50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100" y="1885000"/>
            <a:ext cx="4003749" cy="21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9729" y="2096125"/>
            <a:ext cx="2507144" cy="26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2"/>
          <p:cNvSpPr txBox="1"/>
          <p:nvPr/>
        </p:nvSpPr>
        <p:spPr>
          <a:xfrm>
            <a:off x="507050" y="4173625"/>
            <a:ext cx="52311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Roboto"/>
              <a:buChar char="-"/>
            </a:pPr>
            <a:r>
              <a:rPr lang="en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 first wedge starts at 0 degrees and then wedges are laid counterclockwise. </a:t>
            </a:r>
            <a:endParaRPr sz="1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Roboto"/>
              <a:buChar char="-"/>
            </a:pPr>
            <a:r>
              <a:rPr lang="en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Wedge size = x/sum(x) </a:t>
            </a:r>
            <a:endParaRPr sz="1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2" name="Google Shape;512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5285" y="4091775"/>
            <a:ext cx="916941" cy="8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