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356" r:id="rId7"/>
    <p:sldId id="357" r:id="rId8"/>
    <p:sldId id="35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6"/>
      <p:bold r:id="rId107"/>
    </p:embeddedFont>
    <p:embeddedFont>
      <p:font typeface="Roboto Mono" panose="00000009000000000000" pitchFamily="49" charset="0"/>
      <p:regular r:id="rId108"/>
      <p:bold r:id="rId109"/>
      <p:italic r:id="rId110"/>
      <p:boldItalic r:id="rId1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EA3C10-9940-41B0-BF8D-5C8F6974F883}">
  <a:tblStyle styleId="{BCEA3C10-9940-41B0-BF8D-5C8F6974F8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font" Target="fonts/font2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.fntdata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4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5.fntdata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91993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91993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0951741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90951741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90951741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90951741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0951741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90951741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62d7c206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962d7c206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90951741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90951741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3dbf586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93dbf586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038acd2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7038acd2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7038acd2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7038acd2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2cd79c1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72cd79c1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72cd79c1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72cd79c1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93dbf5868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93dbf5868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2cd79c1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2cd79c1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962d7c206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962d7c206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72cd79c1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72cd79c1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2cd79c1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72cd79c1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962d7c2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962d7c2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c23204a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8c23204a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6f91993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c6f91993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038acd2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7038acd2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90951741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90951741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72cd79c1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72cd79c1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962d7c206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962d7c206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962d7c206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962d7c206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962d7c206_1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962d7c206_1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962d7c206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962d7c206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858363c2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858363c2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858363c2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858363c2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858363c2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858363c2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858363c2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858363c2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858363c2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b858363c2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858363c2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858363c2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858363c2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858363c2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858363c2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858363c2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858363c2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858363c2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962d7c206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962d7c206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72cd79c1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72cd79c1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72cd79c1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72cd79c1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72cd79c1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72cd79c1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72cd79c1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72cd79c1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72cd79c1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b72cd79c11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90951741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90951741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858363c2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858363c2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962d7c206_1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962d7c206_1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858363c2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858363c2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858363c2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858363c2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858363c2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858363c2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858363c2c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b858363c2c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858363c2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858363c2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858363c2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858363c2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8c23204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8c23204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8c23204a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b8c23204a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8c23204a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8c23204a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962d7c206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b962d7c206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b962d7c206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b962d7c206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962d7c206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962d7c206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962d7c206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962d7c206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b962d7c206_1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b962d7c206_1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962d7c206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b962d7c206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b962d7c206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b962d7c206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962d7c206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b962d7c206_1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b72cd79c1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b72cd79c1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962d7c206_1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962d7c206_1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b962d7c20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b962d7c20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962d7c206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b962d7c206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962d7c206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b962d7c206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962d7c206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b962d7c206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962d7c206_1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b962d7c206_1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b962d7c206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b962d7c206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b962d7c206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b962d7c206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b962d7c206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b962d7c206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b962d7c206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b962d7c206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962d7c206_1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b962d7c206_1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962d7c206_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b962d7c206_1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962d7c206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b962d7c206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962d7c206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b962d7c206_1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962d7c206_1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b962d7c206_1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962d7c206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b962d7c206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b962d7c206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b962d7c206_1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bc975ba0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bc975ba0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b962d7c206_1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b962d7c206_1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b962d7c206_1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b962d7c206_1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b962d7c206_1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b962d7c206_1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b962d7c206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b962d7c206_1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962d7c206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b962d7c206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b962d7c206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b962d7c206_1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b962d7c206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b962d7c206_1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b962d7c206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b962d7c206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962d7c206_1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b962d7c206_1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b962d7c206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b962d7c206_1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b962d7c206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b962d7c206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ba27321d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ba27321d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b962d7c206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b962d7c206_1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b962d7c206_1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b962d7c206_1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ba27321df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ba27321df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bcb44e28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bcb44e280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b42db1e05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bb42db1e05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bb42db1e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bb42db1e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lists_methods.asp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sets_join.asp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w3schools.com/python/python_sets_methods.asp" TargetMode="External"/><Relationship Id="rId4" Type="http://schemas.openxmlformats.org/officeDocument/2006/relationships/hyperlink" Target="https://www.w3schools.com/python/python_frozenset.asp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9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6.gif"/><Relationship Id="rId5" Type="http://schemas.openxmlformats.org/officeDocument/2006/relationships/image" Target="../media/image185.gif"/><Relationship Id="rId4" Type="http://schemas.openxmlformats.org/officeDocument/2006/relationships/image" Target="../media/image18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6.gif"/><Relationship Id="rId5" Type="http://schemas.openxmlformats.org/officeDocument/2006/relationships/image" Target="../media/image185.gif"/><Relationship Id="rId4" Type="http://schemas.openxmlformats.org/officeDocument/2006/relationships/image" Target="../media/image19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env-win/pyenv-win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240400" y="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Required Software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Python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PyCharm OR VSCode</a:t>
            </a:r>
            <a:endParaRPr dirty="0"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4" y="1638825"/>
            <a:ext cx="2198050" cy="18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6775" y="2123375"/>
            <a:ext cx="3042500" cy="6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8260" y="3090773"/>
            <a:ext cx="2983575" cy="15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460950" y="4502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VSCode Settings/Plugins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359000" y="1688625"/>
            <a:ext cx="4100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Python + Pylance - language support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Jupyter - visualization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Black Formatter - follow consistent standard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Isort - organize imports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flake8/pylint/ruff - linting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Python test explorer - unit test support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Live Share - collaborative editing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000" y="1801500"/>
            <a:ext cx="33432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1000" y="3829450"/>
            <a:ext cx="3343275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Python?</a:t>
            </a: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Interpreted language - code is executed line by line, no compilation step needed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High-level language - abstracts away low-level memory management, hardware details, garbage collection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Dynamically typed - variables do not require type declarations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Cross-platform - runs on windows, macOS, linux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Object-oriented - supports classes, objects, inheritance, etc.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 the Hood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Python code (.py files) are compiled into bytecode (NOT machine code) by CPython 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bytecode is then interpreted and executed by the Python Virtual Machine (PVM) inside CPython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9005-D9ED-A55F-2DBC-EF446F06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6BDBF-049A-F23E-2660-3D7429929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298" y="1919075"/>
            <a:ext cx="3502325" cy="2710200"/>
          </a:xfrm>
        </p:spPr>
        <p:txBody>
          <a:bodyPr/>
          <a:lstStyle/>
          <a:p>
            <a:r>
              <a:rPr lang="en-US" sz="1400" dirty="0"/>
              <a:t>Python.org – has a handy chart to determine which python version you’d likely want your app to support </a:t>
            </a:r>
          </a:p>
          <a:p>
            <a:r>
              <a:rPr lang="en-US" sz="1400" dirty="0"/>
              <a:t>Regardless of your desired version, on Windows, just install via the ‘Python Install Manager’ </a:t>
            </a:r>
          </a:p>
          <a:p>
            <a:pPr lvl="1"/>
            <a:r>
              <a:rPr lang="en-US" dirty="0"/>
              <a:t>We can set the desired runtime of our projects separately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6240C-C211-0227-30BC-8490F592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3" y="2320505"/>
            <a:ext cx="4929967" cy="215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3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3FCE-4E1F-603E-A5C4-F376924B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15900"/>
            <a:ext cx="8222100" cy="1290525"/>
          </a:xfrm>
        </p:spPr>
        <p:txBody>
          <a:bodyPr/>
          <a:lstStyle/>
          <a:p>
            <a:r>
              <a:rPr lang="en-US" dirty="0"/>
              <a:t>(Windows) Py vs python vs </a:t>
            </a:r>
            <a:r>
              <a:rPr lang="en-US" dirty="0" err="1"/>
              <a:t>pymanager</a:t>
            </a:r>
            <a:r>
              <a:rPr lang="en-US" dirty="0"/>
              <a:t>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CDC28-4300-3E3E-C653-20ED2802F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950" y="1772425"/>
            <a:ext cx="8222100" cy="30085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Python – everyday use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Runs the default interpreter unless a virtual environment or script configuration selects another one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Python --version, python app.py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Py – version selection and management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Use it to select a particular interpreter, list installations, and install or uninstall runtimes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Py list, </a:t>
            </a:r>
            <a:r>
              <a:rPr lang="en-US" sz="1600" dirty="0" err="1"/>
              <a:t>py</a:t>
            </a:r>
            <a:r>
              <a:rPr lang="en-US" sz="1600" dirty="0"/>
              <a:t> -3.12 app.py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Pymanager</a:t>
            </a:r>
            <a:r>
              <a:rPr lang="en-US" sz="1600" dirty="0"/>
              <a:t> – unambiguous management command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This invokes the new manager even if the </a:t>
            </a:r>
            <a:r>
              <a:rPr lang="en-US" sz="1600" dirty="0" err="1"/>
              <a:t>py</a:t>
            </a:r>
            <a:r>
              <a:rPr lang="en-US" sz="1600" dirty="0"/>
              <a:t> command conflicts with an older launcher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 err="1"/>
              <a:t>Pymanager</a:t>
            </a:r>
            <a:r>
              <a:rPr lang="en-US" sz="1600" dirty="0"/>
              <a:t> list, </a:t>
            </a:r>
            <a:r>
              <a:rPr lang="en-US" sz="1600" dirty="0" err="1"/>
              <a:t>pymanager</a:t>
            </a:r>
            <a:r>
              <a:rPr lang="en-US" sz="1600" dirty="0"/>
              <a:t> install 3.14</a:t>
            </a:r>
          </a:p>
        </p:txBody>
      </p:sp>
    </p:spTree>
    <p:extLst>
      <p:ext uri="{BB962C8B-B14F-4D97-AF65-F5344CB8AC3E}">
        <p14:creationId xmlns:p14="http://schemas.microsoft.com/office/powerpoint/2010/main" val="4811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CA74-71B4-29A6-B51F-27E313AA1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Environments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CBC40-DF89-A998-FB1E-9B8617F6F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1828800"/>
            <a:ext cx="8222100" cy="2800475"/>
          </a:xfrm>
        </p:spPr>
        <p:txBody>
          <a:bodyPr/>
          <a:lstStyle/>
          <a:p>
            <a:pPr lvl="0"/>
            <a:r>
              <a:rPr lang="en-US" sz="1200" b="1" dirty="0"/>
              <a:t>Default Python Interpreter:</a:t>
            </a:r>
            <a:r>
              <a:rPr lang="en-US" sz="1200" dirty="0"/>
              <a:t> When Python is installed, it comes with a default interpreter on the system that can execute Python code. This is typically accessed using commands like python or python3.</a:t>
            </a:r>
          </a:p>
          <a:p>
            <a:pPr lvl="0"/>
            <a:r>
              <a:rPr lang="en-US" sz="1200" b="1" dirty="0"/>
              <a:t>System-Wide Packages:</a:t>
            </a:r>
            <a:r>
              <a:rPr lang="en-US" sz="1200" dirty="0"/>
              <a:t> Packages installed into the default Python environment may be available to multiple projects that use that interpreter.</a:t>
            </a:r>
          </a:p>
          <a:p>
            <a:pPr lvl="0"/>
            <a:r>
              <a:rPr lang="en-US" sz="1200" b="1" dirty="0"/>
              <a:t>The Problem with Shared Environments:</a:t>
            </a:r>
            <a:r>
              <a:rPr lang="en-US" sz="1200" dirty="0"/>
              <a:t> Different projects may require different versions of the same package, which can cause dependency conflicts if everything is installed into one environment.</a:t>
            </a:r>
          </a:p>
          <a:p>
            <a:pPr lvl="0"/>
            <a:r>
              <a:rPr lang="en-US" sz="1200" b="1" dirty="0"/>
              <a:t>Virtual Environments (</a:t>
            </a:r>
            <a:r>
              <a:rPr lang="en-US" sz="1200" dirty="0" err="1"/>
              <a:t>venv</a:t>
            </a:r>
            <a:r>
              <a:rPr lang="en-US" sz="1200" b="1" dirty="0"/>
              <a:t>):</a:t>
            </a:r>
            <a:r>
              <a:rPr lang="en-US" sz="1200" dirty="0"/>
              <a:t> Python provides a built-in </a:t>
            </a:r>
            <a:r>
              <a:rPr lang="en-US" sz="1200" dirty="0" err="1"/>
              <a:t>venv</a:t>
            </a:r>
            <a:r>
              <a:rPr lang="en-US" sz="1200" dirty="0"/>
              <a:t> module that allows us to create isolated environments for individual projects.</a:t>
            </a:r>
          </a:p>
          <a:p>
            <a:pPr lvl="0"/>
            <a:r>
              <a:rPr lang="en-US" sz="1200" b="1" dirty="0"/>
              <a:t>Separate Dependencies:</a:t>
            </a:r>
            <a:r>
              <a:rPr lang="en-US" sz="1200" dirty="0"/>
              <a:t> Each virtual environment can have its own installed packages and versions, so changes in one project do not affect another project's dependencies.</a:t>
            </a:r>
          </a:p>
          <a:p>
            <a:pPr lvl="0"/>
            <a:r>
              <a:rPr lang="en-US" sz="1200" b="1" dirty="0"/>
              <a:t>Same Python, Isolated Environment:</a:t>
            </a:r>
            <a:r>
              <a:rPr lang="en-US" sz="1200" dirty="0"/>
              <a:t> A virtual environment is typically created using an existing Python interpreter, but it maintains its own package installation directory and environment configuration.</a:t>
            </a:r>
          </a:p>
          <a:p>
            <a:pPr lvl="0"/>
            <a:r>
              <a:rPr lang="en-US" sz="1200" b="1" dirty="0"/>
              <a:t>Easy to Reproduce Projects:</a:t>
            </a:r>
            <a:r>
              <a:rPr lang="en-US" sz="1200" dirty="0"/>
              <a:t> By recording dependencies in a requirements.txt file or a lock file, we can recreate a project's environment on another machine.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895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460950" y="5169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Environments, py, &amp; Interactive Mode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587" y="2041737"/>
            <a:ext cx="3552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" y="3217975"/>
            <a:ext cx="83439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82E867-6FC5-B43D-5223-546663661416}"/>
              </a:ext>
            </a:extLst>
          </p:cNvPr>
          <p:cNvSpPr txBox="1"/>
          <p:nvPr/>
        </p:nvSpPr>
        <p:spPr>
          <a:xfrm>
            <a:off x="1672006" y="2682664"/>
            <a:ext cx="5799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 commands work best in </a:t>
            </a:r>
            <a:r>
              <a:rPr lang="en-US" dirty="0" err="1"/>
              <a:t>powershell</a:t>
            </a:r>
            <a:r>
              <a:rPr lang="en-US" dirty="0"/>
              <a:t>, this is a Windows exclusive tool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venv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23" y="2127938"/>
            <a:ext cx="5314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945" y="4010488"/>
            <a:ext cx="6688105" cy="4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760015" y="1713465"/>
            <a:ext cx="762396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Create a virtual environment for our python app (with the default version):</a:t>
            </a: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571247" y="3545888"/>
            <a:ext cx="600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Make sure to activate, and then check for pip updates:</a:t>
            </a: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1483500" y="4357050"/>
            <a:ext cx="61770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3"/>
                </a:solidFill>
              </a:rPr>
              <a:t>Some may need to allow scripts to run these commands: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150" y="4851050"/>
            <a:ext cx="82296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3;p19">
            <a:extLst>
              <a:ext uri="{FF2B5EF4-FFF2-40B4-BE49-F238E27FC236}">
                <a16:creationId xmlns:a16="http://schemas.microsoft.com/office/drawing/2014/main" id="{EDA84CE5-49FC-09D4-EF01-7F63159EA928}"/>
              </a:ext>
            </a:extLst>
          </p:cNvPr>
          <p:cNvSpPr txBox="1"/>
          <p:nvPr/>
        </p:nvSpPr>
        <p:spPr>
          <a:xfrm>
            <a:off x="770966" y="2441696"/>
            <a:ext cx="762396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Create a virtual environment for our python app (with a selected version):</a:t>
            </a: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D4348-74BF-8031-1452-B4786BC50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3239" y="2810148"/>
            <a:ext cx="4839419" cy="815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&amp; Jupyter setup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1713"/>
            <a:ext cx="8839200" cy="21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350" y="2630123"/>
            <a:ext cx="23526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63" y="3380025"/>
            <a:ext cx="8512164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7850" y="3875950"/>
            <a:ext cx="54483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834750" y="2547913"/>
            <a:ext cx="6688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Packages may also be installed via text file on each new line: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Here we connect our venv to serve as the kernel for jupyter: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713750" y="1800025"/>
            <a:ext cx="573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install packages with pip (‘pip installs packages):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Goal: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 dirty="0"/>
              <a:t>Create a Jupyter notebook for learning</a:t>
            </a:r>
            <a:endParaRPr sz="1400" dirty="0"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722900" y="1919074"/>
            <a:ext cx="3971100" cy="2911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Details:		~10 min</a:t>
            </a:r>
            <a:endParaRPr b="1" dirty="0"/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Create a project folder </a:t>
            </a:r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Initialize a venv inside the project folder</a:t>
            </a:r>
            <a:endParaRPr sz="1400" dirty="0"/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Install the following packages to the venv: jupyter, ipykernel, numpy, pandas, matplotlib</a:t>
            </a:r>
            <a:endParaRPr sz="1400" dirty="0"/>
          </a:p>
          <a:p>
            <a:pPr marL="457200" lvl="0" indent="-317500" algn="l" rtl="0">
              <a:lnSpc>
                <a:spcPct val="100000"/>
              </a:lnSpc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Associate the venv with jupyter and launch your notebook</a:t>
            </a:r>
            <a:endParaRPr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Strings, Print, Input, &amp; Comments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8" y="2634450"/>
            <a:ext cx="9034925" cy="9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1332750" y="3900950"/>
            <a:ext cx="6478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Strings are valid with both single and double quotes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can start a new line with the escape character ‘\’ + ‘n’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&amp; len()</a:t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372" y="2361250"/>
            <a:ext cx="7105250" cy="11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825" y="3964350"/>
            <a:ext cx="5312475" cy="94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3010375" y="3512100"/>
            <a:ext cx="37254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Python is case-sensitive: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2676513" y="1769525"/>
            <a:ext cx="392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Variables are dynamically typed: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variables &amp; Case Conventions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Must start with a letter or underscore character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Only alphanumeric symbols and underscores are valid: (A-z, 0-9, and _ )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Camel Case (rarely used convention in Python):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myVariable = ‘John’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Pascal Case (used for Python class names):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MyVariable = ‘John’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Snake Case (most common in Python; used for almost everything not a class):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my_variable_name = ‘John’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Kebab Case (never or rarely used in python)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My-variable-name = ‘John’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Continued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5757325" y="1919075"/>
            <a:ext cx="29367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assign multiple variables at once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also assign them the same value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25" y="2093675"/>
            <a:ext cx="4642225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150" y="2811525"/>
            <a:ext cx="3971550" cy="5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Ask a user for their info and print it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Tip: Use the title() method to format names:</a:t>
            </a:r>
            <a:endParaRPr sz="1400"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	~10 min</a:t>
            </a:r>
            <a:endParaRPr b="1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Ask the user for their full name, birthday, &amp; email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Store the data in variables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Print the information back to the console, on a new line for each item</a:t>
            </a:r>
            <a:endParaRPr sz="14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00" y="3676850"/>
            <a:ext cx="2400436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&amp; Variable Scope</a:t>
            </a: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87750" y="1856375"/>
            <a:ext cx="8968500" cy="8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 are defined with the ‘def’ keyword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Variables outside of functions have Global scope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Variables inside functions have Local scope, unless the global keyword is used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50" y="3121900"/>
            <a:ext cx="6538751" cy="18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7151" y="3121888"/>
            <a:ext cx="14668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Scope &amp; Enclosing (nonlocal) Scope</a:t>
            </a: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238100" y="2013025"/>
            <a:ext cx="4266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Scope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OOB methods/keywords provided by Python: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len()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print()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str()</a:t>
            </a:r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4572000" y="2013025"/>
            <a:ext cx="2519700" cy="27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Enclosing Scope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Inner functions have access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Can’t override unless we use nonlocal keyword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8650" y="2229475"/>
            <a:ext cx="1588575" cy="2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take in and return data</a:t>
            </a: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275" y="2032199"/>
            <a:ext cx="5705375" cy="23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Placeholder Functions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128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 can’t be empty, but we can create placeholder functions using the ‘pass’ keyword!</a:t>
            </a:r>
            <a:endParaRPr/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09725"/>
            <a:ext cx="2758175" cy="8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Refactor previous challenge</a:t>
            </a:r>
            <a:endParaRPr sz="1400"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	~10 min</a:t>
            </a:r>
            <a:endParaRPr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In a function:</a:t>
            </a:r>
            <a:endParaRPr sz="1400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Ask the user for their full name, birthday, &amp; email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Store the data in variables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Print the information back to the console, on a new line for each item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naming conventions…</a:t>
            </a:r>
            <a:endParaRPr/>
          </a:p>
        </p:txBody>
      </p:sp>
      <p:graphicFrame>
        <p:nvGraphicFramePr>
          <p:cNvPr id="214" name="Google Shape;214;p32"/>
          <p:cNvGraphicFramePr/>
          <p:nvPr/>
        </p:nvGraphicFramePr>
        <p:xfrm>
          <a:off x="819150" y="1809650"/>
          <a:ext cx="7505700" cy="3254475"/>
        </p:xfrm>
        <a:graphic>
          <a:graphicData uri="http://schemas.openxmlformats.org/drawingml/2006/table">
            <a:tbl>
              <a:tblPr>
                <a:noFill/>
                <a:tableStyleId>{BCEA3C10-9940-41B0-BF8D-5C8F6974F883}</a:tableStyleId>
              </a:tblPr>
              <a:tblGrid>
                <a:gridCol w="224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Item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Convention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Example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Variable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user_name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Function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get_user()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Constant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UPPER_SNAKE_CASE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MAX_SIZE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Class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PascalCase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UserService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Method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save()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Attribute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created_at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Protected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_cache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Private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__snake_case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__state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Module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snake_case.py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email_utils.py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Package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snake_case/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data_access/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body" idx="2"/>
          </p:nvPr>
        </p:nvSpPr>
        <p:spPr>
          <a:xfrm>
            <a:off x="4939500" y="38225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Types</a:t>
            </a:r>
            <a:endParaRPr sz="32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str = string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int = integer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float = decimals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bool = boolean true/false 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None = NoneType</a:t>
            </a: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(These are examples of </a:t>
            </a:r>
            <a:r>
              <a:rPr lang="en" sz="1600">
                <a:solidFill>
                  <a:schemeClr val="accent6"/>
                </a:solidFill>
              </a:rPr>
              <a:t>Primitive </a:t>
            </a:r>
            <a:r>
              <a:rPr lang="en" sz="1600"/>
              <a:t>data types, there are many more)</a:t>
            </a:r>
            <a:endParaRPr sz="1600"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026" y="4241475"/>
            <a:ext cx="12096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675" y="308138"/>
            <a:ext cx="1957396" cy="452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183425" y="5004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Each Type</a:t>
            </a:r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800" y="194425"/>
            <a:ext cx="5059074" cy="47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813" y="3351400"/>
            <a:ext cx="2270925" cy="12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332825" y="2169975"/>
            <a:ext cx="30789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You can also use constructor functions to define the type explicitly: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Hinting</a:t>
            </a:r>
            <a:endParaRPr/>
          </a:p>
        </p:txBody>
      </p:sp>
      <p:sp>
        <p:nvSpPr>
          <p:cNvPr id="235" name="Google Shape;235;p35"/>
          <p:cNvSpPr txBox="1">
            <a:spLocks noGrp="1"/>
          </p:cNvSpPr>
          <p:nvPr>
            <p:ph type="body" idx="1"/>
          </p:nvPr>
        </p:nvSpPr>
        <p:spPr>
          <a:xfrm>
            <a:off x="636525" y="2465238"/>
            <a:ext cx="42648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Type hinting does NOT enforce the type at runtime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It’s for: linters (mypy, pyright), IDEs, readability</a:t>
            </a:r>
            <a:endParaRPr/>
          </a:p>
        </p:txBody>
      </p:sp>
      <p:pic>
        <p:nvPicPr>
          <p:cNvPr id="236" name="Google Shape;23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563" y="1842313"/>
            <a:ext cx="17335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425" y="2940850"/>
            <a:ext cx="24098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1875" y="3572650"/>
            <a:ext cx="1990950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1050" y="4167150"/>
            <a:ext cx="175260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Conversion - Casting</a:t>
            </a:r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body" idx="1"/>
          </p:nvPr>
        </p:nvSpPr>
        <p:spPr>
          <a:xfrm>
            <a:off x="471900" y="2445900"/>
            <a:ext cx="3554400" cy="19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 convert a float to an int, data loss can occur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cannot convert complex numbers into another datatype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275" y="1905000"/>
            <a:ext cx="42005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8538" y="3829900"/>
            <a:ext cx="3762000" cy="63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</a:t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500" y="2170975"/>
            <a:ext cx="2214075" cy="8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800" y="1845875"/>
            <a:ext cx="2481350" cy="17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5305" y="3940275"/>
            <a:ext cx="4299119" cy="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</a:t>
            </a:r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3843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‘_’ will always match, so place it at the end!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match multiple conditions at once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optionally include an if condition as an extra condition check</a:t>
            </a:r>
            <a:endParaRPr/>
          </a:p>
        </p:txBody>
      </p:sp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275" y="1883562"/>
            <a:ext cx="2688375" cy="137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149" y="3283025"/>
            <a:ext cx="2688375" cy="16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Loops</a:t>
            </a:r>
            <a:endParaRPr/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2290050"/>
            <a:ext cx="161925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825" y="2356725"/>
            <a:ext cx="16287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450" y="2413887"/>
            <a:ext cx="3696100" cy="16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9"/>
          <p:cNvSpPr txBox="1"/>
          <p:nvPr/>
        </p:nvSpPr>
        <p:spPr>
          <a:xfrm>
            <a:off x="2283875" y="1788900"/>
            <a:ext cx="479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What is the output of the following: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Loops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8226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use for loops to iterate over lists, tuples, dictionaries, sets, or strings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loops may be nested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Break/Continue is available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use range() to iterate a certain number of times, or by a sequence</a:t>
            </a:r>
            <a:endParaRPr/>
          </a:p>
        </p:txBody>
      </p:sp>
      <p:pic>
        <p:nvPicPr>
          <p:cNvPr id="279" name="Google Shape;27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925" y="1896184"/>
            <a:ext cx="3103800" cy="1351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425" y="3466400"/>
            <a:ext cx="1428800" cy="4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7763" y="4109375"/>
            <a:ext cx="1902137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Behavior &amp; If Statements</a:t>
            </a:r>
            <a:endParaRPr/>
          </a:p>
        </p:txBody>
      </p:sp>
      <p:pic>
        <p:nvPicPr>
          <p:cNvPr id="287" name="Google Shape;28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13" y="2071700"/>
            <a:ext cx="3400000" cy="18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063" y="4194325"/>
            <a:ext cx="1666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1"/>
          <p:cNvSpPr txBox="1"/>
          <p:nvPr/>
        </p:nvSpPr>
        <p:spPr>
          <a:xfrm>
            <a:off x="4572000" y="2414600"/>
            <a:ext cx="4429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Logical evaluations will return a boolean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If statements use evaluations to route logic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 bool() constructor will make an evaluation of whatever is passed to it (The example returns ‘true’ for both)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Falsy Values</a:t>
            </a:r>
            <a:endParaRPr/>
          </a:p>
        </p:txBody>
      </p:sp>
      <p:sp>
        <p:nvSpPr>
          <p:cNvPr id="295" name="Google Shape;295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print(bool(False))   # bool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print(bool(None))    # NoneType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print(bool(0))       # int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print(bool(""))      # str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print(bool(()))      # tuple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print(bool([]))      # list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print(bool({}))      # dict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Operators</a:t>
            </a:r>
            <a:endParaRPr/>
          </a:p>
        </p:txBody>
      </p:sp>
      <p:pic>
        <p:nvPicPr>
          <p:cNvPr id="301" name="Google Shape;3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50" y="1773125"/>
            <a:ext cx="58293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3"/>
          <p:cNvSpPr txBox="1"/>
          <p:nvPr/>
        </p:nvSpPr>
        <p:spPr>
          <a:xfrm>
            <a:off x="6657975" y="3018163"/>
            <a:ext cx="2200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/ = returns float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// = returns integer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Operators</a:t>
            </a:r>
            <a:endParaRPr/>
          </a:p>
        </p:txBody>
      </p:sp>
      <p:pic>
        <p:nvPicPr>
          <p:cNvPr id="308" name="Google Shape;3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75" y="1897350"/>
            <a:ext cx="4186100" cy="28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4425" y="2302161"/>
            <a:ext cx="4639626" cy="173242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/>
        </p:nvSpPr>
        <p:spPr>
          <a:xfrm flipH="1">
            <a:off x="4572000" y="4034575"/>
            <a:ext cx="43575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“:=” = python 3 walrus operator. It can accept an evaluation!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Operator</a:t>
            </a:r>
            <a:endParaRPr/>
          </a:p>
        </p:txBody>
      </p:sp>
      <p:pic>
        <p:nvPicPr>
          <p:cNvPr id="316" name="Google Shape;31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1987425"/>
            <a:ext cx="58102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875" y="2019300"/>
            <a:ext cx="196215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5"/>
          <p:cNvSpPr txBox="1"/>
          <p:nvPr/>
        </p:nvSpPr>
        <p:spPr>
          <a:xfrm>
            <a:off x="6572250" y="3557600"/>
            <a:ext cx="240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may chain them!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Operators</a:t>
            </a:r>
            <a:endParaRPr/>
          </a:p>
        </p:txBody>
      </p:sp>
      <p:pic>
        <p:nvPicPr>
          <p:cNvPr id="324" name="Google Shape;3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13" y="2173175"/>
            <a:ext cx="66579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 Operators</a:t>
            </a:r>
            <a:endParaRPr/>
          </a:p>
        </p:txBody>
      </p:sp>
      <p:pic>
        <p:nvPicPr>
          <p:cNvPr id="330" name="Google Shape;3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000" y="1873125"/>
            <a:ext cx="58578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75" y="3782875"/>
            <a:ext cx="1098892" cy="9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6813" y="3965500"/>
            <a:ext cx="56197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Membership Operators</a:t>
            </a:r>
            <a:endParaRPr/>
          </a:p>
        </p:txBody>
      </p:sp>
      <p:pic>
        <p:nvPicPr>
          <p:cNvPr id="338" name="Google Shape;33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438" y="1723113"/>
            <a:ext cx="59150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4950" y="3607900"/>
            <a:ext cx="30670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4475" y="4396075"/>
            <a:ext cx="3048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250" y="3701938"/>
            <a:ext cx="184785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Precedence</a:t>
            </a:r>
            <a:endParaRPr/>
          </a:p>
        </p:txBody>
      </p:sp>
      <p:sp>
        <p:nvSpPr>
          <p:cNvPr id="347" name="Google Shape;347;p49"/>
          <p:cNvSpPr txBox="1">
            <a:spLocks noGrp="1"/>
          </p:cNvSpPr>
          <p:nvPr>
            <p:ph type="body" idx="1"/>
          </p:nvPr>
        </p:nvSpPr>
        <p:spPr>
          <a:xfrm>
            <a:off x="1357525" y="3004588"/>
            <a:ext cx="3457200" cy="4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Remember PEMDAS?</a:t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175" y="1830875"/>
            <a:ext cx="2882225" cy="315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354" name="Google Shape;354;p5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PyCharm challenges</a:t>
            </a:r>
            <a:endParaRPr sz="1400"/>
          </a:p>
        </p:txBody>
      </p:sp>
      <p:sp>
        <p:nvSpPr>
          <p:cNvPr id="355" name="Google Shape;355;p50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~45-60 min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Complete the following in the 100 Days of Code PyCharm course: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Day 1 (All tasks)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Day 2 (All tasks)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Day 3 (All tasks)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Quoteception, escape characters, &amp; Multi-Line Strings</a:t>
            </a:r>
            <a:endParaRPr/>
          </a:p>
        </p:txBody>
      </p:sp>
      <p:pic>
        <p:nvPicPr>
          <p:cNvPr id="361" name="Google Shape;36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450" y="2988413"/>
            <a:ext cx="292417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800" y="2983638"/>
            <a:ext cx="29622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2325" y="1824650"/>
            <a:ext cx="24193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2675" y="2414588"/>
            <a:ext cx="44386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the contents of a string</a:t>
            </a:r>
            <a:endParaRPr/>
          </a:p>
        </p:txBody>
      </p:sp>
      <p:pic>
        <p:nvPicPr>
          <p:cNvPr id="370" name="Google Shape;37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775" y="2084650"/>
            <a:ext cx="33623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650" y="3186763"/>
            <a:ext cx="33147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600" y="2608538"/>
            <a:ext cx="75680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8600" y="3765009"/>
            <a:ext cx="756800" cy="336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Strings</a:t>
            </a:r>
            <a:endParaRPr/>
          </a:p>
        </p:txBody>
      </p:sp>
      <p:sp>
        <p:nvSpPr>
          <p:cNvPr id="379" name="Google Shape;379;p53"/>
          <p:cNvSpPr txBox="1">
            <a:spLocks noGrp="1"/>
          </p:cNvSpPr>
          <p:nvPr>
            <p:ph type="body" idx="1"/>
          </p:nvPr>
        </p:nvSpPr>
        <p:spPr>
          <a:xfrm>
            <a:off x="551825" y="3086650"/>
            <a:ext cx="1760700" cy="11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‘llo’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 inclusive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5 exclusive</a:t>
            </a:r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00" y="2423950"/>
            <a:ext cx="15811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1425" y="2428713"/>
            <a:ext cx="16192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600" y="3526100"/>
            <a:ext cx="16668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3"/>
          <p:cNvSpPr txBox="1">
            <a:spLocks noGrp="1"/>
          </p:cNvSpPr>
          <p:nvPr>
            <p:ph type="body" idx="1"/>
          </p:nvPr>
        </p:nvSpPr>
        <p:spPr>
          <a:xfrm>
            <a:off x="5207250" y="2428725"/>
            <a:ext cx="3610500" cy="11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from the start: ‘Hello’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Or from the end: ‘llo, World!’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String Methods</a:t>
            </a:r>
            <a:endParaRPr/>
          </a:p>
        </p:txBody>
      </p:sp>
      <p:sp>
        <p:nvSpPr>
          <p:cNvPr id="389" name="Google Shape;389;p54"/>
          <p:cNvSpPr txBox="1">
            <a:spLocks noGrp="1"/>
          </p:cNvSpPr>
          <p:nvPr>
            <p:ph type="body" idx="1"/>
          </p:nvPr>
        </p:nvSpPr>
        <p:spPr>
          <a:xfrm>
            <a:off x="4435550" y="1981775"/>
            <a:ext cx="43197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Force upper/lower case text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whitespace at the beginning/end of strings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Replace every piece of matching text content with another string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Return a list of split strings</a:t>
            </a:r>
            <a:endParaRPr/>
          </a:p>
        </p:txBody>
      </p:sp>
      <p:pic>
        <p:nvPicPr>
          <p:cNvPr id="390" name="Google Shape;3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213" y="2042125"/>
            <a:ext cx="1638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4800" y="2571750"/>
            <a:ext cx="15811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400" y="3035025"/>
            <a:ext cx="3409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2050" y="3539075"/>
            <a:ext cx="1926627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450" y="4029375"/>
            <a:ext cx="3529813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F-Strings</a:t>
            </a:r>
            <a:endParaRPr/>
          </a:p>
        </p:txBody>
      </p:sp>
      <p:sp>
        <p:nvSpPr>
          <p:cNvPr id="400" name="Google Shape;400;p5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5295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Formatted String literals were introduced in Python 3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Dynamically assign values in strings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 evaluations &amp; format data</a:t>
            </a:r>
            <a:endParaRPr/>
          </a:p>
        </p:txBody>
      </p:sp>
      <p:pic>
        <p:nvPicPr>
          <p:cNvPr id="401" name="Google Shape;40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68575"/>
            <a:ext cx="29337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0575" y="2698050"/>
            <a:ext cx="28765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6738" y="3408450"/>
            <a:ext cx="3324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6750" y="4219700"/>
            <a:ext cx="312420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R-Strings</a:t>
            </a:r>
            <a:endParaRPr/>
          </a:p>
        </p:txBody>
      </p:sp>
      <p:sp>
        <p:nvSpPr>
          <p:cNvPr id="410" name="Google Shape;410;p56"/>
          <p:cNvSpPr txBox="1">
            <a:spLocks noGrp="1"/>
          </p:cNvSpPr>
          <p:nvPr>
            <p:ph type="body" idx="1"/>
          </p:nvPr>
        </p:nvSpPr>
        <p:spPr>
          <a:xfrm>
            <a:off x="1953750" y="2087850"/>
            <a:ext cx="5258400" cy="4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Raw strings will force the string to behave literally:</a:t>
            </a:r>
            <a:endParaRPr/>
          </a:p>
        </p:txBody>
      </p:sp>
      <p:pic>
        <p:nvPicPr>
          <p:cNvPr id="411" name="Google Shape;41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25" y="2878850"/>
            <a:ext cx="40957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Method Reference</a:t>
            </a:r>
            <a:endParaRPr/>
          </a:p>
        </p:txBody>
      </p:sp>
      <p:sp>
        <p:nvSpPr>
          <p:cNvPr id="417" name="Google Shape;417;p57"/>
          <p:cNvSpPr txBox="1"/>
          <p:nvPr/>
        </p:nvSpPr>
        <p:spPr>
          <a:xfrm>
            <a:off x="3082950" y="45875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https://www.w3schools.com/python/python_strings_methods.asp</a:t>
            </a:r>
            <a:endParaRPr/>
          </a:p>
        </p:txBody>
      </p:sp>
      <p:pic>
        <p:nvPicPr>
          <p:cNvPr id="418" name="Google Shape;4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5" y="1832639"/>
            <a:ext cx="3873975" cy="265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000" y="1904462"/>
            <a:ext cx="2306075" cy="25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5850" y="1904450"/>
            <a:ext cx="2538125" cy="23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426" name="Google Shape;426;p5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Goal: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 dirty="0"/>
              <a:t>Format a string value</a:t>
            </a:r>
            <a:endParaRPr sz="1400" dirty="0"/>
          </a:p>
        </p:txBody>
      </p:sp>
      <p:sp>
        <p:nvSpPr>
          <p:cNvPr id="427" name="Google Shape;427;p58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Details:	~25 min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dirty="0"/>
              <a:t>Given the username: 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‘raw_username = "  Py_Thon-ROCKS123!!!  "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Do the following: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Remove whitespace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Convert to all lowercase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Replace all ‘-’ with ‘_’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Remove all ‘!’ 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Check at least once digit is present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Check it contains the word ‘python’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Create a variable that stores only the first 8 characters</a:t>
            </a:r>
            <a:endParaRPr sz="1100"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 dirty="0"/>
              <a:t>Print a formatted string (f-string) that displays: the cleaned username, whether it contains a digit, whether it contains ‘python’, &amp; the first 8 characters</a:t>
            </a:r>
            <a:endParaRPr sz="11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Collections</a:t>
            </a:r>
            <a:endParaRPr/>
          </a:p>
        </p:txBody>
      </p:sp>
      <p:sp>
        <p:nvSpPr>
          <p:cNvPr id="433" name="Google Shape;433;p59"/>
          <p:cNvSpPr txBox="1">
            <a:spLocks noGrp="1"/>
          </p:cNvSpPr>
          <p:nvPr>
            <p:ph type="body" idx="1"/>
          </p:nvPr>
        </p:nvSpPr>
        <p:spPr>
          <a:xfrm>
            <a:off x="671925" y="1981575"/>
            <a:ext cx="3300000" cy="23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Lists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Ordered/indexed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Changeable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duplicates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Tuples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Ordered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Unchangeable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duplicates</a:t>
            </a:r>
            <a:endParaRPr/>
          </a:p>
        </p:txBody>
      </p:sp>
      <p:sp>
        <p:nvSpPr>
          <p:cNvPr id="434" name="Google Shape;434;p59"/>
          <p:cNvSpPr txBox="1"/>
          <p:nvPr/>
        </p:nvSpPr>
        <p:spPr>
          <a:xfrm>
            <a:off x="4457675" y="1981575"/>
            <a:ext cx="3300000" cy="2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Sets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Unordered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Unchangeable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Unindexed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Dictionaries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Ordered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Changeable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 duplicates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 vs Mutable Types</a:t>
            </a:r>
            <a:endParaRPr/>
          </a:p>
        </p:txBody>
      </p:sp>
      <p:sp>
        <p:nvSpPr>
          <p:cNvPr id="440" name="Google Shape;440;p6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43143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Non-collection types are also called immutable, because a new space is reserved in memory for each new declaration.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Collections are mutable because we may add and remove to the existing object in memory.</a:t>
            </a:r>
            <a:endParaRPr/>
          </a:p>
        </p:txBody>
      </p:sp>
      <p:pic>
        <p:nvPicPr>
          <p:cNvPr id="441" name="Google Shape;44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625" y="1919075"/>
            <a:ext cx="32385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950" y="3314650"/>
            <a:ext cx="3003847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pic>
        <p:nvPicPr>
          <p:cNvPr id="448" name="Google Shape;44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625" y="2001725"/>
            <a:ext cx="3181350" cy="447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49" name="Google Shape;44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638" y="2571750"/>
            <a:ext cx="2962275" cy="6572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50" name="Google Shape;45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75" y="3351325"/>
            <a:ext cx="2971800" cy="30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51" name="Google Shape;451;p61"/>
          <p:cNvSpPr txBox="1"/>
          <p:nvPr/>
        </p:nvSpPr>
        <p:spPr>
          <a:xfrm>
            <a:off x="4014800" y="2488375"/>
            <a:ext cx="4471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We can easily get the length of a list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Lists can be ANY datatype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Lists can contain mixed datatypes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Retrieve items from positive/negative indices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2" name="Google Shape;452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0650" y="4506775"/>
            <a:ext cx="6362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875" y="3864488"/>
            <a:ext cx="2837202" cy="4339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List Syntax</a:t>
            </a:r>
            <a:endParaRPr/>
          </a:p>
        </p:txBody>
      </p:sp>
      <p:sp>
        <p:nvSpPr>
          <p:cNvPr id="459" name="Google Shape;459;p62"/>
          <p:cNvSpPr txBox="1">
            <a:spLocks noGrp="1"/>
          </p:cNvSpPr>
          <p:nvPr>
            <p:ph type="body" idx="1"/>
          </p:nvPr>
        </p:nvSpPr>
        <p:spPr>
          <a:xfrm>
            <a:off x="5500700" y="1966925"/>
            <a:ext cx="3536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 range of items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 range of items from the beginning to a defined stop point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 range of items from a defined start point till the end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if items are in a list</a:t>
            </a:r>
            <a:endParaRPr/>
          </a:p>
        </p:txBody>
      </p:sp>
      <p:pic>
        <p:nvPicPr>
          <p:cNvPr id="460" name="Google Shape;4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52650"/>
            <a:ext cx="5110672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20884"/>
            <a:ext cx="5110675" cy="39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79879"/>
            <a:ext cx="5110675" cy="37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692" y="4157475"/>
            <a:ext cx="3536100" cy="68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Lists</a:t>
            </a:r>
            <a:endParaRPr/>
          </a:p>
        </p:txBody>
      </p:sp>
      <p:sp>
        <p:nvSpPr>
          <p:cNvPr id="469" name="Google Shape;469;p63"/>
          <p:cNvSpPr txBox="1">
            <a:spLocks noGrp="1"/>
          </p:cNvSpPr>
          <p:nvPr>
            <p:ph type="body" idx="1"/>
          </p:nvPr>
        </p:nvSpPr>
        <p:spPr>
          <a:xfrm>
            <a:off x="186250" y="2033375"/>
            <a:ext cx="45408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Replace items in a list from its index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Insert multiple new items into a list while replacing items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Insert items without replacing anything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items to the end of a 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Concatenate a list and another list/set/dictionary</a:t>
            </a:r>
            <a:endParaRPr/>
          </a:p>
        </p:txBody>
      </p:sp>
      <p:pic>
        <p:nvPicPr>
          <p:cNvPr id="470" name="Google Shape;47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650" y="1792200"/>
            <a:ext cx="3238500" cy="4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1" name="Google Shape;47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5525" y="2364875"/>
            <a:ext cx="3714750" cy="447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2" name="Google Shape;472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8888" y="2889925"/>
            <a:ext cx="3248025" cy="495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3" name="Google Shape;473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7950" y="3462600"/>
            <a:ext cx="3209925" cy="438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4" name="Google Shape;474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9650" y="3978138"/>
            <a:ext cx="3046515" cy="4339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5" name="Google Shape;475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60175" y="4550813"/>
            <a:ext cx="2005438" cy="4339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Lists</a:t>
            </a:r>
            <a:endParaRPr/>
          </a:p>
        </p:txBody>
      </p:sp>
      <p:sp>
        <p:nvSpPr>
          <p:cNvPr id="481" name="Google Shape;481;p64"/>
          <p:cNvSpPr txBox="1">
            <a:spLocks noGrp="1"/>
          </p:cNvSpPr>
          <p:nvPr>
            <p:ph type="body" idx="1"/>
          </p:nvPr>
        </p:nvSpPr>
        <p:spPr>
          <a:xfrm>
            <a:off x="4371975" y="1919075"/>
            <a:ext cx="43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a specific object by its identity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Remove a specific item by its index with pop(), or just the last item if nothing specified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del keyword can delete an item or the list itself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clear() method empties the list but the list still exists in memory</a:t>
            </a:r>
            <a:endParaRPr/>
          </a:p>
        </p:txBody>
      </p:sp>
      <p:pic>
        <p:nvPicPr>
          <p:cNvPr id="482" name="Google Shape;48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25" y="2158850"/>
            <a:ext cx="3219450" cy="4762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3" name="Google Shape;48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50" y="2728875"/>
            <a:ext cx="3276600" cy="4667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4" name="Google Shape;484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688" y="3289375"/>
            <a:ext cx="3209925" cy="447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5" name="Google Shape;485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400" y="3960875"/>
            <a:ext cx="3238500" cy="4286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Iterating over lists</a:t>
            </a:r>
            <a:endParaRPr/>
          </a:p>
        </p:txBody>
      </p:sp>
      <p:sp>
        <p:nvSpPr>
          <p:cNvPr id="491" name="Google Shape;491;p6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42144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loops can iterate over lists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loops can iterate over lists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Comprehension syntax is the shortest form to iterate over a list</a:t>
            </a:r>
            <a:endParaRPr/>
          </a:p>
        </p:txBody>
      </p:sp>
      <p:pic>
        <p:nvPicPr>
          <p:cNvPr id="492" name="Google Shape;49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46" y="1833350"/>
            <a:ext cx="2929584" cy="62349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93" name="Google Shape;49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328" y="2565102"/>
            <a:ext cx="2895419" cy="66620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94" name="Google Shape;494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1975" y="3339559"/>
            <a:ext cx="2938125" cy="101638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95" name="Google Shape;495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095" y="4464200"/>
            <a:ext cx="2739915" cy="389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</a:t>
            </a:r>
            <a:endParaRPr/>
          </a:p>
        </p:txBody>
      </p:sp>
      <p:sp>
        <p:nvSpPr>
          <p:cNvPr id="501" name="Google Shape;501;p6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86300" cy="11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list of fruits that have ‘a’ in the name.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List comprehension is syntactic sugar that shortens/cleans up our code!</a:t>
            </a:r>
            <a:endParaRPr/>
          </a:p>
        </p:txBody>
      </p:sp>
      <p:pic>
        <p:nvPicPr>
          <p:cNvPr id="502" name="Google Shape;50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50" y="3306038"/>
            <a:ext cx="4019550" cy="15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527225"/>
            <a:ext cx="437197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</a:t>
            </a:r>
            <a:endParaRPr/>
          </a:p>
        </p:txBody>
      </p:sp>
      <p:sp>
        <p:nvSpPr>
          <p:cNvPr id="509" name="Google Shape;509;p67"/>
          <p:cNvSpPr txBox="1">
            <a:spLocks noGrp="1"/>
          </p:cNvSpPr>
          <p:nvPr>
            <p:ph type="body" idx="1"/>
          </p:nvPr>
        </p:nvSpPr>
        <p:spPr>
          <a:xfrm>
            <a:off x="471900" y="2417725"/>
            <a:ext cx="82221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 will return a new list, leaving the old one unchanged.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expression is the current item in the iteration but also the outcome. We can modify the item before it stores in the new list:</a:t>
            </a:r>
            <a:endParaRPr/>
          </a:p>
        </p:txBody>
      </p:sp>
      <p:pic>
        <p:nvPicPr>
          <p:cNvPr id="510" name="Google Shape;51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275" y="1909900"/>
            <a:ext cx="5467350" cy="342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1" name="Google Shape;51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8475" y="3795825"/>
            <a:ext cx="3028950" cy="2095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2" name="Google Shape;51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225" y="4614975"/>
            <a:ext cx="4781550" cy="266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3" name="Google Shape;513;p67"/>
          <p:cNvSpPr txBox="1"/>
          <p:nvPr/>
        </p:nvSpPr>
        <p:spPr>
          <a:xfrm>
            <a:off x="570300" y="4148175"/>
            <a:ext cx="8003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Return the item if it is NOT banana, if it IS banana then return orange.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Lists</a:t>
            </a:r>
            <a:endParaRPr/>
          </a:p>
        </p:txBody>
      </p:sp>
      <p:sp>
        <p:nvSpPr>
          <p:cNvPr id="519" name="Google Shape;519;p68"/>
          <p:cNvSpPr txBox="1">
            <a:spLocks noGrp="1"/>
          </p:cNvSpPr>
          <p:nvPr>
            <p:ph type="body" idx="1"/>
          </p:nvPr>
        </p:nvSpPr>
        <p:spPr>
          <a:xfrm>
            <a:off x="471900" y="1761250"/>
            <a:ext cx="82221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Sort Alphabetically/Numerically:</a:t>
            </a:r>
            <a:endParaRPr/>
          </a:p>
        </p:txBody>
      </p:sp>
      <p:pic>
        <p:nvPicPr>
          <p:cNvPr id="520" name="Google Shape;52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25" y="2285750"/>
            <a:ext cx="5667949" cy="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3950" y="2296275"/>
            <a:ext cx="2721450" cy="550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750" y="3789925"/>
            <a:ext cx="5667950" cy="547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3950" y="3789925"/>
            <a:ext cx="2721450" cy="47675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68"/>
          <p:cNvSpPr txBox="1">
            <a:spLocks noGrp="1"/>
          </p:cNvSpPr>
          <p:nvPr>
            <p:ph type="body" idx="1"/>
          </p:nvPr>
        </p:nvSpPr>
        <p:spPr>
          <a:xfrm>
            <a:off x="471900" y="3275500"/>
            <a:ext cx="8222100" cy="3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Sort descending: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Insensitive Sort</a:t>
            </a:r>
            <a:endParaRPr/>
          </a:p>
        </p:txBody>
      </p:sp>
      <p:sp>
        <p:nvSpPr>
          <p:cNvPr id="530" name="Google Shape;530;p69"/>
          <p:cNvSpPr txBox="1">
            <a:spLocks noGrp="1"/>
          </p:cNvSpPr>
          <p:nvPr>
            <p:ph type="body" idx="1"/>
          </p:nvPr>
        </p:nvSpPr>
        <p:spPr>
          <a:xfrm>
            <a:off x="460950" y="1798650"/>
            <a:ext cx="8222100" cy="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gives unexpected results (sorts uppercase words first)</a:t>
            </a:r>
            <a:endParaRPr/>
          </a:p>
        </p:txBody>
      </p:sp>
      <p:pic>
        <p:nvPicPr>
          <p:cNvPr id="531" name="Google Shape;5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888" y="2282275"/>
            <a:ext cx="4880875" cy="6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3681050"/>
            <a:ext cx="59436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9"/>
          <p:cNvSpPr txBox="1">
            <a:spLocks noGrp="1"/>
          </p:cNvSpPr>
          <p:nvPr>
            <p:ph type="body" idx="1"/>
          </p:nvPr>
        </p:nvSpPr>
        <p:spPr>
          <a:xfrm>
            <a:off x="572425" y="2903800"/>
            <a:ext cx="8222100" cy="3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Set all values to lowercase before your sort, thus making it case-insensitive (won’t permanently change the values):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Sort</a:t>
            </a:r>
            <a:endParaRPr/>
          </a:p>
        </p:txBody>
      </p:sp>
      <p:sp>
        <p:nvSpPr>
          <p:cNvPr id="539" name="Google Shape;539;p7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886800" cy="29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Define a function to use as a sorting algorithm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first example will sort the list from least&gt;most words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have more than one key; The second example uses this to reverse the list</a:t>
            </a:r>
            <a:endParaRPr/>
          </a:p>
        </p:txBody>
      </p:sp>
      <p:pic>
        <p:nvPicPr>
          <p:cNvPr id="540" name="Google Shape;54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275" y="1871025"/>
            <a:ext cx="3360075" cy="15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4213" y="3521925"/>
            <a:ext cx="3160200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Lambdas</a:t>
            </a:r>
            <a:endParaRPr/>
          </a:p>
        </p:txBody>
      </p:sp>
      <p:sp>
        <p:nvSpPr>
          <p:cNvPr id="547" name="Google Shape;547;p71"/>
          <p:cNvSpPr txBox="1">
            <a:spLocks noGrp="1"/>
          </p:cNvSpPr>
          <p:nvPr>
            <p:ph type="body" idx="1"/>
          </p:nvPr>
        </p:nvSpPr>
        <p:spPr>
          <a:xfrm>
            <a:off x="512800" y="2515225"/>
            <a:ext cx="2250300" cy="18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Instead of creating a custom sort function, we could also use a lambda!</a:t>
            </a:r>
            <a:endParaRPr/>
          </a:p>
        </p:txBody>
      </p:sp>
      <p:pic>
        <p:nvPicPr>
          <p:cNvPr id="548" name="Google Shape;5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5575" y="1954725"/>
            <a:ext cx="1729225" cy="15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8500" y="4147225"/>
            <a:ext cx="4066300" cy="5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6400" y="2397550"/>
            <a:ext cx="24384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556" name="Google Shape;556;p7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Work with Lambdas</a:t>
            </a:r>
            <a:endParaRPr sz="1400"/>
          </a:p>
        </p:txBody>
      </p:sp>
      <p:sp>
        <p:nvSpPr>
          <p:cNvPr id="557" name="Google Shape;557;p72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~10 min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Given the students list of tuples, do the following:</a:t>
            </a: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Sort the list so that it goes from oldest&gt;youngest</a:t>
            </a:r>
            <a:endParaRPr sz="1100"/>
          </a:p>
        </p:txBody>
      </p:sp>
      <p:pic>
        <p:nvPicPr>
          <p:cNvPr id="558" name="Google Shape;5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388" y="2826550"/>
            <a:ext cx="21621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Reversing a list</a:t>
            </a:r>
            <a:endParaRPr/>
          </a:p>
        </p:txBody>
      </p:sp>
      <p:pic>
        <p:nvPicPr>
          <p:cNvPr id="564" name="Google Shape;56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813" y="2028825"/>
            <a:ext cx="60102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5025" y="3576850"/>
            <a:ext cx="49339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list methods</a:t>
            </a:r>
            <a:endParaRPr/>
          </a:p>
        </p:txBody>
      </p:sp>
      <p:sp>
        <p:nvSpPr>
          <p:cNvPr id="571" name="Google Shape;571;p7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List Method Reference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 &amp; Docstrings</a:t>
            </a:r>
            <a:endParaRPr/>
          </a:p>
        </p:txBody>
      </p:sp>
      <p:sp>
        <p:nvSpPr>
          <p:cNvPr id="577" name="Google Shape;577;p75"/>
          <p:cNvSpPr txBox="1">
            <a:spLocks noGrp="1"/>
          </p:cNvSpPr>
          <p:nvPr>
            <p:ph type="body" idx="1"/>
          </p:nvPr>
        </p:nvSpPr>
        <p:spPr>
          <a:xfrm>
            <a:off x="992100" y="1819700"/>
            <a:ext cx="35070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my_module.py:</a:t>
            </a:r>
            <a:endParaRPr/>
          </a:p>
        </p:txBody>
      </p:sp>
      <p:pic>
        <p:nvPicPr>
          <p:cNvPr id="578" name="Google Shape;57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00" y="2370825"/>
            <a:ext cx="1932819" cy="225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9525" y="2933025"/>
            <a:ext cx="22574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75"/>
          <p:cNvSpPr txBox="1">
            <a:spLocks noGrp="1"/>
          </p:cNvSpPr>
          <p:nvPr>
            <p:ph type="body" idx="1"/>
          </p:nvPr>
        </p:nvSpPr>
        <p:spPr>
          <a:xfrm>
            <a:off x="5187000" y="2182525"/>
            <a:ext cx="35070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can be another .py file or from a notebook: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Numbers</a:t>
            </a:r>
            <a:endParaRPr/>
          </a:p>
        </p:txBody>
      </p:sp>
      <p:pic>
        <p:nvPicPr>
          <p:cNvPr id="586" name="Google Shape;58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800" y="1935025"/>
            <a:ext cx="3509300" cy="29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5600" y="2634925"/>
            <a:ext cx="19145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593" name="Google Shape;593;p7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Complete PyCharm challenges</a:t>
            </a:r>
            <a:endParaRPr sz="1400"/>
          </a:p>
        </p:txBody>
      </p:sp>
      <p:sp>
        <p:nvSpPr>
          <p:cNvPr id="594" name="Google Shape;594;p77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~20 min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Complete Day 4 (All Activities)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(Day 7 + 8 Recommended)</a:t>
            </a:r>
            <a:endParaRPr sz="1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Tuples</a:t>
            </a:r>
            <a:endParaRPr/>
          </a:p>
        </p:txBody>
      </p:sp>
      <p:sp>
        <p:nvSpPr>
          <p:cNvPr id="600" name="Google Shape;600;p7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4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Remember Tuples are: 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Ordered, allows duplicates, &amp; unchangeable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Can be any type &amp; tuples can have mixed types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Access syntax is identical to lists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Tuples with one item require a trailing comma!</a:t>
            </a:r>
            <a:endParaRPr dirty="0"/>
          </a:p>
        </p:txBody>
      </p:sp>
      <p:pic>
        <p:nvPicPr>
          <p:cNvPr id="601" name="Google Shape;60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312" y="3904907"/>
            <a:ext cx="49053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2FD638-FA31-C611-2788-8E45734DD898}"/>
              </a:ext>
            </a:extLst>
          </p:cNvPr>
          <p:cNvSpPr txBox="1"/>
          <p:nvPr/>
        </p:nvSpPr>
        <p:spPr>
          <a:xfrm>
            <a:off x="2915729" y="44047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</a:rPr>
              <a:t># One-item tuple (note the comma!)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</a:rPr>
              <a:t>b = (42,)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Tuples</a:t>
            </a:r>
            <a:endParaRPr/>
          </a:p>
        </p:txBody>
      </p:sp>
      <p:sp>
        <p:nvSpPr>
          <p:cNvPr id="607" name="Google Shape;607;p7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764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can’t change a tuple, but we can: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Convert the tuple to a list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Make a change, delete, or add items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Convert the list back into a tuple</a:t>
            </a:r>
            <a:endParaRPr/>
          </a:p>
        </p:txBody>
      </p:sp>
      <p:pic>
        <p:nvPicPr>
          <p:cNvPr id="608" name="Google Shape;60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200" y="2272738"/>
            <a:ext cx="3930900" cy="200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Unpacking Tuples</a:t>
            </a:r>
            <a:endParaRPr/>
          </a:p>
        </p:txBody>
      </p:sp>
      <p:pic>
        <p:nvPicPr>
          <p:cNvPr id="614" name="Google Shape;61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388" y="2196500"/>
            <a:ext cx="3671125" cy="19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Count unique items &amp; get the index of an item</a:t>
            </a:r>
            <a:endParaRPr sz="3100"/>
          </a:p>
        </p:txBody>
      </p:sp>
      <p:pic>
        <p:nvPicPr>
          <p:cNvPr id="620" name="Google Shape;62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350" y="1834175"/>
            <a:ext cx="50673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450" y="3591975"/>
            <a:ext cx="4241098" cy="13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627" name="Google Shape;627;p8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Manipulate Tuples</a:t>
            </a:r>
            <a:endParaRPr sz="1400"/>
          </a:p>
        </p:txBody>
      </p:sp>
      <p:sp>
        <p:nvSpPr>
          <p:cNvPr id="628" name="Google Shape;628;p82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~15 min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Given the following list of tuples, complete the following using only List Comprehension: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Print only students with an ‘A’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Print all names (but nothing else)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Give all the 20-year old students a ‘B’ and then print the list</a:t>
            </a:r>
            <a:endParaRPr sz="1100"/>
          </a:p>
        </p:txBody>
      </p:sp>
      <p:pic>
        <p:nvPicPr>
          <p:cNvPr id="629" name="Google Shape;6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50" y="2754225"/>
            <a:ext cx="28575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803" y="3853213"/>
            <a:ext cx="3983121" cy="24981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1" name="Google Shape;631;p82"/>
          <p:cNvSpPr txBox="1"/>
          <p:nvPr/>
        </p:nvSpPr>
        <p:spPr>
          <a:xfrm>
            <a:off x="4603175" y="4208450"/>
            <a:ext cx="1509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Also the output</a:t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2"/>
          <p:cNvSpPr/>
          <p:nvPr/>
        </p:nvSpPr>
        <p:spPr>
          <a:xfrm rot="-5400000">
            <a:off x="5016350" y="4107975"/>
            <a:ext cx="251400" cy="149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</a:t>
            </a:r>
            <a:endParaRPr/>
          </a:p>
        </p:txBody>
      </p:sp>
      <p:sp>
        <p:nvSpPr>
          <p:cNvPr id="638" name="Google Shape;638;p8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3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Sets are: unordered, unindexed, &amp; items are unchangeable.</a:t>
            </a:r>
            <a:endParaRPr/>
          </a:p>
        </p:txBody>
      </p:sp>
      <p:pic>
        <p:nvPicPr>
          <p:cNvPr id="639" name="Google Shape;63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425" y="2444025"/>
            <a:ext cx="46291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9713" y="3674450"/>
            <a:ext cx="61245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9300" y="4261550"/>
            <a:ext cx="486727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3"/>
          <p:cNvSpPr txBox="1">
            <a:spLocks noGrp="1"/>
          </p:cNvSpPr>
          <p:nvPr>
            <p:ph type="body" idx="1"/>
          </p:nvPr>
        </p:nvSpPr>
        <p:spPr>
          <a:xfrm>
            <a:off x="548350" y="3008688"/>
            <a:ext cx="8222100" cy="3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Any type and mixed types are allowed, but duplicated are not (1=True, 0=False considered duplicates):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Access</a:t>
            </a:r>
            <a:endParaRPr/>
          </a:p>
        </p:txBody>
      </p:sp>
      <p:sp>
        <p:nvSpPr>
          <p:cNvPr id="648" name="Google Shape;648;p84"/>
          <p:cNvSpPr txBox="1">
            <a:spLocks noGrp="1"/>
          </p:cNvSpPr>
          <p:nvPr>
            <p:ph type="body" idx="1"/>
          </p:nvPr>
        </p:nvSpPr>
        <p:spPr>
          <a:xfrm>
            <a:off x="1839450" y="1743750"/>
            <a:ext cx="5465100" cy="4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Either loop through it or use membership operators:</a:t>
            </a:r>
            <a:endParaRPr/>
          </a:p>
        </p:txBody>
      </p:sp>
      <p:pic>
        <p:nvPicPr>
          <p:cNvPr id="649" name="Google Shape;64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50" y="2936475"/>
            <a:ext cx="4191425" cy="119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6499" y="2452975"/>
            <a:ext cx="4349425" cy="9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6500" y="3734950"/>
            <a:ext cx="4349425" cy="9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Add/Remove Set Items</a:t>
            </a:r>
            <a:endParaRPr/>
          </a:p>
        </p:txBody>
      </p:sp>
      <p:sp>
        <p:nvSpPr>
          <p:cNvPr id="657" name="Google Shape;657;p85"/>
          <p:cNvSpPr txBox="1">
            <a:spLocks noGrp="1"/>
          </p:cNvSpPr>
          <p:nvPr>
            <p:ph type="body" idx="1"/>
          </p:nvPr>
        </p:nvSpPr>
        <p:spPr>
          <a:xfrm>
            <a:off x="460950" y="1772950"/>
            <a:ext cx="82221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can’t modify set items but we can add/remove them: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**remove method has warnings, discard does not. **pop will remove random item</a:t>
            </a:r>
            <a:endParaRPr sz="1500"/>
          </a:p>
        </p:txBody>
      </p:sp>
      <p:pic>
        <p:nvPicPr>
          <p:cNvPr id="658" name="Google Shape;65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850" y="2571750"/>
            <a:ext cx="3610176" cy="8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825" y="3704150"/>
            <a:ext cx="3610175" cy="95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6697" y="2571747"/>
            <a:ext cx="3578950" cy="8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1682" y="3808300"/>
            <a:ext cx="3695417" cy="8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8203" y="4753475"/>
            <a:ext cx="1787582" cy="39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Sets</a:t>
            </a:r>
            <a:endParaRPr/>
          </a:p>
        </p:txBody>
      </p:sp>
      <p:sp>
        <p:nvSpPr>
          <p:cNvPr id="668" name="Google Shape;668;p8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Join Sets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Frozen Sets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Set Method Reference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674" name="Google Shape;674;p8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Manipulate Sets</a:t>
            </a:r>
            <a:endParaRPr sz="1400"/>
          </a:p>
        </p:txBody>
      </p:sp>
      <p:sp>
        <p:nvSpPr>
          <p:cNvPr id="675" name="Google Shape;675;p87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~15 min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Given the following list, complete the following: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Create a set from the list to remove duplicates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Print the total number of attendees 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Print ‘Alice is going!’ if Alice is found in the set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Add ‘Grace’ to the set 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Remove ‘Bob’ from the set twice (don’t throw errors)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Print the final complete set of attendees</a:t>
            </a:r>
            <a:endParaRPr sz="1100"/>
          </a:p>
        </p:txBody>
      </p:sp>
      <p:pic>
        <p:nvPicPr>
          <p:cNvPr id="676" name="Google Shape;67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00" y="3102113"/>
            <a:ext cx="285750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  <p:sp>
        <p:nvSpPr>
          <p:cNvPr id="682" name="Google Shape;682;p8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8052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Dictionaries are key/value pairs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Ordered, changeable, no duplicates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Python 3.6 and earlier - dictionaries are unordered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Access items with ‘[]’ syntax or thisdict.get(‘key’) method</a:t>
            </a:r>
            <a:endParaRPr/>
          </a:p>
        </p:txBody>
      </p:sp>
      <p:pic>
        <p:nvPicPr>
          <p:cNvPr id="683" name="Google Shape;68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50" y="2349650"/>
            <a:ext cx="2363175" cy="15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  <p:pic>
        <p:nvPicPr>
          <p:cNvPr id="689" name="Google Shape;68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700" y="2193775"/>
            <a:ext cx="1579550" cy="19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50" y="4285875"/>
            <a:ext cx="2653050" cy="35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8300" y="2465325"/>
            <a:ext cx="1603469" cy="19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9900" y="1922213"/>
            <a:ext cx="2946123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922" y="2600981"/>
            <a:ext cx="1798125" cy="192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0769" y="4640450"/>
            <a:ext cx="3670657" cy="29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81319" y="2832342"/>
            <a:ext cx="1579550" cy="126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  <p:pic>
        <p:nvPicPr>
          <p:cNvPr id="701" name="Google Shape;70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25" y="2705800"/>
            <a:ext cx="2497100" cy="129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6775" y="2571763"/>
            <a:ext cx="1837850" cy="156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1050" y="2452813"/>
            <a:ext cx="2046000" cy="17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6300" y="4179050"/>
            <a:ext cx="1414450" cy="1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8471" y="4476075"/>
            <a:ext cx="1414450" cy="254735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90"/>
          <p:cNvSpPr txBox="1"/>
          <p:nvPr/>
        </p:nvSpPr>
        <p:spPr>
          <a:xfrm>
            <a:off x="6321350" y="4290500"/>
            <a:ext cx="2345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Removes the last item, i.e. ‘year’:1964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Looping Dictionaries</a:t>
            </a:r>
            <a:endParaRPr/>
          </a:p>
        </p:txBody>
      </p:sp>
      <p:pic>
        <p:nvPicPr>
          <p:cNvPr id="712" name="Google Shape;71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148" y="2053513"/>
            <a:ext cx="1927000" cy="27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6875" y="2025848"/>
            <a:ext cx="1514200" cy="27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719" name="Google Shape;719;p9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Goal: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Complete PyCharm challenges</a:t>
            </a:r>
            <a:endParaRPr sz="1400"/>
          </a:p>
        </p:txBody>
      </p:sp>
      <p:sp>
        <p:nvSpPr>
          <p:cNvPr id="720" name="Google Shape;720;p92"/>
          <p:cNvSpPr txBox="1">
            <a:spLocks noGrp="1"/>
          </p:cNvSpPr>
          <p:nvPr>
            <p:ph type="body" idx="1"/>
          </p:nvPr>
        </p:nvSpPr>
        <p:spPr>
          <a:xfrm>
            <a:off x="4722900" y="1919075"/>
            <a:ext cx="397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Details:				~25 min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Complete Day 9 (All tasks)</a:t>
            </a:r>
            <a:endParaRPr sz="11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3"/>
          <p:cNvSpPr txBox="1">
            <a:spLocks noGrp="1"/>
          </p:cNvSpPr>
          <p:nvPr>
            <p:ph type="title"/>
          </p:nvPr>
        </p:nvSpPr>
        <p:spPr>
          <a:xfrm>
            <a:off x="1458450" y="406425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What is Procedural Programming?</a:t>
            </a:r>
            <a:br>
              <a:rPr lang="en" sz="5200"/>
            </a:br>
            <a:r>
              <a:rPr lang="en" sz="5200"/>
              <a:t>What is OOP?</a:t>
            </a:r>
            <a:endParaRPr sz="52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94" title="Screenshot from 2026-02-01 12-06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902" y="126375"/>
            <a:ext cx="6024200" cy="479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</a:t>
            </a:r>
            <a:endParaRPr/>
          </a:p>
        </p:txBody>
      </p:sp>
      <p:sp>
        <p:nvSpPr>
          <p:cNvPr id="736" name="Google Shape;736;p95"/>
          <p:cNvSpPr txBox="1">
            <a:spLocks noGrp="1"/>
          </p:cNvSpPr>
          <p:nvPr>
            <p:ph type="body" idx="1"/>
          </p:nvPr>
        </p:nvSpPr>
        <p:spPr>
          <a:xfrm>
            <a:off x="664750" y="2012600"/>
            <a:ext cx="37056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 ‘self’ parameter must be included as the first parameter in any class method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Self has access to other class methods/variables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can delete instantiations of a class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can use the pass keyword as a placeholder</a:t>
            </a:r>
            <a:endParaRPr sz="1700"/>
          </a:p>
        </p:txBody>
      </p:sp>
      <p:pic>
        <p:nvPicPr>
          <p:cNvPr id="737" name="Google Shape;73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100" y="2266700"/>
            <a:ext cx="30099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988" y="4326275"/>
            <a:ext cx="1430122" cy="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__init__ - totally not a constructor</a:t>
            </a:r>
            <a:endParaRPr/>
          </a:p>
        </p:txBody>
      </p:sp>
      <p:sp>
        <p:nvSpPr>
          <p:cNvPr id="744" name="Google Shape;744;p96"/>
          <p:cNvSpPr txBox="1">
            <a:spLocks noGrp="1"/>
          </p:cNvSpPr>
          <p:nvPr>
            <p:ph type="body" idx="1"/>
          </p:nvPr>
        </p:nvSpPr>
        <p:spPr>
          <a:xfrm>
            <a:off x="384225" y="2076875"/>
            <a:ext cx="3360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Under the hood, a ‘__new__’ method gets called to create the 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‘__init__’ runs after, and initializes object state</a:t>
            </a:r>
            <a:endParaRPr/>
          </a:p>
        </p:txBody>
      </p:sp>
      <p:pic>
        <p:nvPicPr>
          <p:cNvPr id="745" name="Google Shape;74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225" y="1800575"/>
            <a:ext cx="4553875" cy="315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are very flexible in Python</a:t>
            </a:r>
            <a:endParaRPr/>
          </a:p>
        </p:txBody>
      </p:sp>
      <p:pic>
        <p:nvPicPr>
          <p:cNvPr id="751" name="Google Shape;75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25" y="2571752"/>
            <a:ext cx="2226375" cy="157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0550" y="2571750"/>
            <a:ext cx="1873769" cy="16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2438" y="2571750"/>
            <a:ext cx="2277322" cy="16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7875" y="2571745"/>
            <a:ext cx="2087825" cy="24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97"/>
          <p:cNvSpPr txBox="1"/>
          <p:nvPr/>
        </p:nvSpPr>
        <p:spPr>
          <a:xfrm>
            <a:off x="314175" y="1940875"/>
            <a:ext cx="876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Dot notation access:    Change values:       Delete values:                Add new values:   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__str__</a:t>
            </a:r>
            <a:endParaRPr/>
          </a:p>
        </p:txBody>
      </p:sp>
      <p:sp>
        <p:nvSpPr>
          <p:cNvPr id="761" name="Google Shape;761;p98"/>
          <p:cNvSpPr txBox="1">
            <a:spLocks noGrp="1"/>
          </p:cNvSpPr>
          <p:nvPr>
            <p:ph type="body" idx="1"/>
          </p:nvPr>
        </p:nvSpPr>
        <p:spPr>
          <a:xfrm>
            <a:off x="606325" y="2486025"/>
            <a:ext cx="3553800" cy="13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__str__ method controls what is returned when the object is printed</a:t>
            </a:r>
            <a:endParaRPr/>
          </a:p>
        </p:txBody>
      </p:sp>
      <p:pic>
        <p:nvPicPr>
          <p:cNvPr id="762" name="Google Shape;76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050" y="1919075"/>
            <a:ext cx="2937625" cy="22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213" y="4359175"/>
            <a:ext cx="12573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</a:t>
            </a:r>
            <a:endParaRPr/>
          </a:p>
        </p:txBody>
      </p:sp>
      <p:sp>
        <p:nvSpPr>
          <p:cNvPr id="769" name="Google Shape;769;p9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2965200" cy="27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Inherit all the methods and properties from another class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Parent/Base Class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Child/Derived Class</a:t>
            </a:r>
            <a:endParaRPr/>
          </a:p>
        </p:txBody>
      </p:sp>
      <p:pic>
        <p:nvPicPr>
          <p:cNvPr id="770" name="Google Shape;77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651" y="2410775"/>
            <a:ext cx="3121800" cy="25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550" y="2818550"/>
            <a:ext cx="1751575" cy="3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4500" y="3350874"/>
            <a:ext cx="1859675" cy="4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99"/>
          <p:cNvSpPr txBox="1"/>
          <p:nvPr/>
        </p:nvSpPr>
        <p:spPr>
          <a:xfrm>
            <a:off x="5083600" y="1923325"/>
            <a:ext cx="336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This code is incomplete: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</a:t>
            </a:r>
            <a:endParaRPr/>
          </a:p>
        </p:txBody>
      </p:sp>
      <p:sp>
        <p:nvSpPr>
          <p:cNvPr id="779" name="Google Shape;779;p100"/>
          <p:cNvSpPr txBox="1">
            <a:spLocks noGrp="1"/>
          </p:cNvSpPr>
          <p:nvPr>
            <p:ph type="body" idx="1"/>
          </p:nvPr>
        </p:nvSpPr>
        <p:spPr>
          <a:xfrm>
            <a:off x="5464475" y="2386125"/>
            <a:ext cx="34374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need to add an __init__ in our child class so it doesn’t generally inherit the parent class __init__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should use super() instead of calling the parent directly, so as not to break multiple-inheritance</a:t>
            </a:r>
            <a:endParaRPr sz="1400"/>
          </a:p>
        </p:txBody>
      </p:sp>
      <p:pic>
        <p:nvPicPr>
          <p:cNvPr id="780" name="Google Shape;78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025" y="2949175"/>
            <a:ext cx="3968589" cy="9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29" y="1919063"/>
            <a:ext cx="3475594" cy="7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100" descr="a red cross on a white background that looks like a starfish (Provided by Tenor)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222" y="1838772"/>
            <a:ext cx="762900" cy="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100" descr="a green circle with a white tick inside of i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8625" y="2980884"/>
            <a:ext cx="1025550" cy="9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0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Polymorphism</a:t>
            </a:r>
            <a:endParaRPr/>
          </a:p>
        </p:txBody>
      </p:sp>
      <p:sp>
        <p:nvSpPr>
          <p:cNvPr id="789" name="Google Shape;789;p10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4005600" cy="26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Polymorphism refers to functions/classes behaving differently depending on input or object type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Another example of function polymorphism is len()</a:t>
            </a:r>
            <a:endParaRPr/>
          </a:p>
        </p:txBody>
      </p:sp>
      <p:pic>
        <p:nvPicPr>
          <p:cNvPr id="790" name="Google Shape;79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900" y="2446000"/>
            <a:ext cx="3576325" cy="1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0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Polymorphism</a:t>
            </a:r>
            <a:endParaRPr/>
          </a:p>
        </p:txBody>
      </p:sp>
      <p:pic>
        <p:nvPicPr>
          <p:cNvPr id="796" name="Google Shape;79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75" y="2449397"/>
            <a:ext cx="3598050" cy="17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775" y="1915014"/>
            <a:ext cx="3897825" cy="2726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Encapsulation</a:t>
            </a:r>
            <a:endParaRPr/>
          </a:p>
        </p:txBody>
      </p:sp>
      <p:pic>
        <p:nvPicPr>
          <p:cNvPr id="803" name="Google Shape;80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00" y="2054850"/>
            <a:ext cx="2697650" cy="270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0425" y="2764437"/>
            <a:ext cx="2204100" cy="1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9638" y="2976138"/>
            <a:ext cx="314325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03"/>
          <p:cNvSpPr txBox="1"/>
          <p:nvPr/>
        </p:nvSpPr>
        <p:spPr>
          <a:xfrm>
            <a:off x="4130150" y="4417100"/>
            <a:ext cx="344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Single “_” denotes a protected property. This is only a convention. 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7" name="Google Shape;807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2550" y="3302513"/>
            <a:ext cx="1564675" cy="21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03"/>
          <p:cNvSpPr txBox="1"/>
          <p:nvPr/>
        </p:nvSpPr>
        <p:spPr>
          <a:xfrm>
            <a:off x="6860550" y="2933225"/>
            <a:ext cx="200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Private method: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0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</a:t>
            </a:r>
            <a:endParaRPr/>
          </a:p>
        </p:txBody>
      </p:sp>
      <p:pic>
        <p:nvPicPr>
          <p:cNvPr id="814" name="Google Shape;81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350" y="2094413"/>
            <a:ext cx="2217692" cy="240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0216" y="2326400"/>
            <a:ext cx="1311750" cy="16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0128" y="2739575"/>
            <a:ext cx="97155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Properties</a:t>
            </a:r>
            <a:endParaRPr/>
          </a:p>
        </p:txBody>
      </p:sp>
      <p:pic>
        <p:nvPicPr>
          <p:cNvPr id="822" name="Google Shape;822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050" y="2233925"/>
            <a:ext cx="3028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000" y="2395850"/>
            <a:ext cx="218122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105" descr="a red cross on a white background that looks like a starfish (Provided by Tenor)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9649" y="2467853"/>
            <a:ext cx="550150" cy="6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105" descr="a green circle with a white tick inside of it (Provided by Tenor)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30225" y="3443424"/>
            <a:ext cx="627893" cy="6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just use a Protocol</a:t>
            </a:r>
            <a:endParaRPr/>
          </a:p>
        </p:txBody>
      </p:sp>
      <p:sp>
        <p:nvSpPr>
          <p:cNvPr id="831" name="Google Shape;831;p10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5823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Protocols are often the preferred way to abstract a class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forced inheritance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Static type checking (mypy, pyright)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 Flexible &amp; easy setup</a:t>
            </a:r>
            <a:endParaRPr/>
          </a:p>
        </p:txBody>
      </p:sp>
      <p:pic>
        <p:nvPicPr>
          <p:cNvPr id="832" name="Google Shape;832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225" y="1919075"/>
            <a:ext cx="2941675" cy="28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0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@staticmethod</a:t>
            </a:r>
            <a:endParaRPr/>
          </a:p>
        </p:txBody>
      </p:sp>
      <p:pic>
        <p:nvPicPr>
          <p:cNvPr id="838" name="Google Shape;83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138" y="1718700"/>
            <a:ext cx="30956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@classmethod</a:t>
            </a:r>
            <a:endParaRPr/>
          </a:p>
        </p:txBody>
      </p:sp>
      <p:sp>
        <p:nvSpPr>
          <p:cNvPr id="844" name="Google Shape;844;p10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15600" cy="27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Takes the class itself implicitly as ‘cls’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Belongs to the class, not the instance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access class variables and other class methods but NOT instance variables</a:t>
            </a:r>
            <a:endParaRPr/>
          </a:p>
        </p:txBody>
      </p:sp>
      <p:pic>
        <p:nvPicPr>
          <p:cNvPr id="845" name="Google Shape;84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925" y="1965125"/>
            <a:ext cx="2729799" cy="20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3960" y="4113975"/>
            <a:ext cx="3629739" cy="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SOLID app structure</a:t>
            </a:r>
            <a:endParaRPr/>
          </a:p>
        </p:txBody>
      </p:sp>
      <p:sp>
        <p:nvSpPr>
          <p:cNvPr id="852" name="Google Shape;852;p109"/>
          <p:cNvSpPr txBox="1"/>
          <p:nvPr/>
        </p:nvSpPr>
        <p:spPr>
          <a:xfrm>
            <a:off x="4202225" y="2171550"/>
            <a:ext cx="42690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Notebooks and unit tests should live separately from source code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Tests should mirror src layout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Each package should have its own ‘__init__.py’ file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pyproject.toml &amp; poetry.lock will be autogenerated from our poetry commands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3" name="Google Shape;85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424" y="1914157"/>
            <a:ext cx="2238050" cy="291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1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Interpreters with pyenv-win</a:t>
            </a:r>
            <a:endParaRPr/>
          </a:p>
        </p:txBody>
      </p:sp>
      <p:sp>
        <p:nvSpPr>
          <p:cNvPr id="859" name="Google Shape;859;p11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https://github.com/pyenv-win/pyenv-win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Install:</a:t>
            </a:r>
            <a:br>
              <a:rPr lang="en"/>
            </a:br>
            <a:r>
              <a:rPr lang="en" sz="1000">
                <a:solidFill>
                  <a:srgbClr val="6CB6FF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Invoke-WebRequest</a:t>
            </a:r>
            <a:r>
              <a:rPr lang="en" sz="1000">
                <a:solidFill>
                  <a:srgbClr val="D1D7E0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F47067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D1D7E0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UseBasicParsing </a:t>
            </a:r>
            <a:r>
              <a:rPr lang="en" sz="1000">
                <a:solidFill>
                  <a:srgbClr val="F47067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D1D7E0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Uri </a:t>
            </a:r>
            <a:r>
              <a:rPr lang="en" sz="1000">
                <a:solidFill>
                  <a:srgbClr val="96D0FF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"https://raw.githubusercontent.com/pyenv-win/pyenv-win/master/pyenv-win/install-pyenv-win.ps1"</a:t>
            </a:r>
            <a:r>
              <a:rPr lang="en" sz="1000">
                <a:solidFill>
                  <a:srgbClr val="D1D7E0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F47067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D1D7E0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OutFile </a:t>
            </a:r>
            <a:r>
              <a:rPr lang="en" sz="1000">
                <a:solidFill>
                  <a:srgbClr val="96D0FF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"./install-pyenv-win.ps1"</a:t>
            </a:r>
            <a:r>
              <a:rPr lang="en" sz="1000">
                <a:solidFill>
                  <a:srgbClr val="D1D7E0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F47067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1000">
                <a:solidFill>
                  <a:srgbClr val="96D0FF"/>
                </a:solidFill>
                <a:highlight>
                  <a:srgbClr val="262C36"/>
                </a:highlight>
                <a:latin typeface="Courier New"/>
                <a:ea typeface="Courier New"/>
                <a:cs typeface="Courier New"/>
                <a:sym typeface="Courier New"/>
              </a:rPr>
              <a:t>"./install-pyenv-win.ps1</a:t>
            </a:r>
            <a:endParaRPr sz="1000">
              <a:solidFill>
                <a:srgbClr val="96D0FF"/>
              </a:solidFill>
              <a:highlight>
                <a:srgbClr val="262C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" sz="10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pyenv --version</a:t>
            </a: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to check if the installation was successful.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" sz="10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pyenv install -l</a:t>
            </a: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to check a list of Python versions supported by pyenv-win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" sz="10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pyenv install &lt;version&gt;</a:t>
            </a: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to install the supported version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" sz="10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pyenv global &lt;version&gt;</a:t>
            </a: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to set a Python version as the global version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000">
              <a:solidFill>
                <a:srgbClr val="96D0FF"/>
              </a:solidFill>
              <a:highlight>
                <a:srgbClr val="262C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Poetry</a:t>
            </a:r>
            <a:endParaRPr/>
          </a:p>
        </p:txBody>
      </p:sp>
      <p:sp>
        <p:nvSpPr>
          <p:cNvPr id="865" name="Google Shape;865;p111"/>
          <p:cNvSpPr txBox="1">
            <a:spLocks noGrp="1"/>
          </p:cNvSpPr>
          <p:nvPr>
            <p:ph type="body" idx="1"/>
          </p:nvPr>
        </p:nvSpPr>
        <p:spPr>
          <a:xfrm>
            <a:off x="6336675" y="1811900"/>
            <a:ext cx="26070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official installer (curl)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 virtual environments to install in project folder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Install deps and dev deps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install/lock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your app</a:t>
            </a:r>
            <a:endParaRPr/>
          </a:p>
        </p:txBody>
      </p:sp>
      <p:pic>
        <p:nvPicPr>
          <p:cNvPr id="866" name="Google Shape;866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85525"/>
            <a:ext cx="2051475" cy="2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75" y="3800050"/>
            <a:ext cx="6124781" cy="2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54413"/>
            <a:ext cx="4643625" cy="2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525" y="2977238"/>
            <a:ext cx="2075220" cy="2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1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475" y="4216800"/>
            <a:ext cx="1695441" cy="2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1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0468" y="4633550"/>
            <a:ext cx="3206503" cy="2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1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0475" y="1749097"/>
            <a:ext cx="6124775" cy="338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11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2388" y="3388650"/>
            <a:ext cx="1873463" cy="2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2"/>
          <p:cNvSpPr txBox="1">
            <a:spLocks noGrp="1"/>
          </p:cNvSpPr>
          <p:nvPr>
            <p:ph type="title"/>
          </p:nvPr>
        </p:nvSpPr>
        <p:spPr>
          <a:xfrm>
            <a:off x="1458450" y="3548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Pause Here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(We build a REPL app with SOLID principles)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Code-along suggested; too much for slides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3138</Words>
  <Application>Microsoft Office PowerPoint</Application>
  <PresentationFormat>On-screen Show (16:9)</PresentationFormat>
  <Paragraphs>455</Paragraphs>
  <Slides>103</Slides>
  <Notes>100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8" baseType="lpstr">
      <vt:lpstr>Roboto</vt:lpstr>
      <vt:lpstr>Arial</vt:lpstr>
      <vt:lpstr>Roboto Mono</vt:lpstr>
      <vt:lpstr>Courier New</vt:lpstr>
      <vt:lpstr>Material</vt:lpstr>
      <vt:lpstr>Python</vt:lpstr>
      <vt:lpstr>Required Software</vt:lpstr>
      <vt:lpstr>VSCode Settings/Plugins</vt:lpstr>
      <vt:lpstr>What is Python?</vt:lpstr>
      <vt:lpstr>Under the Hood</vt:lpstr>
      <vt:lpstr>Installing Python</vt:lpstr>
      <vt:lpstr>(Windows) Py vs python vs pymanager commands</vt:lpstr>
      <vt:lpstr>Python Environments</vt:lpstr>
      <vt:lpstr>Python Environments, py, &amp; Interactive Mode</vt:lpstr>
      <vt:lpstr>venv</vt:lpstr>
      <vt:lpstr>pip &amp; Jupyter setup</vt:lpstr>
      <vt:lpstr>Challenge</vt:lpstr>
      <vt:lpstr>Strings, Print, Input, &amp; Comments</vt:lpstr>
      <vt:lpstr>Variables &amp; len()</vt:lpstr>
      <vt:lpstr>More on variables &amp; Case Conventions</vt:lpstr>
      <vt:lpstr>Variables Continued</vt:lpstr>
      <vt:lpstr>Challenge</vt:lpstr>
      <vt:lpstr>Functions &amp; Variable Scope</vt:lpstr>
      <vt:lpstr>Built-In Scope &amp; Enclosing (nonlocal) Scope</vt:lpstr>
      <vt:lpstr>Functions take in and return data</vt:lpstr>
      <vt:lpstr>Creating Placeholder Functions</vt:lpstr>
      <vt:lpstr>Challenge</vt:lpstr>
      <vt:lpstr>More on naming conventions…</vt:lpstr>
      <vt:lpstr>PowerPoint Presentation</vt:lpstr>
      <vt:lpstr>Setting Each Type</vt:lpstr>
      <vt:lpstr>Type Hinting</vt:lpstr>
      <vt:lpstr>Type Conversion - Casting</vt:lpstr>
      <vt:lpstr>Control Flow</vt:lpstr>
      <vt:lpstr>Match</vt:lpstr>
      <vt:lpstr>While Loops</vt:lpstr>
      <vt:lpstr>For Loops</vt:lpstr>
      <vt:lpstr>Boolean Behavior &amp; If Statements</vt:lpstr>
      <vt:lpstr>Boolean Falsy Values</vt:lpstr>
      <vt:lpstr>Arithmetic Operators</vt:lpstr>
      <vt:lpstr>Assignment Operators</vt:lpstr>
      <vt:lpstr>Comparison Operator</vt:lpstr>
      <vt:lpstr>Logical Operators</vt:lpstr>
      <vt:lpstr>Identity Operators</vt:lpstr>
      <vt:lpstr>Membership Operators</vt:lpstr>
      <vt:lpstr>Operator Precedence</vt:lpstr>
      <vt:lpstr>Challenge</vt:lpstr>
      <vt:lpstr>Quoteception, escape characters, &amp; Multi-Line Strings</vt:lpstr>
      <vt:lpstr>Check the contents of a string</vt:lpstr>
      <vt:lpstr>Slicing Strings</vt:lpstr>
      <vt:lpstr>Other String Methods</vt:lpstr>
      <vt:lpstr>F-Strings</vt:lpstr>
      <vt:lpstr>R-Strings</vt:lpstr>
      <vt:lpstr>String Method Reference</vt:lpstr>
      <vt:lpstr>Challenge</vt:lpstr>
      <vt:lpstr>Collections</vt:lpstr>
      <vt:lpstr>Immutable vs Mutable Types</vt:lpstr>
      <vt:lpstr>Lists</vt:lpstr>
      <vt:lpstr>More List Syntax</vt:lpstr>
      <vt:lpstr>Modifying Lists</vt:lpstr>
      <vt:lpstr>Modifying Lists</vt:lpstr>
      <vt:lpstr>Iterating over lists</vt:lpstr>
      <vt:lpstr>List Comprehension</vt:lpstr>
      <vt:lpstr>List Comprehension</vt:lpstr>
      <vt:lpstr>Sort Lists</vt:lpstr>
      <vt:lpstr>Case Insensitive Sort</vt:lpstr>
      <vt:lpstr>Custom Sort</vt:lpstr>
      <vt:lpstr>Lambdas</vt:lpstr>
      <vt:lpstr>Challenge</vt:lpstr>
      <vt:lpstr>Reversing a list</vt:lpstr>
      <vt:lpstr>Other list methods</vt:lpstr>
      <vt:lpstr>Modules &amp; Docstrings</vt:lpstr>
      <vt:lpstr>Random Numbers</vt:lpstr>
      <vt:lpstr>Challenge</vt:lpstr>
      <vt:lpstr>Tuples</vt:lpstr>
      <vt:lpstr>Tuples</vt:lpstr>
      <vt:lpstr>Unpacking Tuples</vt:lpstr>
      <vt:lpstr>Count unique items &amp; get the index of an item</vt:lpstr>
      <vt:lpstr>Challenge</vt:lpstr>
      <vt:lpstr>Sets</vt:lpstr>
      <vt:lpstr>Set Access</vt:lpstr>
      <vt:lpstr>Add/Remove Set Items</vt:lpstr>
      <vt:lpstr>More on Sets</vt:lpstr>
      <vt:lpstr>Challenge</vt:lpstr>
      <vt:lpstr>Dictionaries</vt:lpstr>
      <vt:lpstr>Dictionaries</vt:lpstr>
      <vt:lpstr>Dictionaries</vt:lpstr>
      <vt:lpstr>Looping Dictionaries</vt:lpstr>
      <vt:lpstr>Challenge</vt:lpstr>
      <vt:lpstr>What is Procedural Programming? What is OOP?</vt:lpstr>
      <vt:lpstr>PowerPoint Presentation</vt:lpstr>
      <vt:lpstr>Classes</vt:lpstr>
      <vt:lpstr>__init__ - totally not a constructor</vt:lpstr>
      <vt:lpstr>Objects are very flexible in Python</vt:lpstr>
      <vt:lpstr>__str__</vt:lpstr>
      <vt:lpstr>Inheritance</vt:lpstr>
      <vt:lpstr>Inheritance</vt:lpstr>
      <vt:lpstr>Function Polymorphism</vt:lpstr>
      <vt:lpstr>Class Polymorphism</vt:lpstr>
      <vt:lpstr>Encapsulation</vt:lpstr>
      <vt:lpstr>Abstraction</vt:lpstr>
      <vt:lpstr>Abstract Properties</vt:lpstr>
      <vt:lpstr>Or just use a Protocol</vt:lpstr>
      <vt:lpstr>@staticmethod</vt:lpstr>
      <vt:lpstr>@classmethod</vt:lpstr>
      <vt:lpstr>SOLID app structure</vt:lpstr>
      <vt:lpstr>Manage Interpreters with pyenv-win</vt:lpstr>
      <vt:lpstr>Poetry</vt:lpstr>
      <vt:lpstr>Pause Here (We build a REPL app with SOLID principles)  Code-along suggested; too much for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2</cp:revision>
  <dcterms:modified xsi:type="dcterms:W3CDTF">2026-10-23T16:57:14Z</dcterms:modified>
</cp:coreProperties>
</file>