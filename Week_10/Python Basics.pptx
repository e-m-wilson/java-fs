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6"/>
  </p:notesMasterIdLst>
  <p:sldIdLst>
    <p:sldId id="256" r:id="rId2"/>
    <p:sldId id="257" r:id="rId3"/>
    <p:sldId id="258" r:id="rId4"/>
    <p:sldId id="259" r:id="rId5"/>
    <p:sldId id="260" r:id="rId6"/>
    <p:sldId id="356" r:id="rId7"/>
    <p:sldId id="357" r:id="rId8"/>
    <p:sldId id="358" r:id="rId9"/>
    <p:sldId id="261" r:id="rId10"/>
    <p:sldId id="262" r:id="rId11"/>
    <p:sldId id="263" r:id="rId12"/>
    <p:sldId id="359" r:id="rId13"/>
    <p:sldId id="360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61" r:id="rId103"/>
    <p:sldId id="363" r:id="rId104"/>
    <p:sldId id="364" r:id="rId105"/>
    <p:sldId id="365" r:id="rId106"/>
    <p:sldId id="362" r:id="rId107"/>
    <p:sldId id="366" r:id="rId108"/>
    <p:sldId id="368" r:id="rId109"/>
    <p:sldId id="369" r:id="rId110"/>
    <p:sldId id="370" r:id="rId111"/>
    <p:sldId id="355" r:id="rId112"/>
    <p:sldId id="352" r:id="rId113"/>
    <p:sldId id="353" r:id="rId114"/>
    <p:sldId id="354" r:id="rId115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17"/>
      <p:bold r:id="rId118"/>
      <p:italic r:id="rId119"/>
      <p:boldItalic r:id="rId120"/>
    </p:embeddedFont>
    <p:embeddedFont>
      <p:font typeface="Roboto" panose="02000000000000000000" pitchFamily="2" charset="0"/>
      <p:regular r:id="rId121"/>
      <p:bold r:id="rId122"/>
    </p:embeddedFont>
    <p:embeddedFont>
      <p:font typeface="Roboto Mono" panose="00000009000000000000" pitchFamily="49" charset="0"/>
      <p:regular r:id="rId123"/>
      <p:bold r:id="rId124"/>
      <p:italic r:id="rId125"/>
      <p:boldItalic r:id="rId1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EA3C10-9940-41B0-BF8D-5C8F6974F883}">
  <a:tblStyle styleId="{BCEA3C10-9940-41B0-BF8D-5C8F6974F8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88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font" Target="fonts/font1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7.fntdata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font" Target="fonts/font2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8.fntdata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font" Target="fonts/font3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4.fntdata"/><Relationship Id="rId125" Type="http://schemas.openxmlformats.org/officeDocument/2006/relationships/font" Target="fonts/font9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5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9199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9199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9199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9199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c6f91993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c6f91993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90951741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90951741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90951741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90951741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90951741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90951741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62d7c206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962d7c206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90951741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90951741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dbf586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b93dbf586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7038acd2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7038acd2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7038acd2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7038acd2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72cd79c11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72cd79c11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72cd79c1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72cd79c1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93dbf5868_2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93dbf5868_2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72cd79c11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72cd79c11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962d7c206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962d7c206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72cd79c11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72cd79c11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72cd79c11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72cd79c11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962d7c20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962d7c20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8c23204a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8c23204a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c6f91993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c6f91993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b7038acd2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b7038acd2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90951741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b90951741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b72cd79c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b72cd79c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b962d7c206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b962d7c206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b962d7c206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b962d7c206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b962d7c206_1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b962d7c206_1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b962d7c206_1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b962d7c206_1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858363c2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b858363c2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b858363c2c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b858363c2c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858363c2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858363c2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b858363c2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b858363c2c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b858363c2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b858363c2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b858363c2c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b858363c2c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b858363c2c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b858363c2c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858363c2c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b858363c2c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b858363c2c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b858363c2c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b962d7c206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b962d7c206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b72cd79c11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b72cd79c11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b72cd79c11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b72cd79c11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b72cd79c11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b72cd79c11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b72cd79c11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b72cd79c11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b72cd79c11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b72cd79c11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b90951741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3b90951741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b858363c2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b858363c2c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b962d7c206_1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b962d7c206_1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b858363c2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b858363c2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858363c2c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3b858363c2c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b858363c2c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b858363c2c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b858363c2c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b858363c2c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b858363c2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b858363c2c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b858363c2c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b858363c2c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b8c23204a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3b8c23204a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b8c23204ae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b8c23204ae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b8c23204a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b8c23204a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b962d7c206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b962d7c206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b962d7c206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b962d7c206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b962d7c206_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b962d7c206_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b962d7c206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b962d7c206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b962d7c206_1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b962d7c206_1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b962d7c206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b962d7c206_1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b962d7c206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b962d7c206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b962d7c206_1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b962d7c206_1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b72cd79c11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3b72cd79c11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b962d7c206_1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b962d7c206_1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b962d7c20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3b962d7c20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b962d7c206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b962d7c206_1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b962d7c206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3b962d7c206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b962d7c206_1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3b962d7c206_1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b962d7c206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g3b962d7c206_1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b962d7c206_1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b962d7c206_1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b962d7c206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3b962d7c206_1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b962d7c206_1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b962d7c206_1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b962d7c20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3b962d7c20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b962d7c206_1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b962d7c206_1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b962d7c206_1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b962d7c206_1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b962d7c206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b962d7c206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b962d7c206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b962d7c206_1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3b962d7c206_1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3b962d7c206_1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b962d7c206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b962d7c206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3b962d7c206_1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3b962d7c206_1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bc975ba0a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bc975ba0a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b962d7c206_1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3b962d7c206_1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b962d7c206_1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b962d7c206_1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b962d7c206_1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8" name="Google Shape;748;g3b962d7c206_1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b962d7c206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b962d7c206_1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3b962d7c206_1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3b962d7c206_1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b962d7c206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b962d7c206_1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b962d7c206_1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b962d7c206_1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3b962d7c206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3b962d7c206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962d7c206_1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962d7c206_1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3b962d7c206_1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3b962d7c206_1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b962d7c206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b962d7c206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g3ba27321d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8" name="Google Shape;828;g3ba27321d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b962d7c206_1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b962d7c206_1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b962d7c206_1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3b962d7c206_1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bb42db1e0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6" name="Google Shape;876;g3bb42db1e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ba27321df2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9" name="Google Shape;849;g3ba27321df2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g3bcb44e280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6" name="Google Shape;856;g3bcb44e280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g3bb42db1e05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2" name="Google Shape;862;g3bb42db1e05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4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9.png"/><Relationship Id="rId4" Type="http://schemas.openxmlformats.org/officeDocument/2006/relationships/image" Target="../media/image12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lists_methods.asp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4" Type="http://schemas.openxmlformats.org/officeDocument/2006/relationships/image" Target="../media/image15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sets_join.asp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w3schools.com/python/python_sets_methods.asp" TargetMode="External"/><Relationship Id="rId4" Type="http://schemas.openxmlformats.org/officeDocument/2006/relationships/hyperlink" Target="https://www.w3schools.com/python/python_frozenset.asp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3" Type="http://schemas.openxmlformats.org/officeDocument/2006/relationships/image" Target="../media/image156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9.png"/><Relationship Id="rId5" Type="http://schemas.openxmlformats.org/officeDocument/2006/relationships/image" Target="../media/image158.png"/><Relationship Id="rId4" Type="http://schemas.openxmlformats.org/officeDocument/2006/relationships/image" Target="../media/image157.png"/><Relationship Id="rId9" Type="http://schemas.openxmlformats.org/officeDocument/2006/relationships/image" Target="../media/image16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6.png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9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7.png"/><Relationship Id="rId5" Type="http://schemas.openxmlformats.org/officeDocument/2006/relationships/image" Target="../media/image176.png"/><Relationship Id="rId4" Type="http://schemas.openxmlformats.org/officeDocument/2006/relationships/image" Target="../media/image17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9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6.gif"/><Relationship Id="rId5" Type="http://schemas.openxmlformats.org/officeDocument/2006/relationships/image" Target="../media/image185.gif"/><Relationship Id="rId4" Type="http://schemas.openxmlformats.org/officeDocument/2006/relationships/image" Target="../media/image184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7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9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4" Type="http://schemas.openxmlformats.org/officeDocument/2006/relationships/image" Target="../media/image19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4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6.png"/><Relationship Id="rId4" Type="http://schemas.openxmlformats.org/officeDocument/2006/relationships/image" Target="../media/image195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7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6.gif"/><Relationship Id="rId5" Type="http://schemas.openxmlformats.org/officeDocument/2006/relationships/image" Target="../media/image185.gif"/><Relationship Id="rId4" Type="http://schemas.openxmlformats.org/officeDocument/2006/relationships/image" Target="../media/image19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9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2.png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5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env-win/pyenv-win" TargetMode="Externa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3" Type="http://schemas.openxmlformats.org/officeDocument/2006/relationships/image" Target="../media/image210.png"/><Relationship Id="rId7" Type="http://schemas.openxmlformats.org/officeDocument/2006/relationships/image" Target="../media/image214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3.png"/><Relationship Id="rId5" Type="http://schemas.openxmlformats.org/officeDocument/2006/relationships/image" Target="../media/image212.png"/><Relationship Id="rId10" Type="http://schemas.openxmlformats.org/officeDocument/2006/relationships/image" Target="../media/image217.png"/><Relationship Id="rId4" Type="http://schemas.openxmlformats.org/officeDocument/2006/relationships/image" Target="../media/image211.png"/><Relationship Id="rId9" Type="http://schemas.openxmlformats.org/officeDocument/2006/relationships/image" Target="../media/image2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Python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240400" y="0"/>
            <a:ext cx="4045200" cy="170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Required Software</a:t>
            </a:r>
            <a:endParaRPr dirty="0"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Python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PyCharm OR VSCode</a:t>
            </a:r>
            <a:endParaRPr dirty="0"/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874" y="1638825"/>
            <a:ext cx="2198050" cy="186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6775" y="2123375"/>
            <a:ext cx="3042500" cy="61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8260" y="3090773"/>
            <a:ext cx="2983575" cy="158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>
            <a:spLocks noGrp="1"/>
          </p:cNvSpPr>
          <p:nvPr>
            <p:ph type="title"/>
          </p:nvPr>
        </p:nvSpPr>
        <p:spPr>
          <a:xfrm>
            <a:off x="460950" y="4502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VSCode Settings/Plugins</a:t>
            </a: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359000" y="1688625"/>
            <a:ext cx="4100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Python + Pylance - language support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Jupyter - visualization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Black Formatter - follow consistent standard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Isort - organize imports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flake8/pylint/ruff - linting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Python test explorer - unit test support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Live Share - collaborative editing</a:t>
            </a:r>
            <a:endParaRPr dirty="0"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000" y="1801500"/>
            <a:ext cx="33432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1000" y="3829450"/>
            <a:ext cx="3343275" cy="10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Python?</a:t>
            </a:r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Interpreted language - code is executed line by line, no compilation step needed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High-level language - abstracts away low-level memory management, hardware details, garbage collection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Dynamically typed - variables do not require type declarations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Cross-platform - runs on windows, macOS, linux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Object-oriented - supports classes, objects, inheritance, etc.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Indentation-based – no code blocks with braces like other languages; code blocks are indented and begin with colons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 the Hood</a:t>
            </a:r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Python code (.py files) are compiled into bytecode (NOT machine code) by CPython 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bytecode is then interpreted and executed by the Python Virtual Machine (PVM) inside CPython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69005-D9ED-A55F-2DBC-EF446F060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6BDBF-049A-F23E-2660-3D7429929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298" y="1919075"/>
            <a:ext cx="3502325" cy="2710200"/>
          </a:xfrm>
        </p:spPr>
        <p:txBody>
          <a:bodyPr/>
          <a:lstStyle/>
          <a:p>
            <a:r>
              <a:rPr lang="en-US" sz="1400" dirty="0"/>
              <a:t>Python.org – has a handy chart to determine which python version you’d likely want your app to support </a:t>
            </a:r>
          </a:p>
          <a:p>
            <a:r>
              <a:rPr lang="en-US" sz="1400" dirty="0"/>
              <a:t>Regardless of your desired version, on Windows, just install via the ‘Python Install Manager’ </a:t>
            </a:r>
          </a:p>
          <a:p>
            <a:pPr lvl="1"/>
            <a:r>
              <a:rPr lang="en-US" dirty="0"/>
              <a:t>We can set the desired runtime of our projects separately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6240C-C211-0227-30BC-8490F5924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23" y="2320505"/>
            <a:ext cx="4929967" cy="215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36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3FCE-4E1F-603E-A5C4-F376924B0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00" y="215900"/>
            <a:ext cx="8222100" cy="1290525"/>
          </a:xfrm>
        </p:spPr>
        <p:txBody>
          <a:bodyPr/>
          <a:lstStyle/>
          <a:p>
            <a:r>
              <a:rPr lang="en-US" dirty="0"/>
              <a:t>(Windows) Py vs python vs </a:t>
            </a:r>
            <a:r>
              <a:rPr lang="en-US" dirty="0" err="1"/>
              <a:t>pymanager</a:t>
            </a:r>
            <a:r>
              <a:rPr lang="en-US" dirty="0"/>
              <a:t>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CDC28-4300-3E3E-C653-20ED2802F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950" y="1772425"/>
            <a:ext cx="8222100" cy="300852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1600" dirty="0"/>
              <a:t>Python – everyday use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Runs the default interpreter unless a virtual environment or script configuration selects another one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Python --version, python app.py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Py – version selection and management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Use it to select a particular interpreter, list installations, and install or uninstall runtimes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Py list, </a:t>
            </a:r>
            <a:r>
              <a:rPr lang="en-US" sz="1600" dirty="0" err="1"/>
              <a:t>py</a:t>
            </a:r>
            <a:r>
              <a:rPr lang="en-US" sz="1600" dirty="0"/>
              <a:t> -3.12 app.py</a:t>
            </a:r>
          </a:p>
          <a:p>
            <a:pPr>
              <a:lnSpc>
                <a:spcPct val="100000"/>
              </a:lnSpc>
            </a:pPr>
            <a:r>
              <a:rPr lang="en-US" sz="1600" dirty="0" err="1"/>
              <a:t>Pymanager</a:t>
            </a:r>
            <a:r>
              <a:rPr lang="en-US" sz="1600" dirty="0"/>
              <a:t> – unambiguous management command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This invokes the new manager even if the </a:t>
            </a:r>
            <a:r>
              <a:rPr lang="en-US" sz="1600" dirty="0" err="1"/>
              <a:t>py</a:t>
            </a:r>
            <a:r>
              <a:rPr lang="en-US" sz="1600" dirty="0"/>
              <a:t> command conflicts with an older launcher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 err="1"/>
              <a:t>Pymanager</a:t>
            </a:r>
            <a:r>
              <a:rPr lang="en-US" sz="1600" dirty="0"/>
              <a:t> list, </a:t>
            </a:r>
            <a:r>
              <a:rPr lang="en-US" sz="1600" dirty="0" err="1"/>
              <a:t>pymanager</a:t>
            </a:r>
            <a:r>
              <a:rPr lang="en-US" sz="1600" dirty="0"/>
              <a:t> install 3.14</a:t>
            </a:r>
          </a:p>
        </p:txBody>
      </p:sp>
    </p:spTree>
    <p:extLst>
      <p:ext uri="{BB962C8B-B14F-4D97-AF65-F5344CB8AC3E}">
        <p14:creationId xmlns:p14="http://schemas.microsoft.com/office/powerpoint/2010/main" val="4811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ACA74-71B4-29A6-B51F-27E313AA1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Environments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ECBC40-DF89-A998-FB1E-9B8617F6F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828800"/>
            <a:ext cx="8222100" cy="2800475"/>
          </a:xfrm>
        </p:spPr>
        <p:txBody>
          <a:bodyPr/>
          <a:lstStyle/>
          <a:p>
            <a:pPr lvl="0"/>
            <a:r>
              <a:rPr lang="en-US" sz="1200" b="1" dirty="0"/>
              <a:t>Default Python Interpreter:</a:t>
            </a:r>
            <a:r>
              <a:rPr lang="en-US" sz="1200" dirty="0"/>
              <a:t> When Python is installed, it comes with a default interpreter on the system that can execute Python code. This is typically accessed using commands like python or python3.</a:t>
            </a:r>
          </a:p>
          <a:p>
            <a:pPr lvl="0"/>
            <a:r>
              <a:rPr lang="en-US" sz="1200" b="1" dirty="0"/>
              <a:t>System-Wide Packages:</a:t>
            </a:r>
            <a:r>
              <a:rPr lang="en-US" sz="1200" dirty="0"/>
              <a:t> Packages installed into the default Python environment may be available to multiple projects that use that interpreter.</a:t>
            </a:r>
          </a:p>
          <a:p>
            <a:pPr lvl="0"/>
            <a:r>
              <a:rPr lang="en-US" sz="1200" b="1" dirty="0"/>
              <a:t>The Problem with Shared Environments:</a:t>
            </a:r>
            <a:r>
              <a:rPr lang="en-US" sz="1200" dirty="0"/>
              <a:t> Different projects may require different versions of the same package, which can cause dependency conflicts if everything is installed into one environment.</a:t>
            </a:r>
          </a:p>
          <a:p>
            <a:pPr lvl="0"/>
            <a:r>
              <a:rPr lang="en-US" sz="1200" b="1" dirty="0"/>
              <a:t>Virtual Environments (</a:t>
            </a:r>
            <a:r>
              <a:rPr lang="en-US" sz="1200" dirty="0" err="1"/>
              <a:t>venv</a:t>
            </a:r>
            <a:r>
              <a:rPr lang="en-US" sz="1200" b="1" dirty="0"/>
              <a:t>):</a:t>
            </a:r>
            <a:r>
              <a:rPr lang="en-US" sz="1200" dirty="0"/>
              <a:t> Python provides a built-in </a:t>
            </a:r>
            <a:r>
              <a:rPr lang="en-US" sz="1200" dirty="0" err="1"/>
              <a:t>venv</a:t>
            </a:r>
            <a:r>
              <a:rPr lang="en-US" sz="1200" dirty="0"/>
              <a:t> module that allows us to create isolated environments for individual projects.</a:t>
            </a:r>
          </a:p>
          <a:p>
            <a:pPr lvl="0"/>
            <a:r>
              <a:rPr lang="en-US" sz="1200" b="1" dirty="0"/>
              <a:t>Separate Dependencies:</a:t>
            </a:r>
            <a:r>
              <a:rPr lang="en-US" sz="1200" dirty="0"/>
              <a:t> Each virtual environment can have its own installed packages and versions, so changes in one project do not affect another project's dependencies.</a:t>
            </a:r>
          </a:p>
          <a:p>
            <a:pPr lvl="0"/>
            <a:r>
              <a:rPr lang="en-US" sz="1200" b="1" dirty="0"/>
              <a:t>Same Python, Isolated Environment:</a:t>
            </a:r>
            <a:r>
              <a:rPr lang="en-US" sz="1200" dirty="0"/>
              <a:t> A virtual environment is typically created using an existing Python interpreter, but it maintains its own package installation directory and environment configuration.</a:t>
            </a:r>
          </a:p>
          <a:p>
            <a:pPr lvl="0"/>
            <a:r>
              <a:rPr lang="en-US" sz="1200" b="1" dirty="0"/>
              <a:t>Easy to Reproduce Projects:</a:t>
            </a:r>
            <a:r>
              <a:rPr lang="en-US" sz="1200" dirty="0"/>
              <a:t> By recording dependencies in a requirements.txt file or a lock file, we can recreate a project's environment on another machine.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28953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>
            <a:spLocks noGrp="1"/>
          </p:cNvSpPr>
          <p:nvPr>
            <p:ph type="title"/>
          </p:nvPr>
        </p:nvSpPr>
        <p:spPr>
          <a:xfrm>
            <a:off x="460950" y="516900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Environments, py, &amp; Interactive Mode</a:t>
            </a:r>
            <a:endParaRPr/>
          </a:p>
        </p:txBody>
      </p:sp>
      <p:pic>
        <p:nvPicPr>
          <p:cNvPr id="103" name="Google Shape;10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587" y="2041737"/>
            <a:ext cx="35528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0" y="3217975"/>
            <a:ext cx="8343900" cy="16573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82E867-6FC5-B43D-5223-546663661416}"/>
              </a:ext>
            </a:extLst>
          </p:cNvPr>
          <p:cNvSpPr txBox="1"/>
          <p:nvPr/>
        </p:nvSpPr>
        <p:spPr>
          <a:xfrm>
            <a:off x="1672006" y="2682664"/>
            <a:ext cx="5799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 commands work best in </a:t>
            </a:r>
            <a:r>
              <a:rPr lang="en-US" dirty="0" err="1"/>
              <a:t>powershell</a:t>
            </a:r>
            <a:r>
              <a:rPr lang="en-US" dirty="0"/>
              <a:t>, this is a Windows exclusive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venv</a:t>
            </a:r>
            <a:endParaRPr/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4523" y="2127938"/>
            <a:ext cx="53149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7945" y="4010488"/>
            <a:ext cx="6688105" cy="43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9"/>
          <p:cNvSpPr txBox="1"/>
          <p:nvPr/>
        </p:nvSpPr>
        <p:spPr>
          <a:xfrm>
            <a:off x="760015" y="1713465"/>
            <a:ext cx="7623967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Create a virtual environment for our python app (with the default version):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571247" y="3545888"/>
            <a:ext cx="600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Make sure to activate, and then check for pip updates: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1483500" y="4357050"/>
            <a:ext cx="6177000" cy="49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accent3"/>
                </a:solidFill>
              </a:rPr>
              <a:t>Some may need to allow scripts to run these commands:</a:t>
            </a:r>
            <a:endParaRPr>
              <a:solidFill>
                <a:schemeClr val="accent3"/>
              </a:solidFill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50" y="4851050"/>
            <a:ext cx="82296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3;p19">
            <a:extLst>
              <a:ext uri="{FF2B5EF4-FFF2-40B4-BE49-F238E27FC236}">
                <a16:creationId xmlns:a16="http://schemas.microsoft.com/office/drawing/2014/main" id="{EDA84CE5-49FC-09D4-EF01-7F63159EA928}"/>
              </a:ext>
            </a:extLst>
          </p:cNvPr>
          <p:cNvSpPr txBox="1"/>
          <p:nvPr/>
        </p:nvSpPr>
        <p:spPr>
          <a:xfrm>
            <a:off x="770966" y="2441696"/>
            <a:ext cx="7623967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Create a virtual environment for our python app (with a selected version):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D4348-74BF-8031-1452-B4786BC507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3239" y="2810148"/>
            <a:ext cx="4839419" cy="815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&amp; Jupyter setup</a:t>
            </a:r>
            <a:endParaRPr/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61713"/>
            <a:ext cx="8839200" cy="21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6350" y="2630123"/>
            <a:ext cx="23526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6863" y="3380025"/>
            <a:ext cx="8512164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47850" y="3875950"/>
            <a:ext cx="54483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0"/>
          <p:cNvSpPr txBox="1"/>
          <p:nvPr/>
        </p:nvSpPr>
        <p:spPr>
          <a:xfrm>
            <a:off x="834750" y="2547913"/>
            <a:ext cx="6688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Packages may also be installed via text file on each new line: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Here we connect our venv to serve as the kernel for jupyter: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1713750" y="1800025"/>
            <a:ext cx="5738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install packages with pip (‘pip installs packages):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9B6EA-F8BE-3819-448A-14378EEC6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Requirements.txt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26B8B0-A753-1365-F718-65081159F864}"/>
              </a:ext>
            </a:extLst>
          </p:cNvPr>
          <p:cNvGraphicFramePr>
            <a:graphicFrameLocks noGrp="1"/>
          </p:cNvGraphicFramePr>
          <p:nvPr/>
        </p:nvGraphicFramePr>
        <p:xfrm>
          <a:off x="471488" y="2136299"/>
          <a:ext cx="8223249" cy="2275840"/>
        </p:xfrm>
        <a:graphic>
          <a:graphicData uri="http://schemas.openxmlformats.org/drawingml/2006/table">
            <a:tbl>
              <a:tblPr>
                <a:tableStyleId>{BCEA3C10-9940-41B0-BF8D-5C8F6974F883}</a:tableStyleId>
              </a:tblPr>
              <a:tblGrid>
                <a:gridCol w="2741083">
                  <a:extLst>
                    <a:ext uri="{9D8B030D-6E8A-4147-A177-3AD203B41FA5}">
                      <a16:colId xmlns:a16="http://schemas.microsoft.com/office/drawing/2014/main" val="1198339021"/>
                    </a:ext>
                  </a:extLst>
                </a:gridCol>
                <a:gridCol w="2741083">
                  <a:extLst>
                    <a:ext uri="{9D8B030D-6E8A-4147-A177-3AD203B41FA5}">
                      <a16:colId xmlns:a16="http://schemas.microsoft.com/office/drawing/2014/main" val="180638068"/>
                    </a:ext>
                  </a:extLst>
                </a:gridCol>
                <a:gridCol w="2741083">
                  <a:extLst>
                    <a:ext uri="{9D8B030D-6E8A-4147-A177-3AD203B41FA5}">
                      <a16:colId xmlns:a16="http://schemas.microsoft.com/office/drawing/2014/main" val="39396168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Operator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Example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Meaning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726038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==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numpy==2.5.4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Exactly version 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94032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&gt;=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numpy&gt;=2.5.0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Version 2.5.0 or newer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2934143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&lt;=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numpy&lt;=2.5.4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Version 2.5.4 or older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905302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&gt;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numpy&gt;2.5.0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Newer than 2.5.0, excluding it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327153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&lt;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numpy&lt;3.0.0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Anything older than 3.0.0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729772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!=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numpy!=2.5.4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Any version except 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260992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~=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numpy~=2.5.0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 dirty="0">
                          <a:effectLst/>
                        </a:rPr>
                        <a:t>Compatible release: &gt;=2.5.0, ==2.5.*</a:t>
                      </a:r>
                      <a:endParaRPr lang="en-US" sz="1200" b="0" i="0" spc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902771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5733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3094E-8ADE-018A-092C-A279DFA5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Requirements.txt vs lock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75E20-9D2A-CB68-34F0-DEED64407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950" y="2281976"/>
            <a:ext cx="8222100" cy="2710200"/>
          </a:xfrm>
        </p:spPr>
        <p:txBody>
          <a:bodyPr/>
          <a:lstStyle/>
          <a:p>
            <a:r>
              <a:rPr lang="en-US" dirty="0"/>
              <a:t>Hardcoded dependencies won’t automatically resolve and perfectly reproduce versions for transitive dependencies</a:t>
            </a:r>
          </a:p>
          <a:p>
            <a:r>
              <a:rPr lang="en-US" dirty="0"/>
              <a:t>For this reason, using a build tool like Poetry or </a:t>
            </a:r>
            <a:r>
              <a:rPr lang="en-US" dirty="0" err="1"/>
              <a:t>uv</a:t>
            </a:r>
            <a:r>
              <a:rPr lang="en-US" dirty="0"/>
              <a:t> is useful! </a:t>
            </a:r>
          </a:p>
          <a:p>
            <a:pPr lvl="1"/>
            <a:r>
              <a:rPr lang="en-US" dirty="0"/>
              <a:t>These tools can produce a lock file that can ensure 100% reproducibility of all direct dependencies and their transitive dependencies  </a:t>
            </a:r>
          </a:p>
        </p:txBody>
      </p:sp>
    </p:spTree>
    <p:extLst>
      <p:ext uri="{BB962C8B-B14F-4D97-AF65-F5344CB8AC3E}">
        <p14:creationId xmlns:p14="http://schemas.microsoft.com/office/powerpoint/2010/main" val="4185705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Create a Jupyter notebook for learning</a:t>
            </a:r>
            <a:endParaRPr sz="1400" dirty="0"/>
          </a:p>
        </p:txBody>
      </p:sp>
      <p:sp>
        <p:nvSpPr>
          <p:cNvPr id="134" name="Google Shape;134;p21"/>
          <p:cNvSpPr txBox="1">
            <a:spLocks noGrp="1"/>
          </p:cNvSpPr>
          <p:nvPr>
            <p:ph type="body" idx="1"/>
          </p:nvPr>
        </p:nvSpPr>
        <p:spPr>
          <a:xfrm>
            <a:off x="4722900" y="1919074"/>
            <a:ext cx="3971100" cy="2911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	~10 min</a:t>
            </a:r>
            <a:endParaRPr b="1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Create a project folder </a:t>
            </a:r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Initialize a venv inside the project folder</a:t>
            </a:r>
            <a:endParaRPr sz="1400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Install the following packages to the venv: jupyter, ipykernel, numpy, pandas, matplotlib</a:t>
            </a:r>
            <a:endParaRPr sz="1400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Associate the venv with jupyter and launch your notebook</a:t>
            </a:r>
            <a:endParaRPr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Strings, Print, Input, &amp; Comments</a:t>
            </a:r>
            <a:endParaRPr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488" y="2634450"/>
            <a:ext cx="9034925" cy="96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1332750" y="3900950"/>
            <a:ext cx="6478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Strings are valid with both single and double quotes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start a new line with the escape character ‘\’ + ‘n’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&amp; len()</a:t>
            </a:r>
            <a:endParaRPr/>
          </a:p>
        </p:txBody>
      </p:sp>
      <p:pic>
        <p:nvPicPr>
          <p:cNvPr id="147" name="Google Shape;14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372" y="2361250"/>
            <a:ext cx="7105250" cy="11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825" y="3964350"/>
            <a:ext cx="5312475" cy="9452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/>
        </p:nvSpPr>
        <p:spPr>
          <a:xfrm>
            <a:off x="3010375" y="3512100"/>
            <a:ext cx="37254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Python is case-sensitive: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3"/>
          <p:cNvSpPr txBox="1"/>
          <p:nvPr/>
        </p:nvSpPr>
        <p:spPr>
          <a:xfrm>
            <a:off x="2676513" y="1769525"/>
            <a:ext cx="392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Variables are dynamically typed: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variables &amp; Case Conventions</a:t>
            </a: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Must start with a letter or underscore character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Only alphanumeric symbols and underscores are valid: (A-z, 0-9, and _ )</a:t>
            </a:r>
            <a:endParaRPr/>
          </a:p>
          <a:p>
            <a:pPr marL="45720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Camel Case (rarely used convention in Python):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Pascal Case (used for Python class names):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Snake Case (most common in Python; used for almost everything not a class):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my_variable_name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Kebab Case (never or rarely used in python)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My-variable-name = ‘John’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Continued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5757325" y="1919075"/>
            <a:ext cx="29367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assign multiple variables at once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also assign them the same value</a:t>
            </a:r>
            <a:endParaRPr/>
          </a:p>
        </p:txBody>
      </p:sp>
      <p:pic>
        <p:nvPicPr>
          <p:cNvPr id="163" name="Google Shape;16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25" y="2093675"/>
            <a:ext cx="4642225" cy="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5150" y="2811525"/>
            <a:ext cx="3971550" cy="52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Ask a user for their info and print it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Tip: Use the title() method to format names:</a:t>
            </a:r>
            <a:endParaRPr sz="1400"/>
          </a:p>
        </p:txBody>
      </p:sp>
      <p:sp>
        <p:nvSpPr>
          <p:cNvPr id="171" name="Google Shape;171;p26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	~10 min</a:t>
            </a:r>
            <a:endParaRPr b="1"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800" y="3676850"/>
            <a:ext cx="2400436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&amp; Variable Scope</a:t>
            </a:r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body" idx="1"/>
          </p:nvPr>
        </p:nvSpPr>
        <p:spPr>
          <a:xfrm>
            <a:off x="87750" y="1856375"/>
            <a:ext cx="8968500" cy="8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are defined with the ‘def’ keyword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outside of functions have Global scope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inside functions have Local scope, unless the global keyword is used</a:t>
            </a:r>
            <a:endParaRPr/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450" y="3121900"/>
            <a:ext cx="6538751" cy="183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7151" y="3121888"/>
            <a:ext cx="1466850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 &amp; Enclosing (nonlocal) Scope</a:t>
            </a:r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238100" y="2013025"/>
            <a:ext cx="4266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OOB methods/keywords provided by Python: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len()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print()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str()</a:t>
            </a:r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"/>
          </p:nvPr>
        </p:nvSpPr>
        <p:spPr>
          <a:xfrm>
            <a:off x="4572000" y="2013025"/>
            <a:ext cx="2519700" cy="275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Enclosing Scope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Inner functions have access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Can’t override unless we use nonlocal keyword</a:t>
            </a:r>
            <a:endParaRPr/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650" y="2229475"/>
            <a:ext cx="1588575" cy="259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take in and return data</a:t>
            </a:r>
            <a:endParaRPr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0275" y="2032199"/>
            <a:ext cx="5705375" cy="238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Placeholder Functions</a:t>
            </a:r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128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can’t be empty, but we can create placeholder functions using the ‘pass’ keyword!</a:t>
            </a:r>
            <a:endParaRPr/>
          </a:p>
        </p:txBody>
      </p:sp>
      <p:pic>
        <p:nvPicPr>
          <p:cNvPr id="201" name="Google Shape;20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709725"/>
            <a:ext cx="2758175" cy="82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207" name="Google Shape;207;p3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Refactor previous challenge</a:t>
            </a:r>
            <a:endParaRPr sz="1400"/>
          </a:p>
        </p:txBody>
      </p:sp>
      <p:sp>
        <p:nvSpPr>
          <p:cNvPr id="208" name="Google Shape;208;p31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	~10 min</a:t>
            </a:r>
            <a:endParaRPr b="1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In a function:</a:t>
            </a:r>
            <a:endParaRPr sz="1400"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naming conventions…</a:t>
            </a:r>
            <a:endParaRPr/>
          </a:p>
        </p:txBody>
      </p:sp>
      <p:graphicFrame>
        <p:nvGraphicFramePr>
          <p:cNvPr id="214" name="Google Shape;214;p32"/>
          <p:cNvGraphicFramePr/>
          <p:nvPr/>
        </p:nvGraphicFramePr>
        <p:xfrm>
          <a:off x="819150" y="1809650"/>
          <a:ext cx="7505700" cy="3254475"/>
        </p:xfrm>
        <a:graphic>
          <a:graphicData uri="http://schemas.openxmlformats.org/drawingml/2006/table">
            <a:tbl>
              <a:tblPr>
                <a:noFill/>
                <a:tableStyleId>{BCEA3C10-9940-41B0-BF8D-5C8F6974F883}</a:tableStyleId>
              </a:tblPr>
              <a:tblGrid>
                <a:gridCol w="2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1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Item</a:t>
                      </a:r>
                      <a:endParaRPr sz="13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Convention</a:t>
                      </a:r>
                      <a:endParaRPr sz="13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Example</a:t>
                      </a:r>
                      <a:endParaRPr sz="13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Variable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user_name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Function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get_user()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Constant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UPPER_SNAKE_CASE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MAX_SIZE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Class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PascalCase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UserService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Method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save()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Attribute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created_at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Protected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_cache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Private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__state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Module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email_utils.py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Package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data_access/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>
            <a:spLocks noGrp="1"/>
          </p:cNvSpPr>
          <p:nvPr>
            <p:ph type="body" idx="2"/>
          </p:nvPr>
        </p:nvSpPr>
        <p:spPr>
          <a:xfrm>
            <a:off x="4939500" y="38225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Data Types</a:t>
            </a:r>
            <a:endParaRPr sz="32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str = string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int = integer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float = decimals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bool = boolean true/false 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None = NoneType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(These are examples of </a:t>
            </a:r>
            <a:r>
              <a:rPr lang="en" sz="1600">
                <a:solidFill>
                  <a:schemeClr val="accent6"/>
                </a:solidFill>
              </a:rPr>
              <a:t>Primitive </a:t>
            </a:r>
            <a:r>
              <a:rPr lang="en" sz="1600"/>
              <a:t>data types, there are many more)</a:t>
            </a:r>
            <a:endParaRPr sz="1600"/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026" y="4241475"/>
            <a:ext cx="120967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3675" y="308138"/>
            <a:ext cx="1957396" cy="45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title"/>
          </p:nvPr>
        </p:nvSpPr>
        <p:spPr>
          <a:xfrm>
            <a:off x="183425" y="500400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Each Type</a:t>
            </a:r>
            <a:endParaRPr/>
          </a:p>
        </p:txBody>
      </p:sp>
      <p:pic>
        <p:nvPicPr>
          <p:cNvPr id="227" name="Google Shape;22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5800" y="194425"/>
            <a:ext cx="5059074" cy="475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813" y="3351400"/>
            <a:ext cx="2270925" cy="1233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4"/>
          <p:cNvSpPr txBox="1"/>
          <p:nvPr/>
        </p:nvSpPr>
        <p:spPr>
          <a:xfrm>
            <a:off x="332825" y="2169975"/>
            <a:ext cx="30789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You can also use constructor functions to define the type explicitly: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Hinting</a:t>
            </a:r>
            <a:endParaRPr/>
          </a:p>
        </p:txBody>
      </p:sp>
      <p:sp>
        <p:nvSpPr>
          <p:cNvPr id="235" name="Google Shape;235;p35"/>
          <p:cNvSpPr txBox="1">
            <a:spLocks noGrp="1"/>
          </p:cNvSpPr>
          <p:nvPr>
            <p:ph type="body" idx="1"/>
          </p:nvPr>
        </p:nvSpPr>
        <p:spPr>
          <a:xfrm>
            <a:off x="636525" y="2465238"/>
            <a:ext cx="4264800" cy="14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Type hinting does NOT enforce the type at runtime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It’s for: linters (mypy, pyright), IDEs, readability</a:t>
            </a:r>
            <a:endParaRPr/>
          </a:p>
        </p:txBody>
      </p:sp>
      <p:pic>
        <p:nvPicPr>
          <p:cNvPr id="236" name="Google Shape;23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0563" y="1842313"/>
            <a:ext cx="173355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2425" y="2940850"/>
            <a:ext cx="24098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11875" y="3572650"/>
            <a:ext cx="1990950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31050" y="4167150"/>
            <a:ext cx="1752600" cy="2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Conversion - Casting</a:t>
            </a:r>
            <a:endParaRPr/>
          </a:p>
        </p:txBody>
      </p:sp>
      <p:sp>
        <p:nvSpPr>
          <p:cNvPr id="245" name="Google Shape;245;p36"/>
          <p:cNvSpPr txBox="1">
            <a:spLocks noGrp="1"/>
          </p:cNvSpPr>
          <p:nvPr>
            <p:ph type="body" idx="1"/>
          </p:nvPr>
        </p:nvSpPr>
        <p:spPr>
          <a:xfrm>
            <a:off x="471900" y="2445900"/>
            <a:ext cx="3554400" cy="19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If you convert a float to an int, data loss can occur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cannot convert complex numbers into another datatype</a:t>
            </a:r>
            <a:endParaRPr/>
          </a:p>
        </p:txBody>
      </p:sp>
      <p:pic>
        <p:nvPicPr>
          <p:cNvPr id="246" name="Google Shape;24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9275" y="1905000"/>
            <a:ext cx="4200525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48538" y="3829900"/>
            <a:ext cx="3762000" cy="63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</a:t>
            </a:r>
            <a:endParaRPr/>
          </a:p>
        </p:txBody>
      </p:sp>
      <p:pic>
        <p:nvPicPr>
          <p:cNvPr id="253" name="Google Shape;2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6500" y="2170975"/>
            <a:ext cx="2214075" cy="80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6800" y="1845875"/>
            <a:ext cx="2481350" cy="175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5305" y="3940275"/>
            <a:ext cx="4299119" cy="76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Match</a:t>
            </a:r>
            <a:endParaRPr/>
          </a:p>
        </p:txBody>
      </p:sp>
      <p:sp>
        <p:nvSpPr>
          <p:cNvPr id="261" name="Google Shape;261;p3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3843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‘_’ will always match, so place it at the end!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match multiple conditions at once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optionally include an if condition as an extra condition check</a:t>
            </a:r>
            <a:endParaRPr/>
          </a:p>
        </p:txBody>
      </p:sp>
      <p:pic>
        <p:nvPicPr>
          <p:cNvPr id="262" name="Google Shape;26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6275" y="1883562"/>
            <a:ext cx="2688375" cy="1376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9149" y="3283025"/>
            <a:ext cx="2688375" cy="16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While Loops</a:t>
            </a:r>
            <a:endParaRPr/>
          </a:p>
        </p:txBody>
      </p:sp>
      <p:pic>
        <p:nvPicPr>
          <p:cNvPr id="269" name="Google Shape;26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2290050"/>
            <a:ext cx="161925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35825" y="2356725"/>
            <a:ext cx="1628775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08450" y="2413887"/>
            <a:ext cx="3696100" cy="16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9"/>
          <p:cNvSpPr txBox="1"/>
          <p:nvPr/>
        </p:nvSpPr>
        <p:spPr>
          <a:xfrm>
            <a:off x="2283875" y="1788900"/>
            <a:ext cx="479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What is the output of the following: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Loops</a:t>
            </a:r>
            <a:endParaRPr/>
          </a:p>
        </p:txBody>
      </p:sp>
      <p:sp>
        <p:nvSpPr>
          <p:cNvPr id="278" name="Google Shape;278;p4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226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for loops to iterate over lists, tuples, dictionaries, sets, or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 loops may be nested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Break/Continue is available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range() to iterate a certain number of times, or by a sequence</a:t>
            </a:r>
            <a:endParaRPr/>
          </a:p>
        </p:txBody>
      </p:sp>
      <p:pic>
        <p:nvPicPr>
          <p:cNvPr id="279" name="Google Shape;279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6925" y="1896184"/>
            <a:ext cx="3103800" cy="1351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74425" y="3466400"/>
            <a:ext cx="1428800" cy="49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37763" y="4109375"/>
            <a:ext cx="1902137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Behavior &amp; If Statements</a:t>
            </a:r>
            <a:endParaRPr/>
          </a:p>
        </p:txBody>
      </p:sp>
      <p:pic>
        <p:nvPicPr>
          <p:cNvPr id="287" name="Google Shape;2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1513" y="2071700"/>
            <a:ext cx="3400000" cy="18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8063" y="4194325"/>
            <a:ext cx="1666875" cy="52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41"/>
          <p:cNvSpPr txBox="1"/>
          <p:nvPr/>
        </p:nvSpPr>
        <p:spPr>
          <a:xfrm>
            <a:off x="4572000" y="2414600"/>
            <a:ext cx="44292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Logical evaluations will return a boolean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If statements use evaluations to route logic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The bool() constructor will make an evaluation of whatever is passed to it (The example returns ‘true’ for both)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Falsy Values</a:t>
            </a:r>
            <a:endParaRPr/>
          </a:p>
        </p:txBody>
      </p:sp>
      <p:sp>
        <p:nvSpPr>
          <p:cNvPr id="295" name="Google Shape;295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print(bool(False))   # bool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print(bool(None))    # NoneType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print(bool(0))       # int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print(bool(""))      # str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print(bool(()))      # tuple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print(bool([]))      # list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print(bool({}))      # dict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</a:t>
            </a:r>
            <a:endParaRPr/>
          </a:p>
        </p:txBody>
      </p:sp>
      <p:pic>
        <p:nvPicPr>
          <p:cNvPr id="301" name="Google Shape;30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150" y="1773125"/>
            <a:ext cx="582930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3"/>
          <p:cNvSpPr txBox="1"/>
          <p:nvPr/>
        </p:nvSpPr>
        <p:spPr>
          <a:xfrm>
            <a:off x="6657975" y="3018163"/>
            <a:ext cx="2200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 = returns float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// = returns integer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Operators</a:t>
            </a:r>
            <a:endParaRPr/>
          </a:p>
        </p:txBody>
      </p:sp>
      <p:pic>
        <p:nvPicPr>
          <p:cNvPr id="308" name="Google Shape;3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075" y="1897350"/>
            <a:ext cx="4186100" cy="281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4425" y="2302161"/>
            <a:ext cx="4639626" cy="173242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4"/>
          <p:cNvSpPr txBox="1"/>
          <p:nvPr/>
        </p:nvSpPr>
        <p:spPr>
          <a:xfrm flipH="1">
            <a:off x="4572000" y="4034575"/>
            <a:ext cx="4357500" cy="10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“:=” = python 3 walrus operator. It can accept an evaluation!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Operator</a:t>
            </a:r>
            <a:endParaRPr/>
          </a:p>
        </p:txBody>
      </p:sp>
      <p:pic>
        <p:nvPicPr>
          <p:cNvPr id="316" name="Google Shape;31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1987425"/>
            <a:ext cx="5810250" cy="280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875" y="2019300"/>
            <a:ext cx="1962150" cy="11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45"/>
          <p:cNvSpPr txBox="1"/>
          <p:nvPr/>
        </p:nvSpPr>
        <p:spPr>
          <a:xfrm>
            <a:off x="6572250" y="3557600"/>
            <a:ext cx="2400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may chain them!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Operators</a:t>
            </a:r>
            <a:endParaRPr/>
          </a:p>
        </p:txBody>
      </p:sp>
      <p:pic>
        <p:nvPicPr>
          <p:cNvPr id="324" name="Google Shape;32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3013" y="2173175"/>
            <a:ext cx="6657975" cy="191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Identity Operators</a:t>
            </a:r>
            <a:endParaRPr/>
          </a:p>
        </p:txBody>
      </p:sp>
      <p:pic>
        <p:nvPicPr>
          <p:cNvPr id="330" name="Google Shape;33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00" y="1873125"/>
            <a:ext cx="5857875" cy="154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95675" y="3782875"/>
            <a:ext cx="1098892" cy="90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76813" y="3965500"/>
            <a:ext cx="561975" cy="5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Membership Operators</a:t>
            </a:r>
            <a:endParaRPr/>
          </a:p>
        </p:txBody>
      </p:sp>
      <p:pic>
        <p:nvPicPr>
          <p:cNvPr id="338" name="Google Shape;33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5438" y="1723113"/>
            <a:ext cx="5915025" cy="176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4950" y="3607900"/>
            <a:ext cx="3067050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4475" y="4396075"/>
            <a:ext cx="30480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0" y="3701938"/>
            <a:ext cx="1847850" cy="111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Precedence</a:t>
            </a:r>
            <a:endParaRPr/>
          </a:p>
        </p:txBody>
      </p:sp>
      <p:sp>
        <p:nvSpPr>
          <p:cNvPr id="347" name="Google Shape;347;p49"/>
          <p:cNvSpPr txBox="1">
            <a:spLocks noGrp="1"/>
          </p:cNvSpPr>
          <p:nvPr>
            <p:ph type="body" idx="1"/>
          </p:nvPr>
        </p:nvSpPr>
        <p:spPr>
          <a:xfrm>
            <a:off x="1357525" y="3004588"/>
            <a:ext cx="3457200" cy="46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Remember PEMDAS?</a:t>
            </a:r>
            <a:endParaRPr/>
          </a:p>
        </p:txBody>
      </p:sp>
      <p:pic>
        <p:nvPicPr>
          <p:cNvPr id="348" name="Google Shape;34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5175" y="1830875"/>
            <a:ext cx="2882225" cy="3157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Challenge</a:t>
            </a:r>
            <a:endParaRPr dirty="0"/>
          </a:p>
        </p:txBody>
      </p:sp>
      <p:sp>
        <p:nvSpPr>
          <p:cNvPr id="354" name="Google Shape;354;p5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PyCharm challenges</a:t>
            </a:r>
            <a:endParaRPr sz="1400" dirty="0"/>
          </a:p>
        </p:txBody>
      </p:sp>
      <p:sp>
        <p:nvSpPr>
          <p:cNvPr id="355" name="Google Shape;355;p50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			~45-60 min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Complete the following in the 100 Days of Code PyCharm course: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1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2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3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Quoteception, escape characters, &amp; Multi-Line Strings</a:t>
            </a:r>
            <a:endParaRPr/>
          </a:p>
        </p:txBody>
      </p:sp>
      <p:pic>
        <p:nvPicPr>
          <p:cNvPr id="361" name="Google Shape;36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450" y="2988413"/>
            <a:ext cx="2924175" cy="107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0800" y="2983638"/>
            <a:ext cx="2962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62325" y="1824650"/>
            <a:ext cx="241935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5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52675" y="2414588"/>
            <a:ext cx="4438650" cy="3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the contents of a string</a:t>
            </a:r>
            <a:endParaRPr/>
          </a:p>
        </p:txBody>
      </p:sp>
      <p:pic>
        <p:nvPicPr>
          <p:cNvPr id="370" name="Google Shape;37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1775" y="2084650"/>
            <a:ext cx="33623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4650" y="3186763"/>
            <a:ext cx="331470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8600" y="2608538"/>
            <a:ext cx="75680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28600" y="3765009"/>
            <a:ext cx="756800" cy="336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Slicing Strings</a:t>
            </a:r>
            <a:endParaRPr/>
          </a:p>
        </p:txBody>
      </p:sp>
      <p:sp>
        <p:nvSpPr>
          <p:cNvPr id="379" name="Google Shape;379;p53"/>
          <p:cNvSpPr txBox="1">
            <a:spLocks noGrp="1"/>
          </p:cNvSpPr>
          <p:nvPr>
            <p:ph type="body" idx="1"/>
          </p:nvPr>
        </p:nvSpPr>
        <p:spPr>
          <a:xfrm>
            <a:off x="551825" y="3086650"/>
            <a:ext cx="17607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‘llo’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2 inclusive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5 exclusive</a:t>
            </a:r>
            <a:endParaRPr/>
          </a:p>
        </p:txBody>
      </p:sp>
      <p:pic>
        <p:nvPicPr>
          <p:cNvPr id="380" name="Google Shape;38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600" y="2423950"/>
            <a:ext cx="1581150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71425" y="2428713"/>
            <a:ext cx="161925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47600" y="3526100"/>
            <a:ext cx="1666875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53"/>
          <p:cNvSpPr txBox="1">
            <a:spLocks noGrp="1"/>
          </p:cNvSpPr>
          <p:nvPr>
            <p:ph type="body" idx="1"/>
          </p:nvPr>
        </p:nvSpPr>
        <p:spPr>
          <a:xfrm>
            <a:off x="5207250" y="2428725"/>
            <a:ext cx="36105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Slice from the start: ‘Hello’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Or from the end: ‘llo, World!’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String Methods</a:t>
            </a:r>
            <a:endParaRPr/>
          </a:p>
        </p:txBody>
      </p:sp>
      <p:sp>
        <p:nvSpPr>
          <p:cNvPr id="389" name="Google Shape;389;p54"/>
          <p:cNvSpPr txBox="1">
            <a:spLocks noGrp="1"/>
          </p:cNvSpPr>
          <p:nvPr>
            <p:ph type="body" idx="1"/>
          </p:nvPr>
        </p:nvSpPr>
        <p:spPr>
          <a:xfrm>
            <a:off x="4435550" y="1981775"/>
            <a:ext cx="43197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Force upper/lower case text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whitespace at the beginning/end of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every piece of matching text content with another string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Return a list of split strings</a:t>
            </a:r>
            <a:endParaRPr/>
          </a:p>
        </p:txBody>
      </p:sp>
      <p:pic>
        <p:nvPicPr>
          <p:cNvPr id="390" name="Google Shape;390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213" y="2042125"/>
            <a:ext cx="16383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4800" y="2571750"/>
            <a:ext cx="15811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0400" y="3035025"/>
            <a:ext cx="3409950" cy="4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12050" y="3539075"/>
            <a:ext cx="1926627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5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0450" y="4029375"/>
            <a:ext cx="3529813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F-Strings</a:t>
            </a:r>
            <a:endParaRPr/>
          </a:p>
        </p:txBody>
      </p:sp>
      <p:sp>
        <p:nvSpPr>
          <p:cNvPr id="400" name="Google Shape;400;p5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5295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Formatted String literals were introduced in Python 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Dynamically assign values in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 evaluations &amp; format data</a:t>
            </a:r>
            <a:endParaRPr/>
          </a:p>
        </p:txBody>
      </p:sp>
      <p:pic>
        <p:nvPicPr>
          <p:cNvPr id="401" name="Google Shape;401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768575"/>
            <a:ext cx="2933700" cy="86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0575" y="2698050"/>
            <a:ext cx="2876550" cy="6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76738" y="3408450"/>
            <a:ext cx="3324225" cy="67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76750" y="4219700"/>
            <a:ext cx="3124200" cy="4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R-Strings</a:t>
            </a:r>
            <a:endParaRPr/>
          </a:p>
        </p:txBody>
      </p:sp>
      <p:sp>
        <p:nvSpPr>
          <p:cNvPr id="410" name="Google Shape;410;p56"/>
          <p:cNvSpPr txBox="1">
            <a:spLocks noGrp="1"/>
          </p:cNvSpPr>
          <p:nvPr>
            <p:ph type="body" idx="1"/>
          </p:nvPr>
        </p:nvSpPr>
        <p:spPr>
          <a:xfrm>
            <a:off x="1953750" y="2087850"/>
            <a:ext cx="5258400" cy="4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Raw strings will force the string to behave literally:</a:t>
            </a:r>
            <a:endParaRPr/>
          </a:p>
        </p:txBody>
      </p:sp>
      <p:pic>
        <p:nvPicPr>
          <p:cNvPr id="411" name="Google Shape;41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4125" y="2878850"/>
            <a:ext cx="4095750" cy="81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Method Reference</a:t>
            </a:r>
            <a:endParaRPr/>
          </a:p>
        </p:txBody>
      </p:sp>
      <p:sp>
        <p:nvSpPr>
          <p:cNvPr id="417" name="Google Shape;417;p57"/>
          <p:cNvSpPr txBox="1"/>
          <p:nvPr/>
        </p:nvSpPr>
        <p:spPr>
          <a:xfrm>
            <a:off x="3082950" y="4587525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https://www.w3schools.com/python/python_strings_methods.asp</a:t>
            </a:r>
            <a:endParaRPr/>
          </a:p>
        </p:txBody>
      </p:sp>
      <p:pic>
        <p:nvPicPr>
          <p:cNvPr id="418" name="Google Shape;41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25" y="1832639"/>
            <a:ext cx="3873975" cy="265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5000" y="1904462"/>
            <a:ext cx="2306075" cy="250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5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5850" y="1904450"/>
            <a:ext cx="2538125" cy="23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5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Format a string value</a:t>
            </a:r>
            <a:endParaRPr sz="1400" dirty="0"/>
          </a:p>
        </p:txBody>
      </p:sp>
      <p:sp>
        <p:nvSpPr>
          <p:cNvPr id="427" name="Google Shape;427;p58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~25 min</a:t>
            </a:r>
            <a:endParaRPr b="1" dirty="0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/>
              <a:t>Given the username: </a:t>
            </a:r>
            <a:endParaRPr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‘raw_username = "  Py_Thon-ROCKS123!!!  "</a:t>
            </a:r>
            <a:endParaRPr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Do the following: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Remove whitespace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Convert to all lowercase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Replace all ‘-’ with ‘_’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Remove all ‘!’ 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Check at least once digit is present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Check it contains the word ‘python’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Create a variable that stores only the first 8 characters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Print a formatted string (f-string) that displays: the cleaned username, whether it contains a digit, whether it contains ‘python’, &amp; the first 8 characters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Collections</a:t>
            </a:r>
            <a:endParaRPr/>
          </a:p>
        </p:txBody>
      </p:sp>
      <p:sp>
        <p:nvSpPr>
          <p:cNvPr id="433" name="Google Shape;433;p59"/>
          <p:cNvSpPr txBox="1">
            <a:spLocks noGrp="1"/>
          </p:cNvSpPr>
          <p:nvPr>
            <p:ph type="body" idx="1"/>
          </p:nvPr>
        </p:nvSpPr>
        <p:spPr>
          <a:xfrm>
            <a:off x="671925" y="1981575"/>
            <a:ext cx="3300000" cy="23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Lists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Ordered/indexed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Changeable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Tuples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Unchangeable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</p:txBody>
      </p:sp>
      <p:sp>
        <p:nvSpPr>
          <p:cNvPr id="434" name="Google Shape;434;p59"/>
          <p:cNvSpPr txBox="1"/>
          <p:nvPr/>
        </p:nvSpPr>
        <p:spPr>
          <a:xfrm>
            <a:off x="4457675" y="1981575"/>
            <a:ext cx="3300000" cy="26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Sets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Unindexed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Dictionaries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No duplicates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vs Mutable Types</a:t>
            </a:r>
            <a:endParaRPr/>
          </a:p>
        </p:txBody>
      </p:sp>
      <p:sp>
        <p:nvSpPr>
          <p:cNvPr id="440" name="Google Shape;440;p6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3143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Non-collection types are also called immutable, because a new space is reserved in memory for each new declaration.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Collections are mutable because we may add and remove to the existing object in memory.</a:t>
            </a:r>
            <a:endParaRPr/>
          </a:p>
        </p:txBody>
      </p:sp>
      <p:pic>
        <p:nvPicPr>
          <p:cNvPr id="441" name="Google Shape;44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4625" y="1919075"/>
            <a:ext cx="3238500" cy="120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1950" y="3314650"/>
            <a:ext cx="3003847" cy="16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6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Lists</a:t>
            </a:r>
            <a:endParaRPr/>
          </a:p>
        </p:txBody>
      </p:sp>
      <p:pic>
        <p:nvPicPr>
          <p:cNvPr id="448" name="Google Shape;44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9625" y="2001725"/>
            <a:ext cx="3181350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49" name="Google Shape;449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9638" y="2571750"/>
            <a:ext cx="2962275" cy="6572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50" name="Google Shape;450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875" y="3351325"/>
            <a:ext cx="2971800" cy="304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51" name="Google Shape;451;p61"/>
          <p:cNvSpPr txBox="1"/>
          <p:nvPr/>
        </p:nvSpPr>
        <p:spPr>
          <a:xfrm>
            <a:off x="4014800" y="2488375"/>
            <a:ext cx="44718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easily get the length of a list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be ANY datatype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contain mixed datatypes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Retrieve items from positive/negative indices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2" name="Google Shape;452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90650" y="4506775"/>
            <a:ext cx="63627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4875" y="3864488"/>
            <a:ext cx="2837202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List Syntax</a:t>
            </a:r>
            <a:endParaRPr/>
          </a:p>
        </p:txBody>
      </p:sp>
      <p:sp>
        <p:nvSpPr>
          <p:cNvPr id="459" name="Google Shape;459;p62"/>
          <p:cNvSpPr txBox="1">
            <a:spLocks noGrp="1"/>
          </p:cNvSpPr>
          <p:nvPr>
            <p:ph type="body" idx="1"/>
          </p:nvPr>
        </p:nvSpPr>
        <p:spPr>
          <a:xfrm>
            <a:off x="5500700" y="1966925"/>
            <a:ext cx="3536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the beginning to a defined stop point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a defined start point till the end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Check if items are in a list</a:t>
            </a:r>
            <a:endParaRPr/>
          </a:p>
        </p:txBody>
      </p:sp>
      <p:pic>
        <p:nvPicPr>
          <p:cNvPr id="460" name="Google Shape;46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52650"/>
            <a:ext cx="5110672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920884"/>
            <a:ext cx="5110675" cy="394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579879"/>
            <a:ext cx="5110675" cy="378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6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692" y="4157475"/>
            <a:ext cx="3536100" cy="68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6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69" name="Google Shape;469;p63"/>
          <p:cNvSpPr txBox="1">
            <a:spLocks noGrp="1"/>
          </p:cNvSpPr>
          <p:nvPr>
            <p:ph type="body" idx="1"/>
          </p:nvPr>
        </p:nvSpPr>
        <p:spPr>
          <a:xfrm>
            <a:off x="186250" y="2033375"/>
            <a:ext cx="45408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items in a list from its index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multiple new items into a list while replacing items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items without replacing anything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items to the end of a list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Concatenate a list and another list/set/dictionary</a:t>
            </a:r>
            <a:endParaRPr/>
          </a:p>
        </p:txBody>
      </p:sp>
      <p:pic>
        <p:nvPicPr>
          <p:cNvPr id="470" name="Google Shape;470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3650" y="1792200"/>
            <a:ext cx="32385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1" name="Google Shape;471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5525" y="2364875"/>
            <a:ext cx="3714750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2" name="Google Shape;472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8888" y="2889925"/>
            <a:ext cx="3248025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3" name="Google Shape;473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57950" y="3462600"/>
            <a:ext cx="3209925" cy="4381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4" name="Google Shape;474;p6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9650" y="3978138"/>
            <a:ext cx="3046515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5" name="Google Shape;475;p6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0175" y="4550813"/>
            <a:ext cx="2005438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6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81" name="Google Shape;481;p64"/>
          <p:cNvSpPr txBox="1">
            <a:spLocks noGrp="1"/>
          </p:cNvSpPr>
          <p:nvPr>
            <p:ph type="body" idx="1"/>
          </p:nvPr>
        </p:nvSpPr>
        <p:spPr>
          <a:xfrm>
            <a:off x="4371975" y="1919075"/>
            <a:ext cx="43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object by its identity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item by its index with pop(), or just the last item if nothing specified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del keyword can delete an item or the list itself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clear() method empties the list but the list still exists in memory</a:t>
            </a:r>
            <a:endParaRPr/>
          </a:p>
        </p:txBody>
      </p:sp>
      <p:pic>
        <p:nvPicPr>
          <p:cNvPr id="482" name="Google Shape;48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925" y="2158850"/>
            <a:ext cx="3219450" cy="4762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3" name="Google Shape;483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3350" y="2728875"/>
            <a:ext cx="3276600" cy="4667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4" name="Google Shape;484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6688" y="3289375"/>
            <a:ext cx="3209925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5" name="Google Shape;485;p6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2400" y="3960875"/>
            <a:ext cx="3238500" cy="4286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Iterating over lists</a:t>
            </a:r>
            <a:endParaRPr/>
          </a:p>
        </p:txBody>
      </p:sp>
      <p:sp>
        <p:nvSpPr>
          <p:cNvPr id="491" name="Google Shape;491;p6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2144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loops can iterate over lists</a:t>
            </a:r>
            <a:endParaRPr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loops can iterate over lists</a:t>
            </a:r>
            <a:endParaRPr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List Comprehension syntax is the shortest form to iterate over a list</a:t>
            </a:r>
            <a:endParaRPr/>
          </a:p>
        </p:txBody>
      </p:sp>
      <p:pic>
        <p:nvPicPr>
          <p:cNvPr id="492" name="Google Shape;49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6246" y="1833350"/>
            <a:ext cx="2929584" cy="623497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3" name="Google Shape;493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3328" y="2565102"/>
            <a:ext cx="2895419" cy="66620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4" name="Google Shape;494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1975" y="3339559"/>
            <a:ext cx="2938125" cy="1016386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5" name="Google Shape;495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1095" y="4464200"/>
            <a:ext cx="2739915" cy="3891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1" name="Google Shape;501;p6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86300" cy="11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new list of fruits that have ‘a’ in the name.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List comprehension is syntactic sugar that shortens/cleans up our code!</a:t>
            </a:r>
            <a:endParaRPr/>
          </a:p>
        </p:txBody>
      </p:sp>
      <p:pic>
        <p:nvPicPr>
          <p:cNvPr id="502" name="Google Shape;50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150" y="3306038"/>
            <a:ext cx="4019550" cy="154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3527225"/>
            <a:ext cx="437197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9" name="Google Shape;509;p67"/>
          <p:cNvSpPr txBox="1">
            <a:spLocks noGrp="1"/>
          </p:cNvSpPr>
          <p:nvPr>
            <p:ph type="body" idx="1"/>
          </p:nvPr>
        </p:nvSpPr>
        <p:spPr>
          <a:xfrm>
            <a:off x="471900" y="2417725"/>
            <a:ext cx="82221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 will return a new list, leaving the old one unchanged.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The expression is the current item in the iteration but also the outcome. We can modify the item before it stores in the new list:</a:t>
            </a:r>
            <a:endParaRPr/>
          </a:p>
        </p:txBody>
      </p:sp>
      <p:pic>
        <p:nvPicPr>
          <p:cNvPr id="510" name="Google Shape;51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9275" y="1909900"/>
            <a:ext cx="5467350" cy="342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11" name="Google Shape;511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8475" y="3795825"/>
            <a:ext cx="3028950" cy="2095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12" name="Google Shape;512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81225" y="4614975"/>
            <a:ext cx="4781550" cy="2667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13" name="Google Shape;513;p67"/>
          <p:cNvSpPr txBox="1"/>
          <p:nvPr/>
        </p:nvSpPr>
        <p:spPr>
          <a:xfrm>
            <a:off x="570300" y="4148175"/>
            <a:ext cx="8003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Return the item if it is NOT banana, if it IS banana then return orange.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 Lists</a:t>
            </a:r>
            <a:endParaRPr/>
          </a:p>
        </p:txBody>
      </p:sp>
      <p:sp>
        <p:nvSpPr>
          <p:cNvPr id="519" name="Google Shape;519;p68"/>
          <p:cNvSpPr txBox="1">
            <a:spLocks noGrp="1"/>
          </p:cNvSpPr>
          <p:nvPr>
            <p:ph type="body" idx="1"/>
          </p:nvPr>
        </p:nvSpPr>
        <p:spPr>
          <a:xfrm>
            <a:off x="471900" y="1761250"/>
            <a:ext cx="8222100" cy="3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Alphabetically/Numerically:</a:t>
            </a:r>
            <a:endParaRPr/>
          </a:p>
        </p:txBody>
      </p:sp>
      <p:pic>
        <p:nvPicPr>
          <p:cNvPr id="520" name="Google Shape;520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425" y="2285750"/>
            <a:ext cx="5667949" cy="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3950" y="2296275"/>
            <a:ext cx="2721450" cy="550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8750" y="3789925"/>
            <a:ext cx="5667950" cy="547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93950" y="3789925"/>
            <a:ext cx="2721450" cy="476759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68"/>
          <p:cNvSpPr txBox="1">
            <a:spLocks noGrp="1"/>
          </p:cNvSpPr>
          <p:nvPr>
            <p:ph type="body" idx="1"/>
          </p:nvPr>
        </p:nvSpPr>
        <p:spPr>
          <a:xfrm>
            <a:off x="471900" y="3275500"/>
            <a:ext cx="8222100" cy="3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descending: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Insensitive Sort</a:t>
            </a:r>
            <a:endParaRPr/>
          </a:p>
        </p:txBody>
      </p:sp>
      <p:sp>
        <p:nvSpPr>
          <p:cNvPr id="530" name="Google Shape;530;p69"/>
          <p:cNvSpPr txBox="1">
            <a:spLocks noGrp="1"/>
          </p:cNvSpPr>
          <p:nvPr>
            <p:ph type="body" idx="1"/>
          </p:nvPr>
        </p:nvSpPr>
        <p:spPr>
          <a:xfrm>
            <a:off x="460950" y="1798650"/>
            <a:ext cx="8222100" cy="3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gives unexpected results (sorts uppercase words first)</a:t>
            </a:r>
            <a:endParaRPr/>
          </a:p>
        </p:txBody>
      </p:sp>
      <p:pic>
        <p:nvPicPr>
          <p:cNvPr id="531" name="Google Shape;53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5888" y="2282275"/>
            <a:ext cx="4880875" cy="62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0200" y="3681050"/>
            <a:ext cx="5943600" cy="752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69"/>
          <p:cNvSpPr txBox="1">
            <a:spLocks noGrp="1"/>
          </p:cNvSpPr>
          <p:nvPr>
            <p:ph type="body" idx="1"/>
          </p:nvPr>
        </p:nvSpPr>
        <p:spPr>
          <a:xfrm>
            <a:off x="572425" y="2903800"/>
            <a:ext cx="8222100" cy="3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 all values to lowercase before your sort, thus making it case-insensitive (won’t permanently change the values):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7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 Sort</a:t>
            </a:r>
            <a:endParaRPr/>
          </a:p>
        </p:txBody>
      </p:sp>
      <p:sp>
        <p:nvSpPr>
          <p:cNvPr id="539" name="Google Shape;539;p7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86800" cy="29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Define a function to use as a sorting algorithm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first example will sort the list from least&gt;most words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have more than one key; The second example uses this to reverse the list</a:t>
            </a:r>
            <a:endParaRPr/>
          </a:p>
        </p:txBody>
      </p:sp>
      <p:pic>
        <p:nvPicPr>
          <p:cNvPr id="540" name="Google Shape;54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4275" y="1871025"/>
            <a:ext cx="3360075" cy="156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4213" y="3521925"/>
            <a:ext cx="3160200" cy="148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7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Lambdas</a:t>
            </a:r>
            <a:endParaRPr/>
          </a:p>
        </p:txBody>
      </p:sp>
      <p:sp>
        <p:nvSpPr>
          <p:cNvPr id="547" name="Google Shape;547;p71"/>
          <p:cNvSpPr txBox="1">
            <a:spLocks noGrp="1"/>
          </p:cNvSpPr>
          <p:nvPr>
            <p:ph type="body" idx="1"/>
          </p:nvPr>
        </p:nvSpPr>
        <p:spPr>
          <a:xfrm>
            <a:off x="512800" y="2515225"/>
            <a:ext cx="2250300" cy="18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Instead of creating a custom sort function, we could also use a lambda!</a:t>
            </a:r>
            <a:endParaRPr/>
          </a:p>
        </p:txBody>
      </p:sp>
      <p:pic>
        <p:nvPicPr>
          <p:cNvPr id="548" name="Google Shape;548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5575" y="1954725"/>
            <a:ext cx="1729225" cy="15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8500" y="4147225"/>
            <a:ext cx="4066300" cy="56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96400" y="2397550"/>
            <a:ext cx="2438400" cy="80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7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556" name="Google Shape;556;p7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Work with Lambdas</a:t>
            </a:r>
            <a:endParaRPr sz="1400"/>
          </a:p>
        </p:txBody>
      </p:sp>
      <p:sp>
        <p:nvSpPr>
          <p:cNvPr id="557" name="Google Shape;557;p7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~10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students list of tuples, do the following:</a:t>
            </a:r>
            <a:endParaRPr sz="11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Sort the list so that it goes from oldest&gt;youngest</a:t>
            </a:r>
            <a:endParaRPr sz="1100"/>
          </a:p>
        </p:txBody>
      </p:sp>
      <p:pic>
        <p:nvPicPr>
          <p:cNvPr id="558" name="Google Shape;558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0388" y="2826550"/>
            <a:ext cx="2162175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Reversing a list</a:t>
            </a:r>
            <a:endParaRPr/>
          </a:p>
        </p:txBody>
      </p:sp>
      <p:pic>
        <p:nvPicPr>
          <p:cNvPr id="564" name="Google Shape;56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7813" y="2028825"/>
            <a:ext cx="6010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25" y="3576850"/>
            <a:ext cx="49339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7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list methods</a:t>
            </a:r>
            <a:endParaRPr/>
          </a:p>
        </p:txBody>
      </p:sp>
      <p:sp>
        <p:nvSpPr>
          <p:cNvPr id="571" name="Google Shape;571;p7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List Method Reference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 &amp; Docstrings</a:t>
            </a:r>
            <a:endParaRPr/>
          </a:p>
        </p:txBody>
      </p:sp>
      <p:sp>
        <p:nvSpPr>
          <p:cNvPr id="577" name="Google Shape;577;p75"/>
          <p:cNvSpPr txBox="1">
            <a:spLocks noGrp="1"/>
          </p:cNvSpPr>
          <p:nvPr>
            <p:ph type="body" idx="1"/>
          </p:nvPr>
        </p:nvSpPr>
        <p:spPr>
          <a:xfrm>
            <a:off x="992100" y="1819700"/>
            <a:ext cx="3507000" cy="6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my_module.py:</a:t>
            </a:r>
            <a:endParaRPr/>
          </a:p>
        </p:txBody>
      </p:sp>
      <p:pic>
        <p:nvPicPr>
          <p:cNvPr id="578" name="Google Shape;57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4000" y="2370825"/>
            <a:ext cx="1932819" cy="2252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29525" y="2933025"/>
            <a:ext cx="2257425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75"/>
          <p:cNvSpPr txBox="1">
            <a:spLocks noGrp="1"/>
          </p:cNvSpPr>
          <p:nvPr>
            <p:ph type="body" idx="1"/>
          </p:nvPr>
        </p:nvSpPr>
        <p:spPr>
          <a:xfrm>
            <a:off x="5187000" y="2182525"/>
            <a:ext cx="3507000" cy="6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can be another .py file or from a notebook: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7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Numbers</a:t>
            </a:r>
            <a:endParaRPr/>
          </a:p>
        </p:txBody>
      </p:sp>
      <p:pic>
        <p:nvPicPr>
          <p:cNvPr id="586" name="Google Shape;586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800" y="1935025"/>
            <a:ext cx="3509300" cy="29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5600" y="2634925"/>
            <a:ext cx="1914525" cy="133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7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593" name="Google Shape;593;p7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Complete PyCharm challenges</a:t>
            </a:r>
            <a:endParaRPr sz="1400"/>
          </a:p>
        </p:txBody>
      </p:sp>
      <p:sp>
        <p:nvSpPr>
          <p:cNvPr id="594" name="Google Shape;594;p77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~20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Complete Day 4 (All Activities)</a:t>
            </a: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(Day 7 + 8 Recommended)</a:t>
            </a:r>
            <a:endParaRPr sz="140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7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600" name="Google Shape;600;p7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4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Remember Tuples are: 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Ordered, allows duplicates, &amp; unchangeable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Can be any type &amp; tuples can have mixed types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Access syntax is identical to lists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Tuples with one item require a trailing comma!</a:t>
            </a:r>
            <a:endParaRPr dirty="0"/>
          </a:p>
        </p:txBody>
      </p:sp>
      <p:pic>
        <p:nvPicPr>
          <p:cNvPr id="601" name="Google Shape;60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9312" y="3904907"/>
            <a:ext cx="4905375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2FD638-FA31-C611-2788-8E45734DD898}"/>
              </a:ext>
            </a:extLst>
          </p:cNvPr>
          <p:cNvSpPr txBox="1"/>
          <p:nvPr/>
        </p:nvSpPr>
        <p:spPr>
          <a:xfrm>
            <a:off x="2915729" y="4404775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# One-item tuple (note the comma!)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b = (42,)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7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607" name="Google Shape;607;p79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764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can’t change a tuple, but we can: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tuple to a list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Make a change, delete, or add items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list back into a tuple</a:t>
            </a:r>
            <a:endParaRPr/>
          </a:p>
        </p:txBody>
      </p:sp>
      <p:pic>
        <p:nvPicPr>
          <p:cNvPr id="608" name="Google Shape;608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6200" y="2272738"/>
            <a:ext cx="3930900" cy="2002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Unpacking Tuples</a:t>
            </a:r>
            <a:endParaRPr/>
          </a:p>
        </p:txBody>
      </p:sp>
      <p:pic>
        <p:nvPicPr>
          <p:cNvPr id="614" name="Google Shape;614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7388" y="2196500"/>
            <a:ext cx="3671125" cy="190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8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Count unique items &amp; get the index of an item</a:t>
            </a:r>
            <a:endParaRPr sz="3100"/>
          </a:p>
        </p:txBody>
      </p:sp>
      <p:pic>
        <p:nvPicPr>
          <p:cNvPr id="620" name="Google Shape;620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1834175"/>
            <a:ext cx="50673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1" name="Google Shape;621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1450" y="3591975"/>
            <a:ext cx="4241098" cy="13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8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627" name="Google Shape;627;p8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Manipulate Tuples</a:t>
            </a:r>
            <a:endParaRPr sz="1400"/>
          </a:p>
        </p:txBody>
      </p:sp>
      <p:sp>
        <p:nvSpPr>
          <p:cNvPr id="628" name="Google Shape;628;p8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following list of tuples, complete the following using only List Comprehension: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only students with an ‘A’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all names (but nothing else)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Give all the 20-year old students a ‘B’ and then print the list</a:t>
            </a:r>
            <a:endParaRPr sz="1100"/>
          </a:p>
        </p:txBody>
      </p:sp>
      <p:pic>
        <p:nvPicPr>
          <p:cNvPr id="629" name="Google Shape;62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50" y="2754225"/>
            <a:ext cx="285750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0" name="Google Shape;630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7803" y="3853213"/>
            <a:ext cx="3983121" cy="24981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31" name="Google Shape;631;p82"/>
          <p:cNvSpPr txBox="1"/>
          <p:nvPr/>
        </p:nvSpPr>
        <p:spPr>
          <a:xfrm>
            <a:off x="4603175" y="4208450"/>
            <a:ext cx="1509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Also the output</a:t>
            </a:r>
            <a:endParaRPr sz="13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82"/>
          <p:cNvSpPr/>
          <p:nvPr/>
        </p:nvSpPr>
        <p:spPr>
          <a:xfrm rot="-5400000">
            <a:off x="5016350" y="4107975"/>
            <a:ext cx="251400" cy="149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8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Sets</a:t>
            </a:r>
            <a:endParaRPr/>
          </a:p>
        </p:txBody>
      </p:sp>
      <p:sp>
        <p:nvSpPr>
          <p:cNvPr id="638" name="Google Shape;638;p83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3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Sets are: unordered, unindexed, &amp; items are unchangeable.</a:t>
            </a:r>
            <a:endParaRPr/>
          </a:p>
        </p:txBody>
      </p:sp>
      <p:pic>
        <p:nvPicPr>
          <p:cNvPr id="639" name="Google Shape;63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7425" y="2444025"/>
            <a:ext cx="46291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9713" y="3674450"/>
            <a:ext cx="6124575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49300" y="4261550"/>
            <a:ext cx="4867275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642" name="Google Shape;642;p83"/>
          <p:cNvSpPr txBox="1">
            <a:spLocks noGrp="1"/>
          </p:cNvSpPr>
          <p:nvPr>
            <p:ph type="body" idx="1"/>
          </p:nvPr>
        </p:nvSpPr>
        <p:spPr>
          <a:xfrm>
            <a:off x="548350" y="3008688"/>
            <a:ext cx="8222100" cy="3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Any type and mixed types are allowed, but duplicated are not (1=True, 0=False considered duplicates):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8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Access</a:t>
            </a:r>
            <a:endParaRPr/>
          </a:p>
        </p:txBody>
      </p:sp>
      <p:sp>
        <p:nvSpPr>
          <p:cNvPr id="648" name="Google Shape;648;p84"/>
          <p:cNvSpPr txBox="1">
            <a:spLocks noGrp="1"/>
          </p:cNvSpPr>
          <p:nvPr>
            <p:ph type="body" idx="1"/>
          </p:nvPr>
        </p:nvSpPr>
        <p:spPr>
          <a:xfrm>
            <a:off x="1839450" y="1743750"/>
            <a:ext cx="5465100" cy="4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Either loop through it or use membership operators:</a:t>
            </a:r>
            <a:endParaRPr/>
          </a:p>
        </p:txBody>
      </p:sp>
      <p:pic>
        <p:nvPicPr>
          <p:cNvPr id="649" name="Google Shape;649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50" y="2936475"/>
            <a:ext cx="4191425" cy="119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6499" y="2452975"/>
            <a:ext cx="4349425" cy="96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8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6500" y="3734950"/>
            <a:ext cx="4349425" cy="9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8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Add/Remove Set Items</a:t>
            </a:r>
            <a:endParaRPr/>
          </a:p>
        </p:txBody>
      </p:sp>
      <p:sp>
        <p:nvSpPr>
          <p:cNvPr id="657" name="Google Shape;657;p85"/>
          <p:cNvSpPr txBox="1">
            <a:spLocks noGrp="1"/>
          </p:cNvSpPr>
          <p:nvPr>
            <p:ph type="body" idx="1"/>
          </p:nvPr>
        </p:nvSpPr>
        <p:spPr>
          <a:xfrm>
            <a:off x="460950" y="1772950"/>
            <a:ext cx="82221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We can’t modify set items but we can add/remove them:</a:t>
            </a:r>
            <a:endParaRPr sz="1500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500"/>
              <a:t>**remove method has warnings, discard does not. **pop will remove random item</a:t>
            </a:r>
            <a:endParaRPr sz="1500"/>
          </a:p>
        </p:txBody>
      </p:sp>
      <p:pic>
        <p:nvPicPr>
          <p:cNvPr id="658" name="Google Shape;658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7850" y="2571750"/>
            <a:ext cx="3610176" cy="88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825" y="3704150"/>
            <a:ext cx="3610175" cy="953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p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6697" y="2571747"/>
            <a:ext cx="3578950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1" name="Google Shape;661;p8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1682" y="3808300"/>
            <a:ext cx="3695417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2" name="Google Shape;662;p8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78203" y="4753475"/>
            <a:ext cx="1787582" cy="39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Sets</a:t>
            </a:r>
            <a:endParaRPr/>
          </a:p>
        </p:txBody>
      </p:sp>
      <p:sp>
        <p:nvSpPr>
          <p:cNvPr id="668" name="Google Shape;668;p8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Join Sets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Frozen Sets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Set Method Reference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8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Manipulate Sets</a:t>
            </a:r>
            <a:endParaRPr sz="1400"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following list, complete the following: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Create a set from the list to remove duplicates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the total number of attendees 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‘Alice is going!’ if Alice is found in the set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Add ‘Grace’ to the set 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Remove ‘Bob’ from the set twice (don’t throw errors)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the final complete set of attendees</a:t>
            </a:r>
            <a:endParaRPr sz="1100"/>
          </a:p>
        </p:txBody>
      </p:sp>
      <p:pic>
        <p:nvPicPr>
          <p:cNvPr id="676" name="Google Shape;676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000" y="3102113"/>
            <a:ext cx="2857500" cy="80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8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sp>
        <p:nvSpPr>
          <p:cNvPr id="682" name="Google Shape;682;p8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052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Dictionaries are key/value pairs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Ordered, changeable, no duplicates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Python 3.6 and earlier - dictionaries are unordered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Access items with ‘[]’ syntax or thisdict.get(‘key’) method</a:t>
            </a:r>
            <a:endParaRPr/>
          </a:p>
        </p:txBody>
      </p:sp>
      <p:pic>
        <p:nvPicPr>
          <p:cNvPr id="683" name="Google Shape;683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3550" y="2349650"/>
            <a:ext cx="2363175" cy="155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pic>
        <p:nvPicPr>
          <p:cNvPr id="689" name="Google Shape;689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8700" y="2193775"/>
            <a:ext cx="1579550" cy="199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0" name="Google Shape;690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950" y="4285875"/>
            <a:ext cx="2653050" cy="35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1" name="Google Shape;691;p8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98300" y="2465325"/>
            <a:ext cx="1603469" cy="199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2" name="Google Shape;692;p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59900" y="1922213"/>
            <a:ext cx="2946123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3" name="Google Shape;693;p8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6922" y="2600981"/>
            <a:ext cx="1798125" cy="1921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p8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80769" y="4640450"/>
            <a:ext cx="3670657" cy="29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8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81319" y="2832342"/>
            <a:ext cx="1579550" cy="12646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9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pic>
        <p:nvPicPr>
          <p:cNvPr id="701" name="Google Shape;701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425" y="2705800"/>
            <a:ext cx="2497100" cy="129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56775" y="2571763"/>
            <a:ext cx="1837850" cy="156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p9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1050" y="2452813"/>
            <a:ext cx="2046000" cy="179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p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26300" y="4179050"/>
            <a:ext cx="1414450" cy="17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9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68471" y="4476075"/>
            <a:ext cx="1414450" cy="254735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90"/>
          <p:cNvSpPr txBox="1"/>
          <p:nvPr/>
        </p:nvSpPr>
        <p:spPr>
          <a:xfrm>
            <a:off x="6321350" y="4290500"/>
            <a:ext cx="23454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Removes the last item, i.e. ‘year’:1964</a:t>
            </a:r>
            <a:endParaRPr sz="9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9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Looping Dictionaries</a:t>
            </a:r>
            <a:endParaRPr/>
          </a:p>
        </p:txBody>
      </p:sp>
      <p:pic>
        <p:nvPicPr>
          <p:cNvPr id="712" name="Google Shape;712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148" y="2053513"/>
            <a:ext cx="1927000" cy="2705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6875" y="2025848"/>
            <a:ext cx="1514200" cy="276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9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719" name="Google Shape;719;p9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Complete PyCharm challenges</a:t>
            </a:r>
            <a:endParaRPr sz="1400"/>
          </a:p>
        </p:txBody>
      </p:sp>
      <p:sp>
        <p:nvSpPr>
          <p:cNvPr id="720" name="Google Shape;720;p9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~25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Complete Day 9 (All tasks)</a:t>
            </a:r>
            <a:endParaRPr sz="11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93"/>
          <p:cNvSpPr txBox="1">
            <a:spLocks noGrp="1"/>
          </p:cNvSpPr>
          <p:nvPr>
            <p:ph type="title"/>
          </p:nvPr>
        </p:nvSpPr>
        <p:spPr>
          <a:xfrm>
            <a:off x="1458450" y="406425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00"/>
              <a:t>What is Procedural Programming?</a:t>
            </a:r>
            <a:br>
              <a:rPr lang="en" sz="5200"/>
            </a:br>
            <a:r>
              <a:rPr lang="en" sz="5200"/>
              <a:t>What is OOP?</a:t>
            </a:r>
            <a:endParaRPr sz="52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0" name="Google Shape;730;p94" title="Screenshot from 2026-02-01 12-06-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9902" y="126375"/>
            <a:ext cx="6024200" cy="4794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9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</a:t>
            </a:r>
            <a:endParaRPr/>
          </a:p>
        </p:txBody>
      </p:sp>
      <p:sp>
        <p:nvSpPr>
          <p:cNvPr id="736" name="Google Shape;736;p95"/>
          <p:cNvSpPr txBox="1">
            <a:spLocks noGrp="1"/>
          </p:cNvSpPr>
          <p:nvPr>
            <p:ph type="body" idx="1"/>
          </p:nvPr>
        </p:nvSpPr>
        <p:spPr>
          <a:xfrm>
            <a:off x="664750" y="2012600"/>
            <a:ext cx="37056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The ‘self’ parameter must be included as the first parameter in any class method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Self has access to other class methods/variables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We can delete instantiations of a class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We can use the pass keyword as a placeholder</a:t>
            </a:r>
            <a:endParaRPr sz="1700"/>
          </a:p>
        </p:txBody>
      </p:sp>
      <p:pic>
        <p:nvPicPr>
          <p:cNvPr id="737" name="Google Shape;737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6100" y="2266700"/>
            <a:ext cx="300990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15988" y="4326275"/>
            <a:ext cx="1430122" cy="67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9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__init__ - totally not a constructor</a:t>
            </a:r>
            <a:endParaRPr/>
          </a:p>
        </p:txBody>
      </p:sp>
      <p:sp>
        <p:nvSpPr>
          <p:cNvPr id="744" name="Google Shape;744;p96"/>
          <p:cNvSpPr txBox="1">
            <a:spLocks noGrp="1"/>
          </p:cNvSpPr>
          <p:nvPr>
            <p:ph type="body" idx="1"/>
          </p:nvPr>
        </p:nvSpPr>
        <p:spPr>
          <a:xfrm>
            <a:off x="384225" y="2076875"/>
            <a:ext cx="3360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Under the hood, a ‘__new__’ method gets called to create the object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‘__init__’ runs after, and initializes object state</a:t>
            </a:r>
            <a:endParaRPr/>
          </a:p>
        </p:txBody>
      </p:sp>
      <p:pic>
        <p:nvPicPr>
          <p:cNvPr id="745" name="Google Shape;745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9225" y="1800575"/>
            <a:ext cx="4553875" cy="315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9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are very flexible in Python</a:t>
            </a:r>
            <a:endParaRPr/>
          </a:p>
        </p:txBody>
      </p:sp>
      <p:pic>
        <p:nvPicPr>
          <p:cNvPr id="751" name="Google Shape;751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225" y="2571752"/>
            <a:ext cx="2226375" cy="1574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2" name="Google Shape;752;p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0550" y="2571750"/>
            <a:ext cx="1873769" cy="161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53" name="Google Shape;753;p9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82438" y="2571750"/>
            <a:ext cx="2277322" cy="161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9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57875" y="2571745"/>
            <a:ext cx="2087825" cy="243977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7"/>
          <p:cNvSpPr txBox="1"/>
          <p:nvPr/>
        </p:nvSpPr>
        <p:spPr>
          <a:xfrm>
            <a:off x="314175" y="1940875"/>
            <a:ext cx="876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Dot notation access:    Change values:       Delete values:                Add new values:   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__str__</a:t>
            </a:r>
            <a:endParaRPr/>
          </a:p>
        </p:txBody>
      </p:sp>
      <p:sp>
        <p:nvSpPr>
          <p:cNvPr id="761" name="Google Shape;761;p98"/>
          <p:cNvSpPr txBox="1">
            <a:spLocks noGrp="1"/>
          </p:cNvSpPr>
          <p:nvPr>
            <p:ph type="body" idx="1"/>
          </p:nvPr>
        </p:nvSpPr>
        <p:spPr>
          <a:xfrm>
            <a:off x="606325" y="2486025"/>
            <a:ext cx="3553800" cy="13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__str__ method controls what is returned when the object is printed</a:t>
            </a:r>
            <a:endParaRPr/>
          </a:p>
        </p:txBody>
      </p:sp>
      <p:pic>
        <p:nvPicPr>
          <p:cNvPr id="762" name="Google Shape;762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3050" y="1919075"/>
            <a:ext cx="2937625" cy="227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3" name="Google Shape;763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43213" y="4359175"/>
            <a:ext cx="12573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9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</a:t>
            </a:r>
            <a:endParaRPr/>
          </a:p>
        </p:txBody>
      </p:sp>
      <p:sp>
        <p:nvSpPr>
          <p:cNvPr id="769" name="Google Shape;769;p99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2965200" cy="27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Inherit all the methods and properties from another class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Parent/Base Class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Child/Derived Class</a:t>
            </a:r>
            <a:endParaRPr/>
          </a:p>
        </p:txBody>
      </p:sp>
      <p:pic>
        <p:nvPicPr>
          <p:cNvPr id="770" name="Google Shape;770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0651" y="2410775"/>
            <a:ext cx="3121800" cy="250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18550" y="2818550"/>
            <a:ext cx="1751575" cy="37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9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64500" y="3350874"/>
            <a:ext cx="1859675" cy="47560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99"/>
          <p:cNvSpPr txBox="1"/>
          <p:nvPr/>
        </p:nvSpPr>
        <p:spPr>
          <a:xfrm>
            <a:off x="5083600" y="1923325"/>
            <a:ext cx="336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This code is incomplete:</a:t>
            </a:r>
            <a:endParaRPr sz="18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0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</a:t>
            </a:r>
            <a:endParaRPr/>
          </a:p>
        </p:txBody>
      </p:sp>
      <p:sp>
        <p:nvSpPr>
          <p:cNvPr id="779" name="Google Shape;779;p100"/>
          <p:cNvSpPr txBox="1">
            <a:spLocks noGrp="1"/>
          </p:cNvSpPr>
          <p:nvPr>
            <p:ph type="body" idx="1"/>
          </p:nvPr>
        </p:nvSpPr>
        <p:spPr>
          <a:xfrm>
            <a:off x="5464475" y="2386125"/>
            <a:ext cx="34374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We need to add an __init__ in our child class so it doesn’t generally inherit the parent class __init__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We should use super() instead of calling the parent directly, so as not to break multiple-inheritance</a:t>
            </a:r>
            <a:endParaRPr sz="1400"/>
          </a:p>
        </p:txBody>
      </p:sp>
      <p:pic>
        <p:nvPicPr>
          <p:cNvPr id="780" name="Google Shape;780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025" y="2949175"/>
            <a:ext cx="3968589" cy="99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1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0429" y="1919063"/>
            <a:ext cx="3475594" cy="76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100" descr="a red cross on a white background that looks like a starfish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4222" y="1838772"/>
            <a:ext cx="762900" cy="84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100" descr="a green circle with a white tick inside of it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8625" y="2980884"/>
            <a:ext cx="1025550" cy="99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0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Polymorphism</a:t>
            </a:r>
            <a:endParaRPr/>
          </a:p>
        </p:txBody>
      </p:sp>
      <p:sp>
        <p:nvSpPr>
          <p:cNvPr id="789" name="Google Shape;789;p10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005600" cy="26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Polymorphism refers to functions/classes behaving differently depending on input or object type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Another example of function polymorphism is len()</a:t>
            </a:r>
            <a:endParaRPr/>
          </a:p>
        </p:txBody>
      </p:sp>
      <p:pic>
        <p:nvPicPr>
          <p:cNvPr id="790" name="Google Shape;790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00" y="2446000"/>
            <a:ext cx="3576325" cy="174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0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Polymorphism</a:t>
            </a:r>
            <a:endParaRPr/>
          </a:p>
        </p:txBody>
      </p:sp>
      <p:pic>
        <p:nvPicPr>
          <p:cNvPr id="796" name="Google Shape;796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475" y="2449397"/>
            <a:ext cx="3598050" cy="175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7" name="Google Shape;797;p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5775" y="1915014"/>
            <a:ext cx="3897825" cy="2726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803" name="Google Shape;803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000" y="2054850"/>
            <a:ext cx="2697650" cy="270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4" name="Google Shape;804;p10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0425" y="2764437"/>
            <a:ext cx="2204100" cy="12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5" name="Google Shape;805;p10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9638" y="2976138"/>
            <a:ext cx="314325" cy="866775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03"/>
          <p:cNvSpPr txBox="1"/>
          <p:nvPr/>
        </p:nvSpPr>
        <p:spPr>
          <a:xfrm>
            <a:off x="4130150" y="4417100"/>
            <a:ext cx="344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Single “_” denotes a protected property. This is only a convention. </a:t>
            </a:r>
            <a:endParaRPr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07" name="Google Shape;807;p10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2550" y="3302513"/>
            <a:ext cx="1564675" cy="214025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103"/>
          <p:cNvSpPr txBox="1"/>
          <p:nvPr/>
        </p:nvSpPr>
        <p:spPr>
          <a:xfrm>
            <a:off x="6860550" y="2933225"/>
            <a:ext cx="2007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Private method:</a:t>
            </a:r>
            <a:endParaRPr sz="12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Abstraction</a:t>
            </a:r>
            <a:endParaRPr/>
          </a:p>
        </p:txBody>
      </p:sp>
      <p:pic>
        <p:nvPicPr>
          <p:cNvPr id="814" name="Google Shape;814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4350" y="2094413"/>
            <a:ext cx="2217692" cy="240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0216" y="2326400"/>
            <a:ext cx="1311750" cy="164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6" name="Google Shape;816;p10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0128" y="2739575"/>
            <a:ext cx="971550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0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Properties</a:t>
            </a:r>
            <a:endParaRPr/>
          </a:p>
        </p:txBody>
      </p:sp>
      <p:pic>
        <p:nvPicPr>
          <p:cNvPr id="822" name="Google Shape;822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3050" y="2233925"/>
            <a:ext cx="3028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" name="Google Shape;823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9000" y="2395850"/>
            <a:ext cx="218122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105" descr="a red cross on a white background that looks like a starfish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19649" y="2467853"/>
            <a:ext cx="550150" cy="6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105" descr="a green circle with a white tick inside of it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30225" y="3443424"/>
            <a:ext cx="627893" cy="61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 use a Protocol</a:t>
            </a:r>
            <a:endParaRPr dirty="0"/>
          </a:p>
        </p:txBody>
      </p:sp>
      <p:sp>
        <p:nvSpPr>
          <p:cNvPr id="831" name="Google Shape;831;p10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43653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Protocols are often the common, modern, way to abstract a class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No forced inheritance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Static type checking (mypy, pyright – arleady included with pylance in vs code; preferred in vs code)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 Flexible &amp; easy setup</a:t>
            </a:r>
            <a:endParaRPr dirty="0"/>
          </a:p>
        </p:txBody>
      </p:sp>
      <p:pic>
        <p:nvPicPr>
          <p:cNvPr id="832" name="Google Shape;832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6225" y="1919075"/>
            <a:ext cx="2941675" cy="289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0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@staticmethod</a:t>
            </a:r>
            <a:endParaRPr/>
          </a:p>
        </p:txBody>
      </p:sp>
      <p:pic>
        <p:nvPicPr>
          <p:cNvPr id="838" name="Google Shape;838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5138" y="1718700"/>
            <a:ext cx="3095625" cy="319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0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@classmethod</a:t>
            </a:r>
            <a:endParaRPr/>
          </a:p>
        </p:txBody>
      </p:sp>
      <p:sp>
        <p:nvSpPr>
          <p:cNvPr id="844" name="Google Shape;844;p10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15600" cy="27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Takes the class itself implicitly as ‘cls’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Belongs to the class, not the instance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 access class variables and other class methods but NOT instance variables</a:t>
            </a:r>
            <a:endParaRPr/>
          </a:p>
        </p:txBody>
      </p:sp>
      <p:pic>
        <p:nvPicPr>
          <p:cNvPr id="845" name="Google Shape;845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13925" y="1965125"/>
            <a:ext cx="2729799" cy="201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6" name="Google Shape;846;p1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3960" y="4113975"/>
            <a:ext cx="3629739" cy="76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28074-BCD4-2D15-C664-FA0909DB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89369-5A4A-7E97-CFFA-AD21DC507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module is a Python file (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.</a:t>
            </a: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py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) that contains code you can reuse in another Python file.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For example, imagine you have a file named math_tools.py:</a:t>
            </a:r>
          </a:p>
          <a:p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9366EA-5956-E314-40F8-303E4C5CE016}"/>
              </a:ext>
            </a:extLst>
          </p:cNvPr>
          <p:cNvSpPr txBox="1"/>
          <p:nvPr/>
        </p:nvSpPr>
        <p:spPr>
          <a:xfrm>
            <a:off x="4778321" y="3844444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math_tools.add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(3, 5))       # 8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math_tools.multiply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(3, 5))  # 15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3025B-F191-CDD0-82F1-469836A02C58}"/>
              </a:ext>
            </a:extLst>
          </p:cNvPr>
          <p:cNvSpPr txBox="1"/>
          <p:nvPr/>
        </p:nvSpPr>
        <p:spPr>
          <a:xfrm>
            <a:off x="810884" y="3105780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800" dirty="0"/>
              <a:t>def add(a, b):</a:t>
            </a:r>
          </a:p>
          <a:p>
            <a:pPr marL="114300" indent="0">
              <a:buNone/>
            </a:pPr>
            <a:r>
              <a:rPr lang="en-US" sz="1800" dirty="0"/>
              <a:t>    return a + b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def multiply(a, b):</a:t>
            </a:r>
          </a:p>
          <a:p>
            <a:pPr marL="114300" indent="0">
              <a:buNone/>
            </a:pPr>
            <a:r>
              <a:rPr lang="en-US" sz="1800" dirty="0"/>
              <a:t>    return a *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3B3823-7CE0-F72C-5D80-21A4FDA4DFAC}"/>
              </a:ext>
            </a:extLst>
          </p:cNvPr>
          <p:cNvSpPr txBox="1"/>
          <p:nvPr/>
        </p:nvSpPr>
        <p:spPr>
          <a:xfrm>
            <a:off x="4710022" y="3274175"/>
            <a:ext cx="3200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You can use these functions in another file by importing the module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16656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F057C-616D-7860-77BE-45C19761C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12B24-FA9F-6BDD-1B2B-BCC40E3F9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5"/>
            <a:ext cx="8222100" cy="513574"/>
          </a:xfrm>
        </p:spPr>
        <p:txBody>
          <a:bodyPr/>
          <a:lstStyle/>
          <a:p>
            <a:r>
              <a:rPr lang="en-US" dirty="0"/>
              <a:t>You can import an entire module</a:t>
            </a:r>
          </a:p>
          <a:p>
            <a:r>
              <a:rPr lang="en-US" dirty="0"/>
              <a:t>Import specific items</a:t>
            </a:r>
          </a:p>
          <a:p>
            <a:r>
              <a:rPr lang="en-US" dirty="0"/>
              <a:t>Or use aliases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881914-001B-8ADA-A905-784C4179547F}"/>
              </a:ext>
            </a:extLst>
          </p:cNvPr>
          <p:cNvSpPr txBox="1"/>
          <p:nvPr/>
        </p:nvSpPr>
        <p:spPr>
          <a:xfrm>
            <a:off x="471900" y="3121332"/>
            <a:ext cx="34962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math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math.sqrt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(25))  # 5.0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math.pi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)        # 3.141592653589793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2301E-E9BF-36B7-7C0F-52ADE32D62B6}"/>
              </a:ext>
            </a:extLst>
          </p:cNvPr>
          <p:cNvSpPr txBox="1"/>
          <p:nvPr/>
        </p:nvSpPr>
        <p:spPr>
          <a:xfrm>
            <a:off x="4986067" y="3121331"/>
            <a:ext cx="24153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math import sqrt, pi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print(sqrt(25))  # 5.0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print(pi)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2B12B-0E8F-EF17-9C52-9B8FE33A5514}"/>
              </a:ext>
            </a:extLst>
          </p:cNvPr>
          <p:cNvSpPr txBox="1"/>
          <p:nvPr/>
        </p:nvSpPr>
        <p:spPr>
          <a:xfrm>
            <a:off x="3303917" y="430922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math as m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m.sqrt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(36))  # 6.0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46536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4629-FCFD-F1DD-FA0A-E2E149C2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types of 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4659C-F851-8B31-4123-07ADD6463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Built-in and standard-library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come with Python, so you usually don't need to install anything separately.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Examples: math, random, </a:t>
            </a:r>
            <a:r>
              <a:rPr lang="en-US" dirty="0" err="1"/>
              <a:t>os</a:t>
            </a:r>
            <a:r>
              <a:rPr lang="en-US" dirty="0"/>
              <a:t>, datetime, </a:t>
            </a:r>
            <a:r>
              <a:rPr lang="en-US" dirty="0" err="1"/>
              <a:t>json</a:t>
            </a:r>
            <a:r>
              <a:rPr lang="en-US" dirty="0"/>
              <a:t>, </a:t>
            </a:r>
            <a:r>
              <a:rPr lang="en-US" dirty="0" err="1"/>
              <a:t>pathlib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Third-party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are created by other developers and installed when needed.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Examples: requests, </a:t>
            </a:r>
            <a:r>
              <a:rPr lang="en-US" dirty="0" err="1"/>
              <a:t>numpy</a:t>
            </a:r>
            <a:r>
              <a:rPr lang="en-US" dirty="0"/>
              <a:t>, pandas, flask.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Install a package using pip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Your own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are Python files you create yourself.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69442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1F2D-18E7-C1F2-DE31-CCD8CE450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__name__ and __main__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FBC90-9789-174F-FB54-BC590F0C5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4262" y="2022591"/>
            <a:ext cx="8222100" cy="1289951"/>
          </a:xfrm>
        </p:spPr>
        <p:txBody>
          <a:bodyPr/>
          <a:lstStyle/>
          <a:p>
            <a:pPr lvl="0"/>
            <a:r>
              <a:rPr lang="en-US" dirty="0"/>
              <a:t>When a file runs directly, its __name__ is set to "__main__".</a:t>
            </a:r>
          </a:p>
          <a:p>
            <a:pPr lvl="0"/>
            <a:r>
              <a:rPr lang="en-US" dirty="0"/>
              <a:t>When a file is imported, its __name__ is normally set to its module name, such as "calculator".</a:t>
            </a:r>
          </a:p>
          <a:p>
            <a:r>
              <a:rPr lang="en-US" dirty="0"/>
              <a:t>Thus, the following will print ‘5’, but ONLY if the module is run directly </a:t>
            </a:r>
          </a:p>
          <a:p>
            <a:r>
              <a:rPr lang="en-US" dirty="0" err="1"/>
              <a:t>py</a:t>
            </a:r>
            <a:r>
              <a:rPr lang="en-US" dirty="0"/>
              <a:t> calculator.py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B7E04-6969-0213-4631-7BC9568AC05C}"/>
              </a:ext>
            </a:extLst>
          </p:cNvPr>
          <p:cNvSpPr txBox="1"/>
          <p:nvPr/>
        </p:nvSpPr>
        <p:spPr>
          <a:xfrm>
            <a:off x="2838090" y="359687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def add(a, b):</a:t>
            </a:r>
          </a:p>
          <a:p>
            <a:r>
              <a:rPr lang="en-US" dirty="0"/>
              <a:t>    return a + b</a:t>
            </a:r>
          </a:p>
          <a:p>
            <a:endParaRPr lang="en-US" dirty="0"/>
          </a:p>
          <a:p>
            <a:r>
              <a:rPr lang="en-US" dirty="0"/>
              <a:t>if __name__ == "__main__":</a:t>
            </a:r>
          </a:p>
          <a:p>
            <a:r>
              <a:rPr lang="en-US" dirty="0"/>
              <a:t>    print(add(2, 3))</a:t>
            </a:r>
          </a:p>
        </p:txBody>
      </p:sp>
    </p:spTree>
    <p:extLst>
      <p:ext uri="{BB962C8B-B14F-4D97-AF65-F5344CB8AC3E}">
        <p14:creationId xmlns:p14="http://schemas.microsoft.com/office/powerpoint/2010/main" val="2324492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0108-FE90-6ED9-5D40-5550E285E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5D5CF-E5B4-4FB1-8642-08DCA0E7D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5"/>
            <a:ext cx="7196983" cy="767700"/>
          </a:xfrm>
        </p:spPr>
        <p:txBody>
          <a:bodyPr/>
          <a:lstStyle/>
          <a:p>
            <a:r>
              <a:rPr lang="en-US" dirty="0"/>
              <a:t>A package is a directory that organizes modules and potentially subpackages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81638-53E4-F767-686F-86D9389BBB86}"/>
              </a:ext>
            </a:extLst>
          </p:cNvPr>
          <p:cNvSpPr txBox="1"/>
          <p:nvPr/>
        </p:nvSpPr>
        <p:spPr>
          <a:xfrm>
            <a:off x="667432" y="2771918"/>
            <a:ext cx="19377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store/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├── __init__.py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├── products.py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└── orders.py</a:t>
            </a:r>
            <a:endParaRPr lang="en-US" sz="1200" b="0" i="0" dirty="0">
              <a:solidFill>
                <a:schemeClr val="bg2"/>
              </a:solidFill>
              <a:effectLst/>
              <a:latin typeface="-apple-system-body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05BB71-80C9-DCFD-22D4-FF9617B472CE}"/>
              </a:ext>
            </a:extLst>
          </p:cNvPr>
          <p:cNvSpPr txBox="1"/>
          <p:nvPr/>
        </p:nvSpPr>
        <p:spPr>
          <a:xfrm>
            <a:off x="741871" y="4290719"/>
            <a:ext cx="32090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store import products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store.orders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create_order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A4A2CA6-1AFE-5FFA-1DAF-40E29BC8F819}"/>
              </a:ext>
            </a:extLst>
          </p:cNvPr>
          <p:cNvSpPr txBox="1">
            <a:spLocks/>
          </p:cNvSpPr>
          <p:nvPr/>
        </p:nvSpPr>
        <p:spPr>
          <a:xfrm>
            <a:off x="471900" y="3811168"/>
            <a:ext cx="347899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dirty="0"/>
              <a:t>Import a package like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33B66-38A1-C92B-90DF-FACE36F4B54B}"/>
              </a:ext>
            </a:extLst>
          </p:cNvPr>
          <p:cNvSpPr txBox="1"/>
          <p:nvPr/>
        </p:nvSpPr>
        <p:spPr>
          <a:xfrm>
            <a:off x="5215002" y="2771918"/>
            <a:ext cx="347899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Note: An </a:t>
            </a:r>
            <a:r>
              <a:rPr lang="en-US" b="0" i="0" dirty="0">
                <a:solidFill>
                  <a:srgbClr val="000000"/>
                </a:solidFill>
                <a:effectLst/>
                <a:latin typeface="Arial"/>
              </a:rPr>
              <a:t>__init__.py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file is commonly used to mark a regular package and can contain initialization code or define what the package exposes (or even be completely empty!).</a:t>
            </a:r>
          </a:p>
          <a:p>
            <a:endParaRPr lang="en-US" dirty="0"/>
          </a:p>
          <a:p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Modern Python also supports namespace packages that do not require 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29885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F5FC6-78FB-93F6-6214-DF0805ED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__init__.py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9DE714-2208-8E7D-433A-15DA179F5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04" y="2100230"/>
            <a:ext cx="4229496" cy="2558034"/>
          </a:xfrm>
        </p:spPr>
        <p:txBody>
          <a:bodyPr/>
          <a:lstStyle/>
          <a:p>
            <a:r>
              <a:rPr lang="en-US" dirty="0"/>
              <a:t>Consider a package to hold services</a:t>
            </a:r>
          </a:p>
          <a:p>
            <a:r>
              <a:rPr lang="en-US" dirty="0"/>
              <a:t>With </a:t>
            </a:r>
            <a:r>
              <a:rPr lang="en-US" dirty="0" err="1"/>
              <a:t>init</a:t>
            </a:r>
            <a:r>
              <a:rPr lang="en-US" dirty="0"/>
              <a:t>, we instead of writing:</a:t>
            </a:r>
          </a:p>
          <a:p>
            <a:endParaRPr lang="en-US" dirty="0"/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We can instead write: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1C099-7FA7-CA29-0D02-4ADF5743B974}"/>
              </a:ext>
            </a:extLst>
          </p:cNvPr>
          <p:cNvSpPr txBox="1"/>
          <p:nvPr/>
        </p:nvSpPr>
        <p:spPr>
          <a:xfrm>
            <a:off x="5615797" y="2072043"/>
            <a:ext cx="3614468" cy="1331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from .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book_generator_service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as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from .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book_service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BookService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__all__ = ['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']</a:t>
            </a:r>
          </a:p>
          <a:p>
            <a:pPr>
              <a:lnSpc>
                <a:spcPct val="100000"/>
              </a:lnSpc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DA290-17D9-EF97-FC53-4EE8DE764412}"/>
              </a:ext>
            </a:extLst>
          </p:cNvPr>
          <p:cNvSpPr txBox="1"/>
          <p:nvPr/>
        </p:nvSpPr>
        <p:spPr>
          <a:xfrm>
            <a:off x="6029864" y="1736332"/>
            <a:ext cx="1837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Services/__init__.py: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F5D1B-3F26-822B-659D-3E711A7BCA6F}"/>
              </a:ext>
            </a:extLst>
          </p:cNvPr>
          <p:cNvSpPr txBox="1"/>
          <p:nvPr/>
        </p:nvSpPr>
        <p:spPr>
          <a:xfrm>
            <a:off x="181153" y="3190343"/>
            <a:ext cx="59694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dirty="0" err="1"/>
              <a:t>services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.book_generator_service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68EF03-B72B-8F53-D7E9-3AEF08AE54CF}"/>
              </a:ext>
            </a:extLst>
          </p:cNvPr>
          <p:cNvSpPr txBox="1"/>
          <p:nvPr/>
        </p:nvSpPr>
        <p:spPr>
          <a:xfrm>
            <a:off x="181153" y="415734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dirty="0"/>
              <a:t>services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98A6E7-1E74-9EFF-EA0B-58783AA135FF}"/>
              </a:ext>
            </a:extLst>
          </p:cNvPr>
          <p:cNvSpPr txBox="1"/>
          <p:nvPr/>
        </p:nvSpPr>
        <p:spPr>
          <a:xfrm>
            <a:off x="4799173" y="3941901"/>
            <a:ext cx="38948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__all__ specifies which names are exported when someone uses a wildcard import: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10E5E8-1FBE-CB9A-434A-78464C1214CD}"/>
              </a:ext>
            </a:extLst>
          </p:cNvPr>
          <p:cNvSpPr txBox="1"/>
          <p:nvPr/>
        </p:nvSpPr>
        <p:spPr>
          <a:xfrm>
            <a:off x="5305244" y="4493290"/>
            <a:ext cx="2363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your_package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*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A2C629-1956-CEC0-F684-FA5A33C295F9}"/>
              </a:ext>
            </a:extLst>
          </p:cNvPr>
          <p:cNvSpPr/>
          <p:nvPr/>
        </p:nvSpPr>
        <p:spPr>
          <a:xfrm>
            <a:off x="5615797" y="2044109"/>
            <a:ext cx="3459192" cy="103552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0245C9-663A-6FCD-C6AB-396CF9D804F7}"/>
              </a:ext>
            </a:extLst>
          </p:cNvPr>
          <p:cNvSpPr/>
          <p:nvPr/>
        </p:nvSpPr>
        <p:spPr>
          <a:xfrm>
            <a:off x="5305244" y="4493290"/>
            <a:ext cx="2363638" cy="30777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84FF19-369E-60A3-032B-648F6E93B338}"/>
              </a:ext>
            </a:extLst>
          </p:cNvPr>
          <p:cNvSpPr/>
          <p:nvPr/>
        </p:nvSpPr>
        <p:spPr>
          <a:xfrm>
            <a:off x="189778" y="4207749"/>
            <a:ext cx="3096886" cy="45051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CC2C6F-85B8-B899-D0D6-85ABF812CAFE}"/>
              </a:ext>
            </a:extLst>
          </p:cNvPr>
          <p:cNvSpPr/>
          <p:nvPr/>
        </p:nvSpPr>
        <p:spPr>
          <a:xfrm>
            <a:off x="189777" y="3190343"/>
            <a:ext cx="5426019" cy="52322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2396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70159-57DD-7EC5-80AD-921AE34D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5220B8-89BD-6428-E00F-4F36E82D0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92" y="1996868"/>
            <a:ext cx="4191880" cy="21864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DC16A3-9FAF-9E9A-BCE6-F5E09D92D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6773" y="4419499"/>
            <a:ext cx="1552792" cy="724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B6DED2-FA2E-2C88-6E74-25C993FB9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169" y="2076736"/>
            <a:ext cx="4615539" cy="202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1881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600CB-09CE-F1FB-6963-20C26DC35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 – OS Module &amp; With open()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3B909-3610-365F-35E2-2754AA59A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899" y="1919075"/>
            <a:ext cx="3539383" cy="2710200"/>
          </a:xfrm>
        </p:spPr>
        <p:txBody>
          <a:bodyPr/>
          <a:lstStyle/>
          <a:p>
            <a:r>
              <a:rPr lang="en-US" dirty="0"/>
              <a:t>With open automatically closes the resource when finished</a:t>
            </a:r>
          </a:p>
          <a:p>
            <a:r>
              <a:rPr lang="en-US" dirty="0"/>
              <a:t>The </a:t>
            </a:r>
            <a:r>
              <a:rPr lang="en-US" dirty="0" err="1"/>
              <a:t>os</a:t>
            </a:r>
            <a:r>
              <a:rPr lang="en-US" dirty="0"/>
              <a:t> module has methods to help us check for file existence, make folders, and more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577E1E-317F-FFB7-B06F-BC8C07168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85648"/>
            <a:ext cx="3859089" cy="280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4151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4E707-FB2C-624E-8AE9-7DA7B0AB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 – JSON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23CBB-DED0-D130-ED64-27707AF6D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45" y="2520781"/>
            <a:ext cx="4410606" cy="22325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4FEE8A-77E3-C294-E57F-372904D7E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45" y="1804787"/>
            <a:ext cx="1664898" cy="5437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5D47-07A1-FE69-C641-BE2AD5636105}"/>
              </a:ext>
            </a:extLst>
          </p:cNvPr>
          <p:cNvSpPr txBox="1"/>
          <p:nvPr/>
        </p:nvSpPr>
        <p:spPr>
          <a:xfrm>
            <a:off x="5098210" y="1804787"/>
            <a:ext cx="404578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json.dumps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my_dict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Converts a dictionary into a JSON string</a:t>
            </a: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json.dump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my_dict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, file)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Writes a dictionary directly into a JSON file</a:t>
            </a: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json.loads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json_string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Converts a JSON string into a Python object</a:t>
            </a:r>
          </a:p>
          <a:p>
            <a:pPr>
              <a:lnSpc>
                <a:spcPct val="100000"/>
              </a:lnSpc>
              <a:buNone/>
            </a:pP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json.load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(file)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Reads a JSON file into a Python object</a:t>
            </a:r>
          </a:p>
          <a:p>
            <a:pPr>
              <a:lnSpc>
                <a:spcPct val="100000"/>
              </a:lnSpc>
              <a:buNone/>
            </a:pPr>
            <a:endParaRPr lang="en-US" dirty="0"/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Indent makes the file output human readable</a:t>
            </a:r>
          </a:p>
          <a:p>
            <a:pPr>
              <a:lnSpc>
                <a:spcPct val="100000"/>
              </a:lnSpc>
              <a:buNone/>
            </a:pPr>
            <a:r>
              <a:rPr lang="en-US" dirty="0"/>
              <a:t># as opposed to a single line and no whitespace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86907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112"/>
          <p:cNvSpPr txBox="1">
            <a:spLocks noGrp="1"/>
          </p:cNvSpPr>
          <p:nvPr>
            <p:ph type="title"/>
          </p:nvPr>
        </p:nvSpPr>
        <p:spPr>
          <a:xfrm>
            <a:off x="1458450" y="3548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/>
              <a:t>Pause Here</a:t>
            </a:r>
            <a:endParaRPr sz="3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/>
              <a:t>(We build a REPL app)</a:t>
            </a:r>
            <a:endParaRPr sz="3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0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SOLID app structure</a:t>
            </a:r>
            <a:endParaRPr/>
          </a:p>
        </p:txBody>
      </p:sp>
      <p:sp>
        <p:nvSpPr>
          <p:cNvPr id="852" name="Google Shape;852;p109"/>
          <p:cNvSpPr txBox="1"/>
          <p:nvPr/>
        </p:nvSpPr>
        <p:spPr>
          <a:xfrm>
            <a:off x="4202225" y="2171550"/>
            <a:ext cx="42690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Notebooks and unit tests should live separately from source code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Tests should mirror src layout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Each package should have its own ‘__init__.py’ file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pyproject.toml &amp; poetry.lock will be autogenerated from our poetry commands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53" name="Google Shape;853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3424" y="1914157"/>
            <a:ext cx="2238050" cy="291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11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Manage Interpreters with pyenv-win</a:t>
            </a:r>
            <a:endParaRPr/>
          </a:p>
        </p:txBody>
      </p:sp>
      <p:sp>
        <p:nvSpPr>
          <p:cNvPr id="859" name="Google Shape;859;p11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https://github.com/pyenv-win/pyenv-win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Install:</a:t>
            </a:r>
            <a:br>
              <a:rPr lang="en"/>
            </a:br>
            <a:r>
              <a:rPr lang="en" sz="1000">
                <a:solidFill>
                  <a:srgbClr val="6CB6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Invoke-WebRequest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UseBasicParsing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Uri 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"https://raw.githubusercontent.com/pyenv-win/pyenv-win/master/pyenv-win/install-pyenv-win.ps1"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OutFile 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"./install-pyenv-win.ps1"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&amp;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"./install-pyenv-win.ps1</a:t>
            </a:r>
            <a:endParaRPr sz="1000">
              <a:solidFill>
                <a:srgbClr val="96D0FF"/>
              </a:solidFill>
              <a:highlight>
                <a:srgbClr val="262C36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04800" algn="l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--version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check if the installation was successful.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install -l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check a list of Python versions supported by pyenv-win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install &lt;version&gt;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install the supported version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global &lt;version&gt;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set a Python version as the global version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600"/>
              </a:spcAft>
              <a:buNone/>
            </a:pPr>
            <a:endParaRPr sz="1000">
              <a:solidFill>
                <a:srgbClr val="96D0FF"/>
              </a:solidFill>
              <a:highlight>
                <a:srgbClr val="262C36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11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Poetry</a:t>
            </a:r>
            <a:endParaRPr/>
          </a:p>
        </p:txBody>
      </p:sp>
      <p:sp>
        <p:nvSpPr>
          <p:cNvPr id="865" name="Google Shape;865;p111"/>
          <p:cNvSpPr txBox="1">
            <a:spLocks noGrp="1"/>
          </p:cNvSpPr>
          <p:nvPr>
            <p:ph type="body" idx="1"/>
          </p:nvPr>
        </p:nvSpPr>
        <p:spPr>
          <a:xfrm>
            <a:off x="6336675" y="1811900"/>
            <a:ext cx="2607000" cy="291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 the official installer (curl)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Set virtual environments to install in project folder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Install deps and dev deps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install/lock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Run your app</a:t>
            </a:r>
            <a:endParaRPr/>
          </a:p>
        </p:txBody>
      </p:sp>
      <p:pic>
        <p:nvPicPr>
          <p:cNvPr id="866" name="Google Shape;866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585525"/>
            <a:ext cx="2051475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p1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475" y="3800050"/>
            <a:ext cx="6124781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1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154413"/>
            <a:ext cx="4643625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p11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0525" y="2977238"/>
            <a:ext cx="2075220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p11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0475" y="4216800"/>
            <a:ext cx="1695441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1" name="Google Shape;871;p11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0468" y="4633550"/>
            <a:ext cx="3206503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2" name="Google Shape;872;p11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40475" y="1749097"/>
            <a:ext cx="6124775" cy="3388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11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52388" y="3388650"/>
            <a:ext cx="1873463" cy="28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4560</TotalTime>
  <Words>3973</Words>
  <Application>Microsoft Office PowerPoint</Application>
  <PresentationFormat>On-screen Show (16:9)</PresentationFormat>
  <Paragraphs>578</Paragraphs>
  <Slides>114</Slides>
  <Notes>100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21" baseType="lpstr">
      <vt:lpstr>Arial</vt:lpstr>
      <vt:lpstr>-apple-system-body</vt:lpstr>
      <vt:lpstr>Roboto Mono</vt:lpstr>
      <vt:lpstr>Consolas</vt:lpstr>
      <vt:lpstr>Roboto</vt:lpstr>
      <vt:lpstr>Courier New</vt:lpstr>
      <vt:lpstr>Material</vt:lpstr>
      <vt:lpstr>Python</vt:lpstr>
      <vt:lpstr>Required Software</vt:lpstr>
      <vt:lpstr>VSCode Settings/Plugins</vt:lpstr>
      <vt:lpstr>What is Python?</vt:lpstr>
      <vt:lpstr>Under the Hood</vt:lpstr>
      <vt:lpstr>Installing Python</vt:lpstr>
      <vt:lpstr>(Windows) Py vs python vs pymanager commands</vt:lpstr>
      <vt:lpstr>Python Environments</vt:lpstr>
      <vt:lpstr>Python Environments, py, &amp; Interactive Mode</vt:lpstr>
      <vt:lpstr>venv</vt:lpstr>
      <vt:lpstr>pip &amp; Jupyter setup</vt:lpstr>
      <vt:lpstr>Requirements.txt options</vt:lpstr>
      <vt:lpstr>Requirements.txt vs lock files</vt:lpstr>
      <vt:lpstr>Challenge</vt:lpstr>
      <vt:lpstr>Strings, Print, Input, &amp; Comments</vt:lpstr>
      <vt:lpstr>Variables &amp; len()</vt:lpstr>
      <vt:lpstr>More on variables &amp; Case Conventions</vt:lpstr>
      <vt:lpstr>Variables Continued</vt:lpstr>
      <vt:lpstr>Challenge</vt:lpstr>
      <vt:lpstr>Functions &amp; Variable Scope</vt:lpstr>
      <vt:lpstr>Built-In Scope &amp; Enclosing (nonlocal) Scope</vt:lpstr>
      <vt:lpstr>Functions take in and return data</vt:lpstr>
      <vt:lpstr>Creating Placeholder Functions</vt:lpstr>
      <vt:lpstr>Challenge</vt:lpstr>
      <vt:lpstr>More on naming conventions…</vt:lpstr>
      <vt:lpstr>PowerPoint Presentation</vt:lpstr>
      <vt:lpstr>Setting Each Type</vt:lpstr>
      <vt:lpstr>Type Hinting</vt:lpstr>
      <vt:lpstr>Type Conversion - Casting</vt:lpstr>
      <vt:lpstr>Control Flow</vt:lpstr>
      <vt:lpstr>Match</vt:lpstr>
      <vt:lpstr>While Loops</vt:lpstr>
      <vt:lpstr>For Loops</vt:lpstr>
      <vt:lpstr>Boolean Behavior &amp; If Statements</vt:lpstr>
      <vt:lpstr>Boolean Falsy Values</vt:lpstr>
      <vt:lpstr>Arithmetic Operators</vt:lpstr>
      <vt:lpstr>Assignment Operators</vt:lpstr>
      <vt:lpstr>Comparison Operator</vt:lpstr>
      <vt:lpstr>Logical Operators</vt:lpstr>
      <vt:lpstr>Identity Operators</vt:lpstr>
      <vt:lpstr>Membership Operators</vt:lpstr>
      <vt:lpstr>Operator Precedence</vt:lpstr>
      <vt:lpstr>Challenge</vt:lpstr>
      <vt:lpstr>Quoteception, escape characters, &amp; Multi-Line Strings</vt:lpstr>
      <vt:lpstr>Check the contents of a string</vt:lpstr>
      <vt:lpstr>Slicing Strings</vt:lpstr>
      <vt:lpstr>Other String Methods</vt:lpstr>
      <vt:lpstr>F-Strings</vt:lpstr>
      <vt:lpstr>R-Strings</vt:lpstr>
      <vt:lpstr>String Method Reference</vt:lpstr>
      <vt:lpstr>Challenge</vt:lpstr>
      <vt:lpstr>Collections</vt:lpstr>
      <vt:lpstr>Immutable vs Mutable Types</vt:lpstr>
      <vt:lpstr>Lists</vt:lpstr>
      <vt:lpstr>More List Syntax</vt:lpstr>
      <vt:lpstr>Modifying Lists</vt:lpstr>
      <vt:lpstr>Modifying Lists</vt:lpstr>
      <vt:lpstr>Iterating over lists</vt:lpstr>
      <vt:lpstr>List Comprehension</vt:lpstr>
      <vt:lpstr>List Comprehension</vt:lpstr>
      <vt:lpstr>Sort Lists</vt:lpstr>
      <vt:lpstr>Case Insensitive Sort</vt:lpstr>
      <vt:lpstr>Custom Sort</vt:lpstr>
      <vt:lpstr>Lambdas</vt:lpstr>
      <vt:lpstr>Challenge</vt:lpstr>
      <vt:lpstr>Reversing a list</vt:lpstr>
      <vt:lpstr>Other list methods</vt:lpstr>
      <vt:lpstr>Modules &amp; Docstrings</vt:lpstr>
      <vt:lpstr>Random Numbers</vt:lpstr>
      <vt:lpstr>Challenge</vt:lpstr>
      <vt:lpstr>Tuples</vt:lpstr>
      <vt:lpstr>Tuples</vt:lpstr>
      <vt:lpstr>Unpacking Tuples</vt:lpstr>
      <vt:lpstr>Count unique items &amp; get the index of an item</vt:lpstr>
      <vt:lpstr>Challenge</vt:lpstr>
      <vt:lpstr>Sets</vt:lpstr>
      <vt:lpstr>Set Access</vt:lpstr>
      <vt:lpstr>Add/Remove Set Items</vt:lpstr>
      <vt:lpstr>More on Sets</vt:lpstr>
      <vt:lpstr>Challenge</vt:lpstr>
      <vt:lpstr>Dictionaries</vt:lpstr>
      <vt:lpstr>Dictionaries</vt:lpstr>
      <vt:lpstr>Dictionaries</vt:lpstr>
      <vt:lpstr>Looping Dictionaries</vt:lpstr>
      <vt:lpstr>Challenge</vt:lpstr>
      <vt:lpstr>What is Procedural Programming? What is OOP?</vt:lpstr>
      <vt:lpstr>PowerPoint Presentation</vt:lpstr>
      <vt:lpstr>Classes</vt:lpstr>
      <vt:lpstr>__init__ - totally not a constructor</vt:lpstr>
      <vt:lpstr>Objects are very flexible in Python</vt:lpstr>
      <vt:lpstr>__str__</vt:lpstr>
      <vt:lpstr>Inheritance</vt:lpstr>
      <vt:lpstr>Inheritance</vt:lpstr>
      <vt:lpstr>Function Polymorphism</vt:lpstr>
      <vt:lpstr>Class Polymorphism</vt:lpstr>
      <vt:lpstr>Encapsulation</vt:lpstr>
      <vt:lpstr>Abstraction</vt:lpstr>
      <vt:lpstr>Abstract Properties</vt:lpstr>
      <vt:lpstr>OR use a Protocol</vt:lpstr>
      <vt:lpstr>@staticmethod</vt:lpstr>
      <vt:lpstr>@classmethod</vt:lpstr>
      <vt:lpstr>Modules</vt:lpstr>
      <vt:lpstr>Importing modules</vt:lpstr>
      <vt:lpstr>3 types of modules</vt:lpstr>
      <vt:lpstr>__name__ and __main__</vt:lpstr>
      <vt:lpstr>Packages</vt:lpstr>
      <vt:lpstr>__init__.py</vt:lpstr>
      <vt:lpstr>File I/O</vt:lpstr>
      <vt:lpstr>File I/O – OS Module &amp; With open()</vt:lpstr>
      <vt:lpstr>File I/O – JSON</vt:lpstr>
      <vt:lpstr>Pause Here (We build a REPL app)</vt:lpstr>
      <vt:lpstr>SOLID app structure</vt:lpstr>
      <vt:lpstr>Manage Interpreters with pyenv-win</vt:lpstr>
      <vt:lpstr>Poetry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12</cp:revision>
  <dcterms:modified xsi:type="dcterms:W3CDTF">2026-10-26T21:14:20Z</dcterms:modified>
</cp:coreProperties>
</file>